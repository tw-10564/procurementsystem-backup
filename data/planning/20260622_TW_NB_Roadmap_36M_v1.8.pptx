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19952" r:id="rId3"/>
    <p:sldId id="19949" r:id="rId4"/>
    <p:sldId id="19953" r:id="rId5"/>
    <p:sldId id="19962" r:id="rId6"/>
    <p:sldId id="19959" r:id="rId7"/>
    <p:sldId id="19960" r:id="rId8"/>
    <p:sldId id="19961" r:id="rId9"/>
    <p:sldId id="274" r:id="rId10"/>
    <p:sldId id="19955" r:id="rId11"/>
    <p:sldId id="19954" r:id="rId12"/>
    <p:sldId id="19950" r:id="rId13"/>
    <p:sldId id="19956" r:id="rId14"/>
    <p:sldId id="19951" r:id="rId15"/>
    <p:sldId id="19957" r:id="rId16"/>
    <p:sldId id="19958" r:id="rId17"/>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3399FA-2B41-4643-A348-5FA4F58A5F88}" v="153" dt="2026-06-30T09:30:52.6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31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内 実" userId="a27ae44a-5a3b-4811-b2ba-c10800646f14" providerId="ADAL" clId="{93F7031F-1472-4372-9732-31D43695602F}"/>
    <pc:docChg chg="undo custSel addSld delSld modSld sldOrd modNotesMaster">
      <pc:chgData name="大内 実" userId="a27ae44a-5a3b-4811-b2ba-c10800646f14" providerId="ADAL" clId="{93F7031F-1472-4372-9732-31D43695602F}" dt="2026-06-30T09:31:38.699" v="1801" actId="14100"/>
      <pc:docMkLst>
        <pc:docMk/>
      </pc:docMkLst>
      <pc:sldChg chg="addSp modSp add mod">
        <pc:chgData name="大内 実" userId="a27ae44a-5a3b-4811-b2ba-c10800646f14" providerId="ADAL" clId="{93F7031F-1472-4372-9732-31D43695602F}" dt="2026-06-30T05:47:43.554" v="1379" actId="20577"/>
        <pc:sldMkLst>
          <pc:docMk/>
          <pc:sldMk cId="1283872538" sldId="19951"/>
        </pc:sldMkLst>
        <pc:spChg chg="add mod">
          <ac:chgData name="大内 実" userId="a27ae44a-5a3b-4811-b2ba-c10800646f14" providerId="ADAL" clId="{93F7031F-1472-4372-9732-31D43695602F}" dt="2026-06-30T05:47:43.554" v="1379" actId="20577"/>
          <ac:spMkLst>
            <pc:docMk/>
            <pc:sldMk cId="1283872538" sldId="19951"/>
            <ac:spMk id="2" creationId="{463004F8-64F8-3D47-DF3E-2121390843FB}"/>
          </ac:spMkLst>
        </pc:spChg>
      </pc:sldChg>
      <pc:sldChg chg="del">
        <pc:chgData name="大内 実" userId="a27ae44a-5a3b-4811-b2ba-c10800646f14" providerId="ADAL" clId="{93F7031F-1472-4372-9732-31D43695602F}" dt="2026-06-30T05:46:41.599" v="1346" actId="2696"/>
        <pc:sldMkLst>
          <pc:docMk/>
          <pc:sldMk cId="1692173907" sldId="19951"/>
        </pc:sldMkLst>
      </pc:sldChg>
      <pc:sldChg chg="addSp delSp modSp mod">
        <pc:chgData name="大内 実" userId="a27ae44a-5a3b-4811-b2ba-c10800646f14" providerId="ADAL" clId="{93F7031F-1472-4372-9732-31D43695602F}" dt="2026-06-30T05:47:26.239" v="1350" actId="21"/>
        <pc:sldMkLst>
          <pc:docMk/>
          <pc:sldMk cId="3219295975" sldId="19956"/>
        </pc:sldMkLst>
        <pc:spChg chg="add del mod">
          <ac:chgData name="大内 実" userId="a27ae44a-5a3b-4811-b2ba-c10800646f14" providerId="ADAL" clId="{93F7031F-1472-4372-9732-31D43695602F}" dt="2026-06-30T05:47:26.239" v="1350" actId="21"/>
          <ac:spMkLst>
            <pc:docMk/>
            <pc:sldMk cId="3219295975" sldId="19956"/>
            <ac:spMk id="2" creationId="{463004F8-64F8-3D47-DF3E-2121390843FB}"/>
          </ac:spMkLst>
        </pc:spChg>
      </pc:sldChg>
      <pc:sldChg chg="add">
        <pc:chgData name="大内 実" userId="a27ae44a-5a3b-4811-b2ba-c10800646f14" providerId="ADAL" clId="{93F7031F-1472-4372-9732-31D43695602F}" dt="2026-06-30T05:46:49.835" v="1347"/>
        <pc:sldMkLst>
          <pc:docMk/>
          <pc:sldMk cId="373769330" sldId="19957"/>
        </pc:sldMkLst>
      </pc:sldChg>
      <pc:sldChg chg="del">
        <pc:chgData name="大内 実" userId="a27ae44a-5a3b-4811-b2ba-c10800646f14" providerId="ADAL" clId="{93F7031F-1472-4372-9732-31D43695602F}" dt="2026-06-30T05:46:41.599" v="1346" actId="2696"/>
        <pc:sldMkLst>
          <pc:docMk/>
          <pc:sldMk cId="1404080339" sldId="19957"/>
        </pc:sldMkLst>
      </pc:sldChg>
      <pc:sldChg chg="add">
        <pc:chgData name="大内 実" userId="a27ae44a-5a3b-4811-b2ba-c10800646f14" providerId="ADAL" clId="{93F7031F-1472-4372-9732-31D43695602F}" dt="2026-06-30T05:46:49.835" v="1347"/>
        <pc:sldMkLst>
          <pc:docMk/>
          <pc:sldMk cId="1681171758" sldId="19958"/>
        </pc:sldMkLst>
      </pc:sldChg>
      <pc:sldChg chg="del">
        <pc:chgData name="大内 実" userId="a27ae44a-5a3b-4811-b2ba-c10800646f14" providerId="ADAL" clId="{93F7031F-1472-4372-9732-31D43695602F}" dt="2026-06-30T05:46:41.599" v="1346" actId="2696"/>
        <pc:sldMkLst>
          <pc:docMk/>
          <pc:sldMk cId="3438471907" sldId="19958"/>
        </pc:sldMkLst>
      </pc:sldChg>
      <pc:sldChg chg="addSp modSp add mod">
        <pc:chgData name="大内 実" userId="a27ae44a-5a3b-4811-b2ba-c10800646f14" providerId="ADAL" clId="{93F7031F-1472-4372-9732-31D43695602F}" dt="2026-06-30T09:31:38.699" v="1801" actId="14100"/>
        <pc:sldMkLst>
          <pc:docMk/>
          <pc:sldMk cId="590796749" sldId="19959"/>
        </pc:sldMkLst>
        <pc:spChg chg="add mod">
          <ac:chgData name="大内 実" userId="a27ae44a-5a3b-4811-b2ba-c10800646f14" providerId="ADAL" clId="{93F7031F-1472-4372-9732-31D43695602F}" dt="2026-06-30T09:30:37.911" v="1689" actId="1076"/>
          <ac:spMkLst>
            <pc:docMk/>
            <pc:sldMk cId="590796749" sldId="19959"/>
            <ac:spMk id="2" creationId="{D664EE3E-B1CA-93EE-E441-DE58ED224324}"/>
          </ac:spMkLst>
        </pc:spChg>
        <pc:spChg chg="add mod">
          <ac:chgData name="大内 実" userId="a27ae44a-5a3b-4811-b2ba-c10800646f14" providerId="ADAL" clId="{93F7031F-1472-4372-9732-31D43695602F}" dt="2026-06-30T09:31:38.699" v="1801" actId="14100"/>
          <ac:spMkLst>
            <pc:docMk/>
            <pc:sldMk cId="590796749" sldId="19959"/>
            <ac:spMk id="3" creationId="{817B3CA1-D3E0-D63A-2E28-0BD5475B696D}"/>
          </ac:spMkLst>
        </pc:spChg>
        <pc:spChg chg="mod">
          <ac:chgData name="大内 実" userId="a27ae44a-5a3b-4811-b2ba-c10800646f14" providerId="ADAL" clId="{93F7031F-1472-4372-9732-31D43695602F}" dt="2026-06-30T07:04:18.525" v="1435" actId="1076"/>
          <ac:spMkLst>
            <pc:docMk/>
            <pc:sldMk cId="590796749" sldId="19959"/>
            <ac:spMk id="35" creationId="{B4EB1381-99C4-EDCD-5F33-7B1FC9F42997}"/>
          </ac:spMkLst>
        </pc:spChg>
        <pc:spChg chg="mod">
          <ac:chgData name="大内 実" userId="a27ae44a-5a3b-4811-b2ba-c10800646f14" providerId="ADAL" clId="{93F7031F-1472-4372-9732-31D43695602F}" dt="2026-06-30T09:30:14.787" v="1685" actId="20577"/>
          <ac:spMkLst>
            <pc:docMk/>
            <pc:sldMk cId="590796749" sldId="19959"/>
            <ac:spMk id="60" creationId="{4E7FF0AF-611A-D76F-986A-3ECEA243D28A}"/>
          </ac:spMkLst>
        </pc:spChg>
      </pc:sldChg>
      <pc:sldChg chg="addSp delSp modSp add del mod ord">
        <pc:chgData name="大内 実" userId="a27ae44a-5a3b-4811-b2ba-c10800646f14" providerId="ADAL" clId="{93F7031F-1472-4372-9732-31D43695602F}" dt="2026-06-30T05:46:28.322" v="1344" actId="2696"/>
        <pc:sldMkLst>
          <pc:docMk/>
          <pc:sldMk cId="2349303057" sldId="19959"/>
        </pc:sldMkLst>
        <pc:spChg chg="add mod">
          <ac:chgData name="大内 実" userId="a27ae44a-5a3b-4811-b2ba-c10800646f14" providerId="ADAL" clId="{93F7031F-1472-4372-9732-31D43695602F}" dt="2026-06-30T05:45:52.678" v="1342" actId="20577"/>
          <ac:spMkLst>
            <pc:docMk/>
            <pc:sldMk cId="2349303057" sldId="19959"/>
            <ac:spMk id="36" creationId="{61C3EDA3-3020-4D90-65B0-8EE62B9FD0F5}"/>
          </ac:spMkLst>
        </pc:spChg>
      </pc:sldChg>
      <pc:sldChg chg="addSp delSp modSp add del mod ord replId">
        <pc:chgData name="大内 実" userId="a27ae44a-5a3b-4811-b2ba-c10800646f14" providerId="ADAL" clId="{93F7031F-1472-4372-9732-31D43695602F}" dt="2026-06-30T05:46:28.322" v="1344" actId="2696"/>
        <pc:sldMkLst>
          <pc:docMk/>
          <pc:sldMk cId="1847961372" sldId="19960"/>
        </pc:sldMkLst>
        <pc:spChg chg="add mod">
          <ac:chgData name="大内 実" userId="a27ae44a-5a3b-4811-b2ba-c10800646f14" providerId="ADAL" clId="{93F7031F-1472-4372-9732-31D43695602F}" dt="2026-06-30T05:45:59.529" v="1343" actId="20577"/>
          <ac:spMkLst>
            <pc:docMk/>
            <pc:sldMk cId="1847961372" sldId="19960"/>
            <ac:spMk id="48" creationId="{5BB02CE5-6FF4-F569-72FB-98875C7CE254}"/>
          </ac:spMkLst>
        </pc:spChg>
      </pc:sldChg>
      <pc:sldChg chg="addSp delSp modSp add mod">
        <pc:chgData name="大内 実" userId="a27ae44a-5a3b-4811-b2ba-c10800646f14" providerId="ADAL" clId="{93F7031F-1472-4372-9732-31D43695602F}" dt="2026-06-30T07:20:10.588" v="1580" actId="1076"/>
        <pc:sldMkLst>
          <pc:docMk/>
          <pc:sldMk cId="3487336231" sldId="19960"/>
        </pc:sldMkLst>
        <pc:spChg chg="mod">
          <ac:chgData name="大内 実" userId="a27ae44a-5a3b-4811-b2ba-c10800646f14" providerId="ADAL" clId="{93F7031F-1472-4372-9732-31D43695602F}" dt="2026-06-30T05:50:50.873" v="1396" actId="1038"/>
          <ac:spMkLst>
            <pc:docMk/>
            <pc:sldMk cId="3487336231" sldId="19960"/>
            <ac:spMk id="18" creationId="{D286F51E-9178-4A39-B69B-682BDB777784}"/>
          </ac:spMkLst>
        </pc:spChg>
        <pc:spChg chg="add mod">
          <ac:chgData name="大内 実" userId="a27ae44a-5a3b-4811-b2ba-c10800646f14" providerId="ADAL" clId="{93F7031F-1472-4372-9732-31D43695602F}" dt="2026-06-30T07:19:14.305" v="1576" actId="1076"/>
          <ac:spMkLst>
            <pc:docMk/>
            <pc:sldMk cId="3487336231" sldId="19960"/>
            <ac:spMk id="20" creationId="{E5CDEE9E-4A1F-A013-57D0-C385271E6C09}"/>
          </ac:spMkLst>
        </pc:spChg>
        <pc:spChg chg="mod">
          <ac:chgData name="大内 実" userId="a27ae44a-5a3b-4811-b2ba-c10800646f14" providerId="ADAL" clId="{93F7031F-1472-4372-9732-31D43695602F}" dt="2026-06-30T05:50:57.022" v="1422" actId="1038"/>
          <ac:spMkLst>
            <pc:docMk/>
            <pc:sldMk cId="3487336231" sldId="19960"/>
            <ac:spMk id="22" creationId="{9766D05D-47D7-3343-A776-534DE6F568E4}"/>
          </ac:spMkLst>
        </pc:spChg>
        <pc:spChg chg="add mod">
          <ac:chgData name="大内 実" userId="a27ae44a-5a3b-4811-b2ba-c10800646f14" providerId="ADAL" clId="{93F7031F-1472-4372-9732-31D43695602F}" dt="2026-06-30T07:20:10.588" v="1580" actId="1076"/>
          <ac:spMkLst>
            <pc:docMk/>
            <pc:sldMk cId="3487336231" sldId="19960"/>
            <ac:spMk id="34" creationId="{9CA9A229-064E-155E-4633-B597CB087875}"/>
          </ac:spMkLst>
        </pc:spChg>
        <pc:spChg chg="mod">
          <ac:chgData name="大内 実" userId="a27ae44a-5a3b-4811-b2ba-c10800646f14" providerId="ADAL" clId="{93F7031F-1472-4372-9732-31D43695602F}" dt="2026-06-30T07:19:11.308" v="1575" actId="1076"/>
          <ac:spMkLst>
            <pc:docMk/>
            <pc:sldMk cId="3487336231" sldId="19960"/>
            <ac:spMk id="37" creationId="{47B390BF-179E-D63E-7FF0-BDC145577CA6}"/>
          </ac:spMkLst>
        </pc:spChg>
        <pc:spChg chg="mod">
          <ac:chgData name="大内 実" userId="a27ae44a-5a3b-4811-b2ba-c10800646f14" providerId="ADAL" clId="{93F7031F-1472-4372-9732-31D43695602F}" dt="2026-06-30T07:18:17.236" v="1572" actId="1076"/>
          <ac:spMkLst>
            <pc:docMk/>
            <pc:sldMk cId="3487336231" sldId="19960"/>
            <ac:spMk id="59" creationId="{D8734D2A-3172-A0C2-3AB5-5DFD58999F71}"/>
          </ac:spMkLst>
        </pc:spChg>
        <pc:spChg chg="del mod">
          <ac:chgData name="大内 実" userId="a27ae44a-5a3b-4811-b2ba-c10800646f14" providerId="ADAL" clId="{93F7031F-1472-4372-9732-31D43695602F}" dt="2026-06-30T07:11:08.992" v="1451" actId="478"/>
          <ac:spMkLst>
            <pc:docMk/>
            <pc:sldMk cId="3487336231" sldId="19960"/>
            <ac:spMk id="65" creationId="{0BA62613-9FEE-DE8B-DE90-85B267813629}"/>
          </ac:spMkLst>
        </pc:spChg>
      </pc:sldChg>
      <pc:sldChg chg="addSp delSp modSp add del mod">
        <pc:chgData name="大内 実" userId="a27ae44a-5a3b-4811-b2ba-c10800646f14" providerId="ADAL" clId="{93F7031F-1472-4372-9732-31D43695602F}" dt="2026-06-30T05:46:28.322" v="1344" actId="2696"/>
        <pc:sldMkLst>
          <pc:docMk/>
          <pc:sldMk cId="1396533696" sldId="19961"/>
        </pc:sldMkLst>
      </pc:sldChg>
      <pc:sldChg chg="add">
        <pc:chgData name="大内 実" userId="a27ae44a-5a3b-4811-b2ba-c10800646f14" providerId="ADAL" clId="{93F7031F-1472-4372-9732-31D43695602F}" dt="2026-06-30T05:46:33.465" v="1345"/>
        <pc:sldMkLst>
          <pc:docMk/>
          <pc:sldMk cId="1771199688" sldId="19961"/>
        </pc:sldMkLst>
      </pc:sldChg>
      <pc:sldChg chg="add">
        <pc:chgData name="大内 実" userId="a27ae44a-5a3b-4811-b2ba-c10800646f14" providerId="ADAL" clId="{93F7031F-1472-4372-9732-31D43695602F}" dt="2026-06-30T05:46:33.465" v="1345"/>
        <pc:sldMkLst>
          <pc:docMk/>
          <pc:sldMk cId="1612130234" sldId="19962"/>
        </pc:sldMkLst>
      </pc:sldChg>
      <pc:sldChg chg="addSp modSp add del mod">
        <pc:chgData name="大内 実" userId="a27ae44a-5a3b-4811-b2ba-c10800646f14" providerId="ADAL" clId="{93F7031F-1472-4372-9732-31D43695602F}" dt="2026-06-30T05:46:28.322" v="1344" actId="2696"/>
        <pc:sldMkLst>
          <pc:docMk/>
          <pc:sldMk cId="1894557845" sldId="1996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6051C8DB-C7FC-4296-9C0E-A92EAF9EACB9}" type="datetimeFigureOut">
              <a:rPr kumimoji="1" lang="ja-JP" altLang="en-US" smtClean="0"/>
              <a:t>2026/6/30</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2DBD2E6D-71F1-48AF-99D2-469F46C6E889}" type="slidenum">
              <a:rPr kumimoji="1" lang="ja-JP" altLang="en-US" smtClean="0"/>
              <a:t>‹#›</a:t>
            </a:fld>
            <a:endParaRPr kumimoji="1" lang="ja-JP" altLang="en-US"/>
          </a:p>
        </p:txBody>
      </p:sp>
    </p:spTree>
    <p:extLst>
      <p:ext uri="{BB962C8B-B14F-4D97-AF65-F5344CB8AC3E}">
        <p14:creationId xmlns:p14="http://schemas.microsoft.com/office/powerpoint/2010/main" val="275550352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3DD51-3B88-8CD3-4089-0C151E84DE3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CB997EE-302B-F1A6-6D80-660A95853C5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B58ACB-ECA7-CE11-E0C0-977E0FEB8FE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786C8BB-3DA5-951E-2789-2B5528A662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BD2E6D-71F1-48AF-99D2-469F46C6E88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811122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BD2E6D-71F1-48AF-99D2-469F46C6E88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47112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E304E6-AE84-6334-46B1-12A67659343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0713D2F-3615-DE81-D9A0-9940EE9FBB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9FD76BA-C8FB-F8DD-3928-D3ECC87446C3}"/>
              </a:ext>
            </a:extLst>
          </p:cNvPr>
          <p:cNvSpPr>
            <a:spLocks noGrp="1"/>
          </p:cNvSpPr>
          <p:nvPr>
            <p:ph type="dt" sz="half" idx="10"/>
          </p:nvPr>
        </p:nvSpPr>
        <p:spPr/>
        <p:txBody>
          <a:bodyPr/>
          <a:lstStyle/>
          <a:p>
            <a:fld id="{DEDF9BCC-83EF-4595-B51D-E11576562E7E}"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FB10B3FE-443F-913A-6D51-55F657E5A44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C0F254F-181C-C42F-2B0F-AF3B2730FEE6}"/>
              </a:ext>
            </a:extLst>
          </p:cNvPr>
          <p:cNvSpPr>
            <a:spLocks noGrp="1"/>
          </p:cNvSpPr>
          <p:nvPr>
            <p:ph type="sldNum" sz="quarter" idx="12"/>
          </p:nvPr>
        </p:nvSpPr>
        <p:spPr/>
        <p:txBody>
          <a:body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4080789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17736B-F7D4-05D6-787C-CBAE5C709E3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F3EB660-9D97-A77E-69ED-DA2E050E342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01A69C7-76A2-29BB-BD4A-9649DC593E56}"/>
              </a:ext>
            </a:extLst>
          </p:cNvPr>
          <p:cNvSpPr>
            <a:spLocks noGrp="1"/>
          </p:cNvSpPr>
          <p:nvPr>
            <p:ph type="dt" sz="half" idx="10"/>
          </p:nvPr>
        </p:nvSpPr>
        <p:spPr/>
        <p:txBody>
          <a:bodyPr/>
          <a:lstStyle/>
          <a:p>
            <a:fld id="{DEDF9BCC-83EF-4595-B51D-E11576562E7E}"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C75C2F08-9966-0193-5F15-875D01B86DE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0C1FD4-DE80-FB81-E115-6E2A58897A57}"/>
              </a:ext>
            </a:extLst>
          </p:cNvPr>
          <p:cNvSpPr>
            <a:spLocks noGrp="1"/>
          </p:cNvSpPr>
          <p:nvPr>
            <p:ph type="sldNum" sz="quarter" idx="12"/>
          </p:nvPr>
        </p:nvSpPr>
        <p:spPr/>
        <p:txBody>
          <a:body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209260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0FCDD8-546D-3C93-5C52-0FBABEC3696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3F2674A-7EC3-98AF-3063-9E57AC87B0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DC39A81-D1CB-291C-8670-8E79A20BD380}"/>
              </a:ext>
            </a:extLst>
          </p:cNvPr>
          <p:cNvSpPr>
            <a:spLocks noGrp="1"/>
          </p:cNvSpPr>
          <p:nvPr>
            <p:ph type="dt" sz="half" idx="10"/>
          </p:nvPr>
        </p:nvSpPr>
        <p:spPr/>
        <p:txBody>
          <a:bodyPr/>
          <a:lstStyle/>
          <a:p>
            <a:fld id="{DEDF9BCC-83EF-4595-B51D-E11576562E7E}"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D142579B-5A35-3E4D-0B92-32EF480458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F581BBB-0FAA-1759-A60D-E52E69EAA195}"/>
              </a:ext>
            </a:extLst>
          </p:cNvPr>
          <p:cNvSpPr>
            <a:spLocks noGrp="1"/>
          </p:cNvSpPr>
          <p:nvPr>
            <p:ph type="sldNum" sz="quarter" idx="12"/>
          </p:nvPr>
        </p:nvSpPr>
        <p:spPr/>
        <p:txBody>
          <a:body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3379067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33DF3A-4FC2-06EB-3B8D-30343A562DB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13A7A7E-0599-E6CA-63BC-F3A03E01BA6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8F14E0C-81A2-C7B4-C4F6-E3CE6B7444E8}"/>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0C4FDCA-2430-655E-5095-65845AADCB48}"/>
              </a:ext>
            </a:extLst>
          </p:cNvPr>
          <p:cNvSpPr>
            <a:spLocks noGrp="1"/>
          </p:cNvSpPr>
          <p:nvPr>
            <p:ph type="dt" sz="half" idx="10"/>
          </p:nvPr>
        </p:nvSpPr>
        <p:spPr/>
        <p:txBody>
          <a:bodyPr/>
          <a:lstStyle/>
          <a:p>
            <a:fld id="{DEDF9BCC-83EF-4595-B51D-E11576562E7E}" type="datetimeFigureOut">
              <a:rPr kumimoji="1" lang="ja-JP" altLang="en-US" smtClean="0"/>
              <a:t>2026/6/30</a:t>
            </a:fld>
            <a:endParaRPr kumimoji="1" lang="ja-JP" altLang="en-US"/>
          </a:p>
        </p:txBody>
      </p:sp>
      <p:sp>
        <p:nvSpPr>
          <p:cNvPr id="6" name="フッター プレースホルダー 5">
            <a:extLst>
              <a:ext uri="{FF2B5EF4-FFF2-40B4-BE49-F238E27FC236}">
                <a16:creationId xmlns:a16="http://schemas.microsoft.com/office/drawing/2014/main" id="{A60482C8-CDF1-A172-5728-58FAB40ACB4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4847EAD-118D-18BA-6AF2-9B8DA537F237}"/>
              </a:ext>
            </a:extLst>
          </p:cNvPr>
          <p:cNvSpPr>
            <a:spLocks noGrp="1"/>
          </p:cNvSpPr>
          <p:nvPr>
            <p:ph type="sldNum" sz="quarter" idx="12"/>
          </p:nvPr>
        </p:nvSpPr>
        <p:spPr/>
        <p:txBody>
          <a:body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3082226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4C5B4E-01D1-3D0D-F2AE-55D1FC726FF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706FB47-1E4C-C79D-37C4-377648721F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B6A9972-63EE-3C8D-F872-B98E8C6D20D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64CED22-B515-FB12-837D-4E07EB43C2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85377CB-8160-D0F7-7274-252C7EB32FF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79D16CE-8187-0988-106A-35F777271EF9}"/>
              </a:ext>
            </a:extLst>
          </p:cNvPr>
          <p:cNvSpPr>
            <a:spLocks noGrp="1"/>
          </p:cNvSpPr>
          <p:nvPr>
            <p:ph type="dt" sz="half" idx="10"/>
          </p:nvPr>
        </p:nvSpPr>
        <p:spPr/>
        <p:txBody>
          <a:bodyPr/>
          <a:lstStyle/>
          <a:p>
            <a:fld id="{DEDF9BCC-83EF-4595-B51D-E11576562E7E}" type="datetimeFigureOut">
              <a:rPr kumimoji="1" lang="ja-JP" altLang="en-US" smtClean="0"/>
              <a:t>2026/6/30</a:t>
            </a:fld>
            <a:endParaRPr kumimoji="1" lang="ja-JP" altLang="en-US"/>
          </a:p>
        </p:txBody>
      </p:sp>
      <p:sp>
        <p:nvSpPr>
          <p:cNvPr id="8" name="フッター プレースホルダー 7">
            <a:extLst>
              <a:ext uri="{FF2B5EF4-FFF2-40B4-BE49-F238E27FC236}">
                <a16:creationId xmlns:a16="http://schemas.microsoft.com/office/drawing/2014/main" id="{7298FA06-D477-60E3-E1AE-AF74DEAADBC4}"/>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27656EE-5461-2D27-C24B-7BAA235FFEDE}"/>
              </a:ext>
            </a:extLst>
          </p:cNvPr>
          <p:cNvSpPr>
            <a:spLocks noGrp="1"/>
          </p:cNvSpPr>
          <p:nvPr>
            <p:ph type="sldNum" sz="quarter" idx="12"/>
          </p:nvPr>
        </p:nvSpPr>
        <p:spPr/>
        <p:txBody>
          <a:body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2898726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442E0A-AF78-2FA4-C8FC-779FBB2AC01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0F35BD2-8D46-6C03-BEA3-71194A14FAD8}"/>
              </a:ext>
            </a:extLst>
          </p:cNvPr>
          <p:cNvSpPr>
            <a:spLocks noGrp="1"/>
          </p:cNvSpPr>
          <p:nvPr>
            <p:ph type="dt" sz="half" idx="10"/>
          </p:nvPr>
        </p:nvSpPr>
        <p:spPr/>
        <p:txBody>
          <a:bodyPr/>
          <a:lstStyle/>
          <a:p>
            <a:fld id="{DEDF9BCC-83EF-4595-B51D-E11576562E7E}" type="datetimeFigureOut">
              <a:rPr kumimoji="1" lang="ja-JP" altLang="en-US" smtClean="0"/>
              <a:t>2026/6/30</a:t>
            </a:fld>
            <a:endParaRPr kumimoji="1" lang="ja-JP" altLang="en-US"/>
          </a:p>
        </p:txBody>
      </p:sp>
      <p:sp>
        <p:nvSpPr>
          <p:cNvPr id="4" name="フッター プレースホルダー 3">
            <a:extLst>
              <a:ext uri="{FF2B5EF4-FFF2-40B4-BE49-F238E27FC236}">
                <a16:creationId xmlns:a16="http://schemas.microsoft.com/office/drawing/2014/main" id="{448BD1A1-69ED-D2AF-0D2E-D3F864F2624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60BE27C-AB46-E8EC-9449-34B15323B343}"/>
              </a:ext>
            </a:extLst>
          </p:cNvPr>
          <p:cNvSpPr>
            <a:spLocks noGrp="1"/>
          </p:cNvSpPr>
          <p:nvPr>
            <p:ph type="sldNum" sz="quarter" idx="12"/>
          </p:nvPr>
        </p:nvSpPr>
        <p:spPr/>
        <p:txBody>
          <a:body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207829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1AD3B90-4CD4-4F35-EF89-331AC59DA023}"/>
              </a:ext>
            </a:extLst>
          </p:cNvPr>
          <p:cNvSpPr>
            <a:spLocks noGrp="1"/>
          </p:cNvSpPr>
          <p:nvPr>
            <p:ph type="dt" sz="half" idx="10"/>
          </p:nvPr>
        </p:nvSpPr>
        <p:spPr/>
        <p:txBody>
          <a:bodyPr/>
          <a:lstStyle/>
          <a:p>
            <a:fld id="{DEDF9BCC-83EF-4595-B51D-E11576562E7E}" type="datetimeFigureOut">
              <a:rPr kumimoji="1" lang="ja-JP" altLang="en-US" smtClean="0"/>
              <a:t>2026/6/30</a:t>
            </a:fld>
            <a:endParaRPr kumimoji="1" lang="ja-JP" altLang="en-US"/>
          </a:p>
        </p:txBody>
      </p:sp>
      <p:sp>
        <p:nvSpPr>
          <p:cNvPr id="3" name="フッター プレースホルダー 2">
            <a:extLst>
              <a:ext uri="{FF2B5EF4-FFF2-40B4-BE49-F238E27FC236}">
                <a16:creationId xmlns:a16="http://schemas.microsoft.com/office/drawing/2014/main" id="{8570B1A9-DE0E-F62B-7916-18A00FFE283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8D7BCF9-F743-A8DE-ED50-D7E452044AE3}"/>
              </a:ext>
            </a:extLst>
          </p:cNvPr>
          <p:cNvSpPr>
            <a:spLocks noGrp="1"/>
          </p:cNvSpPr>
          <p:nvPr>
            <p:ph type="sldNum" sz="quarter" idx="12"/>
          </p:nvPr>
        </p:nvSpPr>
        <p:spPr/>
        <p:txBody>
          <a:body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42871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3BC6B75-4B39-37A8-F60E-E3A819075EC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6CE8632-385B-1A1D-FD09-5B6E3F921E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A8309F9-DD62-3A3F-889D-DF9F7C3D2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A5811E6-891D-4620-0766-67BB16878765}"/>
              </a:ext>
            </a:extLst>
          </p:cNvPr>
          <p:cNvSpPr>
            <a:spLocks noGrp="1"/>
          </p:cNvSpPr>
          <p:nvPr>
            <p:ph type="dt" sz="half" idx="10"/>
          </p:nvPr>
        </p:nvSpPr>
        <p:spPr/>
        <p:txBody>
          <a:bodyPr/>
          <a:lstStyle/>
          <a:p>
            <a:fld id="{DEDF9BCC-83EF-4595-B51D-E11576562E7E}" type="datetimeFigureOut">
              <a:rPr kumimoji="1" lang="ja-JP" altLang="en-US" smtClean="0"/>
              <a:t>2026/6/30</a:t>
            </a:fld>
            <a:endParaRPr kumimoji="1" lang="ja-JP" altLang="en-US"/>
          </a:p>
        </p:txBody>
      </p:sp>
      <p:sp>
        <p:nvSpPr>
          <p:cNvPr id="6" name="フッター プレースホルダー 5">
            <a:extLst>
              <a:ext uri="{FF2B5EF4-FFF2-40B4-BE49-F238E27FC236}">
                <a16:creationId xmlns:a16="http://schemas.microsoft.com/office/drawing/2014/main" id="{59B9461F-670A-B64F-E90E-FD5BF3357D1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6BD1640-CAD2-97E3-3875-CFA12A843467}"/>
              </a:ext>
            </a:extLst>
          </p:cNvPr>
          <p:cNvSpPr>
            <a:spLocks noGrp="1"/>
          </p:cNvSpPr>
          <p:nvPr>
            <p:ph type="sldNum" sz="quarter" idx="12"/>
          </p:nvPr>
        </p:nvSpPr>
        <p:spPr/>
        <p:txBody>
          <a:body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557305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EFB8BB-3CF1-011A-631C-EC389B20352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FAE5977-748B-149A-8575-3D0C2FF0AD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CCE16AF-3075-C742-DE62-6420FE38AC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EC3B27D-2E46-F0C3-BC49-3DE2DBA1CC7E}"/>
              </a:ext>
            </a:extLst>
          </p:cNvPr>
          <p:cNvSpPr>
            <a:spLocks noGrp="1"/>
          </p:cNvSpPr>
          <p:nvPr>
            <p:ph type="dt" sz="half" idx="10"/>
          </p:nvPr>
        </p:nvSpPr>
        <p:spPr/>
        <p:txBody>
          <a:bodyPr/>
          <a:lstStyle/>
          <a:p>
            <a:fld id="{DEDF9BCC-83EF-4595-B51D-E11576562E7E}" type="datetimeFigureOut">
              <a:rPr kumimoji="1" lang="ja-JP" altLang="en-US" smtClean="0"/>
              <a:t>2026/6/30</a:t>
            </a:fld>
            <a:endParaRPr kumimoji="1" lang="ja-JP" altLang="en-US"/>
          </a:p>
        </p:txBody>
      </p:sp>
      <p:sp>
        <p:nvSpPr>
          <p:cNvPr id="6" name="フッター プレースホルダー 5">
            <a:extLst>
              <a:ext uri="{FF2B5EF4-FFF2-40B4-BE49-F238E27FC236}">
                <a16:creationId xmlns:a16="http://schemas.microsoft.com/office/drawing/2014/main" id="{D4871F05-8A53-9452-1735-F4E53F513C5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8217770-0323-8DAC-E2BE-60C0A0DADF81}"/>
              </a:ext>
            </a:extLst>
          </p:cNvPr>
          <p:cNvSpPr>
            <a:spLocks noGrp="1"/>
          </p:cNvSpPr>
          <p:nvPr>
            <p:ph type="sldNum" sz="quarter" idx="12"/>
          </p:nvPr>
        </p:nvSpPr>
        <p:spPr/>
        <p:txBody>
          <a:body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3152924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F26255-1396-B8A0-67C9-35F0D0DF242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8C5F3AA-70AB-89A2-C71D-17D1B4EB51C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CE19A23-BF62-55DE-0DD1-5A1C15461E09}"/>
              </a:ext>
            </a:extLst>
          </p:cNvPr>
          <p:cNvSpPr>
            <a:spLocks noGrp="1"/>
          </p:cNvSpPr>
          <p:nvPr>
            <p:ph type="dt" sz="half" idx="10"/>
          </p:nvPr>
        </p:nvSpPr>
        <p:spPr/>
        <p:txBody>
          <a:bodyPr/>
          <a:lstStyle/>
          <a:p>
            <a:fld id="{DEDF9BCC-83EF-4595-B51D-E11576562E7E}"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C96F354B-DAE3-6B1A-2FF4-D20699C2DC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F7D8EF7-450E-4BF4-D48E-1E7A5DD09A23}"/>
              </a:ext>
            </a:extLst>
          </p:cNvPr>
          <p:cNvSpPr>
            <a:spLocks noGrp="1"/>
          </p:cNvSpPr>
          <p:nvPr>
            <p:ph type="sldNum" sz="quarter" idx="12"/>
          </p:nvPr>
        </p:nvSpPr>
        <p:spPr/>
        <p:txBody>
          <a:body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3948013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FDCF008-E7C6-2031-CE59-30B59B3F2865}"/>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6891211-A425-E8A9-2FA4-7091A5A5DED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CA85621-B28A-0AE6-0FE6-27E007CF4119}"/>
              </a:ext>
            </a:extLst>
          </p:cNvPr>
          <p:cNvSpPr>
            <a:spLocks noGrp="1"/>
          </p:cNvSpPr>
          <p:nvPr>
            <p:ph type="dt" sz="half" idx="10"/>
          </p:nvPr>
        </p:nvSpPr>
        <p:spPr/>
        <p:txBody>
          <a:bodyPr/>
          <a:lstStyle/>
          <a:p>
            <a:fld id="{DEDF9BCC-83EF-4595-B51D-E11576562E7E}"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D6087428-702D-76E6-D1DF-95CE507F68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5E3F4EA-0BC3-B23D-CCD3-B34D39932EC1}"/>
              </a:ext>
            </a:extLst>
          </p:cNvPr>
          <p:cNvSpPr>
            <a:spLocks noGrp="1"/>
          </p:cNvSpPr>
          <p:nvPr>
            <p:ph type="sldNum" sz="quarter" idx="12"/>
          </p:nvPr>
        </p:nvSpPr>
        <p:spPr/>
        <p:txBody>
          <a:body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128704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BA977A0-83E9-E7BF-878E-BA341485B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ED46C52-DFF1-639F-B71B-0C5D6AF7D2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EDE7E36-AFC9-CE02-33F5-CC2A5EF21E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DF9BCC-83EF-4595-B51D-E11576562E7E}" type="datetimeFigureOut">
              <a:rPr kumimoji="1" lang="ja-JP" altLang="en-US" smtClean="0"/>
              <a:t>2026/6/30</a:t>
            </a:fld>
            <a:endParaRPr kumimoji="1" lang="ja-JP" altLang="en-US"/>
          </a:p>
        </p:txBody>
      </p:sp>
      <p:sp>
        <p:nvSpPr>
          <p:cNvPr id="5" name="フッター プレースホルダー 4">
            <a:extLst>
              <a:ext uri="{FF2B5EF4-FFF2-40B4-BE49-F238E27FC236}">
                <a16:creationId xmlns:a16="http://schemas.microsoft.com/office/drawing/2014/main" id="{FB00C918-B180-509B-9850-18291287A4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DEB886A-B155-B72E-3ADC-E937AA1566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FBB869-016B-4A17-98A1-58B167645D94}" type="slidenum">
              <a:rPr kumimoji="1" lang="ja-JP" altLang="en-US" smtClean="0"/>
              <a:t>‹#›</a:t>
            </a:fld>
            <a:endParaRPr kumimoji="1" lang="ja-JP" altLang="en-US"/>
          </a:p>
        </p:txBody>
      </p:sp>
    </p:spTree>
    <p:extLst>
      <p:ext uri="{BB962C8B-B14F-4D97-AF65-F5344CB8AC3E}">
        <p14:creationId xmlns:p14="http://schemas.microsoft.com/office/powerpoint/2010/main" val="4101953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package" Target="../embeddings/Microsoft_Excel_Worksheet3.xlsx"/><Relationship Id="rId13" Type="http://schemas.openxmlformats.org/officeDocument/2006/relationships/image" Target="../media/image6.emf"/><Relationship Id="rId18" Type="http://schemas.openxmlformats.org/officeDocument/2006/relationships/package" Target="../embeddings/Microsoft_Excel_Worksheet8.xlsx"/><Relationship Id="rId26" Type="http://schemas.openxmlformats.org/officeDocument/2006/relationships/package" Target="../embeddings/Microsoft_Excel_Worksheet12.xlsx"/><Relationship Id="rId3" Type="http://schemas.openxmlformats.org/officeDocument/2006/relationships/image" Target="../media/image1.emf"/><Relationship Id="rId21" Type="http://schemas.openxmlformats.org/officeDocument/2006/relationships/image" Target="../media/image10.emf"/><Relationship Id="rId7" Type="http://schemas.openxmlformats.org/officeDocument/2006/relationships/image" Target="../media/image3.emf"/><Relationship Id="rId12" Type="http://schemas.openxmlformats.org/officeDocument/2006/relationships/package" Target="../embeddings/Microsoft_Excel_Worksheet5.xlsx"/><Relationship Id="rId17" Type="http://schemas.openxmlformats.org/officeDocument/2006/relationships/image" Target="../media/image8.emf"/><Relationship Id="rId25" Type="http://schemas.openxmlformats.org/officeDocument/2006/relationships/image" Target="../media/image12.emf"/><Relationship Id="rId2" Type="http://schemas.openxmlformats.org/officeDocument/2006/relationships/package" Target="../embeddings/Microsoft_Excel_Worksheet.xlsx"/><Relationship Id="rId16" Type="http://schemas.openxmlformats.org/officeDocument/2006/relationships/package" Target="../embeddings/Microsoft_Excel_Worksheet7.xlsx"/><Relationship Id="rId20" Type="http://schemas.openxmlformats.org/officeDocument/2006/relationships/package" Target="../embeddings/Microsoft_Excel_Worksheet9.xlsx"/><Relationship Id="rId29" Type="http://schemas.openxmlformats.org/officeDocument/2006/relationships/image" Target="../media/image14.emf"/><Relationship Id="rId1" Type="http://schemas.openxmlformats.org/officeDocument/2006/relationships/slideLayout" Target="../slideLayouts/slideLayout2.xml"/><Relationship Id="rId6" Type="http://schemas.openxmlformats.org/officeDocument/2006/relationships/package" Target="../embeddings/Microsoft_Excel_Worksheet2.xlsx"/><Relationship Id="rId11" Type="http://schemas.openxmlformats.org/officeDocument/2006/relationships/image" Target="../media/image5.emf"/><Relationship Id="rId24" Type="http://schemas.openxmlformats.org/officeDocument/2006/relationships/package" Target="../embeddings/Microsoft_Excel_Worksheet11.xlsx"/><Relationship Id="rId5" Type="http://schemas.openxmlformats.org/officeDocument/2006/relationships/image" Target="../media/image2.emf"/><Relationship Id="rId15" Type="http://schemas.openxmlformats.org/officeDocument/2006/relationships/image" Target="../media/image7.emf"/><Relationship Id="rId23" Type="http://schemas.openxmlformats.org/officeDocument/2006/relationships/image" Target="../media/image11.emf"/><Relationship Id="rId28" Type="http://schemas.openxmlformats.org/officeDocument/2006/relationships/package" Target="../embeddings/Microsoft_Excel_Worksheet13.xlsx"/><Relationship Id="rId10" Type="http://schemas.openxmlformats.org/officeDocument/2006/relationships/package" Target="../embeddings/Microsoft_Excel_Worksheet4.xlsx"/><Relationship Id="rId19" Type="http://schemas.openxmlformats.org/officeDocument/2006/relationships/image" Target="../media/image9.emf"/><Relationship Id="rId4" Type="http://schemas.openxmlformats.org/officeDocument/2006/relationships/package" Target="../embeddings/Microsoft_Excel_Worksheet1.xlsx"/><Relationship Id="rId9" Type="http://schemas.openxmlformats.org/officeDocument/2006/relationships/image" Target="../media/image4.emf"/><Relationship Id="rId14" Type="http://schemas.openxmlformats.org/officeDocument/2006/relationships/package" Target="../embeddings/Microsoft_Excel_Worksheet6.xlsx"/><Relationship Id="rId22" Type="http://schemas.openxmlformats.org/officeDocument/2006/relationships/package" Target="../embeddings/Microsoft_Excel_Worksheet10.xlsx"/><Relationship Id="rId27" Type="http://schemas.openxmlformats.org/officeDocument/2006/relationships/image" Target="../media/image13.emf"/></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package" Target="../embeddings/Microsoft_Excel_Worksheet14.xlsx"/><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package" Target="../embeddings/Microsoft_Excel_Worksheet15.xlsx"/><Relationship Id="rId1" Type="http://schemas.openxmlformats.org/officeDocument/2006/relationships/slideLayout" Target="../slideLayouts/slideLayout2.xml"/><Relationship Id="rId4" Type="http://schemas.openxmlformats.org/officeDocument/2006/relationships/hyperlink" Target="https://twaveo365-my.sharepoint.com/:x:/g/personal/m_ouchi_twave_co_jp/IQCFIvN6uyxvS5KQyJXoNm17AVcdxxa0fUy2N23TdLNPM2Q?e=amHwy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B169FE-13BD-E453-DF4F-9608F244C706}"/>
              </a:ext>
            </a:extLst>
          </p:cNvPr>
          <p:cNvSpPr>
            <a:spLocks noGrp="1"/>
          </p:cNvSpPr>
          <p:nvPr>
            <p:ph type="ctrTitle"/>
          </p:nvPr>
        </p:nvSpPr>
        <p:spPr>
          <a:xfrm>
            <a:off x="1524000" y="1893071"/>
            <a:ext cx="9144000" cy="2387600"/>
          </a:xfrm>
        </p:spPr>
        <p:txBody>
          <a:bodyPr anchor="ctr">
            <a:normAutofit/>
          </a:bodyPr>
          <a:lstStyle/>
          <a:p>
            <a:r>
              <a:rPr kumimoji="1" lang="en-US" altLang="ja-JP" sz="4000"/>
              <a:t>THIRDWAVE Brand</a:t>
            </a:r>
            <a:br>
              <a:rPr kumimoji="1" lang="en-US" altLang="ja-JP" sz="4000"/>
            </a:br>
            <a:r>
              <a:rPr kumimoji="1" lang="en-US" altLang="ja-JP" sz="4000"/>
              <a:t>Notebook Roadmap </a:t>
            </a:r>
            <a:br>
              <a:rPr kumimoji="1" lang="en-US" altLang="ja-JP" sz="4000"/>
            </a:br>
            <a:r>
              <a:rPr kumimoji="1" lang="en-US" altLang="ja-JP" sz="4000"/>
              <a:t>2026-2028</a:t>
            </a:r>
            <a:endParaRPr kumimoji="1" lang="ja-JP" altLang="en-US" sz="4000"/>
          </a:p>
        </p:txBody>
      </p:sp>
      <p:sp>
        <p:nvSpPr>
          <p:cNvPr id="3" name="字幕 2">
            <a:extLst>
              <a:ext uri="{FF2B5EF4-FFF2-40B4-BE49-F238E27FC236}">
                <a16:creationId xmlns:a16="http://schemas.microsoft.com/office/drawing/2014/main" id="{C65EE0D3-3CE9-7DA3-8B85-F477A4DFEE49}"/>
              </a:ext>
            </a:extLst>
          </p:cNvPr>
          <p:cNvSpPr>
            <a:spLocks noGrp="1"/>
          </p:cNvSpPr>
          <p:nvPr>
            <p:ph type="subTitle" idx="1"/>
          </p:nvPr>
        </p:nvSpPr>
        <p:spPr>
          <a:xfrm>
            <a:off x="1524000" y="5170668"/>
            <a:ext cx="9144000" cy="1129937"/>
          </a:xfrm>
        </p:spPr>
        <p:txBody>
          <a:bodyPr anchor="ctr">
            <a:normAutofit/>
          </a:bodyPr>
          <a:lstStyle/>
          <a:p>
            <a:r>
              <a:rPr kumimoji="1" lang="en-US" altLang="ja-JP"/>
              <a:t>2026/06/22</a:t>
            </a:r>
          </a:p>
          <a:p>
            <a:r>
              <a:rPr lang="ja-JP" altLang="en-US"/>
              <a:t>企画部 企画</a:t>
            </a:r>
            <a:r>
              <a:rPr lang="en-US" altLang="ja-JP"/>
              <a:t>2</a:t>
            </a:r>
            <a:r>
              <a:rPr lang="ja-JP" altLang="en-US"/>
              <a:t>課</a:t>
            </a:r>
            <a:endParaRPr kumimoji="1" lang="ja-JP" altLang="en-US"/>
          </a:p>
        </p:txBody>
      </p:sp>
      <p:sp>
        <p:nvSpPr>
          <p:cNvPr id="4" name="テキスト ボックス 3">
            <a:extLst>
              <a:ext uri="{FF2B5EF4-FFF2-40B4-BE49-F238E27FC236}">
                <a16:creationId xmlns:a16="http://schemas.microsoft.com/office/drawing/2014/main" id="{F25300A3-ECF3-2AEC-EE2B-C4A6BB7F1A1C}"/>
              </a:ext>
            </a:extLst>
          </p:cNvPr>
          <p:cNvSpPr txBox="1"/>
          <p:nvPr/>
        </p:nvSpPr>
        <p:spPr>
          <a:xfrm>
            <a:off x="7913716" y="3906982"/>
            <a:ext cx="811441" cy="307777"/>
          </a:xfrm>
          <a:prstGeom prst="rect">
            <a:avLst/>
          </a:prstGeom>
          <a:noFill/>
        </p:spPr>
        <p:txBody>
          <a:bodyPr wrap="none" rtlCol="0">
            <a:spAutoFit/>
          </a:bodyPr>
          <a:lstStyle/>
          <a:p>
            <a:r>
              <a:rPr kumimoji="1" lang="en-US" altLang="ja-JP" sz="1400"/>
              <a:t>Ver. </a:t>
            </a:r>
            <a:r>
              <a:rPr lang="en-US" altLang="ja-JP" sz="1400"/>
              <a:t>1.8</a:t>
            </a:r>
            <a:endParaRPr kumimoji="1" lang="ja-JP" altLang="en-US" sz="1400"/>
          </a:p>
        </p:txBody>
      </p:sp>
    </p:spTree>
    <p:extLst>
      <p:ext uri="{BB962C8B-B14F-4D97-AF65-F5344CB8AC3E}">
        <p14:creationId xmlns:p14="http://schemas.microsoft.com/office/powerpoint/2010/main" val="1352114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528CF5E-DD84-5D19-2312-49129027FF23}"/>
              </a:ext>
            </a:extLst>
          </p:cNvPr>
          <p:cNvSpPr txBox="1"/>
          <p:nvPr/>
        </p:nvSpPr>
        <p:spPr>
          <a:xfrm>
            <a:off x="388556" y="196202"/>
            <a:ext cx="1210588" cy="400110"/>
          </a:xfrm>
          <a:prstGeom prst="rect">
            <a:avLst/>
          </a:prstGeom>
          <a:noFill/>
        </p:spPr>
        <p:txBody>
          <a:bodyPr wrap="none" rtlCol="0">
            <a:spAutoFit/>
          </a:bodyPr>
          <a:lstStyle/>
          <a:p>
            <a:r>
              <a:rPr lang="ja-JP" altLang="en-US" sz="2000" u="sng">
                <a:latin typeface="BIZ UDPゴシック" panose="020B0400000000000000" pitchFamily="50" charset="-128"/>
                <a:ea typeface="BIZ UDPゴシック" panose="020B0400000000000000" pitchFamily="50" charset="-128"/>
              </a:rPr>
              <a:t>型番規則</a:t>
            </a:r>
            <a:endParaRPr lang="en-US" altLang="ja-JP" sz="2000" u="sng">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0B47D3BF-0401-D2E0-F3F5-A093801C307A}"/>
              </a:ext>
            </a:extLst>
          </p:cNvPr>
          <p:cNvSpPr/>
          <p:nvPr/>
        </p:nvSpPr>
        <p:spPr>
          <a:xfrm>
            <a:off x="1032471" y="1500290"/>
            <a:ext cx="799379" cy="803694"/>
          </a:xfrm>
          <a:prstGeom prst="rect">
            <a:avLst/>
          </a:prstGeom>
          <a:solidFill>
            <a:schemeClr val="accent2">
              <a:lumMod val="75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bg1">
                    <a:lumMod val="95000"/>
                  </a:schemeClr>
                </a:solidFill>
                <a:latin typeface="Meiryo UI" panose="020B0604030504040204" pitchFamily="50" charset="-128"/>
                <a:ea typeface="Meiryo UI" panose="020B0604030504040204" pitchFamily="50" charset="-128"/>
              </a:rPr>
              <a:t>M</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5DAA31D9-1D90-E00F-C4B6-4B2F11585D82}"/>
              </a:ext>
            </a:extLst>
          </p:cNvPr>
          <p:cNvSpPr/>
          <p:nvPr/>
        </p:nvSpPr>
        <p:spPr>
          <a:xfrm>
            <a:off x="1032471" y="721176"/>
            <a:ext cx="1659233" cy="59105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a:latin typeface="Meiryo UI" panose="020B0604030504040204" pitchFamily="50" charset="-128"/>
                <a:ea typeface="Meiryo UI" panose="020B0604030504040204" pitchFamily="50" charset="-128"/>
              </a:rPr>
              <a:t>Series/Grade</a:t>
            </a:r>
            <a:endParaRPr kumimoji="1" lang="ja-JP" altLang="en-US">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5D79A998-AFFE-0125-BA4F-2C0DAB9293EA}"/>
              </a:ext>
            </a:extLst>
          </p:cNvPr>
          <p:cNvSpPr/>
          <p:nvPr/>
        </p:nvSpPr>
        <p:spPr>
          <a:xfrm>
            <a:off x="4208410" y="720462"/>
            <a:ext cx="2543629" cy="5806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a:latin typeface="Meiryo UI" panose="020B0604030504040204" pitchFamily="50" charset="-128"/>
                <a:ea typeface="Meiryo UI" panose="020B0604030504040204" pitchFamily="50" charset="-128"/>
              </a:rPr>
              <a:t>CPU</a:t>
            </a:r>
          </a:p>
        </p:txBody>
      </p:sp>
      <p:sp>
        <p:nvSpPr>
          <p:cNvPr id="10" name="正方形/長方形 9">
            <a:extLst>
              <a:ext uri="{FF2B5EF4-FFF2-40B4-BE49-F238E27FC236}">
                <a16:creationId xmlns:a16="http://schemas.microsoft.com/office/drawing/2014/main" id="{677D8748-6430-DA81-4A0E-B848AC8BF4FA}"/>
              </a:ext>
            </a:extLst>
          </p:cNvPr>
          <p:cNvSpPr/>
          <p:nvPr/>
        </p:nvSpPr>
        <p:spPr>
          <a:xfrm>
            <a:off x="8902376" y="1519226"/>
            <a:ext cx="431693" cy="772396"/>
          </a:xfrm>
          <a:prstGeom prst="rect">
            <a:avLst/>
          </a:prstGeom>
          <a:solidFill>
            <a:schemeClr val="bg1"/>
          </a:solidFill>
          <a:ln w="38100">
            <a:solidFill>
              <a:srgbClr val="FF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4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D5753E03-106B-7375-2BF6-EB7E3DFAF039}"/>
              </a:ext>
            </a:extLst>
          </p:cNvPr>
          <p:cNvSpPr/>
          <p:nvPr/>
        </p:nvSpPr>
        <p:spPr>
          <a:xfrm>
            <a:off x="6835670" y="720462"/>
            <a:ext cx="1968367" cy="58368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a:latin typeface="Meiryo UI" panose="020B0604030504040204" pitchFamily="50" charset="-128"/>
                <a:ea typeface="Meiryo UI" panose="020B0604030504040204" pitchFamily="50" charset="-128"/>
              </a:rPr>
              <a:t>VGA</a:t>
            </a:r>
            <a:endParaRPr kumimoji="1" lang="ja-JP" altLang="en-US">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4BD44AF1-25C2-6934-6457-A16A3A21241D}"/>
              </a:ext>
            </a:extLst>
          </p:cNvPr>
          <p:cNvSpPr/>
          <p:nvPr/>
        </p:nvSpPr>
        <p:spPr>
          <a:xfrm>
            <a:off x="6825902" y="1504701"/>
            <a:ext cx="1108292" cy="789218"/>
          </a:xfrm>
          <a:prstGeom prst="rect">
            <a:avLst/>
          </a:prstGeom>
          <a:solidFill>
            <a:schemeClr val="accent6">
              <a:lumMod val="60000"/>
              <a:lumOff val="40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tx1"/>
                </a:solidFill>
                <a:latin typeface="Meiryo UI" panose="020B0604030504040204" pitchFamily="50" charset="-128"/>
                <a:ea typeface="Meiryo UI" panose="020B0604030504040204" pitchFamily="50" charset="-128"/>
              </a:rPr>
              <a:t>IG</a:t>
            </a:r>
          </a:p>
        </p:txBody>
      </p:sp>
      <p:sp>
        <p:nvSpPr>
          <p:cNvPr id="23" name="正方形/長方形 22">
            <a:extLst>
              <a:ext uri="{FF2B5EF4-FFF2-40B4-BE49-F238E27FC236}">
                <a16:creationId xmlns:a16="http://schemas.microsoft.com/office/drawing/2014/main" id="{6E473997-C87D-A2E9-8061-2F5DD9320251}"/>
              </a:ext>
            </a:extLst>
          </p:cNvPr>
          <p:cNvSpPr/>
          <p:nvPr/>
        </p:nvSpPr>
        <p:spPr>
          <a:xfrm>
            <a:off x="1906658" y="1500290"/>
            <a:ext cx="799379" cy="798818"/>
          </a:xfrm>
          <a:prstGeom prst="rect">
            <a:avLst/>
          </a:prstGeom>
          <a:solidFill>
            <a:schemeClr val="accent2">
              <a:lumMod val="75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A</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cxnSp>
        <p:nvCxnSpPr>
          <p:cNvPr id="26" name="直線矢印コネクタ 25">
            <a:extLst>
              <a:ext uri="{FF2B5EF4-FFF2-40B4-BE49-F238E27FC236}">
                <a16:creationId xmlns:a16="http://schemas.microsoft.com/office/drawing/2014/main" id="{3D2014B7-4BF1-0D92-4DBD-97866B21F10D}"/>
              </a:ext>
            </a:extLst>
          </p:cNvPr>
          <p:cNvCxnSpPr>
            <a:cxnSpLocks/>
          </p:cNvCxnSpPr>
          <p:nvPr/>
        </p:nvCxnSpPr>
        <p:spPr>
          <a:xfrm flipH="1">
            <a:off x="10211677" y="3989895"/>
            <a:ext cx="44936" cy="13225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四角形: 角を丸くする 26">
            <a:extLst>
              <a:ext uri="{FF2B5EF4-FFF2-40B4-BE49-F238E27FC236}">
                <a16:creationId xmlns:a16="http://schemas.microsoft.com/office/drawing/2014/main" id="{075FEE0F-48FD-E4D1-7A84-4CC04D144FEF}"/>
              </a:ext>
            </a:extLst>
          </p:cNvPr>
          <p:cNvSpPr/>
          <p:nvPr/>
        </p:nvSpPr>
        <p:spPr>
          <a:xfrm>
            <a:off x="8380073" y="5358623"/>
            <a:ext cx="3663208" cy="1246442"/>
          </a:xfrm>
          <a:prstGeom prst="roundRect">
            <a:avLst/>
          </a:prstGeom>
          <a:solidFill>
            <a:srgbClr val="4472C4">
              <a:alpha val="61961"/>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100">
                <a:solidFill>
                  <a:schemeClr val="tx1"/>
                </a:solidFill>
                <a:latin typeface="Meiryo UI" panose="020B0604030504040204" pitchFamily="50" charset="-128"/>
                <a:ea typeface="Meiryo UI" panose="020B0604030504040204" pitchFamily="50" charset="-128"/>
              </a:rPr>
              <a:t>★発表時期はリビジョン管理を兼ねる</a:t>
            </a:r>
            <a:endParaRPr lang="en-US" altLang="ja-JP" sz="1100">
              <a:solidFill>
                <a:schemeClr val="tx1"/>
              </a:solidFill>
              <a:latin typeface="Meiryo UI" panose="020B0604030504040204" pitchFamily="50" charset="-128"/>
              <a:ea typeface="Meiryo UI" panose="020B0604030504040204" pitchFamily="50" charset="-128"/>
            </a:endParaRPr>
          </a:p>
          <a:p>
            <a:r>
              <a:rPr lang="en-US" altLang="ja-JP" sz="1100">
                <a:solidFill>
                  <a:schemeClr val="tx1"/>
                </a:solidFill>
                <a:latin typeface="Meiryo UI" panose="020B0604030504040204" pitchFamily="50" charset="-128"/>
                <a:ea typeface="Meiryo UI" panose="020B0604030504040204" pitchFamily="50" charset="-128"/>
              </a:rPr>
              <a:t>CPU/GPU/</a:t>
            </a:r>
            <a:r>
              <a:rPr lang="ja-JP" altLang="en-US" sz="1100">
                <a:solidFill>
                  <a:schemeClr val="tx1"/>
                </a:solidFill>
                <a:latin typeface="Meiryo UI" panose="020B0604030504040204" pitchFamily="50" charset="-128"/>
                <a:ea typeface="Meiryo UI" panose="020B0604030504040204" pitchFamily="50" charset="-128"/>
              </a:rPr>
              <a:t>サイズ区分が同じままベアボーンを変更する場合</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など、型番が同一になる場合末尾で区別をする。</a:t>
            </a:r>
            <a:endParaRPr lang="en-US" altLang="ja-JP" sz="1100">
              <a:solidFill>
                <a:schemeClr val="tx1"/>
              </a:solidFill>
              <a:latin typeface="Meiryo UI" panose="020B0604030504040204" pitchFamily="50" charset="-128"/>
              <a:ea typeface="Meiryo UI" panose="020B0604030504040204" pitchFamily="50" charset="-128"/>
            </a:endParaRPr>
          </a:p>
          <a:p>
            <a:r>
              <a:rPr lang="ja-JP" altLang="en-US" sz="1100">
                <a:solidFill>
                  <a:schemeClr val="tx1"/>
                </a:solidFill>
                <a:latin typeface="Meiryo UI" panose="020B0604030504040204" pitchFamily="50" charset="-128"/>
                <a:ea typeface="Meiryo UI" panose="020B0604030504040204" pitchFamily="50" charset="-128"/>
              </a:rPr>
              <a:t>新モデルが発売中製品と完全に同一のモデル名になるが管理上同じモデルとして扱うべきでない場合に使用。</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B0EA5607-9051-AC59-7F71-2A32BAAFDFE1}"/>
              </a:ext>
            </a:extLst>
          </p:cNvPr>
          <p:cNvSpPr/>
          <p:nvPr/>
        </p:nvSpPr>
        <p:spPr>
          <a:xfrm>
            <a:off x="157022" y="1496610"/>
            <a:ext cx="799379" cy="798818"/>
          </a:xfrm>
          <a:prstGeom prst="rect">
            <a:avLst/>
          </a:prstGeom>
          <a:solidFill>
            <a:schemeClr val="bg1">
              <a:lumMod val="50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B</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DC97FA7B-0FCC-13A0-5676-EE4491BBBDFA}"/>
              </a:ext>
            </a:extLst>
          </p:cNvPr>
          <p:cNvSpPr/>
          <p:nvPr/>
        </p:nvSpPr>
        <p:spPr>
          <a:xfrm>
            <a:off x="2779492" y="1492803"/>
            <a:ext cx="799379" cy="810929"/>
          </a:xfrm>
          <a:prstGeom prst="rect">
            <a:avLst/>
          </a:prstGeom>
          <a:solidFill>
            <a:srgbClr val="FF0000"/>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4</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B8F15C92-6360-95A5-1B00-E4BAD789C79F}"/>
              </a:ext>
            </a:extLst>
          </p:cNvPr>
          <p:cNvSpPr/>
          <p:nvPr/>
        </p:nvSpPr>
        <p:spPr>
          <a:xfrm>
            <a:off x="165006" y="721176"/>
            <a:ext cx="791395" cy="59105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a:latin typeface="Meiryo UI" panose="020B0604030504040204" pitchFamily="50" charset="-128"/>
                <a:ea typeface="Meiryo UI" panose="020B0604030504040204" pitchFamily="50" charset="-128"/>
              </a:rPr>
              <a:t>商流</a:t>
            </a:r>
          </a:p>
        </p:txBody>
      </p:sp>
      <p:sp>
        <p:nvSpPr>
          <p:cNvPr id="36" name="正方形/長方形 35">
            <a:extLst>
              <a:ext uri="{FF2B5EF4-FFF2-40B4-BE49-F238E27FC236}">
                <a16:creationId xmlns:a16="http://schemas.microsoft.com/office/drawing/2014/main" id="{C32B8BDF-FF09-E9AC-B1CC-FB0537A83B3D}"/>
              </a:ext>
            </a:extLst>
          </p:cNvPr>
          <p:cNvSpPr/>
          <p:nvPr/>
        </p:nvSpPr>
        <p:spPr>
          <a:xfrm>
            <a:off x="4199791" y="1492803"/>
            <a:ext cx="799379" cy="798818"/>
          </a:xfrm>
          <a:prstGeom prst="rect">
            <a:avLst/>
          </a:prstGeom>
          <a:solidFill>
            <a:srgbClr val="0070C0"/>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C</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9D7E299C-234B-6577-6BB2-A18262A393B7}"/>
              </a:ext>
            </a:extLst>
          </p:cNvPr>
          <p:cNvSpPr/>
          <p:nvPr/>
        </p:nvSpPr>
        <p:spPr>
          <a:xfrm>
            <a:off x="3667178" y="1511085"/>
            <a:ext cx="438214" cy="780536"/>
          </a:xfrm>
          <a:prstGeom prst="rect">
            <a:avLst/>
          </a:prstGeom>
          <a:solidFill>
            <a:schemeClr val="bg1"/>
          </a:solidFill>
          <a:ln w="38100">
            <a:solidFill>
              <a:srgbClr val="FF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lumMod val="75000"/>
                    <a:lumOff val="25000"/>
                  </a:schemeClr>
                </a:solidFill>
                <a:latin typeface="Meiryo UI" panose="020B0604030504040204" pitchFamily="50" charset="-128"/>
                <a:ea typeface="Meiryo UI" panose="020B0604030504040204" pitchFamily="50" charset="-128"/>
              </a:rPr>
              <a:t>-</a:t>
            </a:r>
            <a:endParaRPr kumimoji="1" lang="ja-JP" altLang="en-US" sz="4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9B9D83DD-D572-1F14-3539-1A77A9FDF2BA}"/>
              </a:ext>
            </a:extLst>
          </p:cNvPr>
          <p:cNvSpPr/>
          <p:nvPr/>
        </p:nvSpPr>
        <p:spPr>
          <a:xfrm>
            <a:off x="5071805" y="1497870"/>
            <a:ext cx="799379" cy="798818"/>
          </a:xfrm>
          <a:prstGeom prst="rect">
            <a:avLst/>
          </a:prstGeom>
          <a:solidFill>
            <a:srgbClr val="0070C0"/>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7</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9AE397C9-44C6-26E6-A801-5A864829CF43}"/>
              </a:ext>
            </a:extLst>
          </p:cNvPr>
          <p:cNvSpPr/>
          <p:nvPr/>
        </p:nvSpPr>
        <p:spPr>
          <a:xfrm>
            <a:off x="5952660" y="1492803"/>
            <a:ext cx="799379" cy="798818"/>
          </a:xfrm>
          <a:prstGeom prst="rect">
            <a:avLst/>
          </a:prstGeom>
          <a:solidFill>
            <a:srgbClr val="0070C0"/>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U</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DE4F70BE-B243-3F0D-273F-F8D91A6E17A3}"/>
              </a:ext>
            </a:extLst>
          </p:cNvPr>
          <p:cNvSpPr/>
          <p:nvPr/>
        </p:nvSpPr>
        <p:spPr>
          <a:xfrm>
            <a:off x="8004659" y="1499901"/>
            <a:ext cx="799379" cy="798818"/>
          </a:xfrm>
          <a:prstGeom prst="rect">
            <a:avLst/>
          </a:prstGeom>
          <a:solidFill>
            <a:schemeClr val="accent6">
              <a:lumMod val="60000"/>
              <a:lumOff val="40000"/>
            </a:schemeClr>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tx1"/>
                </a:solidFill>
                <a:latin typeface="Meiryo UI" panose="020B0604030504040204" pitchFamily="50" charset="-128"/>
                <a:ea typeface="Meiryo UI" panose="020B0604030504040204" pitchFamily="50" charset="-128"/>
              </a:rPr>
              <a:t>A</a:t>
            </a:r>
            <a:endParaRPr kumimoji="1" lang="ja-JP" altLang="en-US" sz="4400">
              <a:solidFill>
                <a:schemeClr val="tx1"/>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AD221348-E3AC-4476-1B9C-C0867840DE31}"/>
              </a:ext>
            </a:extLst>
          </p:cNvPr>
          <p:cNvSpPr/>
          <p:nvPr/>
        </p:nvSpPr>
        <p:spPr>
          <a:xfrm>
            <a:off x="9454411" y="733867"/>
            <a:ext cx="1662774" cy="5806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a:latin typeface="Meiryo UI" panose="020B0604030504040204" pitchFamily="50" charset="-128"/>
                <a:ea typeface="Meiryo UI" panose="020B0604030504040204" pitchFamily="50" charset="-128"/>
              </a:rPr>
              <a:t>発表時期</a:t>
            </a:r>
            <a:endParaRPr kumimoji="1" lang="en-US" altLang="ja-JP">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B614D4A7-41C7-6878-5ABF-9949D9B877C2}"/>
              </a:ext>
            </a:extLst>
          </p:cNvPr>
          <p:cNvSpPr/>
          <p:nvPr/>
        </p:nvSpPr>
        <p:spPr>
          <a:xfrm>
            <a:off x="9445791" y="1506208"/>
            <a:ext cx="799379" cy="798818"/>
          </a:xfrm>
          <a:prstGeom prst="rect">
            <a:avLst/>
          </a:prstGeom>
          <a:solidFill>
            <a:schemeClr val="accent4"/>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solidFill>
                <a:latin typeface="Meiryo UI" panose="020B0604030504040204" pitchFamily="50" charset="-128"/>
                <a:ea typeface="Meiryo UI" panose="020B0604030504040204" pitchFamily="50" charset="-128"/>
              </a:rPr>
              <a:t>0</a:t>
            </a:r>
            <a:endParaRPr kumimoji="1" lang="ja-JP" altLang="en-US" sz="4400">
              <a:solidFill>
                <a:schemeClr val="tx1"/>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6757EE2F-C462-04BF-3DE6-B23F5D4CB4C4}"/>
              </a:ext>
            </a:extLst>
          </p:cNvPr>
          <p:cNvSpPr/>
          <p:nvPr/>
        </p:nvSpPr>
        <p:spPr>
          <a:xfrm>
            <a:off x="10317805" y="1511275"/>
            <a:ext cx="799379" cy="798818"/>
          </a:xfrm>
          <a:prstGeom prst="rect">
            <a:avLst/>
          </a:prstGeom>
          <a:solidFill>
            <a:schemeClr val="accent4"/>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4400">
                <a:solidFill>
                  <a:schemeClr val="tx1"/>
                </a:solidFill>
                <a:latin typeface="Meiryo UI" panose="020B0604030504040204" pitchFamily="50" charset="-128"/>
                <a:ea typeface="Meiryo UI" panose="020B0604030504040204" pitchFamily="50" charset="-128"/>
              </a:rPr>
              <a:t>8</a:t>
            </a:r>
            <a:endParaRPr kumimoji="1" lang="ja-JP" altLang="en-US" sz="4400">
              <a:solidFill>
                <a:schemeClr val="tx1"/>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F0C31476-19D5-13ED-EE8A-CB5775C9D9B7}"/>
              </a:ext>
            </a:extLst>
          </p:cNvPr>
          <p:cNvSpPr/>
          <p:nvPr/>
        </p:nvSpPr>
        <p:spPr>
          <a:xfrm>
            <a:off x="11198660" y="1506208"/>
            <a:ext cx="799379" cy="798818"/>
          </a:xfrm>
          <a:prstGeom prst="rect">
            <a:avLst/>
          </a:prstGeom>
          <a:solidFill>
            <a:srgbClr val="7030A0"/>
          </a:solidFill>
          <a:ln w="3810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4400">
                <a:solidFill>
                  <a:schemeClr val="bg1">
                    <a:lumMod val="95000"/>
                  </a:schemeClr>
                </a:solidFill>
                <a:latin typeface="Meiryo UI" panose="020B0604030504040204" pitchFamily="50" charset="-128"/>
                <a:ea typeface="Meiryo UI" panose="020B0604030504040204" pitchFamily="50" charset="-128"/>
              </a:rPr>
              <a:t>B</a:t>
            </a:r>
            <a:endParaRPr kumimoji="1" lang="ja-JP" altLang="en-US" sz="4400">
              <a:solidFill>
                <a:schemeClr val="bg1">
                  <a:lumMod val="95000"/>
                </a:schemeClr>
              </a:solidFill>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6660B9DA-95F1-2ACB-AE25-4F9CF179CE38}"/>
              </a:ext>
            </a:extLst>
          </p:cNvPr>
          <p:cNvSpPr/>
          <p:nvPr/>
        </p:nvSpPr>
        <p:spPr>
          <a:xfrm>
            <a:off x="11198660" y="731568"/>
            <a:ext cx="799379" cy="58066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a:latin typeface="Meiryo UI" panose="020B0604030504040204" pitchFamily="50" charset="-128"/>
                <a:ea typeface="Meiryo UI" panose="020B0604030504040204" pitchFamily="50" charset="-128"/>
              </a:rPr>
              <a:t>カラー</a:t>
            </a:r>
            <a:endParaRPr kumimoji="1" lang="en-US" altLang="ja-JP">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1B6447BA-B7AB-E46F-2A97-95B462E21C04}"/>
              </a:ext>
            </a:extLst>
          </p:cNvPr>
          <p:cNvSpPr/>
          <p:nvPr/>
        </p:nvSpPr>
        <p:spPr>
          <a:xfrm>
            <a:off x="2782977" y="726415"/>
            <a:ext cx="791396" cy="59105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400">
                <a:latin typeface="Meiryo UI" panose="020B0604030504040204" pitchFamily="50" charset="-128"/>
                <a:ea typeface="Meiryo UI" panose="020B0604030504040204" pitchFamily="50" charset="-128"/>
              </a:rPr>
              <a:t>シャーシ</a:t>
            </a:r>
          </a:p>
        </p:txBody>
      </p:sp>
      <p:graphicFrame>
        <p:nvGraphicFramePr>
          <p:cNvPr id="59" name="オブジェクト 58">
            <a:extLst>
              <a:ext uri="{FF2B5EF4-FFF2-40B4-BE49-F238E27FC236}">
                <a16:creationId xmlns:a16="http://schemas.microsoft.com/office/drawing/2014/main" id="{085320EE-4109-DDD8-5A60-9BF2C11ED59E}"/>
              </a:ext>
            </a:extLst>
          </p:cNvPr>
          <p:cNvGraphicFramePr>
            <a:graphicFrameLocks noChangeAspect="1"/>
          </p:cNvGraphicFramePr>
          <p:nvPr>
            <p:extLst>
              <p:ext uri="{D42A27DB-BD31-4B8C-83A1-F6EECF244321}">
                <p14:modId xmlns:p14="http://schemas.microsoft.com/office/powerpoint/2010/main" val="3390651170"/>
              </p:ext>
            </p:extLst>
          </p:nvPr>
        </p:nvGraphicFramePr>
        <p:xfrm>
          <a:off x="148719" y="2652066"/>
          <a:ext cx="799379" cy="382312"/>
        </p:xfrm>
        <a:graphic>
          <a:graphicData uri="http://schemas.openxmlformats.org/presentationml/2006/ole">
            <mc:AlternateContent xmlns:mc="http://schemas.openxmlformats.org/markup-compatibility/2006">
              <mc:Choice xmlns:v="urn:schemas-microsoft-com:vml" Requires="v">
                <p:oleObj name="Worksheet" r:id="rId2" imgW="876123" imgH="418923" progId="Excel.Sheet.12">
                  <p:embed/>
                </p:oleObj>
              </mc:Choice>
              <mc:Fallback>
                <p:oleObj name="Worksheet" r:id="rId2" imgW="876123" imgH="418923" progId="Excel.Sheet.12">
                  <p:embed/>
                  <p:pic>
                    <p:nvPicPr>
                      <p:cNvPr id="59" name="オブジェクト 58">
                        <a:extLst>
                          <a:ext uri="{FF2B5EF4-FFF2-40B4-BE49-F238E27FC236}">
                            <a16:creationId xmlns:a16="http://schemas.microsoft.com/office/drawing/2014/main" id="{085320EE-4109-DDD8-5A60-9BF2C11ED59E}"/>
                          </a:ext>
                        </a:extLst>
                      </p:cNvPr>
                      <p:cNvPicPr/>
                      <p:nvPr/>
                    </p:nvPicPr>
                    <p:blipFill>
                      <a:blip r:embed="rId3"/>
                      <a:stretch>
                        <a:fillRect/>
                      </a:stretch>
                    </p:blipFill>
                    <p:spPr>
                      <a:xfrm>
                        <a:off x="148719" y="2652066"/>
                        <a:ext cx="799379" cy="382312"/>
                      </a:xfrm>
                      <a:prstGeom prst="rect">
                        <a:avLst/>
                      </a:prstGeom>
                    </p:spPr>
                  </p:pic>
                </p:oleObj>
              </mc:Fallback>
            </mc:AlternateContent>
          </a:graphicData>
        </a:graphic>
      </p:graphicFrame>
      <p:graphicFrame>
        <p:nvGraphicFramePr>
          <p:cNvPr id="60" name="オブジェクト 59">
            <a:extLst>
              <a:ext uri="{FF2B5EF4-FFF2-40B4-BE49-F238E27FC236}">
                <a16:creationId xmlns:a16="http://schemas.microsoft.com/office/drawing/2014/main" id="{44689CDD-6952-7DD3-030F-29971664BB1C}"/>
              </a:ext>
            </a:extLst>
          </p:cNvPr>
          <p:cNvGraphicFramePr>
            <a:graphicFrameLocks noChangeAspect="1"/>
          </p:cNvGraphicFramePr>
          <p:nvPr>
            <p:extLst>
              <p:ext uri="{D42A27DB-BD31-4B8C-83A1-F6EECF244321}">
                <p14:modId xmlns:p14="http://schemas.microsoft.com/office/powerpoint/2010/main" val="3018859102"/>
              </p:ext>
            </p:extLst>
          </p:nvPr>
        </p:nvGraphicFramePr>
        <p:xfrm>
          <a:off x="1042678" y="2651081"/>
          <a:ext cx="789781" cy="563720"/>
        </p:xfrm>
        <a:graphic>
          <a:graphicData uri="http://schemas.openxmlformats.org/presentationml/2006/ole">
            <mc:AlternateContent xmlns:mc="http://schemas.openxmlformats.org/markup-compatibility/2006">
              <mc:Choice xmlns:v="urn:schemas-microsoft-com:vml" Requires="v">
                <p:oleObj name="Worksheet" r:id="rId4" imgW="876123" imgH="624769" progId="Excel.Sheet.12">
                  <p:embed/>
                </p:oleObj>
              </mc:Choice>
              <mc:Fallback>
                <p:oleObj name="Worksheet" r:id="rId4" imgW="876123" imgH="624769" progId="Excel.Sheet.12">
                  <p:embed/>
                  <p:pic>
                    <p:nvPicPr>
                      <p:cNvPr id="60" name="オブジェクト 59">
                        <a:extLst>
                          <a:ext uri="{FF2B5EF4-FFF2-40B4-BE49-F238E27FC236}">
                            <a16:creationId xmlns:a16="http://schemas.microsoft.com/office/drawing/2014/main" id="{44689CDD-6952-7DD3-030F-29971664BB1C}"/>
                          </a:ext>
                        </a:extLst>
                      </p:cNvPr>
                      <p:cNvPicPr/>
                      <p:nvPr/>
                    </p:nvPicPr>
                    <p:blipFill>
                      <a:blip r:embed="rId5"/>
                      <a:stretch>
                        <a:fillRect/>
                      </a:stretch>
                    </p:blipFill>
                    <p:spPr>
                      <a:xfrm>
                        <a:off x="1042678" y="2651081"/>
                        <a:ext cx="789781" cy="563720"/>
                      </a:xfrm>
                      <a:prstGeom prst="rect">
                        <a:avLst/>
                      </a:prstGeom>
                    </p:spPr>
                  </p:pic>
                </p:oleObj>
              </mc:Fallback>
            </mc:AlternateContent>
          </a:graphicData>
        </a:graphic>
      </p:graphicFrame>
      <p:graphicFrame>
        <p:nvGraphicFramePr>
          <p:cNvPr id="61" name="オブジェクト 60">
            <a:extLst>
              <a:ext uri="{FF2B5EF4-FFF2-40B4-BE49-F238E27FC236}">
                <a16:creationId xmlns:a16="http://schemas.microsoft.com/office/drawing/2014/main" id="{E4160703-26F4-4B57-F1B0-E75220523CA8}"/>
              </a:ext>
            </a:extLst>
          </p:cNvPr>
          <p:cNvGraphicFramePr>
            <a:graphicFrameLocks noChangeAspect="1"/>
          </p:cNvGraphicFramePr>
          <p:nvPr>
            <p:extLst>
              <p:ext uri="{D42A27DB-BD31-4B8C-83A1-F6EECF244321}">
                <p14:modId xmlns:p14="http://schemas.microsoft.com/office/powerpoint/2010/main" val="3178438504"/>
              </p:ext>
            </p:extLst>
          </p:nvPr>
        </p:nvGraphicFramePr>
        <p:xfrm>
          <a:off x="1910990" y="2652249"/>
          <a:ext cx="795866" cy="568064"/>
        </p:xfrm>
        <a:graphic>
          <a:graphicData uri="http://schemas.openxmlformats.org/presentationml/2006/ole">
            <mc:AlternateContent xmlns:mc="http://schemas.openxmlformats.org/markup-compatibility/2006">
              <mc:Choice xmlns:v="urn:schemas-microsoft-com:vml" Requires="v">
                <p:oleObj name="Worksheet" r:id="rId6" imgW="876123" imgH="624769" progId="Excel.Sheet.12">
                  <p:embed/>
                </p:oleObj>
              </mc:Choice>
              <mc:Fallback>
                <p:oleObj name="Worksheet" r:id="rId6" imgW="876123" imgH="624769" progId="Excel.Sheet.12">
                  <p:embed/>
                  <p:pic>
                    <p:nvPicPr>
                      <p:cNvPr id="61" name="オブジェクト 60">
                        <a:extLst>
                          <a:ext uri="{FF2B5EF4-FFF2-40B4-BE49-F238E27FC236}">
                            <a16:creationId xmlns:a16="http://schemas.microsoft.com/office/drawing/2014/main" id="{E4160703-26F4-4B57-F1B0-E75220523CA8}"/>
                          </a:ext>
                        </a:extLst>
                      </p:cNvPr>
                      <p:cNvPicPr/>
                      <p:nvPr/>
                    </p:nvPicPr>
                    <p:blipFill>
                      <a:blip r:embed="rId7"/>
                      <a:stretch>
                        <a:fillRect/>
                      </a:stretch>
                    </p:blipFill>
                    <p:spPr>
                      <a:xfrm>
                        <a:off x="1910990" y="2652249"/>
                        <a:ext cx="795866" cy="568064"/>
                      </a:xfrm>
                      <a:prstGeom prst="rect">
                        <a:avLst/>
                      </a:prstGeom>
                    </p:spPr>
                  </p:pic>
                </p:oleObj>
              </mc:Fallback>
            </mc:AlternateContent>
          </a:graphicData>
        </a:graphic>
      </p:graphicFrame>
      <p:graphicFrame>
        <p:nvGraphicFramePr>
          <p:cNvPr id="62" name="オブジェクト 61">
            <a:extLst>
              <a:ext uri="{FF2B5EF4-FFF2-40B4-BE49-F238E27FC236}">
                <a16:creationId xmlns:a16="http://schemas.microsoft.com/office/drawing/2014/main" id="{52E28FC9-FCCB-251A-ADF6-4B2BFBE32F58}"/>
              </a:ext>
            </a:extLst>
          </p:cNvPr>
          <p:cNvGraphicFramePr>
            <a:graphicFrameLocks noChangeAspect="1"/>
          </p:cNvGraphicFramePr>
          <p:nvPr>
            <p:extLst>
              <p:ext uri="{D42A27DB-BD31-4B8C-83A1-F6EECF244321}">
                <p14:modId xmlns:p14="http://schemas.microsoft.com/office/powerpoint/2010/main" val="2173177170"/>
              </p:ext>
            </p:extLst>
          </p:nvPr>
        </p:nvGraphicFramePr>
        <p:xfrm>
          <a:off x="2821078" y="2657204"/>
          <a:ext cx="757793" cy="1073540"/>
        </p:xfrm>
        <a:graphic>
          <a:graphicData uri="http://schemas.openxmlformats.org/presentationml/2006/ole">
            <mc:AlternateContent xmlns:mc="http://schemas.openxmlformats.org/markup-compatibility/2006">
              <mc:Choice xmlns:v="urn:schemas-microsoft-com:vml" Requires="v">
                <p:oleObj name="Worksheet" r:id="rId8" imgW="876123" imgH="1241883" progId="Excel.Sheet.12">
                  <p:embed/>
                </p:oleObj>
              </mc:Choice>
              <mc:Fallback>
                <p:oleObj name="Worksheet" r:id="rId8" imgW="876123" imgH="1241883" progId="Excel.Sheet.12">
                  <p:embed/>
                  <p:pic>
                    <p:nvPicPr>
                      <p:cNvPr id="62" name="オブジェクト 61">
                        <a:extLst>
                          <a:ext uri="{FF2B5EF4-FFF2-40B4-BE49-F238E27FC236}">
                            <a16:creationId xmlns:a16="http://schemas.microsoft.com/office/drawing/2014/main" id="{52E28FC9-FCCB-251A-ADF6-4B2BFBE32F58}"/>
                          </a:ext>
                        </a:extLst>
                      </p:cNvPr>
                      <p:cNvPicPr/>
                      <p:nvPr/>
                    </p:nvPicPr>
                    <p:blipFill>
                      <a:blip r:embed="rId9"/>
                      <a:stretch>
                        <a:fillRect/>
                      </a:stretch>
                    </p:blipFill>
                    <p:spPr>
                      <a:xfrm>
                        <a:off x="2821078" y="2657204"/>
                        <a:ext cx="757793" cy="1073540"/>
                      </a:xfrm>
                      <a:prstGeom prst="rect">
                        <a:avLst/>
                      </a:prstGeom>
                    </p:spPr>
                  </p:pic>
                </p:oleObj>
              </mc:Fallback>
            </mc:AlternateContent>
          </a:graphicData>
        </a:graphic>
      </p:graphicFrame>
      <p:graphicFrame>
        <p:nvGraphicFramePr>
          <p:cNvPr id="63" name="オブジェクト 62">
            <a:extLst>
              <a:ext uri="{FF2B5EF4-FFF2-40B4-BE49-F238E27FC236}">
                <a16:creationId xmlns:a16="http://schemas.microsoft.com/office/drawing/2014/main" id="{45DCC0A6-E720-990B-9812-F92757421CE4}"/>
              </a:ext>
            </a:extLst>
          </p:cNvPr>
          <p:cNvGraphicFramePr>
            <a:graphicFrameLocks noChangeAspect="1"/>
          </p:cNvGraphicFramePr>
          <p:nvPr>
            <p:extLst>
              <p:ext uri="{D42A27DB-BD31-4B8C-83A1-F6EECF244321}">
                <p14:modId xmlns:p14="http://schemas.microsoft.com/office/powerpoint/2010/main" val="960967656"/>
              </p:ext>
            </p:extLst>
          </p:nvPr>
        </p:nvGraphicFramePr>
        <p:xfrm>
          <a:off x="4223519" y="2652432"/>
          <a:ext cx="786744" cy="745412"/>
        </p:xfrm>
        <a:graphic>
          <a:graphicData uri="http://schemas.openxmlformats.org/presentationml/2006/ole">
            <mc:AlternateContent xmlns:mc="http://schemas.openxmlformats.org/markup-compatibility/2006">
              <mc:Choice xmlns:v="urn:schemas-microsoft-com:vml" Requires="v">
                <p:oleObj name="Worksheet" r:id="rId10" imgW="876123" imgH="830615" progId="Excel.Sheet.12">
                  <p:embed/>
                </p:oleObj>
              </mc:Choice>
              <mc:Fallback>
                <p:oleObj name="Worksheet" r:id="rId10" imgW="876123" imgH="830615" progId="Excel.Sheet.12">
                  <p:embed/>
                  <p:pic>
                    <p:nvPicPr>
                      <p:cNvPr id="63" name="オブジェクト 62">
                        <a:extLst>
                          <a:ext uri="{FF2B5EF4-FFF2-40B4-BE49-F238E27FC236}">
                            <a16:creationId xmlns:a16="http://schemas.microsoft.com/office/drawing/2014/main" id="{45DCC0A6-E720-990B-9812-F92757421CE4}"/>
                          </a:ext>
                        </a:extLst>
                      </p:cNvPr>
                      <p:cNvPicPr/>
                      <p:nvPr/>
                    </p:nvPicPr>
                    <p:blipFill>
                      <a:blip r:embed="rId11"/>
                      <a:stretch>
                        <a:fillRect/>
                      </a:stretch>
                    </p:blipFill>
                    <p:spPr>
                      <a:xfrm>
                        <a:off x="4223519" y="2652432"/>
                        <a:ext cx="786744" cy="745412"/>
                      </a:xfrm>
                      <a:prstGeom prst="rect">
                        <a:avLst/>
                      </a:prstGeom>
                    </p:spPr>
                  </p:pic>
                </p:oleObj>
              </mc:Fallback>
            </mc:AlternateContent>
          </a:graphicData>
        </a:graphic>
      </p:graphicFrame>
      <p:graphicFrame>
        <p:nvGraphicFramePr>
          <p:cNvPr id="64" name="オブジェクト 63">
            <a:extLst>
              <a:ext uri="{FF2B5EF4-FFF2-40B4-BE49-F238E27FC236}">
                <a16:creationId xmlns:a16="http://schemas.microsoft.com/office/drawing/2014/main" id="{5870A873-5F05-0C61-B101-E06A4D55926D}"/>
              </a:ext>
            </a:extLst>
          </p:cNvPr>
          <p:cNvGraphicFramePr>
            <a:graphicFrameLocks noChangeAspect="1"/>
          </p:cNvGraphicFramePr>
          <p:nvPr>
            <p:extLst>
              <p:ext uri="{D42A27DB-BD31-4B8C-83A1-F6EECF244321}">
                <p14:modId xmlns:p14="http://schemas.microsoft.com/office/powerpoint/2010/main" val="3643122780"/>
              </p:ext>
            </p:extLst>
          </p:nvPr>
        </p:nvGraphicFramePr>
        <p:xfrm>
          <a:off x="5084953" y="2651665"/>
          <a:ext cx="785271" cy="1482342"/>
        </p:xfrm>
        <a:graphic>
          <a:graphicData uri="http://schemas.openxmlformats.org/presentationml/2006/ole">
            <mc:AlternateContent xmlns:mc="http://schemas.openxmlformats.org/markup-compatibility/2006">
              <mc:Choice xmlns:v="urn:schemas-microsoft-com:vml" Requires="v">
                <p:oleObj name="Worksheet" r:id="rId12" imgW="876123" imgH="1653575" progId="Excel.Sheet.12">
                  <p:embed/>
                </p:oleObj>
              </mc:Choice>
              <mc:Fallback>
                <p:oleObj name="Worksheet" r:id="rId12" imgW="876123" imgH="1653575" progId="Excel.Sheet.12">
                  <p:embed/>
                  <p:pic>
                    <p:nvPicPr>
                      <p:cNvPr id="64" name="オブジェクト 63">
                        <a:extLst>
                          <a:ext uri="{FF2B5EF4-FFF2-40B4-BE49-F238E27FC236}">
                            <a16:creationId xmlns:a16="http://schemas.microsoft.com/office/drawing/2014/main" id="{5870A873-5F05-0C61-B101-E06A4D55926D}"/>
                          </a:ext>
                        </a:extLst>
                      </p:cNvPr>
                      <p:cNvPicPr/>
                      <p:nvPr/>
                    </p:nvPicPr>
                    <p:blipFill>
                      <a:blip r:embed="rId13"/>
                      <a:stretch>
                        <a:fillRect/>
                      </a:stretch>
                    </p:blipFill>
                    <p:spPr>
                      <a:xfrm>
                        <a:off x="5084953" y="2651665"/>
                        <a:ext cx="785271" cy="1482342"/>
                      </a:xfrm>
                      <a:prstGeom prst="rect">
                        <a:avLst/>
                      </a:prstGeom>
                    </p:spPr>
                  </p:pic>
                </p:oleObj>
              </mc:Fallback>
            </mc:AlternateContent>
          </a:graphicData>
        </a:graphic>
      </p:graphicFrame>
      <p:graphicFrame>
        <p:nvGraphicFramePr>
          <p:cNvPr id="65" name="オブジェクト 64">
            <a:extLst>
              <a:ext uri="{FF2B5EF4-FFF2-40B4-BE49-F238E27FC236}">
                <a16:creationId xmlns:a16="http://schemas.microsoft.com/office/drawing/2014/main" id="{2173F2C6-24D8-EFEC-D874-1BC280A37108}"/>
              </a:ext>
            </a:extLst>
          </p:cNvPr>
          <p:cNvGraphicFramePr>
            <a:graphicFrameLocks noChangeAspect="1"/>
          </p:cNvGraphicFramePr>
          <p:nvPr>
            <p:extLst>
              <p:ext uri="{D42A27DB-BD31-4B8C-83A1-F6EECF244321}">
                <p14:modId xmlns:p14="http://schemas.microsoft.com/office/powerpoint/2010/main" val="329406804"/>
              </p:ext>
            </p:extLst>
          </p:nvPr>
        </p:nvGraphicFramePr>
        <p:xfrm>
          <a:off x="7057894" y="2651844"/>
          <a:ext cx="876300" cy="1447800"/>
        </p:xfrm>
        <a:graphic>
          <a:graphicData uri="http://schemas.openxmlformats.org/presentationml/2006/ole">
            <mc:AlternateContent xmlns:mc="http://schemas.openxmlformats.org/markup-compatibility/2006">
              <mc:Choice xmlns:v="urn:schemas-microsoft-com:vml" Requires="v">
                <p:oleObj name="Worksheet" r:id="rId14" imgW="876123" imgH="1447729" progId="Excel.Sheet.12">
                  <p:embed/>
                </p:oleObj>
              </mc:Choice>
              <mc:Fallback>
                <p:oleObj name="Worksheet" r:id="rId14" imgW="876123" imgH="1447729" progId="Excel.Sheet.12">
                  <p:embed/>
                  <p:pic>
                    <p:nvPicPr>
                      <p:cNvPr id="65" name="オブジェクト 64">
                        <a:extLst>
                          <a:ext uri="{FF2B5EF4-FFF2-40B4-BE49-F238E27FC236}">
                            <a16:creationId xmlns:a16="http://schemas.microsoft.com/office/drawing/2014/main" id="{2173F2C6-24D8-EFEC-D874-1BC280A37108}"/>
                          </a:ext>
                        </a:extLst>
                      </p:cNvPr>
                      <p:cNvPicPr/>
                      <p:nvPr/>
                    </p:nvPicPr>
                    <p:blipFill>
                      <a:blip r:embed="rId15"/>
                      <a:stretch>
                        <a:fillRect/>
                      </a:stretch>
                    </p:blipFill>
                    <p:spPr>
                      <a:xfrm>
                        <a:off x="7057894" y="2651844"/>
                        <a:ext cx="876300" cy="1447800"/>
                      </a:xfrm>
                      <a:prstGeom prst="rect">
                        <a:avLst/>
                      </a:prstGeom>
                    </p:spPr>
                  </p:pic>
                </p:oleObj>
              </mc:Fallback>
            </mc:AlternateContent>
          </a:graphicData>
        </a:graphic>
      </p:graphicFrame>
      <p:graphicFrame>
        <p:nvGraphicFramePr>
          <p:cNvPr id="67" name="オブジェクト 66">
            <a:extLst>
              <a:ext uri="{FF2B5EF4-FFF2-40B4-BE49-F238E27FC236}">
                <a16:creationId xmlns:a16="http://schemas.microsoft.com/office/drawing/2014/main" id="{53854D93-E59A-649C-4764-4950E9E45531}"/>
              </a:ext>
            </a:extLst>
          </p:cNvPr>
          <p:cNvGraphicFramePr>
            <a:graphicFrameLocks noChangeAspect="1"/>
          </p:cNvGraphicFramePr>
          <p:nvPr>
            <p:extLst>
              <p:ext uri="{D42A27DB-BD31-4B8C-83A1-F6EECF244321}">
                <p14:modId xmlns:p14="http://schemas.microsoft.com/office/powerpoint/2010/main" val="2247080320"/>
              </p:ext>
            </p:extLst>
          </p:nvPr>
        </p:nvGraphicFramePr>
        <p:xfrm>
          <a:off x="9462084" y="2656523"/>
          <a:ext cx="794529" cy="1312700"/>
        </p:xfrm>
        <a:graphic>
          <a:graphicData uri="http://schemas.openxmlformats.org/presentationml/2006/ole">
            <mc:AlternateContent xmlns:mc="http://schemas.openxmlformats.org/markup-compatibility/2006">
              <mc:Choice xmlns:v="urn:schemas-microsoft-com:vml" Requires="v">
                <p:oleObj name="Worksheet" r:id="rId16" imgW="876123" imgH="1447729" progId="Excel.Sheet.12">
                  <p:embed/>
                </p:oleObj>
              </mc:Choice>
              <mc:Fallback>
                <p:oleObj name="Worksheet" r:id="rId16" imgW="876123" imgH="1447729" progId="Excel.Sheet.12">
                  <p:embed/>
                  <p:pic>
                    <p:nvPicPr>
                      <p:cNvPr id="67" name="オブジェクト 66">
                        <a:extLst>
                          <a:ext uri="{FF2B5EF4-FFF2-40B4-BE49-F238E27FC236}">
                            <a16:creationId xmlns:a16="http://schemas.microsoft.com/office/drawing/2014/main" id="{53854D93-E59A-649C-4764-4950E9E45531}"/>
                          </a:ext>
                        </a:extLst>
                      </p:cNvPr>
                      <p:cNvPicPr/>
                      <p:nvPr/>
                    </p:nvPicPr>
                    <p:blipFill>
                      <a:blip r:embed="rId17"/>
                      <a:stretch>
                        <a:fillRect/>
                      </a:stretch>
                    </p:blipFill>
                    <p:spPr>
                      <a:xfrm>
                        <a:off x="9462084" y="2656523"/>
                        <a:ext cx="794529" cy="1312700"/>
                      </a:xfrm>
                      <a:prstGeom prst="rect">
                        <a:avLst/>
                      </a:prstGeom>
                    </p:spPr>
                  </p:pic>
                </p:oleObj>
              </mc:Fallback>
            </mc:AlternateContent>
          </a:graphicData>
        </a:graphic>
      </p:graphicFrame>
      <p:graphicFrame>
        <p:nvGraphicFramePr>
          <p:cNvPr id="68" name="オブジェクト 67">
            <a:extLst>
              <a:ext uri="{FF2B5EF4-FFF2-40B4-BE49-F238E27FC236}">
                <a16:creationId xmlns:a16="http://schemas.microsoft.com/office/drawing/2014/main" id="{419057FD-6905-AF83-1FA4-919A2CCCD7B5}"/>
              </a:ext>
            </a:extLst>
          </p:cNvPr>
          <p:cNvGraphicFramePr>
            <a:graphicFrameLocks noChangeAspect="1"/>
          </p:cNvGraphicFramePr>
          <p:nvPr>
            <p:extLst>
              <p:ext uri="{D42A27DB-BD31-4B8C-83A1-F6EECF244321}">
                <p14:modId xmlns:p14="http://schemas.microsoft.com/office/powerpoint/2010/main" val="1646740670"/>
              </p:ext>
            </p:extLst>
          </p:nvPr>
        </p:nvGraphicFramePr>
        <p:xfrm>
          <a:off x="10322655" y="2653903"/>
          <a:ext cx="794529" cy="1312700"/>
        </p:xfrm>
        <a:graphic>
          <a:graphicData uri="http://schemas.openxmlformats.org/presentationml/2006/ole">
            <mc:AlternateContent xmlns:mc="http://schemas.openxmlformats.org/markup-compatibility/2006">
              <mc:Choice xmlns:v="urn:schemas-microsoft-com:vml" Requires="v">
                <p:oleObj name="Worksheet" r:id="rId18" imgW="876123" imgH="1447729" progId="Excel.Sheet.12">
                  <p:embed/>
                </p:oleObj>
              </mc:Choice>
              <mc:Fallback>
                <p:oleObj name="Worksheet" r:id="rId18" imgW="876123" imgH="1447729" progId="Excel.Sheet.12">
                  <p:embed/>
                  <p:pic>
                    <p:nvPicPr>
                      <p:cNvPr id="68" name="オブジェクト 67">
                        <a:extLst>
                          <a:ext uri="{FF2B5EF4-FFF2-40B4-BE49-F238E27FC236}">
                            <a16:creationId xmlns:a16="http://schemas.microsoft.com/office/drawing/2014/main" id="{419057FD-6905-AF83-1FA4-919A2CCCD7B5}"/>
                          </a:ext>
                        </a:extLst>
                      </p:cNvPr>
                      <p:cNvPicPr/>
                      <p:nvPr/>
                    </p:nvPicPr>
                    <p:blipFill>
                      <a:blip r:embed="rId19"/>
                      <a:stretch>
                        <a:fillRect/>
                      </a:stretch>
                    </p:blipFill>
                    <p:spPr>
                      <a:xfrm>
                        <a:off x="10322655" y="2653903"/>
                        <a:ext cx="794529" cy="1312700"/>
                      </a:xfrm>
                      <a:prstGeom prst="rect">
                        <a:avLst/>
                      </a:prstGeom>
                    </p:spPr>
                  </p:pic>
                </p:oleObj>
              </mc:Fallback>
            </mc:AlternateContent>
          </a:graphicData>
        </a:graphic>
      </p:graphicFrame>
      <p:graphicFrame>
        <p:nvGraphicFramePr>
          <p:cNvPr id="69" name="オブジェクト 68">
            <a:extLst>
              <a:ext uri="{FF2B5EF4-FFF2-40B4-BE49-F238E27FC236}">
                <a16:creationId xmlns:a16="http://schemas.microsoft.com/office/drawing/2014/main" id="{20C523E5-98E7-C092-CB8E-50BE844E9D65}"/>
              </a:ext>
            </a:extLst>
          </p:cNvPr>
          <p:cNvGraphicFramePr>
            <a:graphicFrameLocks noChangeAspect="1"/>
          </p:cNvGraphicFramePr>
          <p:nvPr>
            <p:extLst>
              <p:ext uri="{D42A27DB-BD31-4B8C-83A1-F6EECF244321}">
                <p14:modId xmlns:p14="http://schemas.microsoft.com/office/powerpoint/2010/main" val="733264363"/>
              </p:ext>
            </p:extLst>
          </p:nvPr>
        </p:nvGraphicFramePr>
        <p:xfrm>
          <a:off x="11207896" y="2651450"/>
          <a:ext cx="813438" cy="962273"/>
        </p:xfrm>
        <a:graphic>
          <a:graphicData uri="http://schemas.openxmlformats.org/presentationml/2006/ole">
            <mc:AlternateContent xmlns:mc="http://schemas.openxmlformats.org/markup-compatibility/2006">
              <mc:Choice xmlns:v="urn:schemas-microsoft-com:vml" Requires="v">
                <p:oleObj name="Worksheet" r:id="rId20" imgW="876123" imgH="1036462" progId="Excel.Sheet.12">
                  <p:embed/>
                </p:oleObj>
              </mc:Choice>
              <mc:Fallback>
                <p:oleObj name="Worksheet" r:id="rId20" imgW="876123" imgH="1036462" progId="Excel.Sheet.12">
                  <p:embed/>
                  <p:pic>
                    <p:nvPicPr>
                      <p:cNvPr id="69" name="オブジェクト 68">
                        <a:extLst>
                          <a:ext uri="{FF2B5EF4-FFF2-40B4-BE49-F238E27FC236}">
                            <a16:creationId xmlns:a16="http://schemas.microsoft.com/office/drawing/2014/main" id="{20C523E5-98E7-C092-CB8E-50BE844E9D65}"/>
                          </a:ext>
                        </a:extLst>
                      </p:cNvPr>
                      <p:cNvPicPr/>
                      <p:nvPr/>
                    </p:nvPicPr>
                    <p:blipFill>
                      <a:blip r:embed="rId21"/>
                      <a:stretch>
                        <a:fillRect/>
                      </a:stretch>
                    </p:blipFill>
                    <p:spPr>
                      <a:xfrm>
                        <a:off x="11207896" y="2651450"/>
                        <a:ext cx="813438" cy="962273"/>
                      </a:xfrm>
                      <a:prstGeom prst="rect">
                        <a:avLst/>
                      </a:prstGeom>
                    </p:spPr>
                  </p:pic>
                </p:oleObj>
              </mc:Fallback>
            </mc:AlternateContent>
          </a:graphicData>
        </a:graphic>
      </p:graphicFrame>
      <p:graphicFrame>
        <p:nvGraphicFramePr>
          <p:cNvPr id="71" name="オブジェクト 70">
            <a:extLst>
              <a:ext uri="{FF2B5EF4-FFF2-40B4-BE49-F238E27FC236}">
                <a16:creationId xmlns:a16="http://schemas.microsoft.com/office/drawing/2014/main" id="{C7E22D2C-50DB-8538-D75F-B0A5B067EB91}"/>
              </a:ext>
            </a:extLst>
          </p:cNvPr>
          <p:cNvGraphicFramePr>
            <a:graphicFrameLocks noChangeAspect="1"/>
          </p:cNvGraphicFramePr>
          <p:nvPr>
            <p:extLst>
              <p:ext uri="{D42A27DB-BD31-4B8C-83A1-F6EECF244321}">
                <p14:modId xmlns:p14="http://schemas.microsoft.com/office/powerpoint/2010/main" val="4169012746"/>
              </p:ext>
            </p:extLst>
          </p:nvPr>
        </p:nvGraphicFramePr>
        <p:xfrm>
          <a:off x="5936266" y="2658793"/>
          <a:ext cx="1043801" cy="1714628"/>
        </p:xfrm>
        <a:graphic>
          <a:graphicData uri="http://schemas.openxmlformats.org/presentationml/2006/ole">
            <mc:AlternateContent xmlns:mc="http://schemas.openxmlformats.org/markup-compatibility/2006">
              <mc:Choice xmlns:v="urn:schemas-microsoft-com:vml" Requires="v">
                <p:oleObj name="Worksheet" r:id="rId22" imgW="1257194" imgH="2064843" progId="Excel.Sheet.12">
                  <p:embed/>
                </p:oleObj>
              </mc:Choice>
              <mc:Fallback>
                <p:oleObj name="Worksheet" r:id="rId22" imgW="1257194" imgH="2064843" progId="Excel.Sheet.12">
                  <p:embed/>
                  <p:pic>
                    <p:nvPicPr>
                      <p:cNvPr id="71" name="オブジェクト 70">
                        <a:extLst>
                          <a:ext uri="{FF2B5EF4-FFF2-40B4-BE49-F238E27FC236}">
                            <a16:creationId xmlns:a16="http://schemas.microsoft.com/office/drawing/2014/main" id="{C7E22D2C-50DB-8538-D75F-B0A5B067EB91}"/>
                          </a:ext>
                        </a:extLst>
                      </p:cNvPr>
                      <p:cNvPicPr/>
                      <p:nvPr/>
                    </p:nvPicPr>
                    <p:blipFill>
                      <a:blip r:embed="rId23"/>
                      <a:stretch>
                        <a:fillRect/>
                      </a:stretch>
                    </p:blipFill>
                    <p:spPr>
                      <a:xfrm>
                        <a:off x="5936266" y="2658793"/>
                        <a:ext cx="1043801" cy="1714628"/>
                      </a:xfrm>
                      <a:prstGeom prst="rect">
                        <a:avLst/>
                      </a:prstGeom>
                    </p:spPr>
                  </p:pic>
                </p:oleObj>
              </mc:Fallback>
            </mc:AlternateContent>
          </a:graphicData>
        </a:graphic>
      </p:graphicFrame>
      <p:graphicFrame>
        <p:nvGraphicFramePr>
          <p:cNvPr id="75" name="オブジェクト 74">
            <a:extLst>
              <a:ext uri="{FF2B5EF4-FFF2-40B4-BE49-F238E27FC236}">
                <a16:creationId xmlns:a16="http://schemas.microsoft.com/office/drawing/2014/main" id="{8182D944-522F-B3AE-A84E-56E1B173A6B5}"/>
              </a:ext>
            </a:extLst>
          </p:cNvPr>
          <p:cNvGraphicFramePr>
            <a:graphicFrameLocks noChangeAspect="1"/>
          </p:cNvGraphicFramePr>
          <p:nvPr>
            <p:extLst>
              <p:ext uri="{D42A27DB-BD31-4B8C-83A1-F6EECF244321}">
                <p14:modId xmlns:p14="http://schemas.microsoft.com/office/powerpoint/2010/main" val="585734698"/>
              </p:ext>
            </p:extLst>
          </p:nvPr>
        </p:nvGraphicFramePr>
        <p:xfrm>
          <a:off x="8037426" y="2652355"/>
          <a:ext cx="779131" cy="1652831"/>
        </p:xfrm>
        <a:graphic>
          <a:graphicData uri="http://schemas.openxmlformats.org/presentationml/2006/ole">
            <mc:AlternateContent xmlns:mc="http://schemas.openxmlformats.org/markup-compatibility/2006">
              <mc:Choice xmlns:v="urn:schemas-microsoft-com:vml" Requires="v">
                <p:oleObj name="Worksheet" r:id="rId24" imgW="876123" imgH="1859422" progId="Excel.Sheet.12">
                  <p:embed/>
                </p:oleObj>
              </mc:Choice>
              <mc:Fallback>
                <p:oleObj name="Worksheet" r:id="rId24" imgW="876123" imgH="1859422" progId="Excel.Sheet.12">
                  <p:embed/>
                  <p:pic>
                    <p:nvPicPr>
                      <p:cNvPr id="75" name="オブジェクト 74">
                        <a:extLst>
                          <a:ext uri="{FF2B5EF4-FFF2-40B4-BE49-F238E27FC236}">
                            <a16:creationId xmlns:a16="http://schemas.microsoft.com/office/drawing/2014/main" id="{8182D944-522F-B3AE-A84E-56E1B173A6B5}"/>
                          </a:ext>
                        </a:extLst>
                      </p:cNvPr>
                      <p:cNvPicPr/>
                      <p:nvPr/>
                    </p:nvPicPr>
                    <p:blipFill>
                      <a:blip r:embed="rId25"/>
                      <a:stretch>
                        <a:fillRect/>
                      </a:stretch>
                    </p:blipFill>
                    <p:spPr>
                      <a:xfrm>
                        <a:off x="8037426" y="2652355"/>
                        <a:ext cx="779131" cy="1652831"/>
                      </a:xfrm>
                      <a:prstGeom prst="rect">
                        <a:avLst/>
                      </a:prstGeom>
                    </p:spPr>
                  </p:pic>
                </p:oleObj>
              </mc:Fallback>
            </mc:AlternateContent>
          </a:graphicData>
        </a:graphic>
      </p:graphicFrame>
      <p:graphicFrame>
        <p:nvGraphicFramePr>
          <p:cNvPr id="77" name="オブジェクト 76">
            <a:extLst>
              <a:ext uri="{FF2B5EF4-FFF2-40B4-BE49-F238E27FC236}">
                <a16:creationId xmlns:a16="http://schemas.microsoft.com/office/drawing/2014/main" id="{B59E418E-6289-02A7-AD69-FA5687C85F23}"/>
              </a:ext>
            </a:extLst>
          </p:cNvPr>
          <p:cNvGraphicFramePr>
            <a:graphicFrameLocks noChangeAspect="1"/>
          </p:cNvGraphicFramePr>
          <p:nvPr>
            <p:extLst>
              <p:ext uri="{D42A27DB-BD31-4B8C-83A1-F6EECF244321}">
                <p14:modId xmlns:p14="http://schemas.microsoft.com/office/powerpoint/2010/main" val="3517249070"/>
              </p:ext>
            </p:extLst>
          </p:nvPr>
        </p:nvGraphicFramePr>
        <p:xfrm>
          <a:off x="388556" y="4749152"/>
          <a:ext cx="5233951" cy="1640661"/>
        </p:xfrm>
        <a:graphic>
          <a:graphicData uri="http://schemas.openxmlformats.org/presentationml/2006/ole">
            <mc:AlternateContent xmlns:mc="http://schemas.openxmlformats.org/markup-compatibility/2006">
              <mc:Choice xmlns:v="urn:schemas-microsoft-com:vml" Requires="v">
                <p:oleObj name="Worksheet" r:id="rId26" imgW="5859815" imgH="1836455" progId="Excel.Sheet.12">
                  <p:embed/>
                </p:oleObj>
              </mc:Choice>
              <mc:Fallback>
                <p:oleObj name="Worksheet" r:id="rId26" imgW="5859815" imgH="1836455" progId="Excel.Sheet.12">
                  <p:embed/>
                  <p:pic>
                    <p:nvPicPr>
                      <p:cNvPr id="77" name="オブジェクト 76">
                        <a:extLst>
                          <a:ext uri="{FF2B5EF4-FFF2-40B4-BE49-F238E27FC236}">
                            <a16:creationId xmlns:a16="http://schemas.microsoft.com/office/drawing/2014/main" id="{B59E418E-6289-02A7-AD69-FA5687C85F23}"/>
                          </a:ext>
                        </a:extLst>
                      </p:cNvPr>
                      <p:cNvPicPr/>
                      <p:nvPr/>
                    </p:nvPicPr>
                    <p:blipFill>
                      <a:blip r:embed="rId27"/>
                      <a:stretch>
                        <a:fillRect/>
                      </a:stretch>
                    </p:blipFill>
                    <p:spPr>
                      <a:xfrm>
                        <a:off x="388556" y="4749152"/>
                        <a:ext cx="5233951" cy="1640661"/>
                      </a:xfrm>
                      <a:prstGeom prst="rect">
                        <a:avLst/>
                      </a:prstGeom>
                    </p:spPr>
                  </p:pic>
                </p:oleObj>
              </mc:Fallback>
            </mc:AlternateContent>
          </a:graphicData>
        </a:graphic>
      </p:graphicFrame>
      <p:graphicFrame>
        <p:nvGraphicFramePr>
          <p:cNvPr id="78" name="オブジェクト 77">
            <a:extLst>
              <a:ext uri="{FF2B5EF4-FFF2-40B4-BE49-F238E27FC236}">
                <a16:creationId xmlns:a16="http://schemas.microsoft.com/office/drawing/2014/main" id="{408138D5-7F45-A0FD-553F-11EEC6134E6D}"/>
              </a:ext>
            </a:extLst>
          </p:cNvPr>
          <p:cNvGraphicFramePr>
            <a:graphicFrameLocks noChangeAspect="1"/>
          </p:cNvGraphicFramePr>
          <p:nvPr>
            <p:extLst>
              <p:ext uri="{D42A27DB-BD31-4B8C-83A1-F6EECF244321}">
                <p14:modId xmlns:p14="http://schemas.microsoft.com/office/powerpoint/2010/main" val="3328595363"/>
              </p:ext>
            </p:extLst>
          </p:nvPr>
        </p:nvGraphicFramePr>
        <p:xfrm>
          <a:off x="5903762" y="4758002"/>
          <a:ext cx="1847611" cy="1322548"/>
        </p:xfrm>
        <a:graphic>
          <a:graphicData uri="http://schemas.openxmlformats.org/presentationml/2006/ole">
            <mc:AlternateContent xmlns:mc="http://schemas.openxmlformats.org/markup-compatibility/2006">
              <mc:Choice xmlns:v="urn:schemas-microsoft-com:vml" Requires="v">
                <p:oleObj name="Worksheet" r:id="rId28" imgW="1927895" imgH="1379255" progId="Excel.Sheet.12">
                  <p:embed/>
                </p:oleObj>
              </mc:Choice>
              <mc:Fallback>
                <p:oleObj name="Worksheet" r:id="rId28" imgW="1927895" imgH="1379255" progId="Excel.Sheet.12">
                  <p:embed/>
                  <p:pic>
                    <p:nvPicPr>
                      <p:cNvPr id="78" name="オブジェクト 77">
                        <a:extLst>
                          <a:ext uri="{FF2B5EF4-FFF2-40B4-BE49-F238E27FC236}">
                            <a16:creationId xmlns:a16="http://schemas.microsoft.com/office/drawing/2014/main" id="{408138D5-7F45-A0FD-553F-11EEC6134E6D}"/>
                          </a:ext>
                        </a:extLst>
                      </p:cNvPr>
                      <p:cNvPicPr/>
                      <p:nvPr/>
                    </p:nvPicPr>
                    <p:blipFill>
                      <a:blip r:embed="rId29"/>
                      <a:stretch>
                        <a:fillRect/>
                      </a:stretch>
                    </p:blipFill>
                    <p:spPr>
                      <a:xfrm>
                        <a:off x="5903762" y="4758002"/>
                        <a:ext cx="1847611" cy="1322548"/>
                      </a:xfrm>
                      <a:prstGeom prst="rect">
                        <a:avLst/>
                      </a:prstGeom>
                    </p:spPr>
                  </p:pic>
                </p:oleObj>
              </mc:Fallback>
            </mc:AlternateContent>
          </a:graphicData>
        </a:graphic>
      </p:graphicFrame>
    </p:spTree>
    <p:extLst>
      <p:ext uri="{BB962C8B-B14F-4D97-AF65-F5344CB8AC3E}">
        <p14:creationId xmlns:p14="http://schemas.microsoft.com/office/powerpoint/2010/main" val="63956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E1B8E65-4399-4C4F-9B1B-610414875D5E}"/>
              </a:ext>
            </a:extLst>
          </p:cNvPr>
          <p:cNvSpPr txBox="1"/>
          <p:nvPr/>
        </p:nvSpPr>
        <p:spPr>
          <a:xfrm>
            <a:off x="343711" y="243191"/>
            <a:ext cx="7571303" cy="584775"/>
          </a:xfrm>
          <a:prstGeom prst="rect">
            <a:avLst/>
          </a:prstGeom>
          <a:noFill/>
        </p:spPr>
        <p:txBody>
          <a:bodyPr wrap="none" rtlCol="0">
            <a:spAutoFit/>
          </a:bodyPr>
          <a:lstStyle/>
          <a:p>
            <a:r>
              <a:rPr lang="ja-JP" altLang="en-US" sz="3200" u="sng">
                <a:latin typeface="Century Gothic" panose="020B0502020202020204" pitchFamily="34" charset="0"/>
                <a:ea typeface="+mj-ea"/>
              </a:rPr>
              <a:t>補足：命名規則変更に伴う変化について</a:t>
            </a:r>
            <a:endParaRPr kumimoji="1" lang="ja-JP" altLang="en-US" sz="3200" u="sng">
              <a:latin typeface="Century Gothic" panose="020B0502020202020204" pitchFamily="34" charset="0"/>
              <a:ea typeface="+mj-ea"/>
            </a:endParaRPr>
          </a:p>
        </p:txBody>
      </p:sp>
      <p:sp>
        <p:nvSpPr>
          <p:cNvPr id="3" name="テキスト ボックス 2">
            <a:extLst>
              <a:ext uri="{FF2B5EF4-FFF2-40B4-BE49-F238E27FC236}">
                <a16:creationId xmlns:a16="http://schemas.microsoft.com/office/drawing/2014/main" id="{1776350D-2721-FF42-4CC1-C9F4D43EF6FB}"/>
              </a:ext>
            </a:extLst>
          </p:cNvPr>
          <p:cNvSpPr txBox="1"/>
          <p:nvPr/>
        </p:nvSpPr>
        <p:spPr>
          <a:xfrm>
            <a:off x="574159" y="827966"/>
            <a:ext cx="10649069" cy="2800767"/>
          </a:xfrm>
          <a:prstGeom prst="rect">
            <a:avLst/>
          </a:prstGeom>
          <a:noFill/>
        </p:spPr>
        <p:txBody>
          <a:bodyPr wrap="none" rtlCol="0">
            <a:spAutoFit/>
          </a:bodyPr>
          <a:lstStyle/>
          <a:p>
            <a:r>
              <a:rPr kumimoji="1" lang="ja-JP" altLang="en-US" sz="1600">
                <a:latin typeface="BIZ UDPゴシック" panose="020B0400000000000000" pitchFamily="50" charset="-128"/>
                <a:ea typeface="BIZ UDPゴシック" panose="020B0400000000000000" pitchFamily="50" charset="-128"/>
              </a:rPr>
              <a:t>① </a:t>
            </a:r>
            <a:r>
              <a:rPr kumimoji="1" lang="en-US" altLang="ja-JP" sz="1600">
                <a:latin typeface="BIZ UDPゴシック" panose="020B0400000000000000" pitchFamily="50" charset="-128"/>
                <a:ea typeface="BIZ UDPゴシック" panose="020B0400000000000000" pitchFamily="50" charset="-128"/>
              </a:rPr>
              <a:t>8</a:t>
            </a:r>
            <a:r>
              <a:rPr kumimoji="1" lang="ja-JP" altLang="en-US" sz="1600">
                <a:latin typeface="BIZ UDPゴシック" panose="020B0400000000000000" pitchFamily="50" charset="-128"/>
                <a:ea typeface="BIZ UDPゴシック" panose="020B0400000000000000" pitchFamily="50" charset="-128"/>
              </a:rPr>
              <a:t>月</a:t>
            </a:r>
            <a:r>
              <a:rPr kumimoji="1" lang="en-US" altLang="ja-JP" sz="1600">
                <a:latin typeface="BIZ UDPゴシック" panose="020B0400000000000000" pitchFamily="50" charset="-128"/>
                <a:ea typeface="BIZ UDPゴシック" panose="020B0400000000000000" pitchFamily="50" charset="-128"/>
              </a:rPr>
              <a:t>27</a:t>
            </a:r>
            <a:r>
              <a:rPr kumimoji="1" lang="ja-JP" altLang="en-US" sz="1600">
                <a:latin typeface="BIZ UDPゴシック" panose="020B0400000000000000" pitchFamily="50" charset="-128"/>
                <a:ea typeface="BIZ UDPゴシック" panose="020B0400000000000000" pitchFamily="50" charset="-128"/>
              </a:rPr>
              <a:t>日発表製品より、</a:t>
            </a:r>
            <a:r>
              <a:rPr kumimoji="1" lang="en-US" altLang="ja-JP" sz="1600">
                <a:latin typeface="BIZ UDPゴシック" panose="020B0400000000000000" pitchFamily="50" charset="-128"/>
                <a:ea typeface="BIZ UDPゴシック" panose="020B0400000000000000" pitchFamily="50" charset="-128"/>
              </a:rPr>
              <a:t>THIRDWAVE Notebook </a:t>
            </a:r>
            <a:r>
              <a:rPr kumimoji="1" lang="ja-JP" altLang="en-US" sz="1600">
                <a:latin typeface="BIZ UDPゴシック" panose="020B0400000000000000" pitchFamily="50" charset="-128"/>
                <a:ea typeface="BIZ UDPゴシック" panose="020B0400000000000000" pitchFamily="50" charset="-128"/>
              </a:rPr>
              <a:t>製品の命名規則を変更いたします</a:t>
            </a:r>
            <a:endParaRPr kumimoji="1" lang="en-US" altLang="ja-JP" sz="1600">
              <a:latin typeface="BIZ UDPゴシック" panose="020B0400000000000000" pitchFamily="50" charset="-128"/>
              <a:ea typeface="BIZ UDPゴシック" panose="020B0400000000000000" pitchFamily="50" charset="-128"/>
            </a:endParaRPr>
          </a:p>
          <a:p>
            <a:endParaRPr lang="en-US" altLang="ja-JP" sz="1600">
              <a:latin typeface="BIZ UDPゴシック" panose="020B0400000000000000" pitchFamily="50" charset="-128"/>
              <a:ea typeface="BIZ UDPゴシック" panose="020B0400000000000000" pitchFamily="50" charset="-128"/>
            </a:endParaRPr>
          </a:p>
          <a:p>
            <a:r>
              <a:rPr lang="ja-JP" altLang="en-US" sz="1600">
                <a:latin typeface="BIZ UDPゴシック" panose="020B0400000000000000" pitchFamily="50" charset="-128"/>
                <a:ea typeface="BIZ UDPゴシック" panose="020B0400000000000000" pitchFamily="50" charset="-128"/>
              </a:rPr>
              <a:t>② 名称種別は以下の通り</a:t>
            </a:r>
            <a:endParaRPr lang="en-US" altLang="ja-JP" sz="1600">
              <a:latin typeface="BIZ UDPゴシック" panose="020B0400000000000000" pitchFamily="50" charset="-128"/>
              <a:ea typeface="BIZ UDPゴシック" panose="020B0400000000000000" pitchFamily="50" charset="-128"/>
            </a:endParaRPr>
          </a:p>
          <a:p>
            <a:r>
              <a:rPr lang="ja-JP" altLang="en-US" sz="1600">
                <a:latin typeface="BIZ UDPゴシック" panose="020B0400000000000000" pitchFamily="50" charset="-128"/>
                <a:ea typeface="BIZ UDPゴシック" panose="020B0400000000000000" pitchFamily="50" charset="-128"/>
              </a:rPr>
              <a:t>　　・「製品型式」　定格銘板に印字されるものです。</a:t>
            </a:r>
            <a:endParaRPr lang="en-US" altLang="ja-JP" sz="1600">
              <a:latin typeface="BIZ UDPゴシック" panose="020B0400000000000000" pitchFamily="50" charset="-128"/>
              <a:ea typeface="BIZ UDPゴシック" panose="020B0400000000000000" pitchFamily="50" charset="-128"/>
            </a:endParaRPr>
          </a:p>
          <a:p>
            <a:r>
              <a:rPr kumimoji="1" lang="ja-JP" altLang="en-US" sz="1600">
                <a:latin typeface="BIZ UDPゴシック" panose="020B0400000000000000" pitchFamily="50" charset="-128"/>
                <a:ea typeface="BIZ UDPゴシック" panose="020B0400000000000000" pitchFamily="50" charset="-128"/>
              </a:rPr>
              <a:t>　　・「製品名」　　製造番号ラベル上部に印字されるものです</a:t>
            </a:r>
            <a:endParaRPr kumimoji="1" lang="en-US" altLang="ja-JP" sz="1600">
              <a:latin typeface="BIZ UDPゴシック" panose="020B0400000000000000" pitchFamily="50" charset="-128"/>
              <a:ea typeface="BIZ UDPゴシック" panose="020B0400000000000000" pitchFamily="50" charset="-128"/>
            </a:endParaRPr>
          </a:p>
          <a:p>
            <a:r>
              <a:rPr lang="ja-JP" altLang="en-US" sz="1600">
                <a:latin typeface="BIZ UDPゴシック" panose="020B0400000000000000" pitchFamily="50" charset="-128"/>
                <a:ea typeface="BIZ UDPゴシック" panose="020B0400000000000000" pitchFamily="50" charset="-128"/>
              </a:rPr>
              <a:t>　　　　　　　　　　“一般向け“ と </a:t>
            </a:r>
            <a:r>
              <a:rPr lang="en-US" altLang="ja-JP" sz="1600">
                <a:latin typeface="BIZ UDPゴシック" panose="020B0400000000000000" pitchFamily="50" charset="-128"/>
                <a:ea typeface="BIZ UDPゴシック" panose="020B0400000000000000" pitchFamily="50" charset="-128"/>
              </a:rPr>
              <a:t>“</a:t>
            </a:r>
            <a:r>
              <a:rPr lang="ja-JP" altLang="en-US" sz="1600">
                <a:latin typeface="BIZ UDPゴシック" panose="020B0400000000000000" pitchFamily="50" charset="-128"/>
                <a:ea typeface="BIZ UDPゴシック" panose="020B0400000000000000" pitchFamily="50" charset="-128"/>
              </a:rPr>
              <a:t>法人向け</a:t>
            </a:r>
            <a:r>
              <a:rPr lang="en-US" altLang="ja-JP" sz="1600">
                <a:latin typeface="BIZ UDPゴシック" panose="020B0400000000000000" pitchFamily="50" charset="-128"/>
                <a:ea typeface="BIZ UDPゴシック" panose="020B0400000000000000" pitchFamily="50" charset="-128"/>
              </a:rPr>
              <a:t>” </a:t>
            </a:r>
            <a:r>
              <a:rPr lang="ja-JP" altLang="en-US" sz="1600">
                <a:latin typeface="BIZ UDPゴシック" panose="020B0400000000000000" pitchFamily="50" charset="-128"/>
                <a:ea typeface="BIZ UDPゴシック" panose="020B0400000000000000" pitchFamily="50" charset="-128"/>
              </a:rPr>
              <a:t>で異なります</a:t>
            </a:r>
            <a:endParaRPr lang="en-US" altLang="ja-JP" sz="1600">
              <a:latin typeface="BIZ UDPゴシック" panose="020B0400000000000000" pitchFamily="50" charset="-128"/>
              <a:ea typeface="BIZ UDPゴシック" panose="020B0400000000000000" pitchFamily="50" charset="-128"/>
            </a:endParaRPr>
          </a:p>
          <a:p>
            <a:endParaRPr lang="en-US" altLang="ja-JP" sz="1600">
              <a:latin typeface="BIZ UDPゴシック" panose="020B0400000000000000" pitchFamily="50" charset="-128"/>
              <a:ea typeface="BIZ UDPゴシック" panose="020B0400000000000000" pitchFamily="50" charset="-128"/>
            </a:endParaRPr>
          </a:p>
          <a:p>
            <a:r>
              <a:rPr lang="ja-JP" altLang="en-US" sz="1600">
                <a:latin typeface="BIZ UDPゴシック" panose="020B0400000000000000" pitchFamily="50" charset="-128"/>
                <a:ea typeface="BIZ UDPゴシック" panose="020B0400000000000000" pitchFamily="50" charset="-128"/>
              </a:rPr>
              <a:t>③ 従来は「製品型式」１つのみ</a:t>
            </a:r>
            <a:r>
              <a:rPr lang="en-US" altLang="ja-JP" sz="1600">
                <a:latin typeface="BIZ UDPゴシック" panose="020B0400000000000000" pitchFamily="50" charset="-128"/>
                <a:ea typeface="BIZ UDPゴシック" panose="020B0400000000000000" pitchFamily="50" charset="-128"/>
              </a:rPr>
              <a:t>(</a:t>
            </a:r>
            <a:r>
              <a:rPr lang="ja-JP" altLang="en-US" sz="1600">
                <a:latin typeface="BIZ UDPゴシック" panose="020B0400000000000000" pitchFamily="50" charset="-128"/>
                <a:ea typeface="BIZ UDPゴシック" panose="020B0400000000000000" pitchFamily="50" charset="-128"/>
              </a:rPr>
              <a:t>例：</a:t>
            </a:r>
            <a:r>
              <a:rPr lang="en-US" altLang="ja-JP" sz="1600">
                <a:latin typeface="BIZ UDPゴシック" panose="020B0400000000000000" pitchFamily="50" charset="-128"/>
                <a:ea typeface="BIZ UDPゴシック" panose="020B0400000000000000" pitchFamily="50" charset="-128"/>
              </a:rPr>
              <a:t>DX-15RP5A)</a:t>
            </a:r>
            <a:r>
              <a:rPr lang="ja-JP" altLang="en-US" sz="1600">
                <a:latin typeface="BIZ UDPゴシック" panose="020B0400000000000000" pitchFamily="50" charset="-128"/>
                <a:ea typeface="BIZ UDPゴシック" panose="020B0400000000000000" pitchFamily="50" charset="-128"/>
              </a:rPr>
              <a:t>がアサインされ定格銘板やマニュアルに印字されておりましたが、</a:t>
            </a:r>
            <a:endParaRPr lang="en-US" altLang="ja-JP" sz="1600">
              <a:latin typeface="BIZ UDPゴシック" panose="020B0400000000000000" pitchFamily="50" charset="-128"/>
              <a:ea typeface="BIZ UDPゴシック" panose="020B0400000000000000" pitchFamily="50" charset="-128"/>
            </a:endParaRPr>
          </a:p>
          <a:p>
            <a:r>
              <a:rPr lang="ja-JP" altLang="en-US" sz="1600">
                <a:latin typeface="BIZ UDPゴシック" panose="020B0400000000000000" pitchFamily="50" charset="-128"/>
                <a:ea typeface="BIZ UDPゴシック" panose="020B0400000000000000" pitchFamily="50" charset="-128"/>
              </a:rPr>
              <a:t>　　今後は「製品型式」は定格銘板に印字されるのみとなり、製造番号ラベル、マニュアルには「製品名」が印字されます。</a:t>
            </a:r>
            <a:endParaRPr lang="en-US" altLang="ja-JP" sz="1600">
              <a:latin typeface="BIZ UDPゴシック" panose="020B0400000000000000" pitchFamily="50" charset="-128"/>
              <a:ea typeface="BIZ UDPゴシック" panose="020B0400000000000000" pitchFamily="50" charset="-128"/>
            </a:endParaRPr>
          </a:p>
          <a:p>
            <a:r>
              <a:rPr lang="ja-JP" altLang="en-US" sz="1600">
                <a:latin typeface="BIZ UDPゴシック" panose="020B0400000000000000" pitchFamily="50" charset="-128"/>
                <a:ea typeface="BIZ UDPゴシック" panose="020B0400000000000000" pitchFamily="50" charset="-128"/>
              </a:rPr>
              <a:t>　　製品発表資料、</a:t>
            </a:r>
            <a:r>
              <a:rPr lang="en-US" altLang="ja-JP" sz="1600">
                <a:latin typeface="BIZ UDPゴシック" panose="020B0400000000000000" pitchFamily="50" charset="-128"/>
                <a:ea typeface="BIZ UDPゴシック" panose="020B0400000000000000" pitchFamily="50" charset="-128"/>
              </a:rPr>
              <a:t>EC</a:t>
            </a:r>
            <a:r>
              <a:rPr lang="ja-JP" altLang="en-US" sz="1600">
                <a:latin typeface="BIZ UDPゴシック" panose="020B0400000000000000" pitchFamily="50" charset="-128"/>
                <a:ea typeface="BIZ UDPゴシック" panose="020B0400000000000000" pitchFamily="50" charset="-128"/>
              </a:rPr>
              <a:t>サイト等へ表記される名称も「製品名」のみが表記されます。</a:t>
            </a:r>
            <a:endParaRPr lang="en-US" altLang="ja-JP" sz="1600">
              <a:latin typeface="BIZ UDPゴシック" panose="020B0400000000000000" pitchFamily="50" charset="-128"/>
              <a:ea typeface="BIZ UDPゴシック" panose="020B0400000000000000" pitchFamily="50" charset="-128"/>
            </a:endParaRPr>
          </a:p>
          <a:p>
            <a:endParaRPr lang="en-US" altLang="ja-JP" sz="1600">
              <a:latin typeface="BIZ UDPゴシック" panose="020B0400000000000000" pitchFamily="50" charset="-128"/>
              <a:ea typeface="BIZ UDPゴシック" panose="020B0400000000000000" pitchFamily="50" charset="-128"/>
            </a:endParaRPr>
          </a:p>
        </p:txBody>
      </p:sp>
      <p:pic>
        <p:nvPicPr>
          <p:cNvPr id="13" name="図 12">
            <a:extLst>
              <a:ext uri="{FF2B5EF4-FFF2-40B4-BE49-F238E27FC236}">
                <a16:creationId xmlns:a16="http://schemas.microsoft.com/office/drawing/2014/main" id="{CCC6F592-BEE5-B13E-C0DF-B5DCB8BF0BB9}"/>
              </a:ext>
            </a:extLst>
          </p:cNvPr>
          <p:cNvPicPr>
            <a:picLocks noChangeAspect="1"/>
          </p:cNvPicPr>
          <p:nvPr/>
        </p:nvPicPr>
        <p:blipFill>
          <a:blip r:embed="rId2"/>
          <a:stretch>
            <a:fillRect/>
          </a:stretch>
        </p:blipFill>
        <p:spPr>
          <a:xfrm>
            <a:off x="3417062" y="3481158"/>
            <a:ext cx="7767139" cy="3102634"/>
          </a:xfrm>
          <a:prstGeom prst="rect">
            <a:avLst/>
          </a:prstGeom>
        </p:spPr>
      </p:pic>
      <p:pic>
        <p:nvPicPr>
          <p:cNvPr id="5" name="図 4">
            <a:extLst>
              <a:ext uri="{FF2B5EF4-FFF2-40B4-BE49-F238E27FC236}">
                <a16:creationId xmlns:a16="http://schemas.microsoft.com/office/drawing/2014/main" id="{3DF7CF1E-6A92-7ADC-AF78-AB99E88E8A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4159" y="3790950"/>
            <a:ext cx="2729023" cy="2046767"/>
          </a:xfrm>
          <a:prstGeom prst="rect">
            <a:avLst/>
          </a:prstGeom>
        </p:spPr>
      </p:pic>
      <p:cxnSp>
        <p:nvCxnSpPr>
          <p:cNvPr id="15" name="直線コネクタ 14">
            <a:extLst>
              <a:ext uri="{FF2B5EF4-FFF2-40B4-BE49-F238E27FC236}">
                <a16:creationId xmlns:a16="http://schemas.microsoft.com/office/drawing/2014/main" id="{09DBBF10-468D-D0BC-FCDE-12402D0D27E6}"/>
              </a:ext>
            </a:extLst>
          </p:cNvPr>
          <p:cNvCxnSpPr/>
          <p:nvPr/>
        </p:nvCxnSpPr>
        <p:spPr>
          <a:xfrm flipV="1">
            <a:off x="2658140" y="4434220"/>
            <a:ext cx="2573079" cy="829339"/>
          </a:xfrm>
          <a:prstGeom prst="line">
            <a:avLst/>
          </a:prstGeom>
        </p:spPr>
        <p:style>
          <a:lnRef idx="1">
            <a:schemeClr val="accent2"/>
          </a:lnRef>
          <a:fillRef idx="0">
            <a:schemeClr val="accent2"/>
          </a:fillRef>
          <a:effectRef idx="0">
            <a:schemeClr val="accent2"/>
          </a:effectRef>
          <a:fontRef idx="minor">
            <a:schemeClr val="tx1"/>
          </a:fontRef>
        </p:style>
      </p:cxnSp>
      <p:cxnSp>
        <p:nvCxnSpPr>
          <p:cNvPr id="16" name="直線コネクタ 15">
            <a:extLst>
              <a:ext uri="{FF2B5EF4-FFF2-40B4-BE49-F238E27FC236}">
                <a16:creationId xmlns:a16="http://schemas.microsoft.com/office/drawing/2014/main" id="{AEE3EBE4-C4DA-57DE-2FB5-9B75CCFB1B52}"/>
              </a:ext>
            </a:extLst>
          </p:cNvPr>
          <p:cNvCxnSpPr>
            <a:cxnSpLocks/>
          </p:cNvCxnSpPr>
          <p:nvPr/>
        </p:nvCxnSpPr>
        <p:spPr>
          <a:xfrm>
            <a:off x="2658140" y="5447144"/>
            <a:ext cx="2573079" cy="61862"/>
          </a:xfrm>
          <a:prstGeom prst="line">
            <a:avLst/>
          </a:prstGeom>
        </p:spPr>
        <p:style>
          <a:lnRef idx="1">
            <a:schemeClr val="accent2"/>
          </a:lnRef>
          <a:fillRef idx="0">
            <a:schemeClr val="accent2"/>
          </a:fillRef>
          <a:effectRef idx="0">
            <a:schemeClr val="accent2"/>
          </a:effectRef>
          <a:fontRef idx="minor">
            <a:schemeClr val="tx1"/>
          </a:fontRef>
        </p:style>
      </p:cxnSp>
      <p:sp>
        <p:nvSpPr>
          <p:cNvPr id="6" name="正方形/長方形 5">
            <a:extLst>
              <a:ext uri="{FF2B5EF4-FFF2-40B4-BE49-F238E27FC236}">
                <a16:creationId xmlns:a16="http://schemas.microsoft.com/office/drawing/2014/main" id="{EC0EE6C9-8D1C-ED5C-2345-E6A5A901BEF8}"/>
              </a:ext>
            </a:extLst>
          </p:cNvPr>
          <p:cNvSpPr/>
          <p:nvPr/>
        </p:nvSpPr>
        <p:spPr>
          <a:xfrm>
            <a:off x="8058149" y="3657600"/>
            <a:ext cx="828675" cy="161925"/>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60301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0259155-0B68-EAAA-E533-34C229DAFFC2}"/>
              </a:ext>
            </a:extLst>
          </p:cNvPr>
          <p:cNvSpPr txBox="1"/>
          <p:nvPr/>
        </p:nvSpPr>
        <p:spPr>
          <a:xfrm>
            <a:off x="388556" y="196202"/>
            <a:ext cx="2635658" cy="400110"/>
          </a:xfrm>
          <a:prstGeom prst="rect">
            <a:avLst/>
          </a:prstGeom>
          <a:noFill/>
        </p:spPr>
        <p:txBody>
          <a:bodyPr wrap="none" rtlCol="0">
            <a:spAutoFit/>
          </a:bodyPr>
          <a:lstStyle/>
          <a:p>
            <a:r>
              <a:rPr lang="ja-JP" altLang="en-US" sz="2000" u="sng">
                <a:latin typeface="BIZ UDPゴシック" panose="020B0400000000000000" pitchFamily="50" charset="-128"/>
                <a:ea typeface="BIZ UDPゴシック" panose="020B0400000000000000" pitchFamily="50" charset="-128"/>
              </a:rPr>
              <a:t>グレード定義について</a:t>
            </a:r>
            <a:endParaRPr lang="en-US" altLang="ja-JP" sz="2000" u="sng">
              <a:latin typeface="BIZ UDPゴシック" panose="020B0400000000000000" pitchFamily="50" charset="-128"/>
              <a:ea typeface="BIZ UDPゴシック" panose="020B0400000000000000" pitchFamily="50" charset="-128"/>
            </a:endParaRPr>
          </a:p>
        </p:txBody>
      </p:sp>
      <p:graphicFrame>
        <p:nvGraphicFramePr>
          <p:cNvPr id="6" name="オブジェクト 5">
            <a:extLst>
              <a:ext uri="{FF2B5EF4-FFF2-40B4-BE49-F238E27FC236}">
                <a16:creationId xmlns:a16="http://schemas.microsoft.com/office/drawing/2014/main" id="{E0A78EA4-2F30-1DA7-CC25-E24422D10131}"/>
              </a:ext>
            </a:extLst>
          </p:cNvPr>
          <p:cNvGraphicFramePr>
            <a:graphicFrameLocks noChangeAspect="1"/>
          </p:cNvGraphicFramePr>
          <p:nvPr>
            <p:extLst>
              <p:ext uri="{D42A27DB-BD31-4B8C-83A1-F6EECF244321}">
                <p14:modId xmlns:p14="http://schemas.microsoft.com/office/powerpoint/2010/main" val="1487971938"/>
              </p:ext>
            </p:extLst>
          </p:nvPr>
        </p:nvGraphicFramePr>
        <p:xfrm>
          <a:off x="239713" y="825500"/>
          <a:ext cx="11525250" cy="5311775"/>
        </p:xfrm>
        <a:graphic>
          <a:graphicData uri="http://schemas.openxmlformats.org/presentationml/2006/ole">
            <mc:AlternateContent xmlns:mc="http://schemas.openxmlformats.org/markup-compatibility/2006">
              <mc:Choice xmlns:v="urn:schemas-microsoft-com:vml" Requires="v">
                <p:oleObj name="Worksheet" r:id="rId2" imgW="19758695" imgH="9098493" progId="Excel.Sheet.12">
                  <p:embed/>
                </p:oleObj>
              </mc:Choice>
              <mc:Fallback>
                <p:oleObj name="Worksheet" r:id="rId2" imgW="19758695" imgH="9098493" progId="Excel.Sheet.12">
                  <p:embed/>
                  <p:pic>
                    <p:nvPicPr>
                      <p:cNvPr id="6" name="オブジェクト 5">
                        <a:extLst>
                          <a:ext uri="{FF2B5EF4-FFF2-40B4-BE49-F238E27FC236}">
                            <a16:creationId xmlns:a16="http://schemas.microsoft.com/office/drawing/2014/main" id="{E0A78EA4-2F30-1DA7-CC25-E24422D10131}"/>
                          </a:ext>
                        </a:extLst>
                      </p:cNvPr>
                      <p:cNvPicPr/>
                      <p:nvPr/>
                    </p:nvPicPr>
                    <p:blipFill>
                      <a:blip r:embed="rId3"/>
                      <a:stretch>
                        <a:fillRect/>
                      </a:stretch>
                    </p:blipFill>
                    <p:spPr>
                      <a:xfrm>
                        <a:off x="239713" y="825500"/>
                        <a:ext cx="11525250" cy="5311775"/>
                      </a:xfrm>
                      <a:prstGeom prst="rect">
                        <a:avLst/>
                      </a:prstGeom>
                    </p:spPr>
                  </p:pic>
                </p:oleObj>
              </mc:Fallback>
            </mc:AlternateContent>
          </a:graphicData>
        </a:graphic>
      </p:graphicFrame>
    </p:spTree>
    <p:extLst>
      <p:ext uri="{BB962C8B-B14F-4D97-AF65-F5344CB8AC3E}">
        <p14:creationId xmlns:p14="http://schemas.microsoft.com/office/powerpoint/2010/main" val="333921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32828-8377-FF20-F02B-C0C26F46F5F1}"/>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68D17C3-D78A-57ED-EA47-D058C5765707}"/>
              </a:ext>
            </a:extLst>
          </p:cNvPr>
          <p:cNvSpPr txBox="1"/>
          <p:nvPr/>
        </p:nvSpPr>
        <p:spPr>
          <a:xfrm>
            <a:off x="185356" y="168493"/>
            <a:ext cx="4851008" cy="400110"/>
          </a:xfrm>
          <a:prstGeom prst="rect">
            <a:avLst/>
          </a:prstGeom>
          <a:noFill/>
        </p:spPr>
        <p:txBody>
          <a:bodyPr wrap="none" rtlCol="0">
            <a:spAutoFit/>
          </a:bodyPr>
          <a:lstStyle/>
          <a:p>
            <a:r>
              <a:rPr lang="ja-JP" altLang="en-US" sz="2000" u="sng">
                <a:latin typeface="BIZ UDPゴシック" panose="020B0400000000000000" pitchFamily="50" charset="-128"/>
                <a:ea typeface="BIZ UDPゴシック" panose="020B0400000000000000" pitchFamily="50" charset="-128"/>
              </a:rPr>
              <a:t>製品ラインナップ・マトリクス</a:t>
            </a:r>
            <a:r>
              <a:rPr lang="en-US" altLang="ja-JP" sz="2000" u="sng">
                <a:latin typeface="BIZ UDPゴシック" panose="020B0400000000000000" pitchFamily="50" charset="-128"/>
                <a:ea typeface="BIZ UDPゴシック" panose="020B0400000000000000" pitchFamily="50" charset="-128"/>
              </a:rPr>
              <a:t>(</a:t>
            </a:r>
            <a:r>
              <a:rPr lang="ja-JP" altLang="en-US" sz="2000" u="sng">
                <a:latin typeface="BIZ UDPゴシック" panose="020B0400000000000000" pitchFamily="50" charset="-128"/>
                <a:ea typeface="BIZ UDPゴシック" panose="020B0400000000000000" pitchFamily="50" charset="-128"/>
              </a:rPr>
              <a:t>含将来計画</a:t>
            </a:r>
            <a:r>
              <a:rPr lang="en-US" altLang="ja-JP" sz="2000" u="sng">
                <a:latin typeface="BIZ UDPゴシック" panose="020B0400000000000000" pitchFamily="50" charset="-128"/>
                <a:ea typeface="BIZ UDPゴシック" panose="020B0400000000000000" pitchFamily="50" charset="-128"/>
              </a:rPr>
              <a:t>)</a:t>
            </a:r>
          </a:p>
        </p:txBody>
      </p:sp>
      <p:sp>
        <p:nvSpPr>
          <p:cNvPr id="4" name="正方形/長方形 3">
            <a:extLst>
              <a:ext uri="{FF2B5EF4-FFF2-40B4-BE49-F238E27FC236}">
                <a16:creationId xmlns:a16="http://schemas.microsoft.com/office/drawing/2014/main" id="{60693B4C-F1D1-6449-1AD7-617D8F3AA61B}"/>
              </a:ext>
            </a:extLst>
          </p:cNvPr>
          <p:cNvSpPr/>
          <p:nvPr/>
        </p:nvSpPr>
        <p:spPr>
          <a:xfrm>
            <a:off x="893509" y="4130666"/>
            <a:ext cx="10493922" cy="1739062"/>
          </a:xfrm>
          <a:prstGeom prst="rect">
            <a:avLst/>
          </a:prstGeom>
          <a:solidFill>
            <a:srgbClr val="FFC000">
              <a:lumMod val="20000"/>
              <a:lumOff val="80000"/>
              <a:alpha val="31000"/>
            </a:srgbClr>
          </a:solidFill>
          <a:ln w="12700" cap="flat" cmpd="sng" algn="ctr">
            <a:solidFill>
              <a:srgbClr val="FFC000"/>
            </a:solidFill>
            <a:prstDash val="sysDash"/>
            <a:miter lim="800000"/>
          </a:ln>
          <a:effectLst/>
        </p:spPr>
        <p:txBody>
          <a:bodyPr rtlCol="0" anchor="b"/>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defRPr/>
            </a:pPr>
            <a:endParaRPr lang="en-US" altLang="ja-JP" sz="1200">
              <a:solidFill>
                <a:sysClr val="windowText" lastClr="000000"/>
              </a:solidFill>
              <a:latin typeface="Noto Sans JP"/>
              <a:ea typeface="Noto Sans JP"/>
            </a:endParaRPr>
          </a:p>
        </p:txBody>
      </p:sp>
      <p:pic>
        <p:nvPicPr>
          <p:cNvPr id="6" name="Picture 2" descr="TSUKUMO】G-GEAR、NVIDIA GeForce RTX 5060 Tiを搭載したゲーミングPCの新モデルを発売 -  【TSUKUMO（ツクモ）】プレスリリース">
            <a:extLst>
              <a:ext uri="{FF2B5EF4-FFF2-40B4-BE49-F238E27FC236}">
                <a16:creationId xmlns:a16="http://schemas.microsoft.com/office/drawing/2014/main" id="{89F9D37F-4D84-E79A-A183-60C546A11C2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35668" y="672415"/>
            <a:ext cx="779300" cy="436408"/>
          </a:xfrm>
          <a:prstGeom prst="rect">
            <a:avLst/>
          </a:prstGeom>
          <a:noFill/>
          <a:extLst>
            <a:ext uri="{909E8E84-426E-40DD-AFC4-6F175D3DCCD1}">
              <a14:hiddenFill xmlns:a14="http://schemas.microsoft.com/office/drawing/2010/main">
                <a:solidFill>
                  <a:srgbClr val="FFFFFF"/>
                </a:solidFill>
              </a14:hiddenFill>
            </a:ext>
          </a:extLst>
        </p:spPr>
      </p:pic>
      <p:sp>
        <p:nvSpPr>
          <p:cNvPr id="7" name="正方形/長方形 6">
            <a:extLst>
              <a:ext uri="{FF2B5EF4-FFF2-40B4-BE49-F238E27FC236}">
                <a16:creationId xmlns:a16="http://schemas.microsoft.com/office/drawing/2014/main" id="{BAAA4127-DC81-F101-30E1-E05E939DC1DA}"/>
              </a:ext>
            </a:extLst>
          </p:cNvPr>
          <p:cNvSpPr/>
          <p:nvPr/>
        </p:nvSpPr>
        <p:spPr>
          <a:xfrm>
            <a:off x="930001" y="2259210"/>
            <a:ext cx="10493922" cy="1739062"/>
          </a:xfrm>
          <a:prstGeom prst="rect">
            <a:avLst/>
          </a:prstGeom>
          <a:solidFill>
            <a:srgbClr val="70AD47">
              <a:lumMod val="20000"/>
              <a:lumOff val="80000"/>
              <a:alpha val="31000"/>
            </a:srgbClr>
          </a:solidFill>
          <a:ln w="12700" cap="flat" cmpd="sng" algn="ctr">
            <a:solidFill>
              <a:srgbClr val="00B050"/>
            </a:solidFill>
            <a:prstDash val="sysDash"/>
            <a:miter lim="800000"/>
          </a:ln>
          <a:effectLst/>
        </p:spPr>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endParaRPr lang="ja-JP" altLang="en-US" sz="1200">
              <a:solidFill>
                <a:sysClr val="windowText" lastClr="000000"/>
              </a:solidFill>
              <a:latin typeface="Noto Sans JP"/>
              <a:ea typeface="Noto Sans JP"/>
            </a:endParaRPr>
          </a:p>
        </p:txBody>
      </p:sp>
      <p:sp>
        <p:nvSpPr>
          <p:cNvPr id="8" name="正方形/長方形 7">
            <a:extLst>
              <a:ext uri="{FF2B5EF4-FFF2-40B4-BE49-F238E27FC236}">
                <a16:creationId xmlns:a16="http://schemas.microsoft.com/office/drawing/2014/main" id="{6532578E-F623-9BD9-EC00-CFF2D78862E6}"/>
              </a:ext>
            </a:extLst>
          </p:cNvPr>
          <p:cNvSpPr/>
          <p:nvPr/>
        </p:nvSpPr>
        <p:spPr>
          <a:xfrm>
            <a:off x="930001" y="1091159"/>
            <a:ext cx="10493922" cy="814725"/>
          </a:xfrm>
          <a:prstGeom prst="rect">
            <a:avLst/>
          </a:prstGeom>
          <a:solidFill>
            <a:srgbClr val="FF0000">
              <a:alpha val="22000"/>
            </a:srgbClr>
          </a:solidFill>
          <a:ln w="12700" cap="flat" cmpd="sng" algn="ctr">
            <a:solidFill>
              <a:srgbClr val="FF0000"/>
            </a:solidFill>
            <a:prstDash val="sysDash"/>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defRPr/>
            </a:pPr>
            <a:r>
              <a:rPr lang="en-US" altLang="ja-JP" sz="1200">
                <a:solidFill>
                  <a:schemeClr val="tx1"/>
                </a:solidFill>
                <a:latin typeface="Noto Sans JP"/>
                <a:ea typeface="Noto Sans JP"/>
              </a:rPr>
              <a:t> </a:t>
            </a:r>
            <a:r>
              <a:rPr lang="ja-JP" altLang="en-US" sz="1200">
                <a:solidFill>
                  <a:schemeClr val="tx1"/>
                </a:solidFill>
                <a:latin typeface="Noto Sans JP"/>
                <a:ea typeface="Noto Sans JP"/>
              </a:rPr>
              <a:t>“高性能 ＋ </a:t>
            </a:r>
            <a:r>
              <a:rPr lang="en-US" altLang="ja-JP" sz="1200" err="1">
                <a:solidFill>
                  <a:schemeClr val="tx1"/>
                </a:solidFill>
                <a:latin typeface="Noto Sans JP"/>
                <a:ea typeface="Noto Sans JP"/>
              </a:rPr>
              <a:t>dGPU</a:t>
            </a:r>
            <a:r>
              <a:rPr lang="ja-JP" altLang="en-US" sz="1200">
                <a:solidFill>
                  <a:schemeClr val="tx1"/>
                </a:solidFill>
                <a:latin typeface="Noto Sans JP"/>
                <a:ea typeface="Noto Sans JP"/>
              </a:rPr>
              <a:t>搭載</a:t>
            </a:r>
            <a:r>
              <a:rPr lang="en-US" altLang="ja-JP" sz="1200">
                <a:solidFill>
                  <a:schemeClr val="tx1"/>
                </a:solidFill>
                <a:latin typeface="Noto Sans JP"/>
                <a:ea typeface="Noto Sans JP"/>
              </a:rPr>
              <a:t>”</a:t>
            </a:r>
          </a:p>
        </p:txBody>
      </p:sp>
      <p:sp>
        <p:nvSpPr>
          <p:cNvPr id="9" name="正方形/長方形 8">
            <a:extLst>
              <a:ext uri="{FF2B5EF4-FFF2-40B4-BE49-F238E27FC236}">
                <a16:creationId xmlns:a16="http://schemas.microsoft.com/office/drawing/2014/main" id="{BC0269C1-DA9D-C00D-FC7F-ACEC2CC4EB13}"/>
              </a:ext>
            </a:extLst>
          </p:cNvPr>
          <p:cNvSpPr/>
          <p:nvPr/>
        </p:nvSpPr>
        <p:spPr>
          <a:xfrm>
            <a:off x="7436401" y="2776165"/>
            <a:ext cx="1885949" cy="549389"/>
          </a:xfrm>
          <a:prstGeom prst="rect">
            <a:avLst/>
          </a:prstGeom>
          <a:solidFill>
            <a:schemeClr val="accent2"/>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ysClr val="window" lastClr="FFFFFF"/>
                </a:solidFill>
                <a:latin typeface="Noto Sans JP"/>
                <a:ea typeface="Noto Sans JP"/>
              </a:rPr>
              <a:t>DH6/BDH6</a:t>
            </a:r>
          </a:p>
          <a:p>
            <a:pPr algn="ctr">
              <a:defRPr/>
            </a:pPr>
            <a:r>
              <a:rPr lang="ja-JP" altLang="en-US" sz="1200" b="1">
                <a:solidFill>
                  <a:sysClr val="window" lastClr="FFFFFF"/>
                </a:solidFill>
                <a:latin typeface="Noto Sans JP"/>
                <a:ea typeface="Noto Sans JP"/>
              </a:rPr>
              <a:t>’</a:t>
            </a:r>
            <a:r>
              <a:rPr lang="en-US" altLang="ja-JP" sz="1200" b="1">
                <a:solidFill>
                  <a:sysClr val="window" lastClr="FFFFFF"/>
                </a:solidFill>
                <a:latin typeface="Noto Sans JP"/>
                <a:ea typeface="Noto Sans JP"/>
              </a:rPr>
              <a:t>27</a:t>
            </a:r>
            <a:r>
              <a:rPr lang="ja-JP" altLang="en-US" sz="1200" b="1">
                <a:solidFill>
                  <a:sysClr val="window" lastClr="FFFFFF"/>
                </a:solidFill>
                <a:latin typeface="Noto Sans JP"/>
                <a:ea typeface="Noto Sans JP"/>
              </a:rPr>
              <a:t>年 </a:t>
            </a:r>
            <a:r>
              <a:rPr lang="en-US" altLang="ja-JP" sz="1200" b="1">
                <a:solidFill>
                  <a:sysClr val="window" lastClr="FFFFFF"/>
                </a:solidFill>
                <a:latin typeface="Noto Sans JP"/>
                <a:ea typeface="Noto Sans JP"/>
              </a:rPr>
              <a:t>Nova Lake-H404</a:t>
            </a:r>
          </a:p>
        </p:txBody>
      </p:sp>
      <p:cxnSp>
        <p:nvCxnSpPr>
          <p:cNvPr id="10" name="直線コネクタ 9">
            <a:extLst>
              <a:ext uri="{FF2B5EF4-FFF2-40B4-BE49-F238E27FC236}">
                <a16:creationId xmlns:a16="http://schemas.microsoft.com/office/drawing/2014/main" id="{27AF24E9-2F9B-1646-6176-13D7F78C527E}"/>
              </a:ext>
            </a:extLst>
          </p:cNvPr>
          <p:cNvCxnSpPr>
            <a:cxnSpLocks/>
          </p:cNvCxnSpPr>
          <p:nvPr/>
        </p:nvCxnSpPr>
        <p:spPr>
          <a:xfrm>
            <a:off x="574951" y="4063573"/>
            <a:ext cx="11010900" cy="0"/>
          </a:xfrm>
          <a:prstGeom prst="line">
            <a:avLst/>
          </a:prstGeom>
          <a:noFill/>
          <a:ln w="6350" cap="flat" cmpd="sng" algn="ctr">
            <a:solidFill>
              <a:srgbClr val="4472C4"/>
            </a:solidFill>
            <a:prstDash val="solid"/>
            <a:miter lim="800000"/>
          </a:ln>
          <a:effectLst/>
        </p:spPr>
      </p:cxnSp>
      <p:cxnSp>
        <p:nvCxnSpPr>
          <p:cNvPr id="11" name="直線コネクタ 10">
            <a:extLst>
              <a:ext uri="{FF2B5EF4-FFF2-40B4-BE49-F238E27FC236}">
                <a16:creationId xmlns:a16="http://schemas.microsoft.com/office/drawing/2014/main" id="{68B4B2E0-09DA-CAE0-284E-8596C9FACADF}"/>
              </a:ext>
            </a:extLst>
          </p:cNvPr>
          <p:cNvCxnSpPr>
            <a:cxnSpLocks/>
          </p:cNvCxnSpPr>
          <p:nvPr/>
        </p:nvCxnSpPr>
        <p:spPr>
          <a:xfrm flipH="1" flipV="1">
            <a:off x="5269358" y="765640"/>
            <a:ext cx="16041" cy="5171180"/>
          </a:xfrm>
          <a:prstGeom prst="line">
            <a:avLst/>
          </a:prstGeom>
          <a:noFill/>
          <a:ln w="6350" cap="flat" cmpd="sng" algn="ctr">
            <a:solidFill>
              <a:srgbClr val="4472C4"/>
            </a:solidFill>
            <a:prstDash val="solid"/>
            <a:miter lim="800000"/>
          </a:ln>
          <a:effectLst/>
        </p:spPr>
      </p:cxnSp>
      <p:sp>
        <p:nvSpPr>
          <p:cNvPr id="12" name="正方形/長方形 11">
            <a:extLst>
              <a:ext uri="{FF2B5EF4-FFF2-40B4-BE49-F238E27FC236}">
                <a16:creationId xmlns:a16="http://schemas.microsoft.com/office/drawing/2014/main" id="{04DA568D-5F25-9961-4FD0-BAEAF3C45B09}"/>
              </a:ext>
            </a:extLst>
          </p:cNvPr>
          <p:cNvSpPr/>
          <p:nvPr/>
        </p:nvSpPr>
        <p:spPr>
          <a:xfrm>
            <a:off x="3044401" y="3379011"/>
            <a:ext cx="1885949" cy="265013"/>
          </a:xfrm>
          <a:prstGeom prst="rect">
            <a:avLst/>
          </a:prstGeom>
          <a:solidFill>
            <a:srgbClr val="4472C4">
              <a:lumMod val="75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200" b="1">
                <a:solidFill>
                  <a:sysClr val="window" lastClr="FFFFFF"/>
                </a:solidFill>
                <a:latin typeface="Noto Sans JP"/>
                <a:ea typeface="Noto Sans JP"/>
              </a:rPr>
              <a:t>F-14PN7A/5A</a:t>
            </a:r>
          </a:p>
        </p:txBody>
      </p:sp>
      <p:sp>
        <p:nvSpPr>
          <p:cNvPr id="13" name="正方形/長方形 12">
            <a:extLst>
              <a:ext uri="{FF2B5EF4-FFF2-40B4-BE49-F238E27FC236}">
                <a16:creationId xmlns:a16="http://schemas.microsoft.com/office/drawing/2014/main" id="{248242BA-C907-0D9C-0176-869B0309459A}"/>
              </a:ext>
            </a:extLst>
          </p:cNvPr>
          <p:cNvSpPr/>
          <p:nvPr/>
        </p:nvSpPr>
        <p:spPr>
          <a:xfrm>
            <a:off x="3044401" y="4191520"/>
            <a:ext cx="1885949" cy="549389"/>
          </a:xfrm>
          <a:prstGeom prst="rect">
            <a:avLst/>
          </a:prstGeom>
          <a:solidFill>
            <a:schemeClr val="accent6"/>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ysClr val="window" lastClr="FFFFFF"/>
                </a:solidFill>
                <a:latin typeface="Noto Sans JP"/>
                <a:ea typeface="Noto Sans JP"/>
              </a:rPr>
              <a:t>MA4/BMA4</a:t>
            </a:r>
          </a:p>
          <a:p>
            <a:pPr algn="ctr">
              <a:defRPr/>
            </a:pPr>
            <a:r>
              <a:rPr lang="ja-JP" altLang="en-US" sz="1200" b="1">
                <a:solidFill>
                  <a:sysClr val="window" lastClr="FFFFFF"/>
                </a:solidFill>
                <a:latin typeface="Noto Sans JP"/>
                <a:ea typeface="Noto Sans JP"/>
              </a:rPr>
              <a:t>（</a:t>
            </a:r>
            <a:r>
              <a:rPr lang="en-US" altLang="ja-JP" sz="1200" b="1">
                <a:solidFill>
                  <a:sysClr val="window" lastClr="FFFFFF"/>
                </a:solidFill>
                <a:latin typeface="Noto Sans JP"/>
                <a:ea typeface="Noto Sans JP"/>
              </a:rPr>
              <a:t>V745TU-2/BU-2</a:t>
            </a:r>
            <a:r>
              <a:rPr lang="ja-JP" altLang="en-US" sz="1200" b="1">
                <a:solidFill>
                  <a:sysClr val="window" lastClr="FFFFFF"/>
                </a:solidFill>
                <a:latin typeface="Noto Sans JP"/>
                <a:ea typeface="Noto Sans JP"/>
              </a:rPr>
              <a:t>）</a:t>
            </a:r>
            <a:endParaRPr lang="en-US" altLang="ja-JP" sz="1200" b="1">
              <a:solidFill>
                <a:sysClr val="window" lastClr="FFFFFF"/>
              </a:solidFill>
              <a:latin typeface="Noto Sans JP"/>
              <a:ea typeface="Noto Sans JP"/>
            </a:endParaRPr>
          </a:p>
        </p:txBody>
      </p:sp>
      <p:sp>
        <p:nvSpPr>
          <p:cNvPr id="15" name="正方形/長方形 14">
            <a:extLst>
              <a:ext uri="{FF2B5EF4-FFF2-40B4-BE49-F238E27FC236}">
                <a16:creationId xmlns:a16="http://schemas.microsoft.com/office/drawing/2014/main" id="{C381DA16-AF42-96C1-3463-0F1B3609CB5F}"/>
              </a:ext>
            </a:extLst>
          </p:cNvPr>
          <p:cNvSpPr/>
          <p:nvPr/>
        </p:nvSpPr>
        <p:spPr>
          <a:xfrm>
            <a:off x="5528401" y="4191520"/>
            <a:ext cx="1885949" cy="549389"/>
          </a:xfrm>
          <a:prstGeom prst="rect">
            <a:avLst/>
          </a:prstGeom>
          <a:solidFill>
            <a:schemeClr val="accent6"/>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ysClr val="window" lastClr="FFFFFF"/>
                </a:solidFill>
                <a:latin typeface="Noto Sans JP"/>
                <a:ea typeface="Noto Sans JP"/>
              </a:rPr>
              <a:t>DA5/BDA5</a:t>
            </a:r>
          </a:p>
          <a:p>
            <a:pPr algn="ctr">
              <a:defRPr/>
            </a:pPr>
            <a:r>
              <a:rPr lang="ja-JP" altLang="en-US" sz="1200" b="1">
                <a:solidFill>
                  <a:sysClr val="window" lastClr="FFFFFF"/>
                </a:solidFill>
                <a:latin typeface="Noto Sans JP"/>
                <a:ea typeface="Noto Sans JP"/>
              </a:rPr>
              <a:t>（</a:t>
            </a:r>
            <a:r>
              <a:rPr lang="en-US" altLang="ja-JP" sz="1200" b="1">
                <a:solidFill>
                  <a:sysClr val="window" lastClr="FFFFFF"/>
                </a:solidFill>
                <a:latin typeface="Noto Sans JP"/>
                <a:ea typeface="Noto Sans JP"/>
              </a:rPr>
              <a:t>V755TU-2</a:t>
            </a:r>
            <a:r>
              <a:rPr lang="ja-JP" altLang="en-US" sz="1200" b="1">
                <a:solidFill>
                  <a:sysClr val="window" lastClr="FFFFFF"/>
                </a:solidFill>
                <a:latin typeface="Noto Sans JP"/>
                <a:ea typeface="Noto Sans JP"/>
              </a:rPr>
              <a:t>）</a:t>
            </a:r>
            <a:endParaRPr lang="en-US" altLang="ja-JP" sz="1200" b="1">
              <a:solidFill>
                <a:sysClr val="window" lastClr="FFFFFF"/>
              </a:solidFill>
              <a:latin typeface="Noto Sans JP"/>
              <a:ea typeface="Noto Sans JP"/>
            </a:endParaRPr>
          </a:p>
        </p:txBody>
      </p:sp>
      <p:cxnSp>
        <p:nvCxnSpPr>
          <p:cNvPr id="18" name="直線矢印コネクタ 17">
            <a:extLst>
              <a:ext uri="{FF2B5EF4-FFF2-40B4-BE49-F238E27FC236}">
                <a16:creationId xmlns:a16="http://schemas.microsoft.com/office/drawing/2014/main" id="{D14C605E-0E7A-40A8-99D4-E551A025E391}"/>
              </a:ext>
            </a:extLst>
          </p:cNvPr>
          <p:cNvCxnSpPr>
            <a:cxnSpLocks/>
          </p:cNvCxnSpPr>
          <p:nvPr/>
        </p:nvCxnSpPr>
        <p:spPr>
          <a:xfrm>
            <a:off x="574951" y="1019358"/>
            <a:ext cx="0" cy="5004194"/>
          </a:xfrm>
          <a:prstGeom prst="straightConnector1">
            <a:avLst/>
          </a:prstGeom>
          <a:noFill/>
          <a:ln w="25400" cap="flat" cmpd="sng" algn="ctr">
            <a:solidFill>
              <a:srgbClr val="FF0000"/>
            </a:solidFill>
            <a:prstDash val="solid"/>
            <a:miter lim="800000"/>
            <a:headEnd type="triangle"/>
            <a:tailEnd type="triangle"/>
          </a:ln>
          <a:effectLst/>
        </p:spPr>
      </p:cxnSp>
      <p:cxnSp>
        <p:nvCxnSpPr>
          <p:cNvPr id="19" name="直線矢印コネクタ 18">
            <a:extLst>
              <a:ext uri="{FF2B5EF4-FFF2-40B4-BE49-F238E27FC236}">
                <a16:creationId xmlns:a16="http://schemas.microsoft.com/office/drawing/2014/main" id="{2C70F7AB-5033-311C-6C48-C704B10E3BEC}"/>
              </a:ext>
            </a:extLst>
          </p:cNvPr>
          <p:cNvCxnSpPr>
            <a:cxnSpLocks/>
          </p:cNvCxnSpPr>
          <p:nvPr/>
        </p:nvCxnSpPr>
        <p:spPr>
          <a:xfrm flipH="1">
            <a:off x="767628" y="5975707"/>
            <a:ext cx="10619803" cy="0"/>
          </a:xfrm>
          <a:prstGeom prst="straightConnector1">
            <a:avLst/>
          </a:prstGeom>
          <a:noFill/>
          <a:ln w="25400" cap="flat" cmpd="sng" algn="ctr">
            <a:solidFill>
              <a:srgbClr val="FF0000"/>
            </a:solidFill>
            <a:prstDash val="solid"/>
            <a:miter lim="800000"/>
            <a:headEnd type="triangle"/>
            <a:tailEnd type="triangle"/>
          </a:ln>
          <a:effectLst/>
        </p:spPr>
      </p:cxnSp>
      <p:sp>
        <p:nvSpPr>
          <p:cNvPr id="20" name="正方形/長方形 19">
            <a:extLst>
              <a:ext uri="{FF2B5EF4-FFF2-40B4-BE49-F238E27FC236}">
                <a16:creationId xmlns:a16="http://schemas.microsoft.com/office/drawing/2014/main" id="{8C9FEA17-E009-6622-318E-9B748519FF9F}"/>
              </a:ext>
            </a:extLst>
          </p:cNvPr>
          <p:cNvSpPr/>
          <p:nvPr/>
        </p:nvSpPr>
        <p:spPr>
          <a:xfrm>
            <a:off x="7436401" y="3379011"/>
            <a:ext cx="1885949" cy="549389"/>
          </a:xfrm>
          <a:prstGeom prst="rect">
            <a:avLst/>
          </a:prstGeom>
          <a:solidFill>
            <a:srgbClr val="4472C4">
              <a:lumMod val="75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200" b="1">
                <a:solidFill>
                  <a:sysClr val="window" lastClr="FFFFFF"/>
                </a:solidFill>
                <a:latin typeface="Noto Sans JP"/>
                <a:ea typeface="Noto Sans JP"/>
              </a:rPr>
              <a:t>DX-16PN7A</a:t>
            </a:r>
          </a:p>
        </p:txBody>
      </p:sp>
      <p:sp>
        <p:nvSpPr>
          <p:cNvPr id="21" name="四角形: 角を丸くする 20">
            <a:extLst>
              <a:ext uri="{FF2B5EF4-FFF2-40B4-BE49-F238E27FC236}">
                <a16:creationId xmlns:a16="http://schemas.microsoft.com/office/drawing/2014/main" id="{FBF63D56-57FF-12DB-1D06-7AA6740E9FD5}"/>
              </a:ext>
            </a:extLst>
          </p:cNvPr>
          <p:cNvSpPr/>
          <p:nvPr/>
        </p:nvSpPr>
        <p:spPr>
          <a:xfrm>
            <a:off x="767628" y="2253194"/>
            <a:ext cx="1428302" cy="409575"/>
          </a:xfrm>
          <a:prstGeom prst="roundRect">
            <a:avLst/>
          </a:prstGeom>
          <a:solidFill>
            <a:srgbClr val="70AD47">
              <a:lumMod val="40000"/>
              <a:lumOff val="60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a:solidFill>
                  <a:sysClr val="windowText" lastClr="000000"/>
                </a:solidFill>
                <a:latin typeface="Noto Sans JP"/>
                <a:ea typeface="Noto Sans JP"/>
              </a:rPr>
              <a:t>MH/BMH</a:t>
            </a:r>
            <a:endParaRPr lang="ja-JP" altLang="en-US">
              <a:solidFill>
                <a:sysClr val="windowText" lastClr="000000"/>
              </a:solidFill>
              <a:latin typeface="Noto Sans JP"/>
              <a:ea typeface="Noto Sans JP"/>
            </a:endParaRPr>
          </a:p>
        </p:txBody>
      </p:sp>
      <p:sp>
        <p:nvSpPr>
          <p:cNvPr id="22" name="四角形: 角を丸くする 21">
            <a:extLst>
              <a:ext uri="{FF2B5EF4-FFF2-40B4-BE49-F238E27FC236}">
                <a16:creationId xmlns:a16="http://schemas.microsoft.com/office/drawing/2014/main" id="{4BE128A3-3FC7-139A-CDF6-CE1F606C8C7B}"/>
              </a:ext>
            </a:extLst>
          </p:cNvPr>
          <p:cNvSpPr/>
          <p:nvPr/>
        </p:nvSpPr>
        <p:spPr>
          <a:xfrm>
            <a:off x="10138374" y="2096870"/>
            <a:ext cx="1428302" cy="409575"/>
          </a:xfrm>
          <a:prstGeom prst="roundRect">
            <a:avLst/>
          </a:prstGeom>
          <a:solidFill>
            <a:srgbClr val="70AD47">
              <a:lumMod val="60000"/>
              <a:lumOff val="40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a:solidFill>
                  <a:sysClr val="windowText" lastClr="000000"/>
                </a:solidFill>
                <a:latin typeface="Noto Sans JP"/>
                <a:ea typeface="Noto Sans JP"/>
              </a:rPr>
              <a:t>DH/BDH</a:t>
            </a:r>
            <a:endParaRPr lang="ja-JP" altLang="en-US">
              <a:solidFill>
                <a:sysClr val="windowText" lastClr="000000"/>
              </a:solidFill>
              <a:latin typeface="Noto Sans JP"/>
              <a:ea typeface="Noto Sans JP"/>
            </a:endParaRPr>
          </a:p>
        </p:txBody>
      </p:sp>
      <p:cxnSp>
        <p:nvCxnSpPr>
          <p:cNvPr id="23" name="直線コネクタ 22">
            <a:extLst>
              <a:ext uri="{FF2B5EF4-FFF2-40B4-BE49-F238E27FC236}">
                <a16:creationId xmlns:a16="http://schemas.microsoft.com/office/drawing/2014/main" id="{E0562284-24B8-2487-A080-231B1BC446D9}"/>
              </a:ext>
            </a:extLst>
          </p:cNvPr>
          <p:cNvCxnSpPr>
            <a:cxnSpLocks/>
          </p:cNvCxnSpPr>
          <p:nvPr/>
        </p:nvCxnSpPr>
        <p:spPr>
          <a:xfrm>
            <a:off x="160257" y="2043357"/>
            <a:ext cx="11441635" cy="0"/>
          </a:xfrm>
          <a:prstGeom prst="line">
            <a:avLst/>
          </a:prstGeom>
          <a:noFill/>
          <a:ln w="6350" cap="flat" cmpd="sng" algn="ctr">
            <a:solidFill>
              <a:srgbClr val="4472C4"/>
            </a:solidFill>
            <a:prstDash val="solid"/>
            <a:miter lim="800000"/>
          </a:ln>
          <a:effectLst/>
        </p:spPr>
      </p:cxnSp>
      <p:sp>
        <p:nvSpPr>
          <p:cNvPr id="24" name="四角形: 角を丸くする 23">
            <a:extLst>
              <a:ext uri="{FF2B5EF4-FFF2-40B4-BE49-F238E27FC236}">
                <a16:creationId xmlns:a16="http://schemas.microsoft.com/office/drawing/2014/main" id="{A8FAB2A7-F75E-7D68-ADDD-EB248D9FF771}"/>
              </a:ext>
            </a:extLst>
          </p:cNvPr>
          <p:cNvSpPr/>
          <p:nvPr/>
        </p:nvSpPr>
        <p:spPr>
          <a:xfrm>
            <a:off x="767628" y="752284"/>
            <a:ext cx="1428302" cy="409575"/>
          </a:xfrm>
          <a:prstGeom prst="roundRect">
            <a:avLst/>
          </a:prstGeom>
          <a:solidFill>
            <a:srgbClr val="FF0000"/>
          </a:solidFill>
          <a:ln w="12700" cap="flat" cmpd="sng" algn="ctr">
            <a:solidFill>
              <a:srgbClr val="FF0000"/>
            </a:solidFill>
            <a:prstDash val="sysDash"/>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600" b="1">
                <a:solidFill>
                  <a:prstClr val="white"/>
                </a:solidFill>
                <a:latin typeface="Noto Sans JP"/>
                <a:ea typeface="Noto Sans JP"/>
              </a:rPr>
              <a:t>MU/BMU</a:t>
            </a:r>
            <a:endParaRPr lang="ja-JP" altLang="en-US" sz="1600" b="1">
              <a:solidFill>
                <a:prstClr val="white"/>
              </a:solidFill>
              <a:latin typeface="Noto Sans JP"/>
              <a:ea typeface="Noto Sans JP"/>
            </a:endParaRPr>
          </a:p>
        </p:txBody>
      </p:sp>
      <p:sp>
        <p:nvSpPr>
          <p:cNvPr id="26" name="四角形: 角を丸くする 25">
            <a:extLst>
              <a:ext uri="{FF2B5EF4-FFF2-40B4-BE49-F238E27FC236}">
                <a16:creationId xmlns:a16="http://schemas.microsoft.com/office/drawing/2014/main" id="{CBE97CBB-B459-B867-2762-92F95FBA77C4}"/>
              </a:ext>
            </a:extLst>
          </p:cNvPr>
          <p:cNvSpPr/>
          <p:nvPr/>
        </p:nvSpPr>
        <p:spPr>
          <a:xfrm>
            <a:off x="767628" y="5437672"/>
            <a:ext cx="1428302" cy="409575"/>
          </a:xfrm>
          <a:prstGeom prst="roundRect">
            <a:avLst/>
          </a:prstGeom>
          <a:solidFill>
            <a:srgbClr val="ED7D31">
              <a:lumMod val="40000"/>
              <a:lumOff val="60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a:solidFill>
                  <a:sysClr val="windowText" lastClr="000000"/>
                </a:solidFill>
                <a:latin typeface="Noto Sans JP"/>
                <a:ea typeface="Noto Sans JP"/>
              </a:rPr>
              <a:t>MA/BMA</a:t>
            </a:r>
          </a:p>
        </p:txBody>
      </p:sp>
      <p:sp>
        <p:nvSpPr>
          <p:cNvPr id="27" name="四角形: 角を丸くする 26">
            <a:extLst>
              <a:ext uri="{FF2B5EF4-FFF2-40B4-BE49-F238E27FC236}">
                <a16:creationId xmlns:a16="http://schemas.microsoft.com/office/drawing/2014/main" id="{B5004A6B-30AA-5211-3A0D-A840C4BA1E80}"/>
              </a:ext>
            </a:extLst>
          </p:cNvPr>
          <p:cNvSpPr/>
          <p:nvPr/>
        </p:nvSpPr>
        <p:spPr>
          <a:xfrm>
            <a:off x="10112801" y="5437672"/>
            <a:ext cx="1428302" cy="409575"/>
          </a:xfrm>
          <a:prstGeom prst="roundRect">
            <a:avLst/>
          </a:prstGeom>
          <a:solidFill>
            <a:srgbClr val="FFC000"/>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a:solidFill>
                  <a:sysClr val="windowText" lastClr="000000"/>
                </a:solidFill>
                <a:latin typeface="Noto Sans JP"/>
                <a:ea typeface="Noto Sans JP"/>
              </a:rPr>
              <a:t>DA/BDA</a:t>
            </a:r>
          </a:p>
        </p:txBody>
      </p:sp>
      <p:sp>
        <p:nvSpPr>
          <p:cNvPr id="28" name="四角形: 角を丸くする 27">
            <a:extLst>
              <a:ext uri="{FF2B5EF4-FFF2-40B4-BE49-F238E27FC236}">
                <a16:creationId xmlns:a16="http://schemas.microsoft.com/office/drawing/2014/main" id="{5D4B5934-A069-9071-8D71-0B7FD46A793E}"/>
              </a:ext>
            </a:extLst>
          </p:cNvPr>
          <p:cNvSpPr/>
          <p:nvPr/>
        </p:nvSpPr>
        <p:spPr>
          <a:xfrm>
            <a:off x="10151249" y="765821"/>
            <a:ext cx="1428302" cy="409575"/>
          </a:xfrm>
          <a:prstGeom prst="roundRect">
            <a:avLst/>
          </a:prstGeom>
          <a:solidFill>
            <a:srgbClr val="FF0000"/>
          </a:solidFill>
          <a:ln w="12700" cap="flat" cmpd="sng" algn="ctr">
            <a:solidFill>
              <a:srgbClr val="FF0000"/>
            </a:solidFill>
            <a:prstDash val="sysDash"/>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600" b="1">
                <a:solidFill>
                  <a:prstClr val="white"/>
                </a:solidFill>
                <a:latin typeface="Noto Sans JP"/>
                <a:ea typeface="Noto Sans JP"/>
              </a:rPr>
              <a:t>DU/BDU</a:t>
            </a:r>
            <a:endParaRPr lang="ja-JP" altLang="en-US" sz="1600" b="1">
              <a:solidFill>
                <a:prstClr val="white"/>
              </a:solidFill>
              <a:latin typeface="Noto Sans JP"/>
              <a:ea typeface="Noto Sans JP"/>
            </a:endParaRPr>
          </a:p>
        </p:txBody>
      </p:sp>
      <p:sp>
        <p:nvSpPr>
          <p:cNvPr id="29" name="テキスト ボックス 34">
            <a:extLst>
              <a:ext uri="{FF2B5EF4-FFF2-40B4-BE49-F238E27FC236}">
                <a16:creationId xmlns:a16="http://schemas.microsoft.com/office/drawing/2014/main" id="{E450AAFF-7E5E-79E0-C332-35E9A991AB0F}"/>
              </a:ext>
            </a:extLst>
          </p:cNvPr>
          <p:cNvSpPr txBox="1"/>
          <p:nvPr/>
        </p:nvSpPr>
        <p:spPr>
          <a:xfrm>
            <a:off x="2659074" y="5979546"/>
            <a:ext cx="7246923"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a:solidFill>
                  <a:prstClr val="black"/>
                </a:solidFill>
                <a:latin typeface="Noto Sans JP"/>
                <a:ea typeface="Noto Sans JP"/>
              </a:rPr>
              <a:t>フットプリント軸  ⇒  右に行くほどサイズ：大　 </a:t>
            </a:r>
            <a:r>
              <a:rPr lang="en-US" altLang="ja-JP" sz="1200" b="1">
                <a:solidFill>
                  <a:prstClr val="black"/>
                </a:solidFill>
                <a:latin typeface="Noto Sans JP"/>
                <a:ea typeface="Noto Sans JP"/>
              </a:rPr>
              <a:t>(</a:t>
            </a:r>
            <a:r>
              <a:rPr lang="ja-JP" altLang="en-US" sz="1200" b="1">
                <a:solidFill>
                  <a:prstClr val="black"/>
                </a:solidFill>
                <a:latin typeface="Noto Sans JP"/>
                <a:ea typeface="Noto Sans JP"/>
              </a:rPr>
              <a:t>命名境界基準：</a:t>
            </a:r>
            <a:r>
              <a:rPr lang="en-US" altLang="ja-JP" sz="1200" b="1">
                <a:solidFill>
                  <a:prstClr val="black"/>
                </a:solidFill>
                <a:latin typeface="Noto Sans JP"/>
                <a:ea typeface="Noto Sans JP"/>
              </a:rPr>
              <a:t>14”</a:t>
            </a:r>
            <a:r>
              <a:rPr lang="ja-JP" altLang="en-US" sz="1200" b="1">
                <a:solidFill>
                  <a:prstClr val="black"/>
                </a:solidFill>
                <a:latin typeface="Noto Sans JP"/>
                <a:ea typeface="Noto Sans JP"/>
              </a:rPr>
              <a:t>まで</a:t>
            </a:r>
            <a:r>
              <a:rPr lang="en-US" altLang="ja-JP" sz="1200" b="1">
                <a:solidFill>
                  <a:prstClr val="black"/>
                </a:solidFill>
                <a:latin typeface="Noto Sans JP"/>
                <a:ea typeface="Noto Sans JP"/>
              </a:rPr>
              <a:t> = Mx  /  15” </a:t>
            </a:r>
            <a:r>
              <a:rPr lang="ja-JP" altLang="en-US" sz="1200" b="1">
                <a:solidFill>
                  <a:prstClr val="black"/>
                </a:solidFill>
                <a:latin typeface="Noto Sans JP"/>
                <a:ea typeface="Noto Sans JP"/>
              </a:rPr>
              <a:t>以上</a:t>
            </a:r>
            <a:r>
              <a:rPr lang="en-US" altLang="ja-JP" sz="1200" b="1">
                <a:solidFill>
                  <a:prstClr val="black"/>
                </a:solidFill>
                <a:latin typeface="Noto Sans JP"/>
                <a:ea typeface="Noto Sans JP"/>
              </a:rPr>
              <a:t>  = Dx</a:t>
            </a:r>
            <a:r>
              <a:rPr lang="en-US" altLang="ja-JP" sz="1200" b="1" u="sng">
                <a:solidFill>
                  <a:prstClr val="black"/>
                </a:solidFill>
                <a:latin typeface="Noto Sans JP"/>
                <a:ea typeface="Noto Sans JP"/>
              </a:rPr>
              <a:t>)</a:t>
            </a:r>
          </a:p>
        </p:txBody>
      </p:sp>
      <p:sp>
        <p:nvSpPr>
          <p:cNvPr id="30" name="テキスト ボックス 29">
            <a:extLst>
              <a:ext uri="{FF2B5EF4-FFF2-40B4-BE49-F238E27FC236}">
                <a16:creationId xmlns:a16="http://schemas.microsoft.com/office/drawing/2014/main" id="{155BFBC8-9EE0-54FF-E5FB-445AFED36721}"/>
              </a:ext>
            </a:extLst>
          </p:cNvPr>
          <p:cNvSpPr txBox="1"/>
          <p:nvPr/>
        </p:nvSpPr>
        <p:spPr>
          <a:xfrm rot="16200000">
            <a:off x="-2196846" y="3240304"/>
            <a:ext cx="5090195"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a:solidFill>
                  <a:prstClr val="black"/>
                </a:solidFill>
                <a:latin typeface="Noto Sans JP"/>
                <a:ea typeface="Noto Sans JP"/>
              </a:rPr>
              <a:t>性能 軸</a:t>
            </a:r>
            <a:r>
              <a:rPr lang="en-US" altLang="ja-JP" sz="1200" b="1">
                <a:solidFill>
                  <a:prstClr val="black"/>
                </a:solidFill>
                <a:latin typeface="Noto Sans JP"/>
                <a:ea typeface="Noto Sans JP"/>
              </a:rPr>
              <a:t>(CPU</a:t>
            </a:r>
            <a:r>
              <a:rPr lang="ja-JP" altLang="en-US" sz="1200" b="1">
                <a:solidFill>
                  <a:prstClr val="black"/>
                </a:solidFill>
                <a:latin typeface="Noto Sans JP"/>
                <a:ea typeface="Noto Sans JP"/>
              </a:rPr>
              <a:t>クラス</a:t>
            </a:r>
            <a:r>
              <a:rPr lang="en-US" altLang="ja-JP" sz="1200" b="1">
                <a:solidFill>
                  <a:prstClr val="black"/>
                </a:solidFill>
                <a:latin typeface="Noto Sans JP"/>
                <a:ea typeface="Noto Sans JP"/>
              </a:rPr>
              <a:t>)</a:t>
            </a:r>
            <a:r>
              <a:rPr lang="ja-JP" altLang="en-US" sz="1200" b="1">
                <a:solidFill>
                  <a:prstClr val="black"/>
                </a:solidFill>
                <a:latin typeface="Noto Sans JP"/>
                <a:ea typeface="Noto Sans JP"/>
              </a:rPr>
              <a:t>　⇒  上に行くほど高性能　                         </a:t>
            </a:r>
            <a:r>
              <a:rPr lang="en-US" altLang="ja-JP" sz="1200" b="1" err="1">
                <a:solidFill>
                  <a:prstClr val="black"/>
                </a:solidFill>
                <a:latin typeface="Noto Sans JP"/>
                <a:ea typeface="Noto Sans JP"/>
              </a:rPr>
              <a:t>dGPU</a:t>
            </a:r>
            <a:r>
              <a:rPr lang="ja-JP" altLang="en-US" sz="1200" b="1">
                <a:solidFill>
                  <a:prstClr val="black"/>
                </a:solidFill>
                <a:latin typeface="Noto Sans JP"/>
                <a:ea typeface="Noto Sans JP"/>
              </a:rPr>
              <a:t>付き</a:t>
            </a:r>
          </a:p>
        </p:txBody>
      </p:sp>
      <p:sp>
        <p:nvSpPr>
          <p:cNvPr id="31" name="テキスト ボックス 30">
            <a:extLst>
              <a:ext uri="{FF2B5EF4-FFF2-40B4-BE49-F238E27FC236}">
                <a16:creationId xmlns:a16="http://schemas.microsoft.com/office/drawing/2014/main" id="{C8805A65-E658-41FD-C68D-44B52831DDED}"/>
              </a:ext>
            </a:extLst>
          </p:cNvPr>
          <p:cNvSpPr txBox="1"/>
          <p:nvPr/>
        </p:nvSpPr>
        <p:spPr>
          <a:xfrm>
            <a:off x="597003" y="1129338"/>
            <a:ext cx="2157698" cy="276999"/>
          </a:xfrm>
          <a:prstGeom prst="rect">
            <a:avLst/>
          </a:prstGeom>
          <a:noFill/>
        </p:spPr>
        <p:txBody>
          <a:bodyPr wrap="square">
            <a:spAutoFit/>
          </a:bodyPr>
          <a:lstStyle/>
          <a:p>
            <a:pPr algn="ctr">
              <a:defRPr/>
            </a:pPr>
            <a:r>
              <a:rPr lang="en-US" altLang="ja-JP" sz="1200">
                <a:solidFill>
                  <a:sysClr val="windowText" lastClr="000000"/>
                </a:solidFill>
                <a:latin typeface="Noto Sans JP"/>
                <a:ea typeface="Noto Sans JP"/>
              </a:rPr>
              <a:t>U</a:t>
            </a:r>
            <a:r>
              <a:rPr lang="ja-JP" altLang="en-US" sz="1200">
                <a:solidFill>
                  <a:sysClr val="windowText" lastClr="000000"/>
                </a:solidFill>
                <a:latin typeface="Noto Sans JP"/>
                <a:ea typeface="Noto Sans JP"/>
              </a:rPr>
              <a:t>＝</a:t>
            </a:r>
            <a:r>
              <a:rPr lang="en-US" altLang="ja-JP" sz="1200" err="1">
                <a:solidFill>
                  <a:sysClr val="windowText" lastClr="000000"/>
                </a:solidFill>
                <a:latin typeface="Noto Sans JP"/>
                <a:ea typeface="Noto Sans JP"/>
              </a:rPr>
              <a:t>Ultimet</a:t>
            </a:r>
            <a:r>
              <a:rPr lang="en-US" altLang="ja-JP" sz="1200">
                <a:solidFill>
                  <a:sysClr val="windowText" lastClr="000000"/>
                </a:solidFill>
                <a:latin typeface="Noto Sans JP"/>
                <a:ea typeface="Noto Sans JP"/>
              </a:rPr>
              <a:t> </a:t>
            </a:r>
            <a:r>
              <a:rPr lang="ja-JP" altLang="en-US" sz="1200">
                <a:solidFill>
                  <a:sysClr val="windowText" lastClr="000000"/>
                </a:solidFill>
                <a:latin typeface="Noto Sans JP"/>
                <a:ea typeface="Noto Sans JP"/>
              </a:rPr>
              <a:t>ライン</a:t>
            </a:r>
            <a:endParaRPr lang="en-US" altLang="ja-JP" sz="1200">
              <a:solidFill>
                <a:sysClr val="windowText" lastClr="000000"/>
              </a:solidFill>
              <a:latin typeface="Noto Sans JP"/>
              <a:ea typeface="Noto Sans JP"/>
            </a:endParaRPr>
          </a:p>
        </p:txBody>
      </p:sp>
      <p:sp>
        <p:nvSpPr>
          <p:cNvPr id="32" name="AutoShape 6" descr="Radeon RX Series PCs">
            <a:extLst>
              <a:ext uri="{FF2B5EF4-FFF2-40B4-BE49-F238E27FC236}">
                <a16:creationId xmlns:a16="http://schemas.microsoft.com/office/drawing/2014/main" id="{23232170-AE10-BAC1-D290-2BD6CDBEACB5}"/>
              </a:ext>
            </a:extLst>
          </p:cNvPr>
          <p:cNvSpPr>
            <a:spLocks noChangeAspect="1" noChangeArrowheads="1"/>
          </p:cNvSpPr>
          <p:nvPr/>
        </p:nvSpPr>
        <p:spPr bwMode="auto">
          <a:xfrm>
            <a:off x="5943600" y="28067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kumimoji="0" lang="ja-JP" altLang="en-US">
              <a:solidFill>
                <a:prstClr val="black"/>
              </a:solidFill>
              <a:latin typeface="Noto Sans JP"/>
              <a:ea typeface="Noto Sans JP"/>
            </a:endParaRPr>
          </a:p>
        </p:txBody>
      </p:sp>
      <p:pic>
        <p:nvPicPr>
          <p:cNvPr id="33" name="図 32">
            <a:extLst>
              <a:ext uri="{FF2B5EF4-FFF2-40B4-BE49-F238E27FC236}">
                <a16:creationId xmlns:a16="http://schemas.microsoft.com/office/drawing/2014/main" id="{F6103BE9-2743-FF3A-96D1-9254C5D6BABA}"/>
              </a:ext>
            </a:extLst>
          </p:cNvPr>
          <p:cNvPicPr>
            <a:picLocks noChangeAspect="1"/>
          </p:cNvPicPr>
          <p:nvPr/>
        </p:nvPicPr>
        <p:blipFill>
          <a:blip r:embed="rId3"/>
          <a:stretch>
            <a:fillRect/>
          </a:stretch>
        </p:blipFill>
        <p:spPr>
          <a:xfrm>
            <a:off x="8802548" y="734328"/>
            <a:ext cx="347271" cy="307335"/>
          </a:xfrm>
          <a:prstGeom prst="rect">
            <a:avLst/>
          </a:prstGeom>
        </p:spPr>
      </p:pic>
      <p:sp>
        <p:nvSpPr>
          <p:cNvPr id="34" name="矢印: 上 33">
            <a:extLst>
              <a:ext uri="{FF2B5EF4-FFF2-40B4-BE49-F238E27FC236}">
                <a16:creationId xmlns:a16="http://schemas.microsoft.com/office/drawing/2014/main" id="{7350B0CE-CA55-7A8C-5AE7-E9CACB6F0B97}"/>
              </a:ext>
            </a:extLst>
          </p:cNvPr>
          <p:cNvSpPr/>
          <p:nvPr/>
        </p:nvSpPr>
        <p:spPr>
          <a:xfrm>
            <a:off x="4430328" y="509035"/>
            <a:ext cx="1710142" cy="510324"/>
          </a:xfrm>
          <a:prstGeom prst="upArrow">
            <a:avLst/>
          </a:prstGeom>
          <a:solidFill>
            <a:srgbClr val="4472C4"/>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000">
                <a:solidFill>
                  <a:sysClr val="window" lastClr="FFFFFF"/>
                </a:solidFill>
                <a:latin typeface="游ゴシック" panose="020F0502020204030204"/>
                <a:ea typeface="游ゴシック" panose="020B0400000000000000" pitchFamily="50" charset="-128"/>
              </a:rPr>
              <a:t>GALLERIA</a:t>
            </a:r>
          </a:p>
          <a:p>
            <a:pPr algn="ctr">
              <a:defRPr/>
            </a:pPr>
            <a:r>
              <a:rPr lang="ja-JP" altLang="en-US" sz="1000">
                <a:solidFill>
                  <a:sysClr val="window" lastClr="FFFFFF"/>
                </a:solidFill>
                <a:latin typeface="游ゴシック" panose="020F0502020204030204"/>
                <a:ea typeface="游ゴシック" panose="020B0400000000000000" pitchFamily="50" charset="-128"/>
              </a:rPr>
              <a:t>領域へ</a:t>
            </a:r>
          </a:p>
        </p:txBody>
      </p:sp>
      <p:pic>
        <p:nvPicPr>
          <p:cNvPr id="35" name="Picture 2" descr="TSUKUMO】G-GEAR、NVIDIA GeForce RTX 5060 Tiを搭載したゲーミングPCの新モデルを発売 -  【TSUKUMO（ツクモ）】プレスリリース">
            <a:extLst>
              <a:ext uri="{FF2B5EF4-FFF2-40B4-BE49-F238E27FC236}">
                <a16:creationId xmlns:a16="http://schemas.microsoft.com/office/drawing/2014/main" id="{9052C4CB-632A-85F4-C561-16BD1BCE11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4924" y="652900"/>
            <a:ext cx="779300" cy="436408"/>
          </a:xfrm>
          <a:prstGeom prst="rect">
            <a:avLst/>
          </a:prstGeom>
          <a:noFill/>
          <a:extLst>
            <a:ext uri="{909E8E84-426E-40DD-AFC4-6F175D3DCCD1}">
              <a14:hiddenFill xmlns:a14="http://schemas.microsoft.com/office/drawing/2010/main">
                <a:solidFill>
                  <a:srgbClr val="FFFFFF"/>
                </a:solidFill>
              </a14:hiddenFill>
            </a:ext>
          </a:extLst>
        </p:spPr>
      </p:pic>
      <p:pic>
        <p:nvPicPr>
          <p:cNvPr id="36" name="図 35">
            <a:extLst>
              <a:ext uri="{FF2B5EF4-FFF2-40B4-BE49-F238E27FC236}">
                <a16:creationId xmlns:a16="http://schemas.microsoft.com/office/drawing/2014/main" id="{84F053E4-CA97-DAAA-C0E4-7E134F6A75FA}"/>
              </a:ext>
            </a:extLst>
          </p:cNvPr>
          <p:cNvPicPr>
            <a:picLocks noChangeAspect="1"/>
          </p:cNvPicPr>
          <p:nvPr/>
        </p:nvPicPr>
        <p:blipFill>
          <a:blip r:embed="rId3"/>
          <a:stretch>
            <a:fillRect/>
          </a:stretch>
        </p:blipFill>
        <p:spPr>
          <a:xfrm>
            <a:off x="2311804" y="714813"/>
            <a:ext cx="347271" cy="307335"/>
          </a:xfrm>
          <a:prstGeom prst="rect">
            <a:avLst/>
          </a:prstGeom>
        </p:spPr>
      </p:pic>
      <p:sp>
        <p:nvSpPr>
          <p:cNvPr id="38" name="テキスト ボックス 37">
            <a:extLst>
              <a:ext uri="{FF2B5EF4-FFF2-40B4-BE49-F238E27FC236}">
                <a16:creationId xmlns:a16="http://schemas.microsoft.com/office/drawing/2014/main" id="{67EA14E6-3DA2-E230-7A3F-FA6A22958A5B}"/>
              </a:ext>
            </a:extLst>
          </p:cNvPr>
          <p:cNvSpPr txBox="1"/>
          <p:nvPr/>
        </p:nvSpPr>
        <p:spPr>
          <a:xfrm>
            <a:off x="865991" y="4950895"/>
            <a:ext cx="2160225" cy="461665"/>
          </a:xfrm>
          <a:prstGeom prst="rect">
            <a:avLst/>
          </a:prstGeom>
          <a:noFill/>
        </p:spPr>
        <p:txBody>
          <a:bodyPr wrap="square">
            <a:spAutoFit/>
          </a:bodyPr>
          <a:lstStyle/>
          <a:p>
            <a:pPr>
              <a:defRPr/>
            </a:pPr>
            <a:r>
              <a:rPr lang="en-US" altLang="ja-JP" sz="1200">
                <a:solidFill>
                  <a:sysClr val="windowText" lastClr="000000"/>
                </a:solidFill>
                <a:latin typeface="Noto Sans JP"/>
                <a:ea typeface="Noto Sans JP"/>
              </a:rPr>
              <a:t>A</a:t>
            </a:r>
            <a:r>
              <a:rPr lang="ja-JP" altLang="en-US" sz="1200">
                <a:solidFill>
                  <a:sysClr val="windowText" lastClr="000000"/>
                </a:solidFill>
                <a:latin typeface="Noto Sans JP"/>
                <a:ea typeface="Noto Sans JP"/>
              </a:rPr>
              <a:t>＝</a:t>
            </a:r>
            <a:r>
              <a:rPr lang="en-US" altLang="ja-JP" sz="1200">
                <a:solidFill>
                  <a:sysClr val="windowText" lastClr="000000"/>
                </a:solidFill>
                <a:latin typeface="Noto Sans JP"/>
                <a:ea typeface="Noto Sans JP"/>
              </a:rPr>
              <a:t>Affordable </a:t>
            </a:r>
            <a:r>
              <a:rPr lang="ja-JP" altLang="en-US" sz="1200">
                <a:solidFill>
                  <a:sysClr val="windowText" lastClr="000000"/>
                </a:solidFill>
                <a:latin typeface="Noto Sans JP"/>
                <a:ea typeface="Noto Sans JP"/>
              </a:rPr>
              <a:t>ライン</a:t>
            </a:r>
            <a:endParaRPr lang="en-US" altLang="ja-JP" sz="1200">
              <a:solidFill>
                <a:sysClr val="windowText" lastClr="000000"/>
              </a:solidFill>
              <a:latin typeface="Noto Sans JP"/>
              <a:ea typeface="Noto Sans JP"/>
            </a:endParaRPr>
          </a:p>
          <a:p>
            <a:pPr>
              <a:defRPr/>
            </a:pPr>
            <a:r>
              <a:rPr lang="ja-JP" altLang="en-US" sz="1200">
                <a:solidFill>
                  <a:sysClr val="windowText" lastClr="000000"/>
                </a:solidFill>
                <a:latin typeface="Noto Sans JP"/>
                <a:ea typeface="Noto Sans JP"/>
              </a:rPr>
              <a:t>“スタンダード</a:t>
            </a:r>
            <a:r>
              <a:rPr lang="en-US" altLang="ja-JP" sz="1200">
                <a:solidFill>
                  <a:sysClr val="windowText" lastClr="000000"/>
                </a:solidFill>
                <a:latin typeface="Noto Sans JP"/>
                <a:ea typeface="Noto Sans JP"/>
              </a:rPr>
              <a:t>”</a:t>
            </a:r>
          </a:p>
        </p:txBody>
      </p:sp>
      <p:sp>
        <p:nvSpPr>
          <p:cNvPr id="39" name="テキスト ボックス 38">
            <a:extLst>
              <a:ext uri="{FF2B5EF4-FFF2-40B4-BE49-F238E27FC236}">
                <a16:creationId xmlns:a16="http://schemas.microsoft.com/office/drawing/2014/main" id="{3F526A36-1319-78CD-F534-E52EFDBD18BC}"/>
              </a:ext>
            </a:extLst>
          </p:cNvPr>
          <p:cNvSpPr txBox="1"/>
          <p:nvPr/>
        </p:nvSpPr>
        <p:spPr>
          <a:xfrm>
            <a:off x="923318" y="2694399"/>
            <a:ext cx="1700148" cy="461665"/>
          </a:xfrm>
          <a:prstGeom prst="rect">
            <a:avLst/>
          </a:prstGeom>
          <a:noFill/>
        </p:spPr>
        <p:txBody>
          <a:bodyPr wrap="square">
            <a:spAutoFit/>
          </a:bodyPr>
          <a:lstStyle/>
          <a:p>
            <a:pPr>
              <a:defRPr/>
            </a:pPr>
            <a:r>
              <a:rPr lang="en-US" altLang="ja-JP" sz="1200">
                <a:solidFill>
                  <a:sysClr val="windowText" lastClr="000000"/>
                </a:solidFill>
                <a:latin typeface="Noto Sans JP"/>
                <a:ea typeface="Noto Sans JP"/>
              </a:rPr>
              <a:t>H</a:t>
            </a:r>
            <a:r>
              <a:rPr lang="ja-JP" altLang="en-US" sz="1200">
                <a:solidFill>
                  <a:sysClr val="windowText" lastClr="000000"/>
                </a:solidFill>
                <a:latin typeface="Noto Sans JP"/>
                <a:ea typeface="Noto Sans JP"/>
              </a:rPr>
              <a:t>＝</a:t>
            </a:r>
            <a:r>
              <a:rPr lang="en-US" altLang="ja-JP" sz="1200">
                <a:solidFill>
                  <a:sysClr val="windowText" lastClr="000000"/>
                </a:solidFill>
                <a:latin typeface="Noto Sans JP"/>
                <a:ea typeface="Noto Sans JP"/>
              </a:rPr>
              <a:t>High-end </a:t>
            </a:r>
            <a:r>
              <a:rPr lang="ja-JP" altLang="en-US" sz="1200">
                <a:solidFill>
                  <a:sysClr val="windowText" lastClr="000000"/>
                </a:solidFill>
                <a:latin typeface="Noto Sans JP"/>
                <a:ea typeface="Noto Sans JP"/>
              </a:rPr>
              <a:t>ライン</a:t>
            </a:r>
            <a:endParaRPr lang="en-US" altLang="ja-JP" sz="1200">
              <a:solidFill>
                <a:sysClr val="windowText" lastClr="000000"/>
              </a:solidFill>
              <a:latin typeface="Noto Sans JP"/>
              <a:ea typeface="Noto Sans JP"/>
            </a:endParaRPr>
          </a:p>
          <a:p>
            <a:pPr>
              <a:defRPr/>
            </a:pPr>
            <a:r>
              <a:rPr lang="ja-JP" altLang="en-US" sz="1200">
                <a:solidFill>
                  <a:sysClr val="windowText" lastClr="000000"/>
                </a:solidFill>
                <a:latin typeface="Noto Sans JP"/>
                <a:ea typeface="Noto Sans JP"/>
              </a:rPr>
              <a:t>“高性能”</a:t>
            </a:r>
            <a:endParaRPr lang="en-US" altLang="ja-JP" sz="1200">
              <a:solidFill>
                <a:sysClr val="windowText" lastClr="000000"/>
              </a:solidFill>
              <a:latin typeface="Noto Sans JP"/>
              <a:ea typeface="Noto Sans JP"/>
            </a:endParaRPr>
          </a:p>
        </p:txBody>
      </p:sp>
      <p:sp>
        <p:nvSpPr>
          <p:cNvPr id="40" name="正方形/長方形 39">
            <a:extLst>
              <a:ext uri="{FF2B5EF4-FFF2-40B4-BE49-F238E27FC236}">
                <a16:creationId xmlns:a16="http://schemas.microsoft.com/office/drawing/2014/main" id="{5AA6D1AD-36AA-0967-24F8-AFD10632170F}"/>
              </a:ext>
            </a:extLst>
          </p:cNvPr>
          <p:cNvSpPr/>
          <p:nvPr/>
        </p:nvSpPr>
        <p:spPr>
          <a:xfrm>
            <a:off x="3053866" y="2698630"/>
            <a:ext cx="1885949" cy="549389"/>
          </a:xfrm>
          <a:prstGeom prst="rect">
            <a:avLst/>
          </a:prstGeom>
          <a:solidFill>
            <a:schemeClr val="accent2"/>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ysClr val="window" lastClr="FFFFFF"/>
                </a:solidFill>
                <a:latin typeface="Noto Sans JP"/>
                <a:ea typeface="Noto Sans JP"/>
              </a:rPr>
              <a:t>MH4/BMH4</a:t>
            </a:r>
          </a:p>
          <a:p>
            <a:pPr algn="ctr">
              <a:defRPr/>
            </a:pPr>
            <a:r>
              <a:rPr lang="en-US" altLang="ja-JP" sz="1200" b="1">
                <a:solidFill>
                  <a:sysClr val="window" lastClr="FFFFFF"/>
                </a:solidFill>
                <a:latin typeface="Noto Sans JP"/>
                <a:ea typeface="Noto Sans JP"/>
              </a:rPr>
              <a:t>‘27</a:t>
            </a:r>
            <a:r>
              <a:rPr lang="ja-JP" altLang="en-US" sz="1200" b="1">
                <a:solidFill>
                  <a:sysClr val="window" lastClr="FFFFFF"/>
                </a:solidFill>
                <a:latin typeface="Noto Sans JP"/>
                <a:ea typeface="Noto Sans JP"/>
              </a:rPr>
              <a:t>年 </a:t>
            </a:r>
            <a:r>
              <a:rPr lang="en-US" altLang="ja-JP" sz="1200" b="1">
                <a:solidFill>
                  <a:sysClr val="window" lastClr="FFFFFF"/>
                </a:solidFill>
                <a:latin typeface="Noto Sans JP"/>
                <a:ea typeface="Noto Sans JP"/>
              </a:rPr>
              <a:t>Nova Lake-H404</a:t>
            </a:r>
          </a:p>
        </p:txBody>
      </p:sp>
      <p:sp>
        <p:nvSpPr>
          <p:cNvPr id="42" name="正方形/長方形 41">
            <a:extLst>
              <a:ext uri="{FF2B5EF4-FFF2-40B4-BE49-F238E27FC236}">
                <a16:creationId xmlns:a16="http://schemas.microsoft.com/office/drawing/2014/main" id="{38551524-452A-4C60-C3D3-EB82D4C8BC6B}"/>
              </a:ext>
            </a:extLst>
          </p:cNvPr>
          <p:cNvSpPr/>
          <p:nvPr/>
        </p:nvSpPr>
        <p:spPr>
          <a:xfrm>
            <a:off x="10004615" y="323842"/>
            <a:ext cx="594875" cy="164183"/>
          </a:xfrm>
          <a:prstGeom prst="rect">
            <a:avLst/>
          </a:prstGeom>
          <a:solidFill>
            <a:srgbClr val="4472C4">
              <a:lumMod val="75000"/>
            </a:srgbClr>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800" b="0" i="0" u="none" strike="noStrike" kern="0" cap="none" spc="0" normalizeH="0" baseline="0" noProof="0">
                <a:ln>
                  <a:noFill/>
                </a:ln>
                <a:solidFill>
                  <a:prstClr val="white"/>
                </a:solidFill>
                <a:effectLst/>
                <a:uLnTx/>
                <a:uFillTx/>
                <a:latin typeface="+mj-ea"/>
                <a:ea typeface="+mj-ea"/>
                <a:cs typeface="メイリオ" panose="020B0604030504040204" pitchFamily="50" charset="-128"/>
              </a:rPr>
              <a:t>現行品</a:t>
            </a:r>
            <a:endParaRPr kumimoji="1" lang="ja-JP" altLang="en-US" sz="500" b="1" i="0" u="none" strike="noStrike" kern="0" cap="none" spc="0" normalizeH="0" baseline="0" noProof="0">
              <a:ln>
                <a:noFill/>
              </a:ln>
              <a:solidFill>
                <a:prstClr val="white"/>
              </a:solidFill>
              <a:effectLst/>
              <a:uLnTx/>
              <a:uFillTx/>
              <a:latin typeface="+mj-ea"/>
              <a:ea typeface="+mj-ea"/>
              <a:cs typeface="メイリオ" panose="020B0604030504040204" pitchFamily="50" charset="-128"/>
            </a:endParaRPr>
          </a:p>
        </p:txBody>
      </p:sp>
      <p:sp>
        <p:nvSpPr>
          <p:cNvPr id="43" name="正方形/長方形 42">
            <a:extLst>
              <a:ext uri="{FF2B5EF4-FFF2-40B4-BE49-F238E27FC236}">
                <a16:creationId xmlns:a16="http://schemas.microsoft.com/office/drawing/2014/main" id="{1F78D15D-F7C3-ADE4-BA90-9DE92631DB53}"/>
              </a:ext>
            </a:extLst>
          </p:cNvPr>
          <p:cNvSpPr/>
          <p:nvPr/>
        </p:nvSpPr>
        <p:spPr>
          <a:xfrm>
            <a:off x="11263249" y="329858"/>
            <a:ext cx="594875" cy="164183"/>
          </a:xfrm>
          <a:prstGeom prst="rect">
            <a:avLst/>
          </a:prstGeom>
          <a:solidFill>
            <a:srgbClr val="ED7D31"/>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800" b="0" i="0" u="none" strike="noStrike" kern="0" cap="none" spc="0" normalizeH="0" baseline="0" noProof="0">
                <a:ln>
                  <a:noFill/>
                </a:ln>
                <a:solidFill>
                  <a:prstClr val="white"/>
                </a:solidFill>
                <a:effectLst/>
                <a:uLnTx/>
                <a:uFillTx/>
                <a:latin typeface="+mj-ea"/>
                <a:ea typeface="+mj-ea"/>
                <a:cs typeface="メイリオ" panose="020B0604030504040204" pitchFamily="50" charset="-128"/>
              </a:rPr>
              <a:t>予定品</a:t>
            </a:r>
            <a:endParaRPr kumimoji="1" lang="ja-JP" altLang="en-US" sz="500" b="1" i="0" u="none" strike="noStrike" kern="0" cap="none" spc="0" normalizeH="0" baseline="0" noProof="0">
              <a:ln>
                <a:noFill/>
              </a:ln>
              <a:solidFill>
                <a:prstClr val="white"/>
              </a:solidFill>
              <a:effectLst/>
              <a:uLnTx/>
              <a:uFillTx/>
              <a:latin typeface="+mj-ea"/>
              <a:ea typeface="+mj-ea"/>
              <a:cs typeface="メイリオ" panose="020B0604030504040204" pitchFamily="50" charset="-128"/>
            </a:endParaRPr>
          </a:p>
        </p:txBody>
      </p:sp>
      <p:sp>
        <p:nvSpPr>
          <p:cNvPr id="44" name="正方形/長方形 43">
            <a:extLst>
              <a:ext uri="{FF2B5EF4-FFF2-40B4-BE49-F238E27FC236}">
                <a16:creationId xmlns:a16="http://schemas.microsoft.com/office/drawing/2014/main" id="{0625CA3B-82C5-96EC-9500-A5B38E5962B4}"/>
              </a:ext>
            </a:extLst>
          </p:cNvPr>
          <p:cNvSpPr/>
          <p:nvPr/>
        </p:nvSpPr>
        <p:spPr>
          <a:xfrm>
            <a:off x="10633932" y="329858"/>
            <a:ext cx="594875" cy="164183"/>
          </a:xfrm>
          <a:prstGeom prst="rect">
            <a:avLst/>
          </a:prstGeom>
          <a:solidFill>
            <a:srgbClr val="92D050"/>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800" b="0" i="0" u="none" strike="noStrike" kern="0" cap="none" spc="0" normalizeH="0" baseline="0" noProof="0">
                <a:ln>
                  <a:noFill/>
                </a:ln>
                <a:solidFill>
                  <a:prstClr val="white"/>
                </a:solidFill>
                <a:effectLst/>
                <a:uLnTx/>
                <a:uFillTx/>
                <a:latin typeface="+mj-ea"/>
                <a:ea typeface="+mj-ea"/>
                <a:cs typeface="メイリオ" panose="020B0604030504040204" pitchFamily="50" charset="-128"/>
              </a:rPr>
              <a:t>承認済</a:t>
            </a:r>
            <a:endParaRPr kumimoji="1" lang="ja-JP" altLang="en-US" sz="500" b="1" i="0" u="none" strike="noStrike" kern="0" cap="none" spc="0" normalizeH="0" baseline="0" noProof="0">
              <a:ln>
                <a:noFill/>
              </a:ln>
              <a:solidFill>
                <a:prstClr val="white"/>
              </a:solidFill>
              <a:effectLst/>
              <a:uLnTx/>
              <a:uFillTx/>
              <a:latin typeface="+mj-ea"/>
              <a:ea typeface="+mj-ea"/>
              <a:cs typeface="メイリオ" panose="020B0604030504040204" pitchFamily="50" charset="-128"/>
            </a:endParaRPr>
          </a:p>
        </p:txBody>
      </p:sp>
      <p:sp>
        <p:nvSpPr>
          <p:cNvPr id="45" name="正方形/長方形 44">
            <a:extLst>
              <a:ext uri="{FF2B5EF4-FFF2-40B4-BE49-F238E27FC236}">
                <a16:creationId xmlns:a16="http://schemas.microsoft.com/office/drawing/2014/main" id="{30F84CE2-D1B6-1217-3DC4-9B284B444BCB}"/>
              </a:ext>
            </a:extLst>
          </p:cNvPr>
          <p:cNvSpPr/>
          <p:nvPr/>
        </p:nvSpPr>
        <p:spPr>
          <a:xfrm>
            <a:off x="9416592" y="4466214"/>
            <a:ext cx="1885949" cy="409576"/>
          </a:xfrm>
          <a:prstGeom prst="rect">
            <a:avLst/>
          </a:prstGeom>
          <a:solidFill>
            <a:schemeClr val="accent2"/>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400" b="1">
                <a:solidFill>
                  <a:sysClr val="window" lastClr="FFFFFF"/>
                </a:solidFill>
                <a:latin typeface="Noto Sans JP"/>
                <a:ea typeface="Noto Sans JP"/>
              </a:rPr>
              <a:t>DA7</a:t>
            </a:r>
            <a:br>
              <a:rPr lang="en-US" altLang="ja-JP" sz="1400" b="1">
                <a:solidFill>
                  <a:sysClr val="window" lastClr="FFFFFF"/>
                </a:solidFill>
                <a:latin typeface="Noto Sans JP"/>
                <a:ea typeface="Noto Sans JP"/>
              </a:rPr>
            </a:br>
            <a:r>
              <a:rPr lang="ja-JP" altLang="en-US" sz="1050" b="1">
                <a:solidFill>
                  <a:sysClr val="window" lastClr="FFFFFF"/>
                </a:solidFill>
                <a:latin typeface="Noto Sans JP"/>
                <a:ea typeface="Noto Sans JP"/>
              </a:rPr>
              <a:t>（次期</a:t>
            </a:r>
            <a:r>
              <a:rPr lang="en-US" altLang="ja-JP" sz="1050" b="1">
                <a:solidFill>
                  <a:sysClr val="window" lastClr="FFFFFF"/>
                </a:solidFill>
                <a:latin typeface="Noto Sans JP"/>
                <a:ea typeface="Noto Sans JP"/>
              </a:rPr>
              <a:t>17.0” </a:t>
            </a:r>
            <a:r>
              <a:rPr lang="ja-JP" altLang="en-US" sz="1050" b="1">
                <a:solidFill>
                  <a:sysClr val="window" lastClr="FFFFFF"/>
                </a:solidFill>
                <a:latin typeface="Noto Sans JP"/>
                <a:ea typeface="Noto Sans JP"/>
              </a:rPr>
              <a:t>ベア未定）</a:t>
            </a:r>
            <a:endParaRPr lang="en-US" altLang="ja-JP" sz="1050" b="1">
              <a:solidFill>
                <a:sysClr val="window" lastClr="FFFFFF"/>
              </a:solidFill>
              <a:latin typeface="Noto Sans JP"/>
              <a:ea typeface="Noto Sans JP"/>
            </a:endParaRPr>
          </a:p>
        </p:txBody>
      </p:sp>
      <p:sp>
        <p:nvSpPr>
          <p:cNvPr id="47" name="正方形/長方形 46">
            <a:extLst>
              <a:ext uri="{FF2B5EF4-FFF2-40B4-BE49-F238E27FC236}">
                <a16:creationId xmlns:a16="http://schemas.microsoft.com/office/drawing/2014/main" id="{177D1A74-CA27-F1D1-868C-592A7FC52418}"/>
              </a:ext>
            </a:extLst>
          </p:cNvPr>
          <p:cNvSpPr/>
          <p:nvPr/>
        </p:nvSpPr>
        <p:spPr>
          <a:xfrm>
            <a:off x="3047434" y="3687522"/>
            <a:ext cx="1885949" cy="265013"/>
          </a:xfrm>
          <a:prstGeom prst="rect">
            <a:avLst/>
          </a:prstGeom>
          <a:solidFill>
            <a:srgbClr val="4472C4">
              <a:lumMod val="75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200" b="1">
                <a:solidFill>
                  <a:sysClr val="window" lastClr="FFFFFF"/>
                </a:solidFill>
                <a:latin typeface="Noto Sans JP"/>
                <a:ea typeface="Noto Sans JP"/>
              </a:rPr>
              <a:t>F-14LN7LA/5LA</a:t>
            </a:r>
          </a:p>
        </p:txBody>
      </p:sp>
      <p:sp>
        <p:nvSpPr>
          <p:cNvPr id="5" name="テキスト ボックス 4">
            <a:extLst>
              <a:ext uri="{FF2B5EF4-FFF2-40B4-BE49-F238E27FC236}">
                <a16:creationId xmlns:a16="http://schemas.microsoft.com/office/drawing/2014/main" id="{CFBA8B27-5997-411B-D982-2359D0462CC2}"/>
              </a:ext>
            </a:extLst>
          </p:cNvPr>
          <p:cNvSpPr txBox="1"/>
          <p:nvPr/>
        </p:nvSpPr>
        <p:spPr>
          <a:xfrm>
            <a:off x="6248400" y="284516"/>
            <a:ext cx="3424335" cy="338554"/>
          </a:xfrm>
          <a:prstGeom prst="rect">
            <a:avLst/>
          </a:prstGeom>
          <a:noFill/>
        </p:spPr>
        <p:txBody>
          <a:bodyPr wrap="none" rtlCol="0">
            <a:spAutoFit/>
          </a:bodyPr>
          <a:lstStyle/>
          <a:p>
            <a:r>
              <a:rPr kumimoji="1" lang="ja-JP" altLang="en-US" sz="800">
                <a:latin typeface="BIZ UDPゴシック" panose="020B0400000000000000" pitchFamily="50" charset="-128"/>
                <a:ea typeface="BIZ UDPゴシック" panose="020B0400000000000000" pitchFamily="50" charset="-128"/>
              </a:rPr>
              <a:t>四角ワク内の </a:t>
            </a:r>
            <a:r>
              <a:rPr kumimoji="1" lang="en-US" altLang="ja-JP" sz="800">
                <a:latin typeface="BIZ UDPゴシック" panose="020B0400000000000000" pitchFamily="50" charset="-128"/>
                <a:ea typeface="BIZ UDPゴシック" panose="020B0400000000000000" pitchFamily="50" charset="-128"/>
              </a:rPr>
              <a:t>MA/MH/MU/DA/DH/DU </a:t>
            </a:r>
            <a:r>
              <a:rPr kumimoji="1" lang="ja-JP" altLang="en-US" sz="800">
                <a:latin typeface="BIZ UDPゴシック" panose="020B0400000000000000" pitchFamily="50" charset="-128"/>
                <a:ea typeface="BIZ UDPゴシック" panose="020B0400000000000000" pitchFamily="50" charset="-128"/>
              </a:rPr>
              <a:t>は</a:t>
            </a:r>
            <a:r>
              <a:rPr lang="ja-JP" altLang="en-US" sz="800">
                <a:latin typeface="BIZ UDPゴシック" panose="020B0400000000000000" pitchFamily="50" charset="-128"/>
                <a:ea typeface="BIZ UDPゴシック" panose="020B0400000000000000" pitchFamily="50" charset="-128"/>
              </a:rPr>
              <a:t>　</a:t>
            </a:r>
            <a:r>
              <a:rPr lang="en-US" altLang="ja-JP" sz="800">
                <a:latin typeface="BIZ UDPゴシック" panose="020B0400000000000000" pitchFamily="50" charset="-128"/>
                <a:ea typeface="BIZ UDPゴシック" panose="020B0400000000000000" pitchFamily="50" charset="-128"/>
              </a:rPr>
              <a:t>8/27</a:t>
            </a:r>
            <a:r>
              <a:rPr lang="ja-JP" altLang="en-US" sz="800">
                <a:latin typeface="BIZ UDPゴシック" panose="020B0400000000000000" pitchFamily="50" charset="-128"/>
                <a:ea typeface="BIZ UDPゴシック" panose="020B0400000000000000" pitchFamily="50" charset="-128"/>
              </a:rPr>
              <a:t>発表製品以降より</a:t>
            </a:r>
            <a:endParaRPr lang="en-US" altLang="ja-JP" sz="800">
              <a:latin typeface="BIZ UDPゴシック" panose="020B0400000000000000" pitchFamily="50" charset="-128"/>
              <a:ea typeface="BIZ UDPゴシック" panose="020B0400000000000000" pitchFamily="50" charset="-128"/>
            </a:endParaRPr>
          </a:p>
          <a:p>
            <a:r>
              <a:rPr lang="ja-JP" altLang="en-US" sz="800">
                <a:latin typeface="BIZ UDPゴシック" panose="020B0400000000000000" pitchFamily="50" charset="-128"/>
                <a:ea typeface="BIZ UDPゴシック" panose="020B0400000000000000" pitchFamily="50" charset="-128"/>
              </a:rPr>
              <a:t>適用される新たな「製品名」の先頭</a:t>
            </a:r>
            <a:r>
              <a:rPr lang="en-US" altLang="ja-JP" sz="800">
                <a:latin typeface="BIZ UDPゴシック" panose="020B0400000000000000" pitchFamily="50" charset="-128"/>
                <a:ea typeface="BIZ UDPゴシック" panose="020B0400000000000000" pitchFamily="50" charset="-128"/>
              </a:rPr>
              <a:t>2</a:t>
            </a:r>
            <a:r>
              <a:rPr lang="ja-JP" altLang="en-US" sz="800">
                <a:latin typeface="BIZ UDPゴシック" panose="020B0400000000000000" pitchFamily="50" charset="-128"/>
                <a:ea typeface="BIZ UDPゴシック" panose="020B0400000000000000" pitchFamily="50" charset="-128"/>
              </a:rPr>
              <a:t>文字を用いた略称</a:t>
            </a:r>
            <a:endParaRPr lang="en-US" altLang="ja-JP" sz="800">
              <a:latin typeface="BIZ UDPゴシック" panose="020B0400000000000000" pitchFamily="50" charset="-128"/>
              <a:ea typeface="BIZ UDPゴシック" panose="020B0400000000000000" pitchFamily="50" charset="-128"/>
            </a:endParaRPr>
          </a:p>
        </p:txBody>
      </p:sp>
      <p:sp>
        <p:nvSpPr>
          <p:cNvPr id="49" name="正方形/長方形 48">
            <a:extLst>
              <a:ext uri="{FF2B5EF4-FFF2-40B4-BE49-F238E27FC236}">
                <a16:creationId xmlns:a16="http://schemas.microsoft.com/office/drawing/2014/main" id="{899A5649-0F9C-53FD-C19C-42B3864455E6}"/>
              </a:ext>
            </a:extLst>
          </p:cNvPr>
          <p:cNvSpPr/>
          <p:nvPr/>
        </p:nvSpPr>
        <p:spPr>
          <a:xfrm>
            <a:off x="7360207" y="1155044"/>
            <a:ext cx="2150264" cy="431565"/>
          </a:xfrm>
          <a:prstGeom prst="rect">
            <a:avLst/>
          </a:prstGeom>
          <a:solidFill>
            <a:schemeClr val="accent2"/>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400" b="1">
                <a:solidFill>
                  <a:sysClr val="window" lastClr="FFFFFF"/>
                </a:solidFill>
                <a:latin typeface="Noto Sans JP"/>
                <a:ea typeface="Noto Sans JP"/>
              </a:rPr>
              <a:t>BDU6</a:t>
            </a:r>
          </a:p>
          <a:p>
            <a:pPr algn="ctr">
              <a:defRPr/>
            </a:pPr>
            <a:r>
              <a:rPr lang="ja-JP" altLang="en-US" sz="1200" b="1">
                <a:solidFill>
                  <a:sysClr val="window" lastClr="FFFFFF"/>
                </a:solidFill>
                <a:latin typeface="Noto Sans JP"/>
                <a:ea typeface="Noto Sans JP"/>
              </a:rPr>
              <a:t>’</a:t>
            </a:r>
            <a:r>
              <a:rPr lang="en-US" altLang="ja-JP" sz="1200" b="1">
                <a:solidFill>
                  <a:sysClr val="window" lastClr="FFFFFF"/>
                </a:solidFill>
                <a:latin typeface="Noto Sans JP"/>
                <a:ea typeface="Noto Sans JP"/>
              </a:rPr>
              <a:t>27</a:t>
            </a:r>
            <a:r>
              <a:rPr lang="ja-JP" altLang="en-US" sz="1200" b="1">
                <a:solidFill>
                  <a:sysClr val="window" lastClr="FFFFFF"/>
                </a:solidFill>
                <a:latin typeface="Noto Sans JP"/>
                <a:ea typeface="Noto Sans JP"/>
              </a:rPr>
              <a:t>年 法人向け</a:t>
            </a:r>
            <a:r>
              <a:rPr lang="en-US" altLang="ja-JP" sz="1200" b="1" err="1">
                <a:solidFill>
                  <a:sysClr val="window" lastClr="FFFFFF"/>
                </a:solidFill>
                <a:latin typeface="Noto Sans JP"/>
                <a:ea typeface="Noto Sans JP"/>
              </a:rPr>
              <a:t>dGPU</a:t>
            </a:r>
            <a:r>
              <a:rPr lang="ja-JP" altLang="en-US" sz="1200" b="1">
                <a:solidFill>
                  <a:sysClr val="window" lastClr="FFFFFF"/>
                </a:solidFill>
                <a:latin typeface="Noto Sans JP"/>
                <a:ea typeface="Noto Sans JP"/>
              </a:rPr>
              <a:t>搭載機</a:t>
            </a:r>
            <a:endParaRPr lang="en-US" altLang="ja-JP" sz="1200" b="1">
              <a:solidFill>
                <a:sysClr val="window" lastClr="FFFFFF"/>
              </a:solidFill>
              <a:latin typeface="Noto Sans JP"/>
              <a:ea typeface="Noto Sans JP"/>
            </a:endParaRPr>
          </a:p>
        </p:txBody>
      </p:sp>
      <p:sp>
        <p:nvSpPr>
          <p:cNvPr id="52" name="正方形/長方形 51">
            <a:extLst>
              <a:ext uri="{FF2B5EF4-FFF2-40B4-BE49-F238E27FC236}">
                <a16:creationId xmlns:a16="http://schemas.microsoft.com/office/drawing/2014/main" id="{095C1236-F778-5DE9-A484-4C218C38400A}"/>
              </a:ext>
            </a:extLst>
          </p:cNvPr>
          <p:cNvSpPr/>
          <p:nvPr/>
        </p:nvSpPr>
        <p:spPr>
          <a:xfrm>
            <a:off x="7476634" y="1640121"/>
            <a:ext cx="1885949" cy="228291"/>
          </a:xfrm>
          <a:prstGeom prst="rect">
            <a:avLst/>
          </a:prstGeom>
          <a:solidFill>
            <a:srgbClr val="4472C4">
              <a:lumMod val="75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200" b="1">
                <a:solidFill>
                  <a:sysClr val="window" lastClr="FFFFFF"/>
                </a:solidFill>
                <a:latin typeface="Noto Sans JP"/>
                <a:ea typeface="Noto Sans JP"/>
              </a:rPr>
              <a:t>DX-16RP7A-6</a:t>
            </a:r>
          </a:p>
        </p:txBody>
      </p:sp>
      <p:sp>
        <p:nvSpPr>
          <p:cNvPr id="53" name="正方形/長方形 52">
            <a:extLst>
              <a:ext uri="{FF2B5EF4-FFF2-40B4-BE49-F238E27FC236}">
                <a16:creationId xmlns:a16="http://schemas.microsoft.com/office/drawing/2014/main" id="{D600195D-E78C-B8B7-CBAE-D3817214F11F}"/>
              </a:ext>
            </a:extLst>
          </p:cNvPr>
          <p:cNvSpPr/>
          <p:nvPr/>
        </p:nvSpPr>
        <p:spPr>
          <a:xfrm>
            <a:off x="9431269" y="4931713"/>
            <a:ext cx="1885949" cy="265013"/>
          </a:xfrm>
          <a:prstGeom prst="rect">
            <a:avLst/>
          </a:prstGeom>
          <a:solidFill>
            <a:srgbClr val="4472C4">
              <a:lumMod val="75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200" b="1">
                <a:solidFill>
                  <a:sysClr val="window" lastClr="FFFFFF"/>
                </a:solidFill>
                <a:latin typeface="Noto Sans JP"/>
                <a:ea typeface="Noto Sans JP"/>
              </a:rPr>
              <a:t>DX-17RP5A</a:t>
            </a:r>
          </a:p>
        </p:txBody>
      </p:sp>
      <p:sp>
        <p:nvSpPr>
          <p:cNvPr id="14" name="正方形/長方形 13">
            <a:extLst>
              <a:ext uri="{FF2B5EF4-FFF2-40B4-BE49-F238E27FC236}">
                <a16:creationId xmlns:a16="http://schemas.microsoft.com/office/drawing/2014/main" id="{1125EBDE-8AFD-C94F-F71C-9E07DA26F9B6}"/>
              </a:ext>
            </a:extLst>
          </p:cNvPr>
          <p:cNvSpPr/>
          <p:nvPr/>
        </p:nvSpPr>
        <p:spPr>
          <a:xfrm>
            <a:off x="3064852" y="1238863"/>
            <a:ext cx="1885949" cy="549389"/>
          </a:xfrm>
          <a:prstGeom prst="rect">
            <a:avLst/>
          </a:prstGeom>
          <a:solidFill>
            <a:schemeClr val="accent4">
              <a:lumMod val="20000"/>
              <a:lumOff val="80000"/>
            </a:scheme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rgbClr val="C00000"/>
                </a:solidFill>
                <a:latin typeface="Noto Sans JP"/>
                <a:ea typeface="Noto Sans JP"/>
              </a:rPr>
              <a:t>BMU4</a:t>
            </a:r>
          </a:p>
          <a:p>
            <a:pPr algn="ctr">
              <a:defRPr/>
            </a:pPr>
            <a:r>
              <a:rPr lang="en-US" altLang="ja-JP" sz="1200" b="1">
                <a:solidFill>
                  <a:srgbClr val="C00000"/>
                </a:solidFill>
                <a:latin typeface="Noto Sans JP"/>
                <a:ea typeface="Noto Sans JP"/>
              </a:rPr>
              <a:t>’27</a:t>
            </a:r>
            <a:r>
              <a:rPr lang="ja-JP" altLang="en-US" sz="1200" b="1">
                <a:solidFill>
                  <a:srgbClr val="C00000"/>
                </a:solidFill>
                <a:latin typeface="Noto Sans JP"/>
                <a:ea typeface="Noto Sans JP"/>
              </a:rPr>
              <a:t>年 法人文教向け</a:t>
            </a:r>
            <a:r>
              <a:rPr lang="en-US" altLang="ja-JP" sz="1200" b="1">
                <a:solidFill>
                  <a:srgbClr val="C00000"/>
                </a:solidFill>
                <a:latin typeface="Noto Sans JP"/>
                <a:ea typeface="Noto Sans JP"/>
              </a:rPr>
              <a:t>14”  </a:t>
            </a:r>
          </a:p>
        </p:txBody>
      </p:sp>
      <p:sp>
        <p:nvSpPr>
          <p:cNvPr id="16" name="正方形/長方形 15">
            <a:extLst>
              <a:ext uri="{FF2B5EF4-FFF2-40B4-BE49-F238E27FC236}">
                <a16:creationId xmlns:a16="http://schemas.microsoft.com/office/drawing/2014/main" id="{1A800745-D6DB-6045-CD53-C22ACCF95639}"/>
              </a:ext>
            </a:extLst>
          </p:cNvPr>
          <p:cNvSpPr/>
          <p:nvPr/>
        </p:nvSpPr>
        <p:spPr>
          <a:xfrm>
            <a:off x="3044401" y="4868011"/>
            <a:ext cx="1885949" cy="549389"/>
          </a:xfrm>
          <a:prstGeom prst="rect">
            <a:avLst/>
          </a:prstGeom>
          <a:solidFill>
            <a:schemeClr val="accent4">
              <a:lumMod val="20000"/>
              <a:lumOff val="80000"/>
            </a:scheme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rgbClr val="C00000"/>
                </a:solidFill>
                <a:latin typeface="Noto Sans JP"/>
                <a:ea typeface="Noto Sans JP"/>
              </a:rPr>
              <a:t>MA4/BMA4</a:t>
            </a:r>
          </a:p>
          <a:p>
            <a:pPr algn="ctr">
              <a:defRPr/>
            </a:pPr>
            <a:r>
              <a:rPr lang="en-US" altLang="ja-JP" sz="1200" b="1">
                <a:solidFill>
                  <a:srgbClr val="C00000"/>
                </a:solidFill>
                <a:latin typeface="Noto Sans JP"/>
                <a:ea typeface="Noto Sans JP"/>
              </a:rPr>
              <a:t>’27</a:t>
            </a:r>
            <a:r>
              <a:rPr lang="ja-JP" altLang="en-US" sz="1200" b="1">
                <a:solidFill>
                  <a:srgbClr val="C00000"/>
                </a:solidFill>
                <a:latin typeface="Noto Sans JP"/>
                <a:ea typeface="Noto Sans JP"/>
              </a:rPr>
              <a:t>年 </a:t>
            </a:r>
            <a:r>
              <a:rPr lang="en-US" altLang="ja-JP" sz="1200" b="1">
                <a:solidFill>
                  <a:srgbClr val="C00000"/>
                </a:solidFill>
                <a:latin typeface="Noto Sans JP"/>
                <a:ea typeface="Noto Sans JP"/>
              </a:rPr>
              <a:t>1kg</a:t>
            </a:r>
            <a:r>
              <a:rPr lang="ja-JP" altLang="en-US" sz="1200" b="1">
                <a:solidFill>
                  <a:srgbClr val="C00000"/>
                </a:solidFill>
                <a:latin typeface="Noto Sans JP"/>
                <a:ea typeface="Noto Sans JP"/>
              </a:rPr>
              <a:t>以下低価格機</a:t>
            </a:r>
            <a:r>
              <a:rPr lang="en-US" altLang="ja-JP" sz="1200" b="1">
                <a:solidFill>
                  <a:srgbClr val="C00000"/>
                </a:solidFill>
                <a:latin typeface="Noto Sans JP"/>
                <a:ea typeface="Noto Sans JP"/>
              </a:rPr>
              <a:t>  </a:t>
            </a:r>
          </a:p>
        </p:txBody>
      </p:sp>
      <p:sp>
        <p:nvSpPr>
          <p:cNvPr id="25" name="正方形/長方形 24">
            <a:extLst>
              <a:ext uri="{FF2B5EF4-FFF2-40B4-BE49-F238E27FC236}">
                <a16:creationId xmlns:a16="http://schemas.microsoft.com/office/drawing/2014/main" id="{16961F7B-3AC1-3932-3D7A-FAD9AFA86F9D}"/>
              </a:ext>
            </a:extLst>
          </p:cNvPr>
          <p:cNvSpPr/>
          <p:nvPr/>
        </p:nvSpPr>
        <p:spPr>
          <a:xfrm>
            <a:off x="5540873" y="5280705"/>
            <a:ext cx="1885949" cy="549389"/>
          </a:xfrm>
          <a:prstGeom prst="rect">
            <a:avLst/>
          </a:prstGeom>
          <a:solidFill>
            <a:schemeClr val="accent4">
              <a:lumMod val="20000"/>
              <a:lumOff val="80000"/>
            </a:scheme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rgbClr val="C00000"/>
                </a:solidFill>
                <a:latin typeface="Noto Sans JP"/>
                <a:ea typeface="Noto Sans JP"/>
              </a:rPr>
              <a:t>DA5/BDA5</a:t>
            </a:r>
          </a:p>
          <a:p>
            <a:pPr algn="ctr">
              <a:defRPr/>
            </a:pPr>
            <a:r>
              <a:rPr lang="en-US" altLang="ja-JP" sz="1200" b="1">
                <a:solidFill>
                  <a:srgbClr val="C00000"/>
                </a:solidFill>
                <a:latin typeface="Noto Sans JP"/>
                <a:ea typeface="Noto Sans JP"/>
              </a:rPr>
              <a:t>’27</a:t>
            </a:r>
            <a:r>
              <a:rPr lang="ja-JP" altLang="en-US" sz="1200" b="1">
                <a:solidFill>
                  <a:srgbClr val="C00000"/>
                </a:solidFill>
                <a:latin typeface="Noto Sans JP"/>
                <a:ea typeface="Noto Sans JP"/>
              </a:rPr>
              <a:t>年 </a:t>
            </a:r>
            <a:r>
              <a:rPr lang="en-US" altLang="ja-JP" sz="1200" b="1">
                <a:solidFill>
                  <a:srgbClr val="C00000"/>
                </a:solidFill>
                <a:latin typeface="Noto Sans JP"/>
                <a:ea typeface="Noto Sans JP"/>
              </a:rPr>
              <a:t>10</a:t>
            </a:r>
            <a:r>
              <a:rPr lang="ja-JP" altLang="en-US" sz="1200" b="1">
                <a:solidFill>
                  <a:srgbClr val="C00000"/>
                </a:solidFill>
                <a:latin typeface="Noto Sans JP"/>
                <a:ea typeface="Noto Sans JP"/>
              </a:rPr>
              <a:t>万円以下製品</a:t>
            </a:r>
            <a:r>
              <a:rPr lang="en-US" altLang="ja-JP" sz="1200" b="1">
                <a:solidFill>
                  <a:srgbClr val="C00000"/>
                </a:solidFill>
                <a:latin typeface="Noto Sans JP"/>
                <a:ea typeface="Noto Sans JP"/>
              </a:rPr>
              <a:t>  </a:t>
            </a:r>
          </a:p>
        </p:txBody>
      </p:sp>
      <p:sp>
        <p:nvSpPr>
          <p:cNvPr id="37" name="正方形/長方形 36">
            <a:extLst>
              <a:ext uri="{FF2B5EF4-FFF2-40B4-BE49-F238E27FC236}">
                <a16:creationId xmlns:a16="http://schemas.microsoft.com/office/drawing/2014/main" id="{B449D733-7A06-64CC-6318-34278985648D}"/>
              </a:ext>
            </a:extLst>
          </p:cNvPr>
          <p:cNvSpPr/>
          <p:nvPr/>
        </p:nvSpPr>
        <p:spPr>
          <a:xfrm>
            <a:off x="9527661" y="1150536"/>
            <a:ext cx="1252633" cy="549389"/>
          </a:xfrm>
          <a:prstGeom prst="rect">
            <a:avLst/>
          </a:prstGeom>
          <a:solidFill>
            <a:schemeClr val="accent4">
              <a:lumMod val="20000"/>
              <a:lumOff val="80000"/>
            </a:scheme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100" b="1">
                <a:solidFill>
                  <a:srgbClr val="C00000"/>
                </a:solidFill>
                <a:latin typeface="Noto Sans JP"/>
                <a:ea typeface="Noto Sans JP"/>
              </a:rPr>
              <a:t>BDU6</a:t>
            </a:r>
            <a:r>
              <a:rPr lang="ja-JP" altLang="en-US" sz="1100" b="1">
                <a:solidFill>
                  <a:srgbClr val="C00000"/>
                </a:solidFill>
                <a:latin typeface="Noto Sans JP"/>
                <a:ea typeface="Noto Sans JP"/>
              </a:rPr>
              <a:t>は</a:t>
            </a:r>
            <a:r>
              <a:rPr lang="en-US" altLang="ja-JP" sz="1100" b="1">
                <a:solidFill>
                  <a:srgbClr val="C00000"/>
                </a:solidFill>
                <a:latin typeface="Noto Sans JP"/>
                <a:ea typeface="Noto Sans JP"/>
              </a:rPr>
              <a:t>3</a:t>
            </a:r>
            <a:r>
              <a:rPr lang="ja-JP" altLang="en-US" sz="1100" b="1">
                <a:solidFill>
                  <a:srgbClr val="C00000"/>
                </a:solidFill>
                <a:latin typeface="Noto Sans JP"/>
                <a:ea typeface="Noto Sans JP"/>
              </a:rPr>
              <a:t>種要望</a:t>
            </a:r>
            <a:endParaRPr lang="en-US" altLang="ja-JP" sz="1100" b="1">
              <a:solidFill>
                <a:srgbClr val="C00000"/>
              </a:solidFill>
              <a:latin typeface="Noto Sans JP"/>
              <a:ea typeface="Noto Sans JP"/>
            </a:endParaRPr>
          </a:p>
          <a:p>
            <a:pPr algn="ctr">
              <a:defRPr/>
            </a:pPr>
            <a:r>
              <a:rPr lang="en-US" altLang="ja-JP" sz="900" b="1">
                <a:solidFill>
                  <a:srgbClr val="C00000"/>
                </a:solidFill>
                <a:latin typeface="Noto Sans JP"/>
                <a:ea typeface="Noto Sans JP"/>
              </a:rPr>
              <a:t>Intel xxx + 5070 12G / 5060 / 3050</a:t>
            </a:r>
          </a:p>
        </p:txBody>
      </p:sp>
      <p:sp>
        <p:nvSpPr>
          <p:cNvPr id="41" name="正方形/長方形 40">
            <a:extLst>
              <a:ext uri="{FF2B5EF4-FFF2-40B4-BE49-F238E27FC236}">
                <a16:creationId xmlns:a16="http://schemas.microsoft.com/office/drawing/2014/main" id="{ACAD2722-1DEC-FF49-D13F-9430BAD90CEF}"/>
              </a:ext>
            </a:extLst>
          </p:cNvPr>
          <p:cNvSpPr/>
          <p:nvPr/>
        </p:nvSpPr>
        <p:spPr>
          <a:xfrm>
            <a:off x="7475445" y="4191521"/>
            <a:ext cx="1885949" cy="539642"/>
          </a:xfrm>
          <a:prstGeom prst="rect">
            <a:avLst/>
          </a:prstGeom>
          <a:solidFill>
            <a:schemeClr val="accent4">
              <a:lumMod val="20000"/>
              <a:lumOff val="80000"/>
            </a:scheme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rgbClr val="C00000"/>
                </a:solidFill>
                <a:latin typeface="Noto Sans JP"/>
                <a:ea typeface="Noto Sans JP"/>
              </a:rPr>
              <a:t>DA6/BDA6</a:t>
            </a:r>
          </a:p>
          <a:p>
            <a:pPr algn="ctr">
              <a:defRPr/>
            </a:pPr>
            <a:r>
              <a:rPr lang="en-US" altLang="ja-JP" sz="1200" b="1">
                <a:solidFill>
                  <a:srgbClr val="C00000"/>
                </a:solidFill>
                <a:latin typeface="Noto Sans JP"/>
                <a:ea typeface="Noto Sans JP"/>
              </a:rPr>
              <a:t>Pegatron</a:t>
            </a:r>
            <a:r>
              <a:rPr lang="ja-JP" altLang="en-US" sz="1200" b="1">
                <a:solidFill>
                  <a:srgbClr val="C00000"/>
                </a:solidFill>
                <a:latin typeface="Noto Sans JP"/>
                <a:ea typeface="Noto Sans JP"/>
              </a:rPr>
              <a:t>モジュール機</a:t>
            </a:r>
            <a:r>
              <a:rPr lang="en-US" altLang="ja-JP" sz="1200" b="1">
                <a:solidFill>
                  <a:srgbClr val="C00000"/>
                </a:solidFill>
                <a:latin typeface="Noto Sans JP"/>
                <a:ea typeface="Noto Sans JP"/>
              </a:rPr>
              <a:t>  </a:t>
            </a:r>
          </a:p>
        </p:txBody>
      </p:sp>
      <p:sp>
        <p:nvSpPr>
          <p:cNvPr id="55" name="テキスト ボックス 54">
            <a:extLst>
              <a:ext uri="{FF2B5EF4-FFF2-40B4-BE49-F238E27FC236}">
                <a16:creationId xmlns:a16="http://schemas.microsoft.com/office/drawing/2014/main" id="{05EAEC46-3D2D-F3E9-898A-8ECA2978E58E}"/>
              </a:ext>
            </a:extLst>
          </p:cNvPr>
          <p:cNvSpPr txBox="1"/>
          <p:nvPr/>
        </p:nvSpPr>
        <p:spPr>
          <a:xfrm>
            <a:off x="2912193" y="2101945"/>
            <a:ext cx="5465351" cy="276999"/>
          </a:xfrm>
          <a:prstGeom prst="rect">
            <a:avLst/>
          </a:prstGeom>
          <a:solidFill>
            <a:schemeClr val="accent4"/>
          </a:solidFill>
        </p:spPr>
        <p:txBody>
          <a:bodyPr wrap="square">
            <a:spAutoFit/>
          </a:bodyPr>
          <a:lstStyle/>
          <a:p>
            <a:pPr algn="ctr">
              <a:defRPr/>
            </a:pPr>
            <a:r>
              <a:rPr lang="ja-JP" altLang="en-US" sz="1200">
                <a:solidFill>
                  <a:sysClr val="windowText" lastClr="000000"/>
                </a:solidFill>
                <a:latin typeface="BIZ UDPゴシック" panose="020B0400000000000000" pitchFamily="50" charset="-128"/>
                <a:ea typeface="BIZ UDPゴシック" panose="020B0400000000000000" pitchFamily="50" charset="-128"/>
              </a:rPr>
              <a:t>法人向け製品は各カテゴリ名の先頭に</a:t>
            </a:r>
            <a:r>
              <a:rPr lang="en-US" altLang="ja-JP" sz="1200">
                <a:solidFill>
                  <a:sysClr val="windowText" lastClr="000000"/>
                </a:solidFill>
                <a:latin typeface="BIZ UDPゴシック" panose="020B0400000000000000" pitchFamily="50" charset="-128"/>
                <a:ea typeface="BIZ UDPゴシック" panose="020B0400000000000000" pitchFamily="50" charset="-128"/>
              </a:rPr>
              <a:t>”B”</a:t>
            </a:r>
            <a:r>
              <a:rPr lang="ja-JP" altLang="en-US" sz="1200">
                <a:solidFill>
                  <a:sysClr val="windowText" lastClr="000000"/>
                </a:solidFill>
                <a:latin typeface="BIZ UDPゴシック" panose="020B0400000000000000" pitchFamily="50" charset="-128"/>
                <a:ea typeface="BIZ UDPゴシック" panose="020B0400000000000000" pitchFamily="50" charset="-128"/>
              </a:rPr>
              <a:t>を付けることで明確に区分</a:t>
            </a:r>
          </a:p>
        </p:txBody>
      </p:sp>
      <p:sp>
        <p:nvSpPr>
          <p:cNvPr id="46" name="正方形/長方形 45">
            <a:extLst>
              <a:ext uri="{FF2B5EF4-FFF2-40B4-BE49-F238E27FC236}">
                <a16:creationId xmlns:a16="http://schemas.microsoft.com/office/drawing/2014/main" id="{099CF518-6EA6-4503-A581-B9A44AB0076E}"/>
              </a:ext>
            </a:extLst>
          </p:cNvPr>
          <p:cNvSpPr/>
          <p:nvPr/>
        </p:nvSpPr>
        <p:spPr>
          <a:xfrm>
            <a:off x="11263249" y="547553"/>
            <a:ext cx="594875" cy="164183"/>
          </a:xfrm>
          <a:prstGeom prst="rect">
            <a:avLst/>
          </a:prstGeom>
          <a:solidFill>
            <a:schemeClr val="accent4">
              <a:lumMod val="20000"/>
              <a:lumOff val="80000"/>
            </a:schemeClr>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800" b="0" i="0" u="none" strike="noStrike" kern="0" cap="none" spc="0" normalizeH="0" baseline="0" noProof="0">
                <a:ln>
                  <a:noFill/>
                </a:ln>
                <a:solidFill>
                  <a:srgbClr val="C00000"/>
                </a:solidFill>
                <a:effectLst/>
                <a:uLnTx/>
                <a:uFillTx/>
                <a:latin typeface="+mj-ea"/>
                <a:ea typeface="+mj-ea"/>
                <a:cs typeface="メイリオ" panose="020B0604030504040204" pitchFamily="50" charset="-128"/>
              </a:rPr>
              <a:t>将来計画</a:t>
            </a:r>
            <a:endParaRPr kumimoji="1" lang="ja-JP" altLang="en-US" sz="500" b="1" i="0" u="none" strike="noStrike" kern="0" cap="none" spc="0" normalizeH="0" baseline="0" noProof="0">
              <a:ln>
                <a:noFill/>
              </a:ln>
              <a:solidFill>
                <a:srgbClr val="C00000"/>
              </a:solidFill>
              <a:effectLst/>
              <a:uLnTx/>
              <a:uFillTx/>
              <a:latin typeface="+mj-ea"/>
              <a:ea typeface="+mj-ea"/>
              <a:cs typeface="メイリオ" panose="020B0604030504040204" pitchFamily="50" charset="-128"/>
            </a:endParaRPr>
          </a:p>
        </p:txBody>
      </p:sp>
      <p:sp>
        <p:nvSpPr>
          <p:cNvPr id="2" name="正方形/長方形 1">
            <a:extLst>
              <a:ext uri="{FF2B5EF4-FFF2-40B4-BE49-F238E27FC236}">
                <a16:creationId xmlns:a16="http://schemas.microsoft.com/office/drawing/2014/main" id="{841B6A59-36F6-46E7-2041-334840B8702A}"/>
              </a:ext>
            </a:extLst>
          </p:cNvPr>
          <p:cNvSpPr/>
          <p:nvPr/>
        </p:nvSpPr>
        <p:spPr>
          <a:xfrm>
            <a:off x="216011" y="730970"/>
            <a:ext cx="11766238" cy="1308548"/>
          </a:xfrm>
          <a:prstGeom prst="rect">
            <a:avLst/>
          </a:prstGeom>
          <a:solidFill>
            <a:schemeClr val="tx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t>➡</a:t>
            </a:r>
            <a:r>
              <a:rPr lang="en-US" altLang="ja-JP" b="1"/>
              <a:t>GALLERIA</a:t>
            </a:r>
            <a:endParaRPr kumimoji="1" lang="ja-JP" altLang="en-US" b="1"/>
          </a:p>
        </p:txBody>
      </p:sp>
    </p:spTree>
    <p:extLst>
      <p:ext uri="{BB962C8B-B14F-4D97-AF65-F5344CB8AC3E}">
        <p14:creationId xmlns:p14="http://schemas.microsoft.com/office/powerpoint/2010/main" val="1612130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B73BA-2E3C-9812-58A5-57241A42356B}"/>
            </a:ext>
          </a:extLst>
        </p:cNvPr>
        <p:cNvGrpSpPr/>
        <p:nvPr/>
      </p:nvGrpSpPr>
      <p:grpSpPr>
        <a:xfrm>
          <a:off x="0" y="0"/>
          <a:ext cx="0" cy="0"/>
          <a:chOff x="0" y="0"/>
          <a:chExt cx="0" cy="0"/>
        </a:xfrm>
      </p:grpSpPr>
      <p:sp>
        <p:nvSpPr>
          <p:cNvPr id="63" name="矢印: 五方向 30">
            <a:extLst>
              <a:ext uri="{FF2B5EF4-FFF2-40B4-BE49-F238E27FC236}">
                <a16:creationId xmlns:a16="http://schemas.microsoft.com/office/drawing/2014/main" id="{96902E7D-3172-2883-1CE9-9A59D70C227F}"/>
              </a:ext>
            </a:extLst>
          </p:cNvPr>
          <p:cNvSpPr/>
          <p:nvPr/>
        </p:nvSpPr>
        <p:spPr>
          <a:xfrm>
            <a:off x="402224" y="1763387"/>
            <a:ext cx="11537044" cy="1688080"/>
          </a:xfrm>
          <a:prstGeom prst="rect">
            <a:avLst/>
          </a:prstGeom>
          <a:solidFill>
            <a:schemeClr val="accent6">
              <a:lumMod val="40000"/>
              <a:lumOff val="6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矢印: 五方向 30">
            <a:extLst>
              <a:ext uri="{FF2B5EF4-FFF2-40B4-BE49-F238E27FC236}">
                <a16:creationId xmlns:a16="http://schemas.microsoft.com/office/drawing/2014/main" id="{A1F6831C-5A5E-5456-5C58-24558BFE7358}"/>
              </a:ext>
            </a:extLst>
          </p:cNvPr>
          <p:cNvSpPr/>
          <p:nvPr/>
        </p:nvSpPr>
        <p:spPr>
          <a:xfrm>
            <a:off x="413707" y="3517429"/>
            <a:ext cx="11537044" cy="3245396"/>
          </a:xfrm>
          <a:prstGeom prst="rect">
            <a:avLst/>
          </a:prstGeom>
          <a:solidFill>
            <a:schemeClr val="tx1">
              <a:lumMod val="50000"/>
              <a:lumOff val="5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1">
            <a:extLst>
              <a:ext uri="{FF2B5EF4-FFF2-40B4-BE49-F238E27FC236}">
                <a16:creationId xmlns:a16="http://schemas.microsoft.com/office/drawing/2014/main" id="{54AD86C0-677B-A132-9249-396D31A1AC32}"/>
              </a:ext>
            </a:extLst>
          </p:cNvPr>
          <p:cNvSpPr txBox="1"/>
          <p:nvPr/>
        </p:nvSpPr>
        <p:spPr>
          <a:xfrm>
            <a:off x="316084" y="97797"/>
            <a:ext cx="6494905" cy="33855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r>
              <a:rPr kumimoji="1" lang="ja-JP" altLang="en-US" sz="16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次期検討用ロードマップ（</a:t>
            </a:r>
            <a:r>
              <a:rPr kumimoji="1" lang="en-US" altLang="ja-JP" sz="16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2026~2028</a:t>
            </a:r>
            <a:r>
              <a:rPr kumimoji="1" lang="ja-JP" altLang="en-US" sz="16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a:t>
            </a:r>
            <a:r>
              <a:rPr lang="ja-JP" altLang="en-US" sz="1600" b="1">
                <a:solidFill>
                  <a:prstClr val="black"/>
                </a:solidFill>
              </a:rPr>
              <a:t> </a:t>
            </a:r>
            <a:r>
              <a:rPr lang="en-US" altLang="ja-JP" sz="1600" b="1">
                <a:solidFill>
                  <a:prstClr val="black"/>
                </a:solidFill>
              </a:rPr>
              <a:t>2026/06/22</a:t>
            </a:r>
            <a:r>
              <a:rPr lang="ja-JP" altLang="en-US" sz="1600" b="1">
                <a:solidFill>
                  <a:prstClr val="black"/>
                </a:solidFill>
              </a:rPr>
              <a:t>版</a:t>
            </a:r>
            <a:endParaRPr kumimoji="1" lang="ja-JP" altLang="en-US" sz="16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cxnSp>
        <p:nvCxnSpPr>
          <p:cNvPr id="6" name="直線コネクタ 5">
            <a:extLst>
              <a:ext uri="{FF2B5EF4-FFF2-40B4-BE49-F238E27FC236}">
                <a16:creationId xmlns:a16="http://schemas.microsoft.com/office/drawing/2014/main" id="{F85B7568-75C7-6581-51E3-2C48909853F6}"/>
              </a:ext>
            </a:extLst>
          </p:cNvPr>
          <p:cNvCxnSpPr>
            <a:cxnSpLocks/>
          </p:cNvCxnSpPr>
          <p:nvPr/>
        </p:nvCxnSpPr>
        <p:spPr>
          <a:xfrm>
            <a:off x="8090023" y="1794412"/>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9D1F141F-0EA7-1B7B-8126-D9CA22161B2B}"/>
              </a:ext>
            </a:extLst>
          </p:cNvPr>
          <p:cNvCxnSpPr>
            <a:cxnSpLocks/>
          </p:cNvCxnSpPr>
          <p:nvPr/>
        </p:nvCxnSpPr>
        <p:spPr>
          <a:xfrm>
            <a:off x="4243077" y="1794412"/>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57E89978-E5F8-7895-5EBF-5F8D1D6E44AF}"/>
              </a:ext>
            </a:extLst>
          </p:cNvPr>
          <p:cNvCxnSpPr>
            <a:cxnSpLocks/>
          </p:cNvCxnSpPr>
          <p:nvPr/>
        </p:nvCxnSpPr>
        <p:spPr>
          <a:xfrm>
            <a:off x="405461" y="1285468"/>
            <a:ext cx="0" cy="541489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7" name="矢印: 五方向 16">
            <a:extLst>
              <a:ext uri="{FF2B5EF4-FFF2-40B4-BE49-F238E27FC236}">
                <a16:creationId xmlns:a16="http://schemas.microsoft.com/office/drawing/2014/main" id="{24991D08-C93B-664D-C70F-A3B869FB4425}"/>
              </a:ext>
            </a:extLst>
          </p:cNvPr>
          <p:cNvSpPr/>
          <p:nvPr/>
        </p:nvSpPr>
        <p:spPr>
          <a:xfrm>
            <a:off x="4563376" y="5963833"/>
            <a:ext cx="3838652"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[A]MA4-R5SIGA-08B/C/G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(CLE V745 : AMD Ryzen 5 7535HS/60Wh/IR Cam)</a:t>
            </a:r>
          </a:p>
        </p:txBody>
      </p:sp>
      <p:sp>
        <p:nvSpPr>
          <p:cNvPr id="18" name="矢印: 五方向 17">
            <a:extLst>
              <a:ext uri="{FF2B5EF4-FFF2-40B4-BE49-F238E27FC236}">
                <a16:creationId xmlns:a16="http://schemas.microsoft.com/office/drawing/2014/main" id="{2986C4CD-9364-BE6C-55C4-6B86D990028A}"/>
              </a:ext>
            </a:extLst>
          </p:cNvPr>
          <p:cNvSpPr/>
          <p:nvPr/>
        </p:nvSpPr>
        <p:spPr>
          <a:xfrm>
            <a:off x="1998444" y="4034797"/>
            <a:ext cx="1941803"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[A]F-14RP7F-B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7 150U/50Wh/</a:t>
            </a:r>
            <a:r>
              <a:rPr kumimoji="1" lang="ja-JP" altLang="en-US"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指紋</a:t>
            </a: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p>
        </p:txBody>
      </p:sp>
      <p:sp>
        <p:nvSpPr>
          <p:cNvPr id="19" name="矢印: 五方向 18">
            <a:extLst>
              <a:ext uri="{FF2B5EF4-FFF2-40B4-BE49-F238E27FC236}">
                <a16:creationId xmlns:a16="http://schemas.microsoft.com/office/drawing/2014/main" id="{1A3AB5D4-686A-B310-4855-C7CC445379DB}"/>
              </a:ext>
            </a:extLst>
          </p:cNvPr>
          <p:cNvSpPr/>
          <p:nvPr/>
        </p:nvSpPr>
        <p:spPr>
          <a:xfrm>
            <a:off x="402388" y="5234130"/>
            <a:ext cx="3208566"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[A]F-14RP5T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i5-1335U)</a:t>
            </a:r>
          </a:p>
        </p:txBody>
      </p:sp>
      <p:sp>
        <p:nvSpPr>
          <p:cNvPr id="21" name="矢印: 五方向 20">
            <a:extLst>
              <a:ext uri="{FF2B5EF4-FFF2-40B4-BE49-F238E27FC236}">
                <a16:creationId xmlns:a16="http://schemas.microsoft.com/office/drawing/2014/main" id="{FBA634EF-6ADF-F0E8-38E1-3BC4773DD0B6}"/>
              </a:ext>
            </a:extLst>
          </p:cNvPr>
          <p:cNvSpPr/>
          <p:nvPr/>
        </p:nvSpPr>
        <p:spPr>
          <a:xfrm>
            <a:off x="392699" y="5967889"/>
            <a:ext cx="4129420"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[A]F-14BR5A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(AMD Ryzen5 7430U)</a:t>
            </a:r>
          </a:p>
        </p:txBody>
      </p:sp>
      <p:sp>
        <p:nvSpPr>
          <p:cNvPr id="25" name="矢印: 五方向 24">
            <a:extLst>
              <a:ext uri="{FF2B5EF4-FFF2-40B4-BE49-F238E27FC236}">
                <a16:creationId xmlns:a16="http://schemas.microsoft.com/office/drawing/2014/main" id="{05A36ADA-B461-B927-8059-CB311A8AFD2A}"/>
              </a:ext>
            </a:extLst>
          </p:cNvPr>
          <p:cNvSpPr/>
          <p:nvPr/>
        </p:nvSpPr>
        <p:spPr>
          <a:xfrm>
            <a:off x="404328" y="3038802"/>
            <a:ext cx="4165715"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[H]F-14LN5LA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5 226V)</a:t>
            </a:r>
          </a:p>
        </p:txBody>
      </p:sp>
      <p:sp>
        <p:nvSpPr>
          <p:cNvPr id="26" name="矢印: 五方向 25">
            <a:extLst>
              <a:ext uri="{FF2B5EF4-FFF2-40B4-BE49-F238E27FC236}">
                <a16:creationId xmlns:a16="http://schemas.microsoft.com/office/drawing/2014/main" id="{26316E4E-FD63-93C3-7C0B-84B76A395E53}"/>
              </a:ext>
            </a:extLst>
          </p:cNvPr>
          <p:cNvSpPr/>
          <p:nvPr/>
        </p:nvSpPr>
        <p:spPr>
          <a:xfrm>
            <a:off x="4538091" y="3888799"/>
            <a:ext cx="3838651"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[A]MA4-C7HIGA-08B/C/G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(CLE V745 : Intel Core Ultra 7 155U/60Wh/IR Cam)</a:t>
            </a:r>
          </a:p>
        </p:txBody>
      </p:sp>
      <p:sp>
        <p:nvSpPr>
          <p:cNvPr id="27" name="矢印: 五方向 26">
            <a:extLst>
              <a:ext uri="{FF2B5EF4-FFF2-40B4-BE49-F238E27FC236}">
                <a16:creationId xmlns:a16="http://schemas.microsoft.com/office/drawing/2014/main" id="{EE94BB9B-915F-DA13-42AF-D8FD705C36CC}"/>
              </a:ext>
            </a:extLst>
          </p:cNvPr>
          <p:cNvSpPr/>
          <p:nvPr/>
        </p:nvSpPr>
        <p:spPr>
          <a:xfrm>
            <a:off x="405461" y="2417634"/>
            <a:ext cx="3208566"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[H]F-14MTL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7 125U)</a:t>
            </a:r>
          </a:p>
        </p:txBody>
      </p:sp>
      <p:sp>
        <p:nvSpPr>
          <p:cNvPr id="29" name="矢印: 五方向 28">
            <a:extLst>
              <a:ext uri="{FF2B5EF4-FFF2-40B4-BE49-F238E27FC236}">
                <a16:creationId xmlns:a16="http://schemas.microsoft.com/office/drawing/2014/main" id="{FEC46557-62C5-31C8-1D78-F6536277BC7E}"/>
              </a:ext>
            </a:extLst>
          </p:cNvPr>
          <p:cNvSpPr/>
          <p:nvPr/>
        </p:nvSpPr>
        <p:spPr>
          <a:xfrm>
            <a:off x="2287049" y="3890797"/>
            <a:ext cx="2232579"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[A]F-14RP7H-B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7 150U/DDR5/50Wh/</a:t>
            </a:r>
            <a:r>
              <a:rPr kumimoji="1" lang="ja-JP" altLang="en-US"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指紋</a:t>
            </a:r>
            <a:r>
              <a:rPr kumimoji="1" lang="en-US" altLang="ja-JP"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p>
        </p:txBody>
      </p:sp>
      <p:sp>
        <p:nvSpPr>
          <p:cNvPr id="31" name="矢印: 五方向 30">
            <a:extLst>
              <a:ext uri="{FF2B5EF4-FFF2-40B4-BE49-F238E27FC236}">
                <a16:creationId xmlns:a16="http://schemas.microsoft.com/office/drawing/2014/main" id="{D10AAB9A-0049-735B-0F67-4B623CD809EF}"/>
              </a:ext>
            </a:extLst>
          </p:cNvPr>
          <p:cNvSpPr/>
          <p:nvPr/>
        </p:nvSpPr>
        <p:spPr>
          <a:xfrm>
            <a:off x="405458" y="4322063"/>
            <a:ext cx="2574587"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[A]F-14RP7S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i7-1355U)</a:t>
            </a:r>
          </a:p>
        </p:txBody>
      </p:sp>
      <p:sp>
        <p:nvSpPr>
          <p:cNvPr id="39" name="矢印: 五方向 38">
            <a:extLst>
              <a:ext uri="{FF2B5EF4-FFF2-40B4-BE49-F238E27FC236}">
                <a16:creationId xmlns:a16="http://schemas.microsoft.com/office/drawing/2014/main" id="{CC66F4C8-2A6F-3DAD-90CF-063A9C4FC01F}"/>
              </a:ext>
            </a:extLst>
          </p:cNvPr>
          <p:cNvSpPr/>
          <p:nvPr/>
        </p:nvSpPr>
        <p:spPr>
          <a:xfrm>
            <a:off x="8409224" y="5978087"/>
            <a:ext cx="3533282"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CLE V745 + Ryzen5 </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2" name="矢印: 五方向 41">
            <a:extLst>
              <a:ext uri="{FF2B5EF4-FFF2-40B4-BE49-F238E27FC236}">
                <a16:creationId xmlns:a16="http://schemas.microsoft.com/office/drawing/2014/main" id="{1A2ED11B-D552-CD94-198E-A70EA047E6AB}"/>
              </a:ext>
            </a:extLst>
          </p:cNvPr>
          <p:cNvSpPr/>
          <p:nvPr/>
        </p:nvSpPr>
        <p:spPr>
          <a:xfrm>
            <a:off x="8426807" y="4834127"/>
            <a:ext cx="3533282"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CLE V745 + WCL or WCL-Ref CU5</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4" name="矢印: 五方向 43">
            <a:extLst>
              <a:ext uri="{FF2B5EF4-FFF2-40B4-BE49-F238E27FC236}">
                <a16:creationId xmlns:a16="http://schemas.microsoft.com/office/drawing/2014/main" id="{767455BC-199E-138E-BA5D-B497EFFD1835}"/>
              </a:ext>
            </a:extLst>
          </p:cNvPr>
          <p:cNvSpPr/>
          <p:nvPr/>
        </p:nvSpPr>
        <p:spPr>
          <a:xfrm>
            <a:off x="8403818" y="3898973"/>
            <a:ext cx="3533282" cy="287999"/>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CLE V745 + WCL or WCL-Ref-CU7</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6" name="矢印: 五方向 45">
            <a:extLst>
              <a:ext uri="{FF2B5EF4-FFF2-40B4-BE49-F238E27FC236}">
                <a16:creationId xmlns:a16="http://schemas.microsoft.com/office/drawing/2014/main" id="{2F927906-7410-4F27-AD47-D2870204F41F}"/>
              </a:ext>
            </a:extLst>
          </p:cNvPr>
          <p:cNvSpPr/>
          <p:nvPr/>
        </p:nvSpPr>
        <p:spPr>
          <a:xfrm>
            <a:off x="392699" y="5533076"/>
            <a:ext cx="3228582"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[A]F-14RP5S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i5-1334U)</a:t>
            </a:r>
          </a:p>
        </p:txBody>
      </p:sp>
      <p:sp>
        <p:nvSpPr>
          <p:cNvPr id="47" name="矢印: 五方向 46">
            <a:extLst>
              <a:ext uri="{FF2B5EF4-FFF2-40B4-BE49-F238E27FC236}">
                <a16:creationId xmlns:a16="http://schemas.microsoft.com/office/drawing/2014/main" id="{675D6900-8935-B3E4-067C-FAD63D6F4B6C}"/>
              </a:ext>
            </a:extLst>
          </p:cNvPr>
          <p:cNvSpPr/>
          <p:nvPr/>
        </p:nvSpPr>
        <p:spPr>
          <a:xfrm>
            <a:off x="1710418" y="4938356"/>
            <a:ext cx="2244234"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[A]F-14RP5F-B</a:t>
            </a:r>
            <a:b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b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5 120U/50Wh/</a:t>
            </a:r>
            <a:r>
              <a:rPr kumimoji="1" lang="ja-JP" altLang="en-US"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指紋</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p>
        </p:txBody>
      </p:sp>
      <p:sp>
        <p:nvSpPr>
          <p:cNvPr id="48" name="矢印: 五方向 47">
            <a:extLst>
              <a:ext uri="{FF2B5EF4-FFF2-40B4-BE49-F238E27FC236}">
                <a16:creationId xmlns:a16="http://schemas.microsoft.com/office/drawing/2014/main" id="{9C222502-CFD7-0F10-7881-7DBA1FC88360}"/>
              </a:ext>
            </a:extLst>
          </p:cNvPr>
          <p:cNvSpPr/>
          <p:nvPr/>
        </p:nvSpPr>
        <p:spPr>
          <a:xfrm>
            <a:off x="3598702" y="5045426"/>
            <a:ext cx="971342"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[A]F-14RP5V </a:t>
            </a:r>
            <a:r>
              <a:rPr kumimoji="1" lang="en-US" altLang="ja-JP" sz="3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 1334U/DDR5)</a:t>
            </a:r>
          </a:p>
        </p:txBody>
      </p:sp>
      <p:cxnSp>
        <p:nvCxnSpPr>
          <p:cNvPr id="50" name="直線コネクタ 49">
            <a:extLst>
              <a:ext uri="{FF2B5EF4-FFF2-40B4-BE49-F238E27FC236}">
                <a16:creationId xmlns:a16="http://schemas.microsoft.com/office/drawing/2014/main" id="{531EFEBC-16F5-3DF2-66B2-6141F3724ACF}"/>
              </a:ext>
            </a:extLst>
          </p:cNvPr>
          <p:cNvCxnSpPr/>
          <p:nvPr/>
        </p:nvCxnSpPr>
        <p:spPr>
          <a:xfrm>
            <a:off x="5830278" y="682998"/>
            <a:ext cx="0" cy="6070027"/>
          </a:xfrm>
          <a:prstGeom prst="line">
            <a:avLst/>
          </a:prstGeom>
        </p:spPr>
        <p:style>
          <a:lnRef idx="1">
            <a:schemeClr val="accent1"/>
          </a:lnRef>
          <a:fillRef idx="0">
            <a:schemeClr val="accent1"/>
          </a:fillRef>
          <a:effectRef idx="0">
            <a:schemeClr val="accent1"/>
          </a:effectRef>
          <a:fontRef idx="minor">
            <a:schemeClr val="tx1"/>
          </a:fontRef>
        </p:style>
      </p:cxnSp>
      <p:sp>
        <p:nvSpPr>
          <p:cNvPr id="51" name="矢印: 五方向 50">
            <a:extLst>
              <a:ext uri="{FF2B5EF4-FFF2-40B4-BE49-F238E27FC236}">
                <a16:creationId xmlns:a16="http://schemas.microsoft.com/office/drawing/2014/main" id="{0E0C19DA-42C8-5B89-DA77-4565E8BD0175}"/>
              </a:ext>
            </a:extLst>
          </p:cNvPr>
          <p:cNvSpPr/>
          <p:nvPr/>
        </p:nvSpPr>
        <p:spPr>
          <a:xfrm>
            <a:off x="396164" y="2101633"/>
            <a:ext cx="4827625"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[H]F-14LN7LA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7 258V)</a:t>
            </a:r>
          </a:p>
        </p:txBody>
      </p:sp>
      <p:sp>
        <p:nvSpPr>
          <p:cNvPr id="52" name="矢印: 五方向 51">
            <a:extLst>
              <a:ext uri="{FF2B5EF4-FFF2-40B4-BE49-F238E27FC236}">
                <a16:creationId xmlns:a16="http://schemas.microsoft.com/office/drawing/2014/main" id="{980345C5-87DF-9511-8498-EE10F0B9D3EE}"/>
              </a:ext>
            </a:extLst>
          </p:cNvPr>
          <p:cNvSpPr/>
          <p:nvPr/>
        </p:nvSpPr>
        <p:spPr>
          <a:xfrm>
            <a:off x="2326668" y="2728990"/>
            <a:ext cx="4014072"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[H]F-14PN5A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5 325)</a:t>
            </a:r>
          </a:p>
        </p:txBody>
      </p:sp>
      <p:sp>
        <p:nvSpPr>
          <p:cNvPr id="53" name="矢印: 五方向 52">
            <a:extLst>
              <a:ext uri="{FF2B5EF4-FFF2-40B4-BE49-F238E27FC236}">
                <a16:creationId xmlns:a16="http://schemas.microsoft.com/office/drawing/2014/main" id="{52B08DFA-B17C-52D5-786D-86739F01A197}"/>
              </a:ext>
            </a:extLst>
          </p:cNvPr>
          <p:cNvSpPr/>
          <p:nvPr/>
        </p:nvSpPr>
        <p:spPr>
          <a:xfrm>
            <a:off x="2344685" y="1810636"/>
            <a:ext cx="4534138"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[H]F-14PN7A</a:t>
            </a:r>
            <a:r>
              <a:rPr kumimoji="1" lang="ja-JP" altLang="en-US"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7 355)</a:t>
            </a:r>
          </a:p>
        </p:txBody>
      </p:sp>
      <p:sp>
        <p:nvSpPr>
          <p:cNvPr id="54" name="テキスト ボックス 1">
            <a:extLst>
              <a:ext uri="{FF2B5EF4-FFF2-40B4-BE49-F238E27FC236}">
                <a16:creationId xmlns:a16="http://schemas.microsoft.com/office/drawing/2014/main" id="{24599CB0-3AF6-AA49-551F-B68BAC9DAB64}"/>
              </a:ext>
            </a:extLst>
          </p:cNvPr>
          <p:cNvSpPr txBox="1"/>
          <p:nvPr/>
        </p:nvSpPr>
        <p:spPr>
          <a:xfrm>
            <a:off x="386148" y="400193"/>
            <a:ext cx="2953045" cy="307777"/>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THIRDWAVE 14.0”</a:t>
            </a:r>
            <a:endParaRPr kumimoji="1" lang="ja-JP" altLang="en-US" sz="14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40" name="矢印: 五方向 39">
            <a:extLst>
              <a:ext uri="{FF2B5EF4-FFF2-40B4-BE49-F238E27FC236}">
                <a16:creationId xmlns:a16="http://schemas.microsoft.com/office/drawing/2014/main" id="{B7008D32-FA53-6E44-05C2-D772EE637170}"/>
              </a:ext>
            </a:extLst>
          </p:cNvPr>
          <p:cNvSpPr/>
          <p:nvPr/>
        </p:nvSpPr>
        <p:spPr>
          <a:xfrm>
            <a:off x="6286500" y="1938779"/>
            <a:ext cx="4322747"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 Intel NVL Core Ultra 7 </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3" name="矢印: 五方向 42">
            <a:extLst>
              <a:ext uri="{FF2B5EF4-FFF2-40B4-BE49-F238E27FC236}">
                <a16:creationId xmlns:a16="http://schemas.microsoft.com/office/drawing/2014/main" id="{C2872B9B-048B-DE9B-2A9C-BC40742E9611}"/>
              </a:ext>
            </a:extLst>
          </p:cNvPr>
          <p:cNvSpPr/>
          <p:nvPr/>
        </p:nvSpPr>
        <p:spPr>
          <a:xfrm>
            <a:off x="6286500" y="2726426"/>
            <a:ext cx="4361068"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 Intel NVL Core Ultra 5</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22" name="矢印: 五方向 21">
            <a:extLst>
              <a:ext uri="{FF2B5EF4-FFF2-40B4-BE49-F238E27FC236}">
                <a16:creationId xmlns:a16="http://schemas.microsoft.com/office/drawing/2014/main" id="{6FDE2114-65C2-4630-2F6F-A52F3EC9B17E}"/>
              </a:ext>
            </a:extLst>
          </p:cNvPr>
          <p:cNvSpPr/>
          <p:nvPr/>
        </p:nvSpPr>
        <p:spPr>
          <a:xfrm>
            <a:off x="10115550" y="1796323"/>
            <a:ext cx="1844539" cy="370154"/>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[H] Intel Razer Lake H CU7</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56" name="矢印: 五方向 55">
            <a:extLst>
              <a:ext uri="{FF2B5EF4-FFF2-40B4-BE49-F238E27FC236}">
                <a16:creationId xmlns:a16="http://schemas.microsoft.com/office/drawing/2014/main" id="{F90932A5-7797-227B-783B-63A7519951CF}"/>
              </a:ext>
            </a:extLst>
          </p:cNvPr>
          <p:cNvSpPr/>
          <p:nvPr/>
        </p:nvSpPr>
        <p:spPr>
          <a:xfrm>
            <a:off x="10098819" y="2584151"/>
            <a:ext cx="1844539" cy="370154"/>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[H] Intel Razer Lake H CU5</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cxnSp>
        <p:nvCxnSpPr>
          <p:cNvPr id="57" name="直線コネクタ 56">
            <a:extLst>
              <a:ext uri="{FF2B5EF4-FFF2-40B4-BE49-F238E27FC236}">
                <a16:creationId xmlns:a16="http://schemas.microsoft.com/office/drawing/2014/main" id="{4935CD0E-1EB3-F4C2-FECB-687143170FE3}"/>
              </a:ext>
            </a:extLst>
          </p:cNvPr>
          <p:cNvCxnSpPr/>
          <p:nvPr/>
        </p:nvCxnSpPr>
        <p:spPr>
          <a:xfrm>
            <a:off x="9681100" y="682998"/>
            <a:ext cx="0" cy="6070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20F1BD5E-F1E5-56CA-0EF0-40AD3579D29A}"/>
              </a:ext>
            </a:extLst>
          </p:cNvPr>
          <p:cNvCxnSpPr/>
          <p:nvPr/>
        </p:nvCxnSpPr>
        <p:spPr>
          <a:xfrm>
            <a:off x="1998444" y="682998"/>
            <a:ext cx="0" cy="6070027"/>
          </a:xfrm>
          <a:prstGeom prst="line">
            <a:avLst/>
          </a:prstGeom>
        </p:spPr>
        <p:style>
          <a:lnRef idx="1">
            <a:schemeClr val="accent1"/>
          </a:lnRef>
          <a:fillRef idx="0">
            <a:schemeClr val="accent1"/>
          </a:fillRef>
          <a:effectRef idx="0">
            <a:schemeClr val="accent1"/>
          </a:effectRef>
          <a:fontRef idx="minor">
            <a:schemeClr val="tx1"/>
          </a:fontRef>
        </p:style>
      </p:cxnSp>
      <p:sp>
        <p:nvSpPr>
          <p:cNvPr id="59" name="テキスト ボックス 58">
            <a:extLst>
              <a:ext uri="{FF2B5EF4-FFF2-40B4-BE49-F238E27FC236}">
                <a16:creationId xmlns:a16="http://schemas.microsoft.com/office/drawing/2014/main" id="{B439DA09-B7C5-5514-0FF3-DEB0114E4842}"/>
              </a:ext>
            </a:extLst>
          </p:cNvPr>
          <p:cNvSpPr txBox="1"/>
          <p:nvPr/>
        </p:nvSpPr>
        <p:spPr>
          <a:xfrm>
            <a:off x="6803262" y="4291526"/>
            <a:ext cx="2975495" cy="3693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MTL-U</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のままであと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1</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年継続するか</a:t>
            </a:r>
            <a:r>
              <a:rPr lang="en-US" altLang="ja-JP" sz="900">
                <a:solidFill>
                  <a:prstClr val="black"/>
                </a:solidFill>
                <a:latin typeface="BIZ UDPゴシック" panose="020B0400000000000000" pitchFamily="50" charset="-128"/>
                <a:ea typeface="BIZ UDPゴシック" panose="020B0400000000000000" pitchFamily="50" charset="-128"/>
              </a:rPr>
              <a:t>WCL</a:t>
            </a:r>
            <a:r>
              <a:rPr lang="ja-JP" altLang="en-US" sz="900">
                <a:solidFill>
                  <a:prstClr val="black"/>
                </a:solidFill>
                <a:latin typeface="BIZ UDPゴシック" panose="020B0400000000000000" pitchFamily="50" charset="-128"/>
                <a:ea typeface="BIZ UDPゴシック" panose="020B0400000000000000" pitchFamily="50" charset="-128"/>
              </a:rPr>
              <a:t>へ移行するか</a:t>
            </a:r>
            <a:endParaRPr lang="en-US" altLang="ja-JP" sz="900">
              <a:solidFill>
                <a:prstClr val="black"/>
              </a:solidFill>
              <a:latin typeface="BIZ UDPゴシック" panose="020B0400000000000000" pitchFamily="50" charset="-128"/>
              <a:ea typeface="BIZ UDPゴシック" panose="020B04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販売実績と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WCL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価格推移見て判断</a:t>
            </a:r>
          </a:p>
        </p:txBody>
      </p:sp>
      <p:sp>
        <p:nvSpPr>
          <p:cNvPr id="61" name="テキスト ボックス 60">
            <a:extLst>
              <a:ext uri="{FF2B5EF4-FFF2-40B4-BE49-F238E27FC236}">
                <a16:creationId xmlns:a16="http://schemas.microsoft.com/office/drawing/2014/main" id="{BEB5B4AA-C3AE-D1A3-9C85-98936CD158AD}"/>
              </a:ext>
            </a:extLst>
          </p:cNvPr>
          <p:cNvSpPr txBox="1"/>
          <p:nvPr/>
        </p:nvSpPr>
        <p:spPr>
          <a:xfrm>
            <a:off x="6352209" y="2164597"/>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62" name="テキスト ボックス 61">
            <a:extLst>
              <a:ext uri="{FF2B5EF4-FFF2-40B4-BE49-F238E27FC236}">
                <a16:creationId xmlns:a16="http://schemas.microsoft.com/office/drawing/2014/main" id="{419D9CD0-1237-F299-876B-DF8E4BAFBC25}"/>
              </a:ext>
            </a:extLst>
          </p:cNvPr>
          <p:cNvSpPr txBox="1"/>
          <p:nvPr/>
        </p:nvSpPr>
        <p:spPr>
          <a:xfrm>
            <a:off x="6803262" y="5628520"/>
            <a:ext cx="3462807"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価格訴求に重点　</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Ryzen5 7535HS</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供給可能ならそのまま継続</a:t>
            </a:r>
            <a:endPar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64" name="テキスト ボックス 63">
            <a:extLst>
              <a:ext uri="{FF2B5EF4-FFF2-40B4-BE49-F238E27FC236}">
                <a16:creationId xmlns:a16="http://schemas.microsoft.com/office/drawing/2014/main" id="{18A397CB-15AF-F310-2ABA-D0CF1263A733}"/>
              </a:ext>
            </a:extLst>
          </p:cNvPr>
          <p:cNvSpPr txBox="1"/>
          <p:nvPr/>
        </p:nvSpPr>
        <p:spPr>
          <a:xfrm>
            <a:off x="353453" y="1741158"/>
            <a:ext cx="84830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High-end</a:t>
            </a:r>
          </a:p>
        </p:txBody>
      </p:sp>
      <p:sp>
        <p:nvSpPr>
          <p:cNvPr id="65" name="テキスト ボックス 64">
            <a:extLst>
              <a:ext uri="{FF2B5EF4-FFF2-40B4-BE49-F238E27FC236}">
                <a16:creationId xmlns:a16="http://schemas.microsoft.com/office/drawing/2014/main" id="{E5550293-F263-23BF-32F9-C4FA2824271F}"/>
              </a:ext>
            </a:extLst>
          </p:cNvPr>
          <p:cNvSpPr txBox="1"/>
          <p:nvPr/>
        </p:nvSpPr>
        <p:spPr>
          <a:xfrm>
            <a:off x="375608" y="3532110"/>
            <a:ext cx="973343"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Affordable</a:t>
            </a:r>
          </a:p>
        </p:txBody>
      </p:sp>
      <p:sp>
        <p:nvSpPr>
          <p:cNvPr id="9" name="矢印: 五方向 30">
            <a:extLst>
              <a:ext uri="{FF2B5EF4-FFF2-40B4-BE49-F238E27FC236}">
                <a16:creationId xmlns:a16="http://schemas.microsoft.com/office/drawing/2014/main" id="{8657FFD2-47EF-3619-92DC-0BDB492C5EE3}"/>
              </a:ext>
            </a:extLst>
          </p:cNvPr>
          <p:cNvSpPr/>
          <p:nvPr/>
        </p:nvSpPr>
        <p:spPr>
          <a:xfrm>
            <a:off x="395805" y="1406204"/>
            <a:ext cx="11537044" cy="329817"/>
          </a:xfrm>
          <a:prstGeom prst="rect">
            <a:avLst/>
          </a:prstGeom>
          <a:solidFill>
            <a:schemeClr val="accent2">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テキスト ボックス 9">
            <a:extLst>
              <a:ext uri="{FF2B5EF4-FFF2-40B4-BE49-F238E27FC236}">
                <a16:creationId xmlns:a16="http://schemas.microsoft.com/office/drawing/2014/main" id="{19C2D9A5-C00D-45D0-4DE9-B07C99EEE648}"/>
              </a:ext>
            </a:extLst>
          </p:cNvPr>
          <p:cNvSpPr txBox="1"/>
          <p:nvPr/>
        </p:nvSpPr>
        <p:spPr>
          <a:xfrm>
            <a:off x="382862" y="1406137"/>
            <a:ext cx="1518364"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Ultimate (</a:t>
            </a:r>
            <a:r>
              <a:rPr kumimoji="1" lang="en-US" altLang="ja-JP" sz="1000" b="1" i="0" u="none" strike="noStrike" kern="1200" cap="none" spc="0" normalizeH="0" baseline="0" noProof="0" err="1">
                <a:ln>
                  <a:noFill/>
                </a:ln>
                <a:solidFill>
                  <a:prstClr val="black"/>
                </a:solidFill>
                <a:effectLst/>
                <a:uLnTx/>
                <a:uFillTx/>
                <a:latin typeface="BIZ UDPゴシック" panose="020B0400000000000000" pitchFamily="50" charset="-128"/>
                <a:ea typeface="BIZ UDPゴシック" panose="020B0400000000000000" pitchFamily="50" charset="-128"/>
                <a:cs typeface="+mn-cs"/>
              </a:rPr>
              <a:t>dGPU</a:t>
            </a:r>
            <a:r>
              <a:rPr kumimoji="1" lang="ja-JP" altLang="en-US"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付</a:t>
            </a: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a:t>
            </a:r>
          </a:p>
        </p:txBody>
      </p:sp>
      <p:sp>
        <p:nvSpPr>
          <p:cNvPr id="11" name="矢印: 五方向 10">
            <a:extLst>
              <a:ext uri="{FF2B5EF4-FFF2-40B4-BE49-F238E27FC236}">
                <a16:creationId xmlns:a16="http://schemas.microsoft.com/office/drawing/2014/main" id="{5049EADA-6DBB-D3B7-73EF-F58EDA01608A}"/>
              </a:ext>
            </a:extLst>
          </p:cNvPr>
          <p:cNvSpPr/>
          <p:nvPr/>
        </p:nvSpPr>
        <p:spPr>
          <a:xfrm>
            <a:off x="6170746" y="1485271"/>
            <a:ext cx="5762102" cy="153566"/>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法人</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GALLERIA] Intel xxx +5060 </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12" name="テキスト ボックス 11">
            <a:extLst>
              <a:ext uri="{FF2B5EF4-FFF2-40B4-BE49-F238E27FC236}">
                <a16:creationId xmlns:a16="http://schemas.microsoft.com/office/drawing/2014/main" id="{5A02E499-AB88-BEC9-576B-13EEE106D562}"/>
              </a:ext>
            </a:extLst>
          </p:cNvPr>
          <p:cNvSpPr txBox="1"/>
          <p:nvPr/>
        </p:nvSpPr>
        <p:spPr>
          <a:xfrm>
            <a:off x="8743872" y="1460372"/>
            <a:ext cx="1034885" cy="230832"/>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法人学校案件用</a:t>
            </a:r>
            <a:endPar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graphicFrame>
        <p:nvGraphicFramePr>
          <p:cNvPr id="16" name="表 15">
            <a:extLst>
              <a:ext uri="{FF2B5EF4-FFF2-40B4-BE49-F238E27FC236}">
                <a16:creationId xmlns:a16="http://schemas.microsoft.com/office/drawing/2014/main" id="{F618372F-DD23-CC8F-09D5-CD4F4F4CC55B}"/>
              </a:ext>
            </a:extLst>
          </p:cNvPr>
          <p:cNvGraphicFramePr>
            <a:graphicFrameLocks noGrp="1"/>
          </p:cNvGraphicFramePr>
          <p:nvPr/>
        </p:nvGraphicFramePr>
        <p:xfrm>
          <a:off x="394894" y="658193"/>
          <a:ext cx="11517732" cy="714375"/>
        </p:xfrm>
        <a:graphic>
          <a:graphicData uri="http://schemas.openxmlformats.org/drawingml/2006/table">
            <a:tbl>
              <a:tblPr/>
              <a:tblGrid>
                <a:gridCol w="319937">
                  <a:extLst>
                    <a:ext uri="{9D8B030D-6E8A-4147-A177-3AD203B41FA5}">
                      <a16:colId xmlns:a16="http://schemas.microsoft.com/office/drawing/2014/main" val="1500898864"/>
                    </a:ext>
                  </a:extLst>
                </a:gridCol>
                <a:gridCol w="319937">
                  <a:extLst>
                    <a:ext uri="{9D8B030D-6E8A-4147-A177-3AD203B41FA5}">
                      <a16:colId xmlns:a16="http://schemas.microsoft.com/office/drawing/2014/main" val="492311195"/>
                    </a:ext>
                  </a:extLst>
                </a:gridCol>
                <a:gridCol w="319937">
                  <a:extLst>
                    <a:ext uri="{9D8B030D-6E8A-4147-A177-3AD203B41FA5}">
                      <a16:colId xmlns:a16="http://schemas.microsoft.com/office/drawing/2014/main" val="535944228"/>
                    </a:ext>
                  </a:extLst>
                </a:gridCol>
                <a:gridCol w="319937">
                  <a:extLst>
                    <a:ext uri="{9D8B030D-6E8A-4147-A177-3AD203B41FA5}">
                      <a16:colId xmlns:a16="http://schemas.microsoft.com/office/drawing/2014/main" val="1297611135"/>
                    </a:ext>
                  </a:extLst>
                </a:gridCol>
                <a:gridCol w="319937">
                  <a:extLst>
                    <a:ext uri="{9D8B030D-6E8A-4147-A177-3AD203B41FA5}">
                      <a16:colId xmlns:a16="http://schemas.microsoft.com/office/drawing/2014/main" val="1872956960"/>
                    </a:ext>
                  </a:extLst>
                </a:gridCol>
                <a:gridCol w="319937">
                  <a:extLst>
                    <a:ext uri="{9D8B030D-6E8A-4147-A177-3AD203B41FA5}">
                      <a16:colId xmlns:a16="http://schemas.microsoft.com/office/drawing/2014/main" val="1530389144"/>
                    </a:ext>
                  </a:extLst>
                </a:gridCol>
                <a:gridCol w="319937">
                  <a:extLst>
                    <a:ext uri="{9D8B030D-6E8A-4147-A177-3AD203B41FA5}">
                      <a16:colId xmlns:a16="http://schemas.microsoft.com/office/drawing/2014/main" val="1873387370"/>
                    </a:ext>
                  </a:extLst>
                </a:gridCol>
                <a:gridCol w="319937">
                  <a:extLst>
                    <a:ext uri="{9D8B030D-6E8A-4147-A177-3AD203B41FA5}">
                      <a16:colId xmlns:a16="http://schemas.microsoft.com/office/drawing/2014/main" val="2523210819"/>
                    </a:ext>
                  </a:extLst>
                </a:gridCol>
                <a:gridCol w="319937">
                  <a:extLst>
                    <a:ext uri="{9D8B030D-6E8A-4147-A177-3AD203B41FA5}">
                      <a16:colId xmlns:a16="http://schemas.microsoft.com/office/drawing/2014/main" val="1136697292"/>
                    </a:ext>
                  </a:extLst>
                </a:gridCol>
                <a:gridCol w="319937">
                  <a:extLst>
                    <a:ext uri="{9D8B030D-6E8A-4147-A177-3AD203B41FA5}">
                      <a16:colId xmlns:a16="http://schemas.microsoft.com/office/drawing/2014/main" val="4023778491"/>
                    </a:ext>
                  </a:extLst>
                </a:gridCol>
                <a:gridCol w="319937">
                  <a:extLst>
                    <a:ext uri="{9D8B030D-6E8A-4147-A177-3AD203B41FA5}">
                      <a16:colId xmlns:a16="http://schemas.microsoft.com/office/drawing/2014/main" val="3242310994"/>
                    </a:ext>
                  </a:extLst>
                </a:gridCol>
                <a:gridCol w="319937">
                  <a:extLst>
                    <a:ext uri="{9D8B030D-6E8A-4147-A177-3AD203B41FA5}">
                      <a16:colId xmlns:a16="http://schemas.microsoft.com/office/drawing/2014/main" val="3032464318"/>
                    </a:ext>
                  </a:extLst>
                </a:gridCol>
                <a:gridCol w="319937">
                  <a:extLst>
                    <a:ext uri="{9D8B030D-6E8A-4147-A177-3AD203B41FA5}">
                      <a16:colId xmlns:a16="http://schemas.microsoft.com/office/drawing/2014/main" val="718012166"/>
                    </a:ext>
                  </a:extLst>
                </a:gridCol>
                <a:gridCol w="319937">
                  <a:extLst>
                    <a:ext uri="{9D8B030D-6E8A-4147-A177-3AD203B41FA5}">
                      <a16:colId xmlns:a16="http://schemas.microsoft.com/office/drawing/2014/main" val="201977023"/>
                    </a:ext>
                  </a:extLst>
                </a:gridCol>
                <a:gridCol w="319937">
                  <a:extLst>
                    <a:ext uri="{9D8B030D-6E8A-4147-A177-3AD203B41FA5}">
                      <a16:colId xmlns:a16="http://schemas.microsoft.com/office/drawing/2014/main" val="3789184676"/>
                    </a:ext>
                  </a:extLst>
                </a:gridCol>
                <a:gridCol w="319937">
                  <a:extLst>
                    <a:ext uri="{9D8B030D-6E8A-4147-A177-3AD203B41FA5}">
                      <a16:colId xmlns:a16="http://schemas.microsoft.com/office/drawing/2014/main" val="2285191595"/>
                    </a:ext>
                  </a:extLst>
                </a:gridCol>
                <a:gridCol w="319937">
                  <a:extLst>
                    <a:ext uri="{9D8B030D-6E8A-4147-A177-3AD203B41FA5}">
                      <a16:colId xmlns:a16="http://schemas.microsoft.com/office/drawing/2014/main" val="1576469209"/>
                    </a:ext>
                  </a:extLst>
                </a:gridCol>
                <a:gridCol w="319937">
                  <a:extLst>
                    <a:ext uri="{9D8B030D-6E8A-4147-A177-3AD203B41FA5}">
                      <a16:colId xmlns:a16="http://schemas.microsoft.com/office/drawing/2014/main" val="2224905602"/>
                    </a:ext>
                  </a:extLst>
                </a:gridCol>
                <a:gridCol w="319937">
                  <a:extLst>
                    <a:ext uri="{9D8B030D-6E8A-4147-A177-3AD203B41FA5}">
                      <a16:colId xmlns:a16="http://schemas.microsoft.com/office/drawing/2014/main" val="324624714"/>
                    </a:ext>
                  </a:extLst>
                </a:gridCol>
                <a:gridCol w="319937">
                  <a:extLst>
                    <a:ext uri="{9D8B030D-6E8A-4147-A177-3AD203B41FA5}">
                      <a16:colId xmlns:a16="http://schemas.microsoft.com/office/drawing/2014/main" val="370901253"/>
                    </a:ext>
                  </a:extLst>
                </a:gridCol>
                <a:gridCol w="319937">
                  <a:extLst>
                    <a:ext uri="{9D8B030D-6E8A-4147-A177-3AD203B41FA5}">
                      <a16:colId xmlns:a16="http://schemas.microsoft.com/office/drawing/2014/main" val="4024422151"/>
                    </a:ext>
                  </a:extLst>
                </a:gridCol>
                <a:gridCol w="319937">
                  <a:extLst>
                    <a:ext uri="{9D8B030D-6E8A-4147-A177-3AD203B41FA5}">
                      <a16:colId xmlns:a16="http://schemas.microsoft.com/office/drawing/2014/main" val="2689519980"/>
                    </a:ext>
                  </a:extLst>
                </a:gridCol>
                <a:gridCol w="319937">
                  <a:extLst>
                    <a:ext uri="{9D8B030D-6E8A-4147-A177-3AD203B41FA5}">
                      <a16:colId xmlns:a16="http://schemas.microsoft.com/office/drawing/2014/main" val="3790508917"/>
                    </a:ext>
                  </a:extLst>
                </a:gridCol>
                <a:gridCol w="319937">
                  <a:extLst>
                    <a:ext uri="{9D8B030D-6E8A-4147-A177-3AD203B41FA5}">
                      <a16:colId xmlns:a16="http://schemas.microsoft.com/office/drawing/2014/main" val="355080256"/>
                    </a:ext>
                  </a:extLst>
                </a:gridCol>
                <a:gridCol w="319937">
                  <a:extLst>
                    <a:ext uri="{9D8B030D-6E8A-4147-A177-3AD203B41FA5}">
                      <a16:colId xmlns:a16="http://schemas.microsoft.com/office/drawing/2014/main" val="3004377733"/>
                    </a:ext>
                  </a:extLst>
                </a:gridCol>
                <a:gridCol w="319937">
                  <a:extLst>
                    <a:ext uri="{9D8B030D-6E8A-4147-A177-3AD203B41FA5}">
                      <a16:colId xmlns:a16="http://schemas.microsoft.com/office/drawing/2014/main" val="1158246796"/>
                    </a:ext>
                  </a:extLst>
                </a:gridCol>
                <a:gridCol w="319937">
                  <a:extLst>
                    <a:ext uri="{9D8B030D-6E8A-4147-A177-3AD203B41FA5}">
                      <a16:colId xmlns:a16="http://schemas.microsoft.com/office/drawing/2014/main" val="3566540348"/>
                    </a:ext>
                  </a:extLst>
                </a:gridCol>
                <a:gridCol w="319937">
                  <a:extLst>
                    <a:ext uri="{9D8B030D-6E8A-4147-A177-3AD203B41FA5}">
                      <a16:colId xmlns:a16="http://schemas.microsoft.com/office/drawing/2014/main" val="1664914038"/>
                    </a:ext>
                  </a:extLst>
                </a:gridCol>
                <a:gridCol w="319937">
                  <a:extLst>
                    <a:ext uri="{9D8B030D-6E8A-4147-A177-3AD203B41FA5}">
                      <a16:colId xmlns:a16="http://schemas.microsoft.com/office/drawing/2014/main" val="1814902996"/>
                    </a:ext>
                  </a:extLst>
                </a:gridCol>
                <a:gridCol w="319937">
                  <a:extLst>
                    <a:ext uri="{9D8B030D-6E8A-4147-A177-3AD203B41FA5}">
                      <a16:colId xmlns:a16="http://schemas.microsoft.com/office/drawing/2014/main" val="72780220"/>
                    </a:ext>
                  </a:extLst>
                </a:gridCol>
                <a:gridCol w="319937">
                  <a:extLst>
                    <a:ext uri="{9D8B030D-6E8A-4147-A177-3AD203B41FA5}">
                      <a16:colId xmlns:a16="http://schemas.microsoft.com/office/drawing/2014/main" val="640000408"/>
                    </a:ext>
                  </a:extLst>
                </a:gridCol>
                <a:gridCol w="319937">
                  <a:extLst>
                    <a:ext uri="{9D8B030D-6E8A-4147-A177-3AD203B41FA5}">
                      <a16:colId xmlns:a16="http://schemas.microsoft.com/office/drawing/2014/main" val="2576203230"/>
                    </a:ext>
                  </a:extLst>
                </a:gridCol>
                <a:gridCol w="319937">
                  <a:extLst>
                    <a:ext uri="{9D8B030D-6E8A-4147-A177-3AD203B41FA5}">
                      <a16:colId xmlns:a16="http://schemas.microsoft.com/office/drawing/2014/main" val="2578640369"/>
                    </a:ext>
                  </a:extLst>
                </a:gridCol>
                <a:gridCol w="319937">
                  <a:extLst>
                    <a:ext uri="{9D8B030D-6E8A-4147-A177-3AD203B41FA5}">
                      <a16:colId xmlns:a16="http://schemas.microsoft.com/office/drawing/2014/main" val="3620044266"/>
                    </a:ext>
                  </a:extLst>
                </a:gridCol>
                <a:gridCol w="319937">
                  <a:extLst>
                    <a:ext uri="{9D8B030D-6E8A-4147-A177-3AD203B41FA5}">
                      <a16:colId xmlns:a16="http://schemas.microsoft.com/office/drawing/2014/main" val="3123228021"/>
                    </a:ext>
                  </a:extLst>
                </a:gridCol>
                <a:gridCol w="319937">
                  <a:extLst>
                    <a:ext uri="{9D8B030D-6E8A-4147-A177-3AD203B41FA5}">
                      <a16:colId xmlns:a16="http://schemas.microsoft.com/office/drawing/2014/main" val="2629818710"/>
                    </a:ext>
                  </a:extLst>
                </a:gridCol>
              </a:tblGrid>
              <a:tr h="238125">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43</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44</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45</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E78"/>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639680362"/>
                  </a:ext>
                </a:extLst>
              </a:tr>
              <a:tr h="238125">
                <a:tc gridSpan="5">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7">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94673942"/>
                  </a:ext>
                </a:extLst>
              </a:tr>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797585"/>
                  </a:ext>
                </a:extLst>
              </a:tr>
            </a:tbl>
          </a:graphicData>
        </a:graphic>
      </p:graphicFrame>
      <p:sp>
        <p:nvSpPr>
          <p:cNvPr id="23" name="正方形/長方形 22">
            <a:extLst>
              <a:ext uri="{FF2B5EF4-FFF2-40B4-BE49-F238E27FC236}">
                <a16:creationId xmlns:a16="http://schemas.microsoft.com/office/drawing/2014/main" id="{54373FEA-0866-59CD-E69D-B23AAC6BDF48}"/>
              </a:ext>
            </a:extLst>
          </p:cNvPr>
          <p:cNvSpPr/>
          <p:nvPr/>
        </p:nvSpPr>
        <p:spPr>
          <a:xfrm>
            <a:off x="8921846" y="288062"/>
            <a:ext cx="678938" cy="26047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現行品</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4" name="正方形/長方形 23">
            <a:extLst>
              <a:ext uri="{FF2B5EF4-FFF2-40B4-BE49-F238E27FC236}">
                <a16:creationId xmlns:a16="http://schemas.microsoft.com/office/drawing/2014/main" id="{47424C90-6B07-473D-C9A5-8F264BF7E682}"/>
              </a:ext>
            </a:extLst>
          </p:cNvPr>
          <p:cNvSpPr/>
          <p:nvPr/>
        </p:nvSpPr>
        <p:spPr>
          <a:xfrm>
            <a:off x="10362997" y="293444"/>
            <a:ext cx="617722" cy="260475"/>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予定品</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正方形/長方形 27">
            <a:extLst>
              <a:ext uri="{FF2B5EF4-FFF2-40B4-BE49-F238E27FC236}">
                <a16:creationId xmlns:a16="http://schemas.microsoft.com/office/drawing/2014/main" id="{CCCE8775-0232-415D-5313-75B2787B6107}"/>
              </a:ext>
            </a:extLst>
          </p:cNvPr>
          <p:cNvSpPr/>
          <p:nvPr/>
        </p:nvSpPr>
        <p:spPr>
          <a:xfrm>
            <a:off x="9670800" y="293595"/>
            <a:ext cx="617722" cy="26047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承認済</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9234867-3A92-9556-12A8-2866C8381355}"/>
              </a:ext>
            </a:extLst>
          </p:cNvPr>
          <p:cNvSpPr/>
          <p:nvPr/>
        </p:nvSpPr>
        <p:spPr>
          <a:xfrm>
            <a:off x="11063893" y="292137"/>
            <a:ext cx="799250" cy="256400"/>
          </a:xfrm>
          <a:prstGeom prst="rect">
            <a:avLst/>
          </a:prstGeom>
          <a:solidFill>
            <a:schemeClr val="accent4">
              <a:lumMod val="20000"/>
              <a:lumOff val="80000"/>
            </a:schemeClr>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0" cap="none" spc="0" normalizeH="0" baseline="0" noProof="0">
                <a:ln>
                  <a:noFill/>
                </a:ln>
                <a:solidFill>
                  <a:srgbClr val="C00000"/>
                </a:solidFill>
                <a:effectLst/>
                <a:uLnTx/>
                <a:uFillTx/>
                <a:latin typeface="游ゴシック Light" panose="020B0300000000000000" pitchFamily="50" charset="-128"/>
                <a:ea typeface="游ゴシック Light" panose="020B0300000000000000" pitchFamily="50" charset="-128"/>
                <a:cs typeface="メイリオ" panose="020B0604030504040204" pitchFamily="50" charset="-128"/>
              </a:rPr>
              <a:t>将来計画</a:t>
            </a:r>
            <a:endParaRPr kumimoji="1" lang="ja-JP" altLang="en-US" sz="700" b="1" i="0" u="none" strike="noStrike" kern="0" cap="none" spc="0" normalizeH="0" baseline="0" noProof="0">
              <a:ln>
                <a:noFill/>
              </a:ln>
              <a:solidFill>
                <a:srgbClr val="C00000"/>
              </a:solidFill>
              <a:effectLst/>
              <a:uLnTx/>
              <a:uFillTx/>
              <a:latin typeface="游ゴシック Light" panose="020B0300000000000000" pitchFamily="50" charset="-128"/>
              <a:ea typeface="游ゴシック Light" panose="020B0300000000000000" pitchFamily="50" charset="-128"/>
              <a:cs typeface="メイリオ" panose="020B0604030504040204" pitchFamily="50" charset="-128"/>
            </a:endParaRPr>
          </a:p>
        </p:txBody>
      </p:sp>
      <p:sp>
        <p:nvSpPr>
          <p:cNvPr id="49" name="テキスト ボックス 48">
            <a:extLst>
              <a:ext uri="{FF2B5EF4-FFF2-40B4-BE49-F238E27FC236}">
                <a16:creationId xmlns:a16="http://schemas.microsoft.com/office/drawing/2014/main" id="{E308F4B9-68C7-C0D2-D4AC-2AC1DD107D67}"/>
              </a:ext>
            </a:extLst>
          </p:cNvPr>
          <p:cNvSpPr txBox="1"/>
          <p:nvPr/>
        </p:nvSpPr>
        <p:spPr>
          <a:xfrm>
            <a:off x="6366217" y="2559867"/>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cxnSp>
        <p:nvCxnSpPr>
          <p:cNvPr id="71" name="直線コネクタ 70">
            <a:extLst>
              <a:ext uri="{FF2B5EF4-FFF2-40B4-BE49-F238E27FC236}">
                <a16:creationId xmlns:a16="http://schemas.microsoft.com/office/drawing/2014/main" id="{02BA4E6D-FCC8-98BD-683E-205B8D8E40B0}"/>
              </a:ext>
            </a:extLst>
          </p:cNvPr>
          <p:cNvCxnSpPr>
            <a:cxnSpLocks/>
          </p:cNvCxnSpPr>
          <p:nvPr/>
        </p:nvCxnSpPr>
        <p:spPr>
          <a:xfrm>
            <a:off x="4228298" y="1134841"/>
            <a:ext cx="0" cy="56375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4" name="テキスト ボックス 73">
            <a:extLst>
              <a:ext uri="{FF2B5EF4-FFF2-40B4-BE49-F238E27FC236}">
                <a16:creationId xmlns:a16="http://schemas.microsoft.com/office/drawing/2014/main" id="{F225681A-0551-CC6E-4AAE-F456026846EB}"/>
              </a:ext>
            </a:extLst>
          </p:cNvPr>
          <p:cNvSpPr txBox="1"/>
          <p:nvPr/>
        </p:nvSpPr>
        <p:spPr>
          <a:xfrm>
            <a:off x="10066257" y="2054123"/>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75" name="テキスト ボックス 74">
            <a:extLst>
              <a:ext uri="{FF2B5EF4-FFF2-40B4-BE49-F238E27FC236}">
                <a16:creationId xmlns:a16="http://schemas.microsoft.com/office/drawing/2014/main" id="{30847378-F615-8F17-767A-A96DBA5C3D07}"/>
              </a:ext>
            </a:extLst>
          </p:cNvPr>
          <p:cNvSpPr txBox="1"/>
          <p:nvPr/>
        </p:nvSpPr>
        <p:spPr>
          <a:xfrm>
            <a:off x="10059132" y="2384023"/>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33" name="楕円 32">
            <a:extLst>
              <a:ext uri="{FF2B5EF4-FFF2-40B4-BE49-F238E27FC236}">
                <a16:creationId xmlns:a16="http://schemas.microsoft.com/office/drawing/2014/main" id="{6D8FD42E-A13E-812A-9F53-B36C7117394B}"/>
              </a:ext>
            </a:extLst>
          </p:cNvPr>
          <p:cNvSpPr/>
          <p:nvPr/>
        </p:nvSpPr>
        <p:spPr>
          <a:xfrm>
            <a:off x="4506550" y="377270"/>
            <a:ext cx="458554" cy="25093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48433EB5-C495-3D86-CF75-BD0C6600A228}"/>
              </a:ext>
            </a:extLst>
          </p:cNvPr>
          <p:cNvSpPr txBox="1"/>
          <p:nvPr/>
        </p:nvSpPr>
        <p:spPr>
          <a:xfrm>
            <a:off x="4924874" y="374425"/>
            <a:ext cx="3914854" cy="246221"/>
          </a:xfrm>
          <a:prstGeom prst="rect">
            <a:avLst/>
          </a:prstGeom>
          <a:noFill/>
        </p:spPr>
        <p:txBody>
          <a:bodyPr wrap="none" rtlCol="0">
            <a:spAutoFit/>
          </a:bodyPr>
          <a:lstStyle/>
          <a:p>
            <a:r>
              <a:rPr kumimoji="1" lang="en-US" altLang="ja-JP" sz="1000">
                <a:latin typeface="BIZ UDPゴシック" panose="020B0400000000000000" pitchFamily="50" charset="-128"/>
                <a:ea typeface="BIZ UDPゴシック" panose="020B0400000000000000" pitchFamily="50" charset="-128"/>
              </a:rPr>
              <a:t>44</a:t>
            </a:r>
            <a:r>
              <a:rPr kumimoji="1" lang="ja-JP" altLang="en-US" sz="1000">
                <a:latin typeface="BIZ UDPゴシック" panose="020B0400000000000000" pitchFamily="50" charset="-128"/>
                <a:ea typeface="BIZ UDPゴシック" panose="020B0400000000000000" pitchFamily="50" charset="-128"/>
              </a:rPr>
              <a:t>期プロモ予算を必要とする新製品</a:t>
            </a:r>
            <a:r>
              <a:rPr kumimoji="1" lang="en-US" altLang="ja-JP" sz="1000">
                <a:latin typeface="BIZ UDPゴシック" panose="020B0400000000000000" pitchFamily="50" charset="-128"/>
                <a:ea typeface="BIZ UDPゴシック" panose="020B0400000000000000" pitchFamily="50" charset="-128"/>
              </a:rPr>
              <a:t>(</a:t>
            </a:r>
            <a:r>
              <a:rPr kumimoji="1" lang="ja-JP" altLang="en-US" sz="1000">
                <a:latin typeface="BIZ UDPゴシック" panose="020B0400000000000000" pitchFamily="50" charset="-128"/>
                <a:ea typeface="BIZ UDPゴシック" panose="020B0400000000000000" pitchFamily="50" charset="-128"/>
              </a:rPr>
              <a:t>丸の大きさが規模感と連動</a:t>
            </a:r>
            <a:r>
              <a:rPr kumimoji="1" lang="en-US" altLang="ja-JP" sz="1000">
                <a:latin typeface="BIZ UDPゴシック" panose="020B0400000000000000" pitchFamily="50" charset="-128"/>
                <a:ea typeface="BIZ UDPゴシック" panose="020B0400000000000000" pitchFamily="50" charset="-128"/>
              </a:rPr>
              <a:t>)</a:t>
            </a:r>
            <a:endParaRPr kumimoji="1" lang="ja-JP" altLang="en-US" sz="1000">
              <a:latin typeface="BIZ UDPゴシック" panose="020B0400000000000000" pitchFamily="50" charset="-128"/>
              <a:ea typeface="BIZ UDPゴシック" panose="020B0400000000000000" pitchFamily="50" charset="-128"/>
            </a:endParaRPr>
          </a:p>
        </p:txBody>
      </p:sp>
      <p:sp>
        <p:nvSpPr>
          <p:cNvPr id="66" name="楕円 65">
            <a:extLst>
              <a:ext uri="{FF2B5EF4-FFF2-40B4-BE49-F238E27FC236}">
                <a16:creationId xmlns:a16="http://schemas.microsoft.com/office/drawing/2014/main" id="{21B36A3D-53CD-07DB-B7D9-BEEBCDC5DE53}"/>
              </a:ext>
            </a:extLst>
          </p:cNvPr>
          <p:cNvSpPr/>
          <p:nvPr/>
        </p:nvSpPr>
        <p:spPr>
          <a:xfrm>
            <a:off x="5590060" y="2715526"/>
            <a:ext cx="1003868" cy="2989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楕円 71">
            <a:extLst>
              <a:ext uri="{FF2B5EF4-FFF2-40B4-BE49-F238E27FC236}">
                <a16:creationId xmlns:a16="http://schemas.microsoft.com/office/drawing/2014/main" id="{FF1B9173-858E-F46F-48E2-AA1A21541B58}"/>
              </a:ext>
            </a:extLst>
          </p:cNvPr>
          <p:cNvSpPr/>
          <p:nvPr/>
        </p:nvSpPr>
        <p:spPr>
          <a:xfrm>
            <a:off x="5526620" y="1900997"/>
            <a:ext cx="1067308" cy="35742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楕円 75">
            <a:extLst>
              <a:ext uri="{FF2B5EF4-FFF2-40B4-BE49-F238E27FC236}">
                <a16:creationId xmlns:a16="http://schemas.microsoft.com/office/drawing/2014/main" id="{4AF2BD80-A478-DB77-A994-49768681CB10}"/>
              </a:ext>
            </a:extLst>
          </p:cNvPr>
          <p:cNvSpPr/>
          <p:nvPr/>
        </p:nvSpPr>
        <p:spPr>
          <a:xfrm>
            <a:off x="7552176" y="3765416"/>
            <a:ext cx="1003869" cy="55870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楕円 77">
            <a:extLst>
              <a:ext uri="{FF2B5EF4-FFF2-40B4-BE49-F238E27FC236}">
                <a16:creationId xmlns:a16="http://schemas.microsoft.com/office/drawing/2014/main" id="{F7D7C314-A23E-1C45-0C1D-388E472BCA06}"/>
              </a:ext>
            </a:extLst>
          </p:cNvPr>
          <p:cNvSpPr/>
          <p:nvPr/>
        </p:nvSpPr>
        <p:spPr>
          <a:xfrm>
            <a:off x="7588988" y="5823763"/>
            <a:ext cx="1003869" cy="55870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四角形: 角を丸くする 34">
            <a:extLst>
              <a:ext uri="{FF2B5EF4-FFF2-40B4-BE49-F238E27FC236}">
                <a16:creationId xmlns:a16="http://schemas.microsoft.com/office/drawing/2014/main" id="{B4EB1381-99C4-EDCD-5F33-7B1FC9F42997}"/>
              </a:ext>
            </a:extLst>
          </p:cNvPr>
          <p:cNvSpPr/>
          <p:nvPr/>
        </p:nvSpPr>
        <p:spPr>
          <a:xfrm>
            <a:off x="445037" y="705217"/>
            <a:ext cx="3325311" cy="39573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暫定修正中</a:t>
            </a:r>
          </a:p>
        </p:txBody>
      </p:sp>
      <p:sp>
        <p:nvSpPr>
          <p:cNvPr id="36" name="正方形/長方形 35">
            <a:extLst>
              <a:ext uri="{FF2B5EF4-FFF2-40B4-BE49-F238E27FC236}">
                <a16:creationId xmlns:a16="http://schemas.microsoft.com/office/drawing/2014/main" id="{61C3EDA3-3020-4D90-65B0-8EE62B9FD0F5}"/>
              </a:ext>
            </a:extLst>
          </p:cNvPr>
          <p:cNvSpPr/>
          <p:nvPr/>
        </p:nvSpPr>
        <p:spPr>
          <a:xfrm>
            <a:off x="353453" y="1372568"/>
            <a:ext cx="11601679" cy="345602"/>
          </a:xfrm>
          <a:prstGeom prst="rect">
            <a:avLst/>
          </a:prstGeom>
          <a:solidFill>
            <a:schemeClr val="tx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t>➡ </a:t>
            </a:r>
            <a:r>
              <a:rPr lang="en-US" altLang="ja-JP" b="1"/>
              <a:t>GALLERIA</a:t>
            </a:r>
            <a:endParaRPr kumimoji="1" lang="ja-JP" altLang="en-US" b="1"/>
          </a:p>
        </p:txBody>
      </p:sp>
      <p:sp>
        <p:nvSpPr>
          <p:cNvPr id="37" name="矢印: 五方向 36">
            <a:extLst>
              <a:ext uri="{FF2B5EF4-FFF2-40B4-BE49-F238E27FC236}">
                <a16:creationId xmlns:a16="http://schemas.microsoft.com/office/drawing/2014/main" id="{422E71B5-69CB-15C3-5930-6789CA844D7D}"/>
              </a:ext>
            </a:extLst>
          </p:cNvPr>
          <p:cNvSpPr/>
          <p:nvPr/>
        </p:nvSpPr>
        <p:spPr>
          <a:xfrm>
            <a:off x="6275933" y="3451467"/>
            <a:ext cx="5636693" cy="230832"/>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 </a:t>
            </a:r>
            <a:r>
              <a:rPr lang="en-US" altLang="ja-JP" sz="1000" b="1">
                <a:solidFill>
                  <a:srgbClr val="C00000"/>
                </a:solidFill>
                <a:latin typeface="メイリオ" panose="020B0604030504040204" pitchFamily="50" charset="-128"/>
                <a:ea typeface="メイリオ" panose="020B0604030504040204" pitchFamily="50" charset="-128"/>
              </a:rPr>
              <a:t>900</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g</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以下 </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Notebook</a:t>
            </a:r>
            <a:r>
              <a:rPr lang="ja-JP" altLang="en-US" sz="1000" b="1">
                <a:solidFill>
                  <a:srgbClr val="C00000"/>
                </a:solidFill>
                <a:latin typeface="メイリオ" panose="020B0604030504040204" pitchFamily="50" charset="-128"/>
                <a:ea typeface="メイリオ" panose="020B0604030504040204" pitchFamily="50" charset="-128"/>
              </a:rPr>
              <a:t> </a:t>
            </a:r>
            <a:r>
              <a:rPr lang="en-US" altLang="ja-JP" sz="1000" b="1">
                <a:solidFill>
                  <a:srgbClr val="C00000"/>
                </a:solidFill>
                <a:latin typeface="メイリオ" panose="020B0604030504040204" pitchFamily="50" charset="-128"/>
                <a:ea typeface="メイリオ" panose="020B0604030504040204" pitchFamily="50" charset="-128"/>
              </a:rPr>
              <a:t>/</a:t>
            </a:r>
            <a:r>
              <a:rPr lang="ja-JP" altLang="en-US" sz="1000" b="1">
                <a:solidFill>
                  <a:srgbClr val="C00000"/>
                </a:solidFill>
                <a:latin typeface="メイリオ" panose="020B0604030504040204" pitchFamily="50" charset="-128"/>
                <a:ea typeface="メイリオ" panose="020B0604030504040204" pitchFamily="50" charset="-128"/>
              </a:rPr>
              <a:t> </a:t>
            </a:r>
            <a:r>
              <a:rPr lang="en-US" altLang="ja-JP" sz="1000" b="1" err="1">
                <a:solidFill>
                  <a:srgbClr val="C00000"/>
                </a:solidFill>
                <a:latin typeface="メイリオ" panose="020B0604030504040204" pitchFamily="50" charset="-128"/>
                <a:ea typeface="メイリオ" panose="020B0604030504040204" pitchFamily="50" charset="-128"/>
              </a:rPr>
              <a:t>Uniwill</a:t>
            </a:r>
            <a:r>
              <a:rPr lang="en-US" altLang="ja-JP" sz="1000" b="1">
                <a:solidFill>
                  <a:srgbClr val="C00000"/>
                </a:solidFill>
                <a:latin typeface="メイリオ" panose="020B0604030504040204" pitchFamily="50" charset="-128"/>
                <a:ea typeface="メイリオ" panose="020B0604030504040204" pitchFamily="50" charset="-128"/>
              </a:rPr>
              <a:t> IDD </a:t>
            </a:r>
            <a:r>
              <a:rPr lang="ja-JP" altLang="en-US" sz="1000" b="1">
                <a:solidFill>
                  <a:srgbClr val="C00000"/>
                </a:solidFill>
                <a:latin typeface="メイリオ" panose="020B0604030504040204" pitchFamily="50" charset="-128"/>
                <a:ea typeface="メイリオ" panose="020B0604030504040204" pitchFamily="50" charset="-128"/>
              </a:rPr>
              <a:t>など</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　</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38" name="テキスト ボックス 37">
            <a:extLst>
              <a:ext uri="{FF2B5EF4-FFF2-40B4-BE49-F238E27FC236}">
                <a16:creationId xmlns:a16="http://schemas.microsoft.com/office/drawing/2014/main" id="{6170F60A-39E5-45CB-927E-892FD91F97EB}"/>
              </a:ext>
            </a:extLst>
          </p:cNvPr>
          <p:cNvSpPr txBox="1"/>
          <p:nvPr/>
        </p:nvSpPr>
        <p:spPr>
          <a:xfrm>
            <a:off x="7334411" y="3230857"/>
            <a:ext cx="4553732" cy="230832"/>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a:solidFill>
                  <a:prstClr val="black"/>
                </a:solidFill>
                <a:latin typeface="BIZ UDPゴシック" panose="020B0400000000000000" pitchFamily="50" charset="-128"/>
                <a:ea typeface="BIZ UDPゴシック" panose="020B0400000000000000" pitchFamily="50" charset="-128"/>
              </a:rPr>
              <a:t>明確に「軽さ」を最優先で検討。</a:t>
            </a:r>
            <a:r>
              <a:rPr lang="en-US" altLang="ja-JP" sz="900">
                <a:solidFill>
                  <a:prstClr val="black"/>
                </a:solidFill>
                <a:latin typeface="BIZ UDPゴシック" panose="020B0400000000000000" pitchFamily="50" charset="-128"/>
                <a:ea typeface="BIZ UDPゴシック" panose="020B0400000000000000" pitchFamily="50" charset="-128"/>
              </a:rPr>
              <a:t>WCL</a:t>
            </a:r>
            <a:r>
              <a:rPr lang="ja-JP" altLang="en-US" sz="900">
                <a:solidFill>
                  <a:prstClr val="black"/>
                </a:solidFill>
                <a:latin typeface="BIZ UDPゴシック" panose="020B0400000000000000" pitchFamily="50" charset="-128"/>
                <a:ea typeface="BIZ UDPゴシック" panose="020B0400000000000000" pitchFamily="50" charset="-128"/>
              </a:rPr>
              <a:t>絡め各社ベア調査。</a:t>
            </a:r>
            <a:r>
              <a:rPr lang="en-US" altLang="ja-JP" sz="900">
                <a:solidFill>
                  <a:prstClr val="black"/>
                </a:solidFill>
                <a:latin typeface="BIZ UDPゴシック" panose="020B0400000000000000" pitchFamily="50" charset="-128"/>
                <a:ea typeface="BIZ UDPゴシック" panose="020B0400000000000000" pitchFamily="50" charset="-128"/>
              </a:rPr>
              <a:t>13</a:t>
            </a:r>
            <a:r>
              <a:rPr lang="ja-JP" altLang="en-US" sz="900">
                <a:solidFill>
                  <a:prstClr val="black"/>
                </a:solidFill>
                <a:latin typeface="BIZ UDPゴシック" panose="020B0400000000000000" pitchFamily="50" charset="-128"/>
                <a:ea typeface="BIZ UDPゴシック" panose="020B0400000000000000" pitchFamily="50" charset="-128"/>
              </a:rPr>
              <a:t>インチも調査対象に含む。</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20" name="矢印: 五方向 19">
            <a:extLst>
              <a:ext uri="{FF2B5EF4-FFF2-40B4-BE49-F238E27FC236}">
                <a16:creationId xmlns:a16="http://schemas.microsoft.com/office/drawing/2014/main" id="{3B5B2975-E94B-E98D-87BE-4B3DE7085F2B}"/>
              </a:ext>
            </a:extLst>
          </p:cNvPr>
          <p:cNvSpPr/>
          <p:nvPr/>
        </p:nvSpPr>
        <p:spPr>
          <a:xfrm>
            <a:off x="2316906" y="4732436"/>
            <a:ext cx="2906884"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[A]F-14RP5H-B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5 120U/DDR5/50Wh/</a:t>
            </a:r>
            <a:r>
              <a:rPr kumimoji="1" lang="ja-JP" altLang="en-US"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指紋</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p>
        </p:txBody>
      </p:sp>
      <p:sp>
        <p:nvSpPr>
          <p:cNvPr id="55" name="矢印: 五方向 54">
            <a:extLst>
              <a:ext uri="{FF2B5EF4-FFF2-40B4-BE49-F238E27FC236}">
                <a16:creationId xmlns:a16="http://schemas.microsoft.com/office/drawing/2014/main" id="{ACE812B2-54A7-304C-A9DE-E36B4ABA8D52}"/>
              </a:ext>
            </a:extLst>
          </p:cNvPr>
          <p:cNvSpPr/>
          <p:nvPr/>
        </p:nvSpPr>
        <p:spPr>
          <a:xfrm>
            <a:off x="4565081" y="4834127"/>
            <a:ext cx="3838652"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[A]MA4-C5UIGA-08B/C/G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(CLE V745 : Intel Core Ultra 5 125U/60Wh/IR Cam)</a:t>
            </a:r>
          </a:p>
        </p:txBody>
      </p:sp>
      <p:sp>
        <p:nvSpPr>
          <p:cNvPr id="77" name="楕円 76">
            <a:extLst>
              <a:ext uri="{FF2B5EF4-FFF2-40B4-BE49-F238E27FC236}">
                <a16:creationId xmlns:a16="http://schemas.microsoft.com/office/drawing/2014/main" id="{2AA06F7E-228A-03D3-A13E-93AC1B5807EC}"/>
              </a:ext>
            </a:extLst>
          </p:cNvPr>
          <p:cNvSpPr/>
          <p:nvPr/>
        </p:nvSpPr>
        <p:spPr>
          <a:xfrm>
            <a:off x="7564641" y="4722031"/>
            <a:ext cx="1003869" cy="55870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五方向 40">
            <a:extLst>
              <a:ext uri="{FF2B5EF4-FFF2-40B4-BE49-F238E27FC236}">
                <a16:creationId xmlns:a16="http://schemas.microsoft.com/office/drawing/2014/main" id="{7F367230-76AF-E922-D127-0EBC3D5C74AB}"/>
              </a:ext>
            </a:extLst>
          </p:cNvPr>
          <p:cNvSpPr/>
          <p:nvPr/>
        </p:nvSpPr>
        <p:spPr>
          <a:xfrm>
            <a:off x="6286500" y="6441964"/>
            <a:ext cx="5636693" cy="230832"/>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 </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廉価帯 </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Notebook</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　</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60" name="テキスト ボックス 59">
            <a:extLst>
              <a:ext uri="{FF2B5EF4-FFF2-40B4-BE49-F238E27FC236}">
                <a16:creationId xmlns:a16="http://schemas.microsoft.com/office/drawing/2014/main" id="{4E7FF0AF-611A-D76F-986A-3ECEA243D28A}"/>
              </a:ext>
            </a:extLst>
          </p:cNvPr>
          <p:cNvSpPr txBox="1"/>
          <p:nvPr/>
        </p:nvSpPr>
        <p:spPr>
          <a:xfrm>
            <a:off x="8061373" y="6448989"/>
            <a:ext cx="3725166" cy="230832"/>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dirty="0">
                <a:solidFill>
                  <a:prstClr val="black"/>
                </a:solidFill>
                <a:latin typeface="BIZ UDPゴシック" panose="020B0400000000000000" pitchFamily="50" charset="-128"/>
                <a:ea typeface="BIZ UDPゴシック" panose="020B0400000000000000" pitchFamily="50" charset="-128"/>
              </a:rPr>
              <a:t>売価で</a:t>
            </a:r>
            <a:r>
              <a:rPr lang="en-US" altLang="ja-JP" sz="900" dirty="0">
                <a:solidFill>
                  <a:prstClr val="black"/>
                </a:solidFill>
                <a:latin typeface="BIZ UDPゴシック" panose="020B0400000000000000" pitchFamily="50" charset="-128"/>
                <a:ea typeface="BIZ UDPゴシック" panose="020B0400000000000000" pitchFamily="50" charset="-128"/>
              </a:rPr>
              <a:t>10</a:t>
            </a:r>
            <a:r>
              <a:rPr lang="ja-JP" altLang="en-US" sz="900" dirty="0">
                <a:solidFill>
                  <a:prstClr val="black"/>
                </a:solidFill>
                <a:latin typeface="BIZ UDPゴシック" panose="020B0400000000000000" pitchFamily="50" charset="-128"/>
                <a:ea typeface="BIZ UDPゴシック" panose="020B0400000000000000" pitchFamily="50" charset="-128"/>
              </a:rPr>
              <a:t>万円前後を目指す</a:t>
            </a:r>
            <a:r>
              <a:rPr lang="en-US" altLang="ja-JP" sz="900" dirty="0">
                <a:solidFill>
                  <a:prstClr val="black"/>
                </a:solidFill>
                <a:latin typeface="BIZ UDPゴシック" panose="020B0400000000000000" pitchFamily="50" charset="-128"/>
                <a:ea typeface="BIZ UDPゴシック" panose="020B0400000000000000" pitchFamily="50" charset="-128"/>
              </a:rPr>
              <a:t>/Ryze</a:t>
            </a:r>
            <a:r>
              <a:rPr lang="ja-JP" altLang="en-US" sz="900" dirty="0">
                <a:solidFill>
                  <a:prstClr val="black"/>
                </a:solidFill>
                <a:latin typeface="BIZ UDPゴシック" panose="020B0400000000000000" pitchFamily="50" charset="-128"/>
                <a:ea typeface="BIZ UDPゴシック" panose="020B0400000000000000" pitchFamily="50" charset="-128"/>
              </a:rPr>
              <a:t>ｎ、</a:t>
            </a:r>
            <a:r>
              <a:rPr lang="en-US" altLang="ja-JP" sz="900" dirty="0" err="1">
                <a:solidFill>
                  <a:prstClr val="black"/>
                </a:solidFill>
                <a:latin typeface="BIZ UDPゴシック" panose="020B0400000000000000" pitchFamily="50" charset="-128"/>
                <a:ea typeface="BIZ UDPゴシック" panose="020B0400000000000000" pitchFamily="50" charset="-128"/>
              </a:rPr>
              <a:t>Qualcom</a:t>
            </a:r>
            <a:r>
              <a:rPr lang="ja-JP" altLang="en-US" sz="900" dirty="0">
                <a:solidFill>
                  <a:prstClr val="black"/>
                </a:solidFill>
                <a:latin typeface="BIZ UDPゴシック" panose="020B0400000000000000" pitchFamily="50" charset="-128"/>
                <a:ea typeface="BIZ UDPゴシック" panose="020B0400000000000000" pitchFamily="50" charset="-128"/>
              </a:rPr>
              <a:t>含め検討</a:t>
            </a:r>
            <a:endParaRPr kumimoji="1" lang="ja-JP" altLang="en-US" sz="900" b="0" i="0" u="none" strike="noStrike" kern="1200" cap="none" spc="0" normalizeH="0" baseline="0" noProof="0" dirty="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2" name="星: 5 pt 1">
            <a:extLst>
              <a:ext uri="{FF2B5EF4-FFF2-40B4-BE49-F238E27FC236}">
                <a16:creationId xmlns:a16="http://schemas.microsoft.com/office/drawing/2014/main" id="{D664EE3E-B1CA-93EE-E441-DE58ED224324}"/>
              </a:ext>
            </a:extLst>
          </p:cNvPr>
          <p:cNvSpPr/>
          <p:nvPr/>
        </p:nvSpPr>
        <p:spPr>
          <a:xfrm>
            <a:off x="5965481" y="6181935"/>
            <a:ext cx="504816" cy="454097"/>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四角形: 角を丸くする 2">
            <a:extLst>
              <a:ext uri="{FF2B5EF4-FFF2-40B4-BE49-F238E27FC236}">
                <a16:creationId xmlns:a16="http://schemas.microsoft.com/office/drawing/2014/main" id="{817B3CA1-D3E0-D63A-2E28-0BD5475B696D}"/>
              </a:ext>
            </a:extLst>
          </p:cNvPr>
          <p:cNvSpPr/>
          <p:nvPr/>
        </p:nvSpPr>
        <p:spPr>
          <a:xfrm>
            <a:off x="533093" y="1079206"/>
            <a:ext cx="5056967" cy="615871"/>
          </a:xfrm>
          <a:prstGeom prst="roundRect">
            <a:avLst/>
          </a:prstGeom>
          <a:solidFill>
            <a:schemeClr val="bg2">
              <a:lumMod val="9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r>
              <a:rPr lang="en-US" altLang="ja-JP" sz="1100" dirty="0" err="1">
                <a:solidFill>
                  <a:schemeClr val="tx1">
                    <a:lumMod val="85000"/>
                    <a:lumOff val="15000"/>
                  </a:schemeClr>
                </a:solidFill>
                <a:latin typeface="メイリオ" panose="020B0604030504040204" pitchFamily="50" charset="-128"/>
                <a:ea typeface="メイリオ" panose="020B0604030504040204" pitchFamily="50" charset="-128"/>
              </a:rPr>
              <a:t>Ultmate</a:t>
            </a:r>
            <a:r>
              <a:rPr lang="ja-JP" altLang="en-US" sz="1100" dirty="0">
                <a:solidFill>
                  <a:schemeClr val="tx1">
                    <a:lumMod val="85000"/>
                    <a:lumOff val="15000"/>
                  </a:schemeClr>
                </a:solidFill>
                <a:latin typeface="メイリオ" panose="020B0604030504040204" pitchFamily="50" charset="-128"/>
                <a:ea typeface="メイリオ" panose="020B0604030504040204" pitchFamily="50" charset="-128"/>
              </a:rPr>
              <a:t>が結果的になくなるので</a:t>
            </a:r>
            <a:endParaRPr lang="en-US" altLang="ja-JP" sz="1100" dirty="0">
              <a:solidFill>
                <a:schemeClr val="tx1">
                  <a:lumMod val="85000"/>
                  <a:lumOff val="15000"/>
                </a:schemeClr>
              </a:solidFill>
              <a:latin typeface="メイリオ" panose="020B0604030504040204" pitchFamily="50" charset="-128"/>
              <a:ea typeface="メイリオ" panose="020B0604030504040204" pitchFamily="50" charset="-128"/>
            </a:endParaRPr>
          </a:p>
          <a:p>
            <a:pPr algn="l"/>
            <a:r>
              <a:rPr lang="ja-JP" altLang="en-US" sz="1100" dirty="0">
                <a:solidFill>
                  <a:schemeClr val="tx1">
                    <a:lumMod val="85000"/>
                    <a:lumOff val="15000"/>
                  </a:schemeClr>
                </a:solidFill>
                <a:latin typeface="メイリオ" panose="020B0604030504040204" pitchFamily="50" charset="-128"/>
                <a:ea typeface="メイリオ" panose="020B0604030504040204" pitchFamily="50" charset="-128"/>
              </a:rPr>
              <a:t>その結果のシリーズ分けは再考する</a:t>
            </a:r>
            <a:endParaRPr lang="en-US" altLang="ja-JP" sz="1100" dirty="0">
              <a:solidFill>
                <a:schemeClr val="tx1">
                  <a:lumMod val="85000"/>
                  <a:lumOff val="15000"/>
                </a:schemeClr>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90796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C66A6-F8E5-F2F8-4851-5FA1993BD7C7}"/>
            </a:ext>
          </a:extLst>
        </p:cNvPr>
        <p:cNvGrpSpPr/>
        <p:nvPr/>
      </p:nvGrpSpPr>
      <p:grpSpPr>
        <a:xfrm>
          <a:off x="0" y="0"/>
          <a:ext cx="0" cy="0"/>
          <a:chOff x="0" y="0"/>
          <a:chExt cx="0" cy="0"/>
        </a:xfrm>
      </p:grpSpPr>
      <p:sp>
        <p:nvSpPr>
          <p:cNvPr id="23" name="矢印: 五方向 30">
            <a:extLst>
              <a:ext uri="{FF2B5EF4-FFF2-40B4-BE49-F238E27FC236}">
                <a16:creationId xmlns:a16="http://schemas.microsoft.com/office/drawing/2014/main" id="{6A43A17A-5328-2E4B-B662-86B600F79EE4}"/>
              </a:ext>
            </a:extLst>
          </p:cNvPr>
          <p:cNvSpPr/>
          <p:nvPr/>
        </p:nvSpPr>
        <p:spPr>
          <a:xfrm>
            <a:off x="412851" y="2641178"/>
            <a:ext cx="11537044" cy="507408"/>
          </a:xfrm>
          <a:prstGeom prst="rect">
            <a:avLst/>
          </a:prstGeom>
          <a:solidFill>
            <a:schemeClr val="accent4">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3" name="矢印: 五方向 30">
            <a:extLst>
              <a:ext uri="{FF2B5EF4-FFF2-40B4-BE49-F238E27FC236}">
                <a16:creationId xmlns:a16="http://schemas.microsoft.com/office/drawing/2014/main" id="{FB448183-7999-3D88-2B06-83C56E4150EC}"/>
              </a:ext>
            </a:extLst>
          </p:cNvPr>
          <p:cNvSpPr/>
          <p:nvPr/>
        </p:nvSpPr>
        <p:spPr>
          <a:xfrm>
            <a:off x="402224" y="1724565"/>
            <a:ext cx="11537044" cy="866837"/>
          </a:xfrm>
          <a:prstGeom prst="rect">
            <a:avLst/>
          </a:prstGeom>
          <a:solidFill>
            <a:schemeClr val="accent2">
              <a:lumMod val="40000"/>
              <a:lumOff val="6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矢印: 五方向 30">
            <a:extLst>
              <a:ext uri="{FF2B5EF4-FFF2-40B4-BE49-F238E27FC236}">
                <a16:creationId xmlns:a16="http://schemas.microsoft.com/office/drawing/2014/main" id="{0A5C2DAD-63A2-DD65-8307-2559A0677C29}"/>
              </a:ext>
            </a:extLst>
          </p:cNvPr>
          <p:cNvSpPr/>
          <p:nvPr/>
        </p:nvSpPr>
        <p:spPr>
          <a:xfrm>
            <a:off x="405462" y="3198105"/>
            <a:ext cx="11537044" cy="3502288"/>
          </a:xfrm>
          <a:prstGeom prst="rect">
            <a:avLst/>
          </a:prstGeom>
          <a:solidFill>
            <a:schemeClr val="accent1">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1">
            <a:extLst>
              <a:ext uri="{FF2B5EF4-FFF2-40B4-BE49-F238E27FC236}">
                <a16:creationId xmlns:a16="http://schemas.microsoft.com/office/drawing/2014/main" id="{92EC8548-18EF-C283-B302-3629719339A8}"/>
              </a:ext>
            </a:extLst>
          </p:cNvPr>
          <p:cNvSpPr txBox="1"/>
          <p:nvPr/>
        </p:nvSpPr>
        <p:spPr>
          <a:xfrm>
            <a:off x="259522" y="210921"/>
            <a:ext cx="6239424"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次期検討用ロードマップ（</a:t>
            </a:r>
            <a:r>
              <a:rPr kumimoji="1" lang="en-US" altLang="ja-JP"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2026~2028</a:t>
            </a:r>
            <a:r>
              <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a:t>
            </a:r>
            <a:r>
              <a:rPr lang="ja-JP" altLang="en-US" b="1">
                <a:solidFill>
                  <a:prstClr val="black"/>
                </a:solidFill>
                <a:latin typeface="游ゴシック" panose="020F0502020204030204"/>
                <a:ea typeface="游ゴシック" panose="020B0400000000000000" pitchFamily="50" charset="-128"/>
              </a:rPr>
              <a:t> </a:t>
            </a:r>
            <a:r>
              <a:rPr lang="en-US" altLang="ja-JP" b="1">
                <a:solidFill>
                  <a:prstClr val="black"/>
                </a:solidFill>
                <a:latin typeface="游ゴシック" panose="020F0502020204030204"/>
                <a:ea typeface="游ゴシック" panose="020B0400000000000000" pitchFamily="50" charset="-128"/>
              </a:rPr>
              <a:t>2026/06/22</a:t>
            </a:r>
            <a:r>
              <a:rPr lang="ja-JP" altLang="en-US" b="1">
                <a:solidFill>
                  <a:prstClr val="black"/>
                </a:solidFill>
                <a:latin typeface="游ゴシック" panose="020F0502020204030204"/>
                <a:ea typeface="游ゴシック" panose="020B0400000000000000" pitchFamily="50" charset="-128"/>
              </a:rPr>
              <a:t>版</a:t>
            </a:r>
            <a:endPar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cxnSp>
        <p:nvCxnSpPr>
          <p:cNvPr id="6" name="直線コネクタ 5">
            <a:extLst>
              <a:ext uri="{FF2B5EF4-FFF2-40B4-BE49-F238E27FC236}">
                <a16:creationId xmlns:a16="http://schemas.microsoft.com/office/drawing/2014/main" id="{AC97EEBA-D283-44F1-1973-BBEA3E37ADBA}"/>
              </a:ext>
            </a:extLst>
          </p:cNvPr>
          <p:cNvCxnSpPr>
            <a:cxnSpLocks/>
          </p:cNvCxnSpPr>
          <p:nvPr/>
        </p:nvCxnSpPr>
        <p:spPr>
          <a:xfrm>
            <a:off x="8090023" y="1747277"/>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50467CF6-97A6-5EFF-145A-D5C012F5732D}"/>
              </a:ext>
            </a:extLst>
          </p:cNvPr>
          <p:cNvCxnSpPr>
            <a:cxnSpLocks/>
          </p:cNvCxnSpPr>
          <p:nvPr/>
        </p:nvCxnSpPr>
        <p:spPr>
          <a:xfrm>
            <a:off x="4243077" y="1747277"/>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2B1151C5-46FC-A45C-E725-A21C85AB0583}"/>
              </a:ext>
            </a:extLst>
          </p:cNvPr>
          <p:cNvCxnSpPr>
            <a:cxnSpLocks/>
          </p:cNvCxnSpPr>
          <p:nvPr/>
        </p:nvCxnSpPr>
        <p:spPr>
          <a:xfrm>
            <a:off x="405461" y="1285468"/>
            <a:ext cx="0" cy="541489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9" name="矢印: 五方向 18">
            <a:extLst>
              <a:ext uri="{FF2B5EF4-FFF2-40B4-BE49-F238E27FC236}">
                <a16:creationId xmlns:a16="http://schemas.microsoft.com/office/drawing/2014/main" id="{230F5899-8DED-ADF4-079A-BCBE98B8931E}"/>
              </a:ext>
            </a:extLst>
          </p:cNvPr>
          <p:cNvSpPr/>
          <p:nvPr/>
        </p:nvSpPr>
        <p:spPr>
          <a:xfrm>
            <a:off x="402388" y="5708949"/>
            <a:ext cx="4509276" cy="189303"/>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[A]DX-R5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i5-1335U)</a:t>
            </a:r>
          </a:p>
        </p:txBody>
      </p:sp>
      <p:sp>
        <p:nvSpPr>
          <p:cNvPr id="21" name="矢印: 五方向 20">
            <a:extLst>
              <a:ext uri="{FF2B5EF4-FFF2-40B4-BE49-F238E27FC236}">
                <a16:creationId xmlns:a16="http://schemas.microsoft.com/office/drawing/2014/main" id="{B616D653-428C-0CB8-1EB6-46CFE0FF4DC6}"/>
              </a:ext>
            </a:extLst>
          </p:cNvPr>
          <p:cNvSpPr/>
          <p:nvPr/>
        </p:nvSpPr>
        <p:spPr>
          <a:xfrm>
            <a:off x="402222" y="6377148"/>
            <a:ext cx="4488717" cy="208969"/>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[A]DX-RP3S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i3-1315U)</a:t>
            </a:r>
          </a:p>
        </p:txBody>
      </p:sp>
      <p:sp>
        <p:nvSpPr>
          <p:cNvPr id="25" name="矢印: 五方向 24">
            <a:extLst>
              <a:ext uri="{FF2B5EF4-FFF2-40B4-BE49-F238E27FC236}">
                <a16:creationId xmlns:a16="http://schemas.microsoft.com/office/drawing/2014/main" id="{D8A6AB06-4DAE-9993-4DD8-F23D925CECB3}"/>
              </a:ext>
            </a:extLst>
          </p:cNvPr>
          <p:cNvSpPr/>
          <p:nvPr/>
        </p:nvSpPr>
        <p:spPr>
          <a:xfrm>
            <a:off x="2316259" y="2818658"/>
            <a:ext cx="3963704" cy="230831"/>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[H]DX-16PN7A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7 355)</a:t>
            </a:r>
          </a:p>
        </p:txBody>
      </p:sp>
      <p:sp>
        <p:nvSpPr>
          <p:cNvPr id="26" name="矢印: 五方向 25">
            <a:extLst>
              <a:ext uri="{FF2B5EF4-FFF2-40B4-BE49-F238E27FC236}">
                <a16:creationId xmlns:a16="http://schemas.microsoft.com/office/drawing/2014/main" id="{FF41679C-04FD-5406-A4BD-7BEEF5F70694}"/>
              </a:ext>
            </a:extLst>
          </p:cNvPr>
          <p:cNvSpPr/>
          <p:nvPr/>
        </p:nvSpPr>
        <p:spPr>
          <a:xfrm>
            <a:off x="4561080" y="3928100"/>
            <a:ext cx="3947315"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[A]DA5-C7HIGA-08S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(CLE V755 : Intel Core Ultra 7 155H/60Wh/IR Cam)</a:t>
            </a:r>
          </a:p>
        </p:txBody>
      </p:sp>
      <p:sp>
        <p:nvSpPr>
          <p:cNvPr id="27" name="矢印: 五方向 26">
            <a:extLst>
              <a:ext uri="{FF2B5EF4-FFF2-40B4-BE49-F238E27FC236}">
                <a16:creationId xmlns:a16="http://schemas.microsoft.com/office/drawing/2014/main" id="{CD9DC92A-0594-4311-AC7F-5D8740431BDF}"/>
              </a:ext>
            </a:extLst>
          </p:cNvPr>
          <p:cNvSpPr/>
          <p:nvPr/>
        </p:nvSpPr>
        <p:spPr>
          <a:xfrm>
            <a:off x="2325113" y="2220016"/>
            <a:ext cx="4173833"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[U]DX-16RP7A-6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i7-14650HX + 5060)</a:t>
            </a:r>
          </a:p>
        </p:txBody>
      </p:sp>
      <p:sp>
        <p:nvSpPr>
          <p:cNvPr id="29" name="矢印: 五方向 28">
            <a:extLst>
              <a:ext uri="{FF2B5EF4-FFF2-40B4-BE49-F238E27FC236}">
                <a16:creationId xmlns:a16="http://schemas.microsoft.com/office/drawing/2014/main" id="{44D710B9-8E9A-10A0-E92C-D147F508E307}"/>
              </a:ext>
            </a:extLst>
          </p:cNvPr>
          <p:cNvSpPr/>
          <p:nvPr/>
        </p:nvSpPr>
        <p:spPr>
          <a:xfrm>
            <a:off x="2328500" y="3920136"/>
            <a:ext cx="2232579"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[A]DX-15RP7A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i7-1355U/DDR5)</a:t>
            </a:r>
          </a:p>
        </p:txBody>
      </p:sp>
      <p:sp>
        <p:nvSpPr>
          <p:cNvPr id="31" name="矢印: 五方向 30">
            <a:extLst>
              <a:ext uri="{FF2B5EF4-FFF2-40B4-BE49-F238E27FC236}">
                <a16:creationId xmlns:a16="http://schemas.microsoft.com/office/drawing/2014/main" id="{ECA0C7D0-E907-C56E-304D-DCD07C96BB57}"/>
              </a:ext>
            </a:extLst>
          </p:cNvPr>
          <p:cNvSpPr/>
          <p:nvPr/>
        </p:nvSpPr>
        <p:spPr>
          <a:xfrm>
            <a:off x="405458" y="4349466"/>
            <a:ext cx="3197345" cy="22628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[A]DX-R7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i7-1355U)</a:t>
            </a:r>
          </a:p>
        </p:txBody>
      </p:sp>
      <p:sp>
        <p:nvSpPr>
          <p:cNvPr id="32" name="正方形/長方形 31">
            <a:extLst>
              <a:ext uri="{FF2B5EF4-FFF2-40B4-BE49-F238E27FC236}">
                <a16:creationId xmlns:a16="http://schemas.microsoft.com/office/drawing/2014/main" id="{EB24010E-9595-5374-A9CA-550B30B7D953}"/>
              </a:ext>
            </a:extLst>
          </p:cNvPr>
          <p:cNvSpPr/>
          <p:nvPr/>
        </p:nvSpPr>
        <p:spPr>
          <a:xfrm>
            <a:off x="8921846" y="552760"/>
            <a:ext cx="678938" cy="26047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現行品</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D33BB0DE-6F75-23DA-FAE2-57C52B5839C4}"/>
              </a:ext>
            </a:extLst>
          </p:cNvPr>
          <p:cNvSpPr/>
          <p:nvPr/>
        </p:nvSpPr>
        <p:spPr>
          <a:xfrm>
            <a:off x="10362997" y="558142"/>
            <a:ext cx="617722" cy="260475"/>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予定品</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5" name="正方形/長方形 34">
            <a:extLst>
              <a:ext uri="{FF2B5EF4-FFF2-40B4-BE49-F238E27FC236}">
                <a16:creationId xmlns:a16="http://schemas.microsoft.com/office/drawing/2014/main" id="{216C0805-9C56-D8FE-34B2-758A08FA315F}"/>
              </a:ext>
            </a:extLst>
          </p:cNvPr>
          <p:cNvSpPr/>
          <p:nvPr/>
        </p:nvSpPr>
        <p:spPr>
          <a:xfrm>
            <a:off x="9670800" y="558293"/>
            <a:ext cx="617722" cy="26047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承認済</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2" name="矢印: 五方向 41">
            <a:extLst>
              <a:ext uri="{FF2B5EF4-FFF2-40B4-BE49-F238E27FC236}">
                <a16:creationId xmlns:a16="http://schemas.microsoft.com/office/drawing/2014/main" id="{E1A8FA86-2330-77C3-11CD-CA33F1239510}"/>
              </a:ext>
            </a:extLst>
          </p:cNvPr>
          <p:cNvSpPr/>
          <p:nvPr/>
        </p:nvSpPr>
        <p:spPr>
          <a:xfrm>
            <a:off x="8426807" y="4920591"/>
            <a:ext cx="3533282"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CLE V755 + WCL or WCL-Ref CU5</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4" name="矢印: 五方向 43">
            <a:extLst>
              <a:ext uri="{FF2B5EF4-FFF2-40B4-BE49-F238E27FC236}">
                <a16:creationId xmlns:a16="http://schemas.microsoft.com/office/drawing/2014/main" id="{105E0964-A969-2F6C-6B50-6887659A9D8A}"/>
              </a:ext>
            </a:extLst>
          </p:cNvPr>
          <p:cNvSpPr/>
          <p:nvPr/>
        </p:nvSpPr>
        <p:spPr>
          <a:xfrm>
            <a:off x="8426807" y="3917706"/>
            <a:ext cx="3533282" cy="306338"/>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CLE V755 + WCL or WCL-Ref-CU7</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6" name="矢印: 五方向 45">
            <a:extLst>
              <a:ext uri="{FF2B5EF4-FFF2-40B4-BE49-F238E27FC236}">
                <a16:creationId xmlns:a16="http://schemas.microsoft.com/office/drawing/2014/main" id="{7135D319-C1C3-335A-8293-5B3323EAC04F}"/>
              </a:ext>
            </a:extLst>
          </p:cNvPr>
          <p:cNvSpPr/>
          <p:nvPr/>
        </p:nvSpPr>
        <p:spPr>
          <a:xfrm>
            <a:off x="2652601" y="6126548"/>
            <a:ext cx="4509276" cy="20581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[A]DX-15RP3A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i5-1315U)</a:t>
            </a:r>
          </a:p>
        </p:txBody>
      </p:sp>
      <p:sp>
        <p:nvSpPr>
          <p:cNvPr id="47" name="矢印: 五方向 46">
            <a:extLst>
              <a:ext uri="{FF2B5EF4-FFF2-40B4-BE49-F238E27FC236}">
                <a16:creationId xmlns:a16="http://schemas.microsoft.com/office/drawing/2014/main" id="{70E6540C-005C-A806-31D7-34C24CBF978F}"/>
              </a:ext>
            </a:extLst>
          </p:cNvPr>
          <p:cNvSpPr/>
          <p:nvPr/>
        </p:nvSpPr>
        <p:spPr>
          <a:xfrm>
            <a:off x="2636618" y="5159127"/>
            <a:ext cx="1591680"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[A]DX-15RP5A</a:t>
            </a:r>
            <a:br>
              <a:rPr kumimoji="1" lang="en-US" altLang="ja-JP"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br>
            <a:r>
              <a:rPr kumimoji="1" lang="en-US" altLang="ja-JP"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i5-1334U)</a:t>
            </a:r>
          </a:p>
        </p:txBody>
      </p:sp>
      <p:cxnSp>
        <p:nvCxnSpPr>
          <p:cNvPr id="50" name="直線コネクタ 49">
            <a:extLst>
              <a:ext uri="{FF2B5EF4-FFF2-40B4-BE49-F238E27FC236}">
                <a16:creationId xmlns:a16="http://schemas.microsoft.com/office/drawing/2014/main" id="{8680BE1E-458B-6FC6-3D5F-151624B59D9A}"/>
              </a:ext>
            </a:extLst>
          </p:cNvPr>
          <p:cNvCxnSpPr>
            <a:cxnSpLocks/>
          </p:cNvCxnSpPr>
          <p:nvPr/>
        </p:nvCxnSpPr>
        <p:spPr>
          <a:xfrm>
            <a:off x="5843484" y="971525"/>
            <a:ext cx="0" cy="5720165"/>
          </a:xfrm>
          <a:prstGeom prst="line">
            <a:avLst/>
          </a:prstGeom>
        </p:spPr>
        <p:style>
          <a:lnRef idx="1">
            <a:schemeClr val="accent1"/>
          </a:lnRef>
          <a:fillRef idx="0">
            <a:schemeClr val="accent1"/>
          </a:fillRef>
          <a:effectRef idx="0">
            <a:schemeClr val="accent1"/>
          </a:effectRef>
          <a:fontRef idx="minor">
            <a:schemeClr val="tx1"/>
          </a:fontRef>
        </p:style>
      </p:cxnSp>
      <p:sp>
        <p:nvSpPr>
          <p:cNvPr id="51" name="矢印: 五方向 50">
            <a:extLst>
              <a:ext uri="{FF2B5EF4-FFF2-40B4-BE49-F238E27FC236}">
                <a16:creationId xmlns:a16="http://schemas.microsoft.com/office/drawing/2014/main" id="{B0F4DF6E-58EA-9CB4-8CC1-64B615023344}"/>
              </a:ext>
            </a:extLst>
          </p:cNvPr>
          <p:cNvSpPr/>
          <p:nvPr/>
        </p:nvSpPr>
        <p:spPr>
          <a:xfrm>
            <a:off x="1325137" y="3381762"/>
            <a:ext cx="5483291" cy="183576"/>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[A]DX-17RP5A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i5-1334U)</a:t>
            </a:r>
          </a:p>
        </p:txBody>
      </p:sp>
      <p:sp>
        <p:nvSpPr>
          <p:cNvPr id="54" name="テキスト ボックス 1">
            <a:extLst>
              <a:ext uri="{FF2B5EF4-FFF2-40B4-BE49-F238E27FC236}">
                <a16:creationId xmlns:a16="http://schemas.microsoft.com/office/drawing/2014/main" id="{059A6890-1A3B-5F0F-360B-1C15AF8600FF}"/>
              </a:ext>
            </a:extLst>
          </p:cNvPr>
          <p:cNvSpPr txBox="1"/>
          <p:nvPr/>
        </p:nvSpPr>
        <p:spPr>
          <a:xfrm>
            <a:off x="386148" y="626436"/>
            <a:ext cx="2953045"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THIRDWAVE 15.6”</a:t>
            </a:r>
            <a:r>
              <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a:t>
            </a:r>
          </a:p>
        </p:txBody>
      </p:sp>
      <p:sp>
        <p:nvSpPr>
          <p:cNvPr id="55" name="矢印: 五方向 54">
            <a:extLst>
              <a:ext uri="{FF2B5EF4-FFF2-40B4-BE49-F238E27FC236}">
                <a16:creationId xmlns:a16="http://schemas.microsoft.com/office/drawing/2014/main" id="{5A92FA27-4D76-5A79-C98B-D3A7E059424F}"/>
              </a:ext>
            </a:extLst>
          </p:cNvPr>
          <p:cNvSpPr/>
          <p:nvPr/>
        </p:nvSpPr>
        <p:spPr>
          <a:xfrm>
            <a:off x="4565081" y="4914798"/>
            <a:ext cx="3861726"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[A]DA5-C5IUGA-08S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(CLE V755 : Intel Core Ultra 5 125U/60Wh/IR Cam)</a:t>
            </a:r>
          </a:p>
        </p:txBody>
      </p:sp>
      <p:sp>
        <p:nvSpPr>
          <p:cNvPr id="43" name="矢印: 五方向 42">
            <a:extLst>
              <a:ext uri="{FF2B5EF4-FFF2-40B4-BE49-F238E27FC236}">
                <a16:creationId xmlns:a16="http://schemas.microsoft.com/office/drawing/2014/main" id="{60C27FF3-1706-E5A8-D018-EEFFF63482D7}"/>
              </a:ext>
            </a:extLst>
          </p:cNvPr>
          <p:cNvSpPr/>
          <p:nvPr/>
        </p:nvSpPr>
        <p:spPr>
          <a:xfrm>
            <a:off x="6286500" y="2806753"/>
            <a:ext cx="4361068" cy="214226"/>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 Intel NVL Core Ultra 7</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6" name="矢印: 五方向 55">
            <a:extLst>
              <a:ext uri="{FF2B5EF4-FFF2-40B4-BE49-F238E27FC236}">
                <a16:creationId xmlns:a16="http://schemas.microsoft.com/office/drawing/2014/main" id="{5F90C980-8AF4-9ABA-8497-BBDAD838F6E0}"/>
              </a:ext>
            </a:extLst>
          </p:cNvPr>
          <p:cNvSpPr/>
          <p:nvPr/>
        </p:nvSpPr>
        <p:spPr>
          <a:xfrm>
            <a:off x="10098819" y="2779300"/>
            <a:ext cx="1844539" cy="291685"/>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[H] Intel Razer Lake H CU7</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cxnSp>
        <p:nvCxnSpPr>
          <p:cNvPr id="57" name="直線コネクタ 56">
            <a:extLst>
              <a:ext uri="{FF2B5EF4-FFF2-40B4-BE49-F238E27FC236}">
                <a16:creationId xmlns:a16="http://schemas.microsoft.com/office/drawing/2014/main" id="{8E9CBED8-1191-E8B8-CB07-EEDFEA64DB86}"/>
              </a:ext>
            </a:extLst>
          </p:cNvPr>
          <p:cNvCxnSpPr>
            <a:cxnSpLocks/>
          </p:cNvCxnSpPr>
          <p:nvPr/>
        </p:nvCxnSpPr>
        <p:spPr>
          <a:xfrm>
            <a:off x="9681100" y="995768"/>
            <a:ext cx="0" cy="5757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60483C5A-DBFC-B78D-4680-F036D5F05D8C}"/>
              </a:ext>
            </a:extLst>
          </p:cNvPr>
          <p:cNvCxnSpPr>
            <a:cxnSpLocks/>
          </p:cNvCxnSpPr>
          <p:nvPr/>
        </p:nvCxnSpPr>
        <p:spPr>
          <a:xfrm>
            <a:off x="1998447" y="971525"/>
            <a:ext cx="0" cy="5781500"/>
          </a:xfrm>
          <a:prstGeom prst="line">
            <a:avLst/>
          </a:prstGeom>
        </p:spPr>
        <p:style>
          <a:lnRef idx="1">
            <a:schemeClr val="accent1"/>
          </a:lnRef>
          <a:fillRef idx="0">
            <a:schemeClr val="accent1"/>
          </a:fillRef>
          <a:effectRef idx="0">
            <a:schemeClr val="accent1"/>
          </a:effectRef>
          <a:fontRef idx="minor">
            <a:schemeClr val="tx1"/>
          </a:fontRef>
        </p:style>
      </p:cxnSp>
      <p:sp>
        <p:nvSpPr>
          <p:cNvPr id="2" name="矢印: 五方向 1">
            <a:extLst>
              <a:ext uri="{FF2B5EF4-FFF2-40B4-BE49-F238E27FC236}">
                <a16:creationId xmlns:a16="http://schemas.microsoft.com/office/drawing/2014/main" id="{17C14619-7BDE-F7FA-43F2-E042D149B16A}"/>
              </a:ext>
            </a:extLst>
          </p:cNvPr>
          <p:cNvSpPr/>
          <p:nvPr/>
        </p:nvSpPr>
        <p:spPr>
          <a:xfrm>
            <a:off x="408982" y="5474075"/>
            <a:ext cx="3842390" cy="222946"/>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[A]DX-R5T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i5-1334U)</a:t>
            </a:r>
          </a:p>
        </p:txBody>
      </p:sp>
      <p:sp>
        <p:nvSpPr>
          <p:cNvPr id="3" name="矢印: 五方向 2">
            <a:extLst>
              <a:ext uri="{FF2B5EF4-FFF2-40B4-BE49-F238E27FC236}">
                <a16:creationId xmlns:a16="http://schemas.microsoft.com/office/drawing/2014/main" id="{6AE8FFD1-9FC9-CEF4-80E8-1D6817138F5A}"/>
              </a:ext>
            </a:extLst>
          </p:cNvPr>
          <p:cNvSpPr/>
          <p:nvPr/>
        </p:nvSpPr>
        <p:spPr>
          <a:xfrm>
            <a:off x="3283399" y="4892529"/>
            <a:ext cx="1291996"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[A]DX-15RP5B</a:t>
            </a:r>
            <a:b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br>
            <a:r>
              <a:rPr kumimoji="1" lang="en-US" altLang="ja-JP" sz="5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i5-1335U/DDR5)</a:t>
            </a:r>
          </a:p>
        </p:txBody>
      </p:sp>
      <p:sp>
        <p:nvSpPr>
          <p:cNvPr id="9" name="矢印: 五方向 8">
            <a:extLst>
              <a:ext uri="{FF2B5EF4-FFF2-40B4-BE49-F238E27FC236}">
                <a16:creationId xmlns:a16="http://schemas.microsoft.com/office/drawing/2014/main" id="{0C3FAC44-1C64-A4EE-58B0-2C2D501599FF}"/>
              </a:ext>
            </a:extLst>
          </p:cNvPr>
          <p:cNvSpPr/>
          <p:nvPr/>
        </p:nvSpPr>
        <p:spPr>
          <a:xfrm>
            <a:off x="3593345" y="4601069"/>
            <a:ext cx="1923431"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[A]DX-15RP5C</a:t>
            </a:r>
            <a:br>
              <a:rPr kumimoji="1" lang="en-US" altLang="ja-JP"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b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i5-1335U/DDR4)</a:t>
            </a:r>
          </a:p>
        </p:txBody>
      </p:sp>
      <p:sp>
        <p:nvSpPr>
          <p:cNvPr id="10" name="矢印: 五方向 9">
            <a:extLst>
              <a:ext uri="{FF2B5EF4-FFF2-40B4-BE49-F238E27FC236}">
                <a16:creationId xmlns:a16="http://schemas.microsoft.com/office/drawing/2014/main" id="{25BDF482-A22E-8338-8667-78B397F3D2D8}"/>
              </a:ext>
            </a:extLst>
          </p:cNvPr>
          <p:cNvSpPr/>
          <p:nvPr/>
        </p:nvSpPr>
        <p:spPr>
          <a:xfrm>
            <a:off x="407938" y="4184561"/>
            <a:ext cx="3197345" cy="214175"/>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[A]DX-R7S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i7-1355U)</a:t>
            </a:r>
          </a:p>
        </p:txBody>
      </p:sp>
      <p:sp>
        <p:nvSpPr>
          <p:cNvPr id="11" name="矢印: 五方向 10">
            <a:extLst>
              <a:ext uri="{FF2B5EF4-FFF2-40B4-BE49-F238E27FC236}">
                <a16:creationId xmlns:a16="http://schemas.microsoft.com/office/drawing/2014/main" id="{A76480E2-28A2-9D7E-6F79-9F809AD1FBA6}"/>
              </a:ext>
            </a:extLst>
          </p:cNvPr>
          <p:cNvSpPr/>
          <p:nvPr/>
        </p:nvSpPr>
        <p:spPr>
          <a:xfrm>
            <a:off x="3697783" y="3700333"/>
            <a:ext cx="909757"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[A]DX-15RP7C</a:t>
            </a:r>
            <a:b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br>
            <a:r>
              <a:rPr kumimoji="1" lang="en-US" altLang="ja-JP" sz="4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(Core i7-1355U/DDr4)</a:t>
            </a:r>
          </a:p>
        </p:txBody>
      </p:sp>
      <p:sp>
        <p:nvSpPr>
          <p:cNvPr id="12" name="矢印: 五方向 11">
            <a:extLst>
              <a:ext uri="{FF2B5EF4-FFF2-40B4-BE49-F238E27FC236}">
                <a16:creationId xmlns:a16="http://schemas.microsoft.com/office/drawing/2014/main" id="{3FB21027-035E-DA00-8876-56230038E938}"/>
              </a:ext>
            </a:extLst>
          </p:cNvPr>
          <p:cNvSpPr/>
          <p:nvPr/>
        </p:nvSpPr>
        <p:spPr>
          <a:xfrm>
            <a:off x="7143038" y="6107019"/>
            <a:ext cx="4915492" cy="229806"/>
          </a:xfrm>
          <a:prstGeom prst="homePlate">
            <a:avLst/>
          </a:prstGeom>
          <a:solidFill>
            <a:schemeClr val="accent2"/>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a:t>
            </a:r>
            <a:r>
              <a:rPr kumimoji="1" lang="ja-JP" altLang="en-US"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低価格ノート</a:t>
            </a:r>
            <a:r>
              <a:rPr kumimoji="1" lang="en-US" altLang="ja-JP"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r>
              <a:rPr kumimoji="1" lang="ja-JP" altLang="en-US"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調査中</a:t>
            </a:r>
            <a:r>
              <a:rPr kumimoji="1" lang="en-US" altLang="ja-JP"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endPar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5" name="矢印: 五方向 14">
            <a:extLst>
              <a:ext uri="{FF2B5EF4-FFF2-40B4-BE49-F238E27FC236}">
                <a16:creationId xmlns:a16="http://schemas.microsoft.com/office/drawing/2014/main" id="{49CAAD0C-0EC4-2BFF-5AC7-4D36F2D73D0F}"/>
              </a:ext>
            </a:extLst>
          </p:cNvPr>
          <p:cNvSpPr/>
          <p:nvPr/>
        </p:nvSpPr>
        <p:spPr>
          <a:xfrm>
            <a:off x="6493875" y="1838657"/>
            <a:ext cx="5428857" cy="685955"/>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法人</a:t>
            </a:r>
            <a:r>
              <a:rPr lang="en-US" altLang="ja-JP" sz="1000" b="1">
                <a:solidFill>
                  <a:srgbClr val="C00000"/>
                </a:solidFill>
                <a:latin typeface="メイリオ" panose="020B0604030504040204" pitchFamily="50" charset="-128"/>
                <a:ea typeface="メイリオ" panose="020B0604030504040204" pitchFamily="50" charset="-128"/>
              </a:rPr>
              <a:t>GALLERIA]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Intel xxx + 5070/12GB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Intel xxx + 5060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b="1">
                <a:solidFill>
                  <a:srgbClr val="C00000"/>
                </a:solidFill>
                <a:latin typeface="メイリオ" panose="020B0604030504040204" pitchFamily="50" charset="-128"/>
                <a:ea typeface="メイリオ" panose="020B0604030504040204" pitchFamily="50" charset="-128"/>
              </a:rPr>
              <a:t>Intel xxx + 3050</a:t>
            </a:r>
            <a:endPar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24" name="テキスト ボックス 23">
            <a:extLst>
              <a:ext uri="{FF2B5EF4-FFF2-40B4-BE49-F238E27FC236}">
                <a16:creationId xmlns:a16="http://schemas.microsoft.com/office/drawing/2014/main" id="{67A79AE0-A492-57B8-4067-70F5F7D0DE1E}"/>
              </a:ext>
            </a:extLst>
          </p:cNvPr>
          <p:cNvSpPr txBox="1"/>
          <p:nvPr/>
        </p:nvSpPr>
        <p:spPr>
          <a:xfrm>
            <a:off x="326331" y="1708082"/>
            <a:ext cx="1518364"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Ultimate (</a:t>
            </a:r>
            <a:r>
              <a:rPr kumimoji="1" lang="en-US" altLang="ja-JP" sz="1000" b="1" i="0" u="none" strike="noStrike" kern="1200" cap="none" spc="0" normalizeH="0" baseline="0" noProof="0" err="1">
                <a:ln>
                  <a:noFill/>
                </a:ln>
                <a:solidFill>
                  <a:prstClr val="black"/>
                </a:solidFill>
                <a:effectLst/>
                <a:uLnTx/>
                <a:uFillTx/>
                <a:latin typeface="BIZ UDPゴシック" panose="020B0400000000000000" pitchFamily="50" charset="-128"/>
                <a:ea typeface="BIZ UDPゴシック" panose="020B0400000000000000" pitchFamily="50" charset="-128"/>
                <a:cs typeface="+mn-cs"/>
              </a:rPr>
              <a:t>dGPU</a:t>
            </a:r>
            <a:r>
              <a:rPr kumimoji="1" lang="ja-JP" altLang="en-US"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付</a:t>
            </a: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a:t>
            </a:r>
          </a:p>
        </p:txBody>
      </p:sp>
      <p:sp>
        <p:nvSpPr>
          <p:cNvPr id="28" name="テキスト ボックス 27">
            <a:extLst>
              <a:ext uri="{FF2B5EF4-FFF2-40B4-BE49-F238E27FC236}">
                <a16:creationId xmlns:a16="http://schemas.microsoft.com/office/drawing/2014/main" id="{F948BE9B-B9F0-2AB8-5EEB-E8DDFE06E613}"/>
              </a:ext>
            </a:extLst>
          </p:cNvPr>
          <p:cNvSpPr txBox="1"/>
          <p:nvPr/>
        </p:nvSpPr>
        <p:spPr>
          <a:xfrm>
            <a:off x="371562" y="2624977"/>
            <a:ext cx="84830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High-end</a:t>
            </a:r>
          </a:p>
        </p:txBody>
      </p:sp>
      <p:sp>
        <p:nvSpPr>
          <p:cNvPr id="30" name="テキスト ボックス 29">
            <a:extLst>
              <a:ext uri="{FF2B5EF4-FFF2-40B4-BE49-F238E27FC236}">
                <a16:creationId xmlns:a16="http://schemas.microsoft.com/office/drawing/2014/main" id="{525BD59E-34B6-5CE7-7AC5-BF36661F6DF8}"/>
              </a:ext>
            </a:extLst>
          </p:cNvPr>
          <p:cNvSpPr txBox="1"/>
          <p:nvPr/>
        </p:nvSpPr>
        <p:spPr>
          <a:xfrm>
            <a:off x="397064" y="3198596"/>
            <a:ext cx="973343"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Affordable</a:t>
            </a:r>
          </a:p>
        </p:txBody>
      </p:sp>
      <p:sp>
        <p:nvSpPr>
          <p:cNvPr id="16" name="テキスト ボックス 15">
            <a:extLst>
              <a:ext uri="{FF2B5EF4-FFF2-40B4-BE49-F238E27FC236}">
                <a16:creationId xmlns:a16="http://schemas.microsoft.com/office/drawing/2014/main" id="{E4E40D33-8A23-0053-4A43-8BEA1C3FE328}"/>
              </a:ext>
            </a:extLst>
          </p:cNvPr>
          <p:cNvSpPr txBox="1"/>
          <p:nvPr/>
        </p:nvSpPr>
        <p:spPr>
          <a:xfrm>
            <a:off x="8634337" y="1932349"/>
            <a:ext cx="2225289" cy="507831"/>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6/19</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会議にて</a:t>
            </a:r>
            <a:endPar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GPU</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付きは</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GALLERIA</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に統合する方向</a:t>
            </a:r>
            <a:endPar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a:solidFill>
                  <a:prstClr val="black"/>
                </a:solidFill>
                <a:latin typeface="BIZ UDPゴシック" panose="020B0400000000000000" pitchFamily="50" charset="-128"/>
                <a:ea typeface="BIZ UDPゴシック" panose="020B0400000000000000" pitchFamily="50" charset="-128"/>
              </a:rPr>
              <a:t>との通達有り</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graphicFrame>
        <p:nvGraphicFramePr>
          <p:cNvPr id="36" name="表 35">
            <a:extLst>
              <a:ext uri="{FF2B5EF4-FFF2-40B4-BE49-F238E27FC236}">
                <a16:creationId xmlns:a16="http://schemas.microsoft.com/office/drawing/2014/main" id="{F0031E69-0538-822C-F555-B60EDF65C5E1}"/>
              </a:ext>
            </a:extLst>
          </p:cNvPr>
          <p:cNvGraphicFramePr>
            <a:graphicFrameLocks noGrp="1"/>
          </p:cNvGraphicFramePr>
          <p:nvPr/>
        </p:nvGraphicFramePr>
        <p:xfrm>
          <a:off x="405002" y="971525"/>
          <a:ext cx="11517732" cy="714375"/>
        </p:xfrm>
        <a:graphic>
          <a:graphicData uri="http://schemas.openxmlformats.org/drawingml/2006/table">
            <a:tbl>
              <a:tblPr/>
              <a:tblGrid>
                <a:gridCol w="319937">
                  <a:extLst>
                    <a:ext uri="{9D8B030D-6E8A-4147-A177-3AD203B41FA5}">
                      <a16:colId xmlns:a16="http://schemas.microsoft.com/office/drawing/2014/main" val="1500898864"/>
                    </a:ext>
                  </a:extLst>
                </a:gridCol>
                <a:gridCol w="319937">
                  <a:extLst>
                    <a:ext uri="{9D8B030D-6E8A-4147-A177-3AD203B41FA5}">
                      <a16:colId xmlns:a16="http://schemas.microsoft.com/office/drawing/2014/main" val="492311195"/>
                    </a:ext>
                  </a:extLst>
                </a:gridCol>
                <a:gridCol w="319937">
                  <a:extLst>
                    <a:ext uri="{9D8B030D-6E8A-4147-A177-3AD203B41FA5}">
                      <a16:colId xmlns:a16="http://schemas.microsoft.com/office/drawing/2014/main" val="535944228"/>
                    </a:ext>
                  </a:extLst>
                </a:gridCol>
                <a:gridCol w="319937">
                  <a:extLst>
                    <a:ext uri="{9D8B030D-6E8A-4147-A177-3AD203B41FA5}">
                      <a16:colId xmlns:a16="http://schemas.microsoft.com/office/drawing/2014/main" val="1297611135"/>
                    </a:ext>
                  </a:extLst>
                </a:gridCol>
                <a:gridCol w="319937">
                  <a:extLst>
                    <a:ext uri="{9D8B030D-6E8A-4147-A177-3AD203B41FA5}">
                      <a16:colId xmlns:a16="http://schemas.microsoft.com/office/drawing/2014/main" val="1872956960"/>
                    </a:ext>
                  </a:extLst>
                </a:gridCol>
                <a:gridCol w="319937">
                  <a:extLst>
                    <a:ext uri="{9D8B030D-6E8A-4147-A177-3AD203B41FA5}">
                      <a16:colId xmlns:a16="http://schemas.microsoft.com/office/drawing/2014/main" val="1530389144"/>
                    </a:ext>
                  </a:extLst>
                </a:gridCol>
                <a:gridCol w="319937">
                  <a:extLst>
                    <a:ext uri="{9D8B030D-6E8A-4147-A177-3AD203B41FA5}">
                      <a16:colId xmlns:a16="http://schemas.microsoft.com/office/drawing/2014/main" val="1873387370"/>
                    </a:ext>
                  </a:extLst>
                </a:gridCol>
                <a:gridCol w="319937">
                  <a:extLst>
                    <a:ext uri="{9D8B030D-6E8A-4147-A177-3AD203B41FA5}">
                      <a16:colId xmlns:a16="http://schemas.microsoft.com/office/drawing/2014/main" val="2523210819"/>
                    </a:ext>
                  </a:extLst>
                </a:gridCol>
                <a:gridCol w="319937">
                  <a:extLst>
                    <a:ext uri="{9D8B030D-6E8A-4147-A177-3AD203B41FA5}">
                      <a16:colId xmlns:a16="http://schemas.microsoft.com/office/drawing/2014/main" val="1136697292"/>
                    </a:ext>
                  </a:extLst>
                </a:gridCol>
                <a:gridCol w="319937">
                  <a:extLst>
                    <a:ext uri="{9D8B030D-6E8A-4147-A177-3AD203B41FA5}">
                      <a16:colId xmlns:a16="http://schemas.microsoft.com/office/drawing/2014/main" val="4023778491"/>
                    </a:ext>
                  </a:extLst>
                </a:gridCol>
                <a:gridCol w="319937">
                  <a:extLst>
                    <a:ext uri="{9D8B030D-6E8A-4147-A177-3AD203B41FA5}">
                      <a16:colId xmlns:a16="http://schemas.microsoft.com/office/drawing/2014/main" val="3242310994"/>
                    </a:ext>
                  </a:extLst>
                </a:gridCol>
                <a:gridCol w="319937">
                  <a:extLst>
                    <a:ext uri="{9D8B030D-6E8A-4147-A177-3AD203B41FA5}">
                      <a16:colId xmlns:a16="http://schemas.microsoft.com/office/drawing/2014/main" val="3032464318"/>
                    </a:ext>
                  </a:extLst>
                </a:gridCol>
                <a:gridCol w="319937">
                  <a:extLst>
                    <a:ext uri="{9D8B030D-6E8A-4147-A177-3AD203B41FA5}">
                      <a16:colId xmlns:a16="http://schemas.microsoft.com/office/drawing/2014/main" val="718012166"/>
                    </a:ext>
                  </a:extLst>
                </a:gridCol>
                <a:gridCol w="319937">
                  <a:extLst>
                    <a:ext uri="{9D8B030D-6E8A-4147-A177-3AD203B41FA5}">
                      <a16:colId xmlns:a16="http://schemas.microsoft.com/office/drawing/2014/main" val="201977023"/>
                    </a:ext>
                  </a:extLst>
                </a:gridCol>
                <a:gridCol w="319937">
                  <a:extLst>
                    <a:ext uri="{9D8B030D-6E8A-4147-A177-3AD203B41FA5}">
                      <a16:colId xmlns:a16="http://schemas.microsoft.com/office/drawing/2014/main" val="3789184676"/>
                    </a:ext>
                  </a:extLst>
                </a:gridCol>
                <a:gridCol w="319937">
                  <a:extLst>
                    <a:ext uri="{9D8B030D-6E8A-4147-A177-3AD203B41FA5}">
                      <a16:colId xmlns:a16="http://schemas.microsoft.com/office/drawing/2014/main" val="2285191595"/>
                    </a:ext>
                  </a:extLst>
                </a:gridCol>
                <a:gridCol w="319937">
                  <a:extLst>
                    <a:ext uri="{9D8B030D-6E8A-4147-A177-3AD203B41FA5}">
                      <a16:colId xmlns:a16="http://schemas.microsoft.com/office/drawing/2014/main" val="1576469209"/>
                    </a:ext>
                  </a:extLst>
                </a:gridCol>
                <a:gridCol w="319937">
                  <a:extLst>
                    <a:ext uri="{9D8B030D-6E8A-4147-A177-3AD203B41FA5}">
                      <a16:colId xmlns:a16="http://schemas.microsoft.com/office/drawing/2014/main" val="2224905602"/>
                    </a:ext>
                  </a:extLst>
                </a:gridCol>
                <a:gridCol w="319937">
                  <a:extLst>
                    <a:ext uri="{9D8B030D-6E8A-4147-A177-3AD203B41FA5}">
                      <a16:colId xmlns:a16="http://schemas.microsoft.com/office/drawing/2014/main" val="324624714"/>
                    </a:ext>
                  </a:extLst>
                </a:gridCol>
                <a:gridCol w="319937">
                  <a:extLst>
                    <a:ext uri="{9D8B030D-6E8A-4147-A177-3AD203B41FA5}">
                      <a16:colId xmlns:a16="http://schemas.microsoft.com/office/drawing/2014/main" val="370901253"/>
                    </a:ext>
                  </a:extLst>
                </a:gridCol>
                <a:gridCol w="319937">
                  <a:extLst>
                    <a:ext uri="{9D8B030D-6E8A-4147-A177-3AD203B41FA5}">
                      <a16:colId xmlns:a16="http://schemas.microsoft.com/office/drawing/2014/main" val="4024422151"/>
                    </a:ext>
                  </a:extLst>
                </a:gridCol>
                <a:gridCol w="319937">
                  <a:extLst>
                    <a:ext uri="{9D8B030D-6E8A-4147-A177-3AD203B41FA5}">
                      <a16:colId xmlns:a16="http://schemas.microsoft.com/office/drawing/2014/main" val="2689519980"/>
                    </a:ext>
                  </a:extLst>
                </a:gridCol>
                <a:gridCol w="319937">
                  <a:extLst>
                    <a:ext uri="{9D8B030D-6E8A-4147-A177-3AD203B41FA5}">
                      <a16:colId xmlns:a16="http://schemas.microsoft.com/office/drawing/2014/main" val="3790508917"/>
                    </a:ext>
                  </a:extLst>
                </a:gridCol>
                <a:gridCol w="319937">
                  <a:extLst>
                    <a:ext uri="{9D8B030D-6E8A-4147-A177-3AD203B41FA5}">
                      <a16:colId xmlns:a16="http://schemas.microsoft.com/office/drawing/2014/main" val="355080256"/>
                    </a:ext>
                  </a:extLst>
                </a:gridCol>
                <a:gridCol w="319937">
                  <a:extLst>
                    <a:ext uri="{9D8B030D-6E8A-4147-A177-3AD203B41FA5}">
                      <a16:colId xmlns:a16="http://schemas.microsoft.com/office/drawing/2014/main" val="3004377733"/>
                    </a:ext>
                  </a:extLst>
                </a:gridCol>
                <a:gridCol w="319937">
                  <a:extLst>
                    <a:ext uri="{9D8B030D-6E8A-4147-A177-3AD203B41FA5}">
                      <a16:colId xmlns:a16="http://schemas.microsoft.com/office/drawing/2014/main" val="1158246796"/>
                    </a:ext>
                  </a:extLst>
                </a:gridCol>
                <a:gridCol w="319937">
                  <a:extLst>
                    <a:ext uri="{9D8B030D-6E8A-4147-A177-3AD203B41FA5}">
                      <a16:colId xmlns:a16="http://schemas.microsoft.com/office/drawing/2014/main" val="3566540348"/>
                    </a:ext>
                  </a:extLst>
                </a:gridCol>
                <a:gridCol w="319937">
                  <a:extLst>
                    <a:ext uri="{9D8B030D-6E8A-4147-A177-3AD203B41FA5}">
                      <a16:colId xmlns:a16="http://schemas.microsoft.com/office/drawing/2014/main" val="1664914038"/>
                    </a:ext>
                  </a:extLst>
                </a:gridCol>
                <a:gridCol w="319937">
                  <a:extLst>
                    <a:ext uri="{9D8B030D-6E8A-4147-A177-3AD203B41FA5}">
                      <a16:colId xmlns:a16="http://schemas.microsoft.com/office/drawing/2014/main" val="1814902996"/>
                    </a:ext>
                  </a:extLst>
                </a:gridCol>
                <a:gridCol w="319937">
                  <a:extLst>
                    <a:ext uri="{9D8B030D-6E8A-4147-A177-3AD203B41FA5}">
                      <a16:colId xmlns:a16="http://schemas.microsoft.com/office/drawing/2014/main" val="72780220"/>
                    </a:ext>
                  </a:extLst>
                </a:gridCol>
                <a:gridCol w="319937">
                  <a:extLst>
                    <a:ext uri="{9D8B030D-6E8A-4147-A177-3AD203B41FA5}">
                      <a16:colId xmlns:a16="http://schemas.microsoft.com/office/drawing/2014/main" val="640000408"/>
                    </a:ext>
                  </a:extLst>
                </a:gridCol>
                <a:gridCol w="319937">
                  <a:extLst>
                    <a:ext uri="{9D8B030D-6E8A-4147-A177-3AD203B41FA5}">
                      <a16:colId xmlns:a16="http://schemas.microsoft.com/office/drawing/2014/main" val="2576203230"/>
                    </a:ext>
                  </a:extLst>
                </a:gridCol>
                <a:gridCol w="319937">
                  <a:extLst>
                    <a:ext uri="{9D8B030D-6E8A-4147-A177-3AD203B41FA5}">
                      <a16:colId xmlns:a16="http://schemas.microsoft.com/office/drawing/2014/main" val="2578640369"/>
                    </a:ext>
                  </a:extLst>
                </a:gridCol>
                <a:gridCol w="319937">
                  <a:extLst>
                    <a:ext uri="{9D8B030D-6E8A-4147-A177-3AD203B41FA5}">
                      <a16:colId xmlns:a16="http://schemas.microsoft.com/office/drawing/2014/main" val="3620044266"/>
                    </a:ext>
                  </a:extLst>
                </a:gridCol>
                <a:gridCol w="319937">
                  <a:extLst>
                    <a:ext uri="{9D8B030D-6E8A-4147-A177-3AD203B41FA5}">
                      <a16:colId xmlns:a16="http://schemas.microsoft.com/office/drawing/2014/main" val="3123228021"/>
                    </a:ext>
                  </a:extLst>
                </a:gridCol>
                <a:gridCol w="319937">
                  <a:extLst>
                    <a:ext uri="{9D8B030D-6E8A-4147-A177-3AD203B41FA5}">
                      <a16:colId xmlns:a16="http://schemas.microsoft.com/office/drawing/2014/main" val="2629818710"/>
                    </a:ext>
                  </a:extLst>
                </a:gridCol>
              </a:tblGrid>
              <a:tr h="238125">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43</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44</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45</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E78"/>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639680362"/>
                  </a:ext>
                </a:extLst>
              </a:tr>
              <a:tr h="238125">
                <a:tc gridSpan="5">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7">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94673942"/>
                  </a:ext>
                </a:extLst>
              </a:tr>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797585"/>
                  </a:ext>
                </a:extLst>
              </a:tr>
            </a:tbl>
          </a:graphicData>
        </a:graphic>
      </p:graphicFrame>
      <p:sp>
        <p:nvSpPr>
          <p:cNvPr id="37" name="テキスト ボックス 36">
            <a:extLst>
              <a:ext uri="{FF2B5EF4-FFF2-40B4-BE49-F238E27FC236}">
                <a16:creationId xmlns:a16="http://schemas.microsoft.com/office/drawing/2014/main" id="{47B390BF-179E-D63E-7FF0-BDC145577CA6}"/>
              </a:ext>
            </a:extLst>
          </p:cNvPr>
          <p:cNvSpPr txBox="1"/>
          <p:nvPr/>
        </p:nvSpPr>
        <p:spPr>
          <a:xfrm>
            <a:off x="8508395" y="5891084"/>
            <a:ext cx="3701654"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RP3A</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完売時期を見つつ後継機検討する。販売価格</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10</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万円台が目標</a:t>
            </a:r>
          </a:p>
        </p:txBody>
      </p:sp>
      <p:sp>
        <p:nvSpPr>
          <p:cNvPr id="38" name="正方形/長方形 37">
            <a:extLst>
              <a:ext uri="{FF2B5EF4-FFF2-40B4-BE49-F238E27FC236}">
                <a16:creationId xmlns:a16="http://schemas.microsoft.com/office/drawing/2014/main" id="{C13A87E6-79FE-13E4-AE4F-0D36C233F244}"/>
              </a:ext>
            </a:extLst>
          </p:cNvPr>
          <p:cNvSpPr/>
          <p:nvPr/>
        </p:nvSpPr>
        <p:spPr>
          <a:xfrm>
            <a:off x="11063893" y="556835"/>
            <a:ext cx="799250" cy="256400"/>
          </a:xfrm>
          <a:prstGeom prst="rect">
            <a:avLst/>
          </a:prstGeom>
          <a:solidFill>
            <a:schemeClr val="accent4">
              <a:lumMod val="20000"/>
              <a:lumOff val="80000"/>
            </a:schemeClr>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0" cap="none" spc="0" normalizeH="0" baseline="0" noProof="0">
                <a:ln>
                  <a:noFill/>
                </a:ln>
                <a:solidFill>
                  <a:srgbClr val="C00000"/>
                </a:solidFill>
                <a:effectLst/>
                <a:uLnTx/>
                <a:uFillTx/>
                <a:latin typeface="游ゴシック Light" panose="020B0300000000000000" pitchFamily="50" charset="-128"/>
                <a:ea typeface="游ゴシック Light" panose="020B0300000000000000" pitchFamily="50" charset="-128"/>
                <a:cs typeface="メイリオ" panose="020B0604030504040204" pitchFamily="50" charset="-128"/>
              </a:rPr>
              <a:t>将来計画</a:t>
            </a:r>
            <a:endParaRPr kumimoji="1" lang="ja-JP" altLang="en-US" sz="700" b="1" i="0" u="none" strike="noStrike" kern="0" cap="none" spc="0" normalizeH="0" baseline="0" noProof="0">
              <a:ln>
                <a:noFill/>
              </a:ln>
              <a:solidFill>
                <a:srgbClr val="C00000"/>
              </a:solidFill>
              <a:effectLst/>
              <a:uLnTx/>
              <a:uFillTx/>
              <a:latin typeface="游ゴシック Light" panose="020B0300000000000000" pitchFamily="50" charset="-128"/>
              <a:ea typeface="游ゴシック Light" panose="020B0300000000000000" pitchFamily="50" charset="-128"/>
              <a:cs typeface="メイリオ" panose="020B0604030504040204" pitchFamily="50" charset="-128"/>
            </a:endParaRPr>
          </a:p>
        </p:txBody>
      </p:sp>
      <p:sp>
        <p:nvSpPr>
          <p:cNvPr id="45" name="矢印: 五方向 44">
            <a:extLst>
              <a:ext uri="{FF2B5EF4-FFF2-40B4-BE49-F238E27FC236}">
                <a16:creationId xmlns:a16="http://schemas.microsoft.com/office/drawing/2014/main" id="{5604DC6C-D7DA-70CE-192A-BB9D17608728}"/>
              </a:ext>
            </a:extLst>
          </p:cNvPr>
          <p:cNvSpPr/>
          <p:nvPr/>
        </p:nvSpPr>
        <p:spPr>
          <a:xfrm>
            <a:off x="6817043" y="3375367"/>
            <a:ext cx="5132851" cy="198218"/>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 17</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インチ後継製品</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66" name="テキスト ボックス 65">
            <a:extLst>
              <a:ext uri="{FF2B5EF4-FFF2-40B4-BE49-F238E27FC236}">
                <a16:creationId xmlns:a16="http://schemas.microsoft.com/office/drawing/2014/main" id="{6353F12C-205F-5A03-73B2-275D4FF219FC}"/>
              </a:ext>
            </a:extLst>
          </p:cNvPr>
          <p:cNvSpPr txBox="1"/>
          <p:nvPr/>
        </p:nvSpPr>
        <p:spPr>
          <a:xfrm>
            <a:off x="7351980" y="4401272"/>
            <a:ext cx="2975495" cy="3693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MTL-H</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のままであと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1</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年継続するか</a:t>
            </a:r>
            <a:r>
              <a:rPr lang="en-US" altLang="ja-JP" sz="900">
                <a:solidFill>
                  <a:prstClr val="black"/>
                </a:solidFill>
                <a:latin typeface="BIZ UDPゴシック" panose="020B0400000000000000" pitchFamily="50" charset="-128"/>
                <a:ea typeface="BIZ UDPゴシック" panose="020B0400000000000000" pitchFamily="50" charset="-128"/>
              </a:rPr>
              <a:t>WCL</a:t>
            </a:r>
            <a:r>
              <a:rPr lang="ja-JP" altLang="en-US" sz="900">
                <a:solidFill>
                  <a:prstClr val="black"/>
                </a:solidFill>
                <a:latin typeface="BIZ UDPゴシック" panose="020B0400000000000000" pitchFamily="50" charset="-128"/>
                <a:ea typeface="BIZ UDPゴシック" panose="020B0400000000000000" pitchFamily="50" charset="-128"/>
              </a:rPr>
              <a:t>へ移行するか</a:t>
            </a:r>
            <a:endParaRPr lang="en-US" altLang="ja-JP" sz="900">
              <a:solidFill>
                <a:prstClr val="black"/>
              </a:solidFill>
              <a:latin typeface="BIZ UDPゴシック" panose="020B0400000000000000" pitchFamily="50" charset="-128"/>
              <a:ea typeface="BIZ UDPゴシック" panose="020B04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販売実績と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WCL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価格推移見て判断</a:t>
            </a:r>
          </a:p>
        </p:txBody>
      </p:sp>
      <p:cxnSp>
        <p:nvCxnSpPr>
          <p:cNvPr id="72" name="直線コネクタ 71">
            <a:extLst>
              <a:ext uri="{FF2B5EF4-FFF2-40B4-BE49-F238E27FC236}">
                <a16:creationId xmlns:a16="http://schemas.microsoft.com/office/drawing/2014/main" id="{0C7FDFE0-A970-13BA-5B6A-D0D1AF4CFA39}"/>
              </a:ext>
            </a:extLst>
          </p:cNvPr>
          <p:cNvCxnSpPr/>
          <p:nvPr/>
        </p:nvCxnSpPr>
        <p:spPr>
          <a:xfrm>
            <a:off x="4228298" y="1453243"/>
            <a:ext cx="23074" cy="53175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4" name="テキスト ボックス 73">
            <a:extLst>
              <a:ext uri="{FF2B5EF4-FFF2-40B4-BE49-F238E27FC236}">
                <a16:creationId xmlns:a16="http://schemas.microsoft.com/office/drawing/2014/main" id="{9CA15537-EA31-21B1-320C-E6576F138F5E}"/>
              </a:ext>
            </a:extLst>
          </p:cNvPr>
          <p:cNvSpPr txBox="1"/>
          <p:nvPr/>
        </p:nvSpPr>
        <p:spPr>
          <a:xfrm>
            <a:off x="6048842" y="2574301"/>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75" name="テキスト ボックス 74">
            <a:extLst>
              <a:ext uri="{FF2B5EF4-FFF2-40B4-BE49-F238E27FC236}">
                <a16:creationId xmlns:a16="http://schemas.microsoft.com/office/drawing/2014/main" id="{94248DFD-975D-D6D0-4F27-AE0EF7F890D8}"/>
              </a:ext>
            </a:extLst>
          </p:cNvPr>
          <p:cNvSpPr txBox="1"/>
          <p:nvPr/>
        </p:nvSpPr>
        <p:spPr>
          <a:xfrm>
            <a:off x="9868919" y="2538222"/>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13" name="楕円 12">
            <a:extLst>
              <a:ext uri="{FF2B5EF4-FFF2-40B4-BE49-F238E27FC236}">
                <a16:creationId xmlns:a16="http://schemas.microsoft.com/office/drawing/2014/main" id="{0CD9534B-4D27-1AD6-DED1-C5B920C6DCF4}"/>
              </a:ext>
            </a:extLst>
          </p:cNvPr>
          <p:cNvSpPr/>
          <p:nvPr/>
        </p:nvSpPr>
        <p:spPr>
          <a:xfrm>
            <a:off x="4506550" y="637465"/>
            <a:ext cx="458554" cy="25093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B480EEED-ACFA-42F1-37D9-C0BA78E850D3}"/>
              </a:ext>
            </a:extLst>
          </p:cNvPr>
          <p:cNvSpPr txBox="1"/>
          <p:nvPr/>
        </p:nvSpPr>
        <p:spPr>
          <a:xfrm>
            <a:off x="4924874" y="634620"/>
            <a:ext cx="3914854" cy="246221"/>
          </a:xfrm>
          <a:prstGeom prst="rect">
            <a:avLst/>
          </a:prstGeom>
          <a:noFill/>
        </p:spPr>
        <p:txBody>
          <a:bodyPr wrap="none" rtlCol="0">
            <a:spAutoFit/>
          </a:bodyPr>
          <a:lstStyle/>
          <a:p>
            <a:r>
              <a:rPr kumimoji="1" lang="en-US" altLang="ja-JP" sz="1000">
                <a:latin typeface="BIZ UDPゴシック" panose="020B0400000000000000" pitchFamily="50" charset="-128"/>
                <a:ea typeface="BIZ UDPゴシック" panose="020B0400000000000000" pitchFamily="50" charset="-128"/>
              </a:rPr>
              <a:t>44</a:t>
            </a:r>
            <a:r>
              <a:rPr kumimoji="1" lang="ja-JP" altLang="en-US" sz="1000">
                <a:latin typeface="BIZ UDPゴシック" panose="020B0400000000000000" pitchFamily="50" charset="-128"/>
                <a:ea typeface="BIZ UDPゴシック" panose="020B0400000000000000" pitchFamily="50" charset="-128"/>
              </a:rPr>
              <a:t>期プロモ予算を必要とする新製品</a:t>
            </a:r>
            <a:r>
              <a:rPr kumimoji="1" lang="en-US" altLang="ja-JP" sz="1000">
                <a:latin typeface="BIZ UDPゴシック" panose="020B0400000000000000" pitchFamily="50" charset="-128"/>
                <a:ea typeface="BIZ UDPゴシック" panose="020B0400000000000000" pitchFamily="50" charset="-128"/>
              </a:rPr>
              <a:t>(</a:t>
            </a:r>
            <a:r>
              <a:rPr kumimoji="1" lang="ja-JP" altLang="en-US" sz="1000">
                <a:latin typeface="BIZ UDPゴシック" panose="020B0400000000000000" pitchFamily="50" charset="-128"/>
                <a:ea typeface="BIZ UDPゴシック" panose="020B0400000000000000" pitchFamily="50" charset="-128"/>
              </a:rPr>
              <a:t>丸の大きさが規模感と連動</a:t>
            </a:r>
            <a:r>
              <a:rPr kumimoji="1" lang="en-US" altLang="ja-JP" sz="1000">
                <a:latin typeface="BIZ UDPゴシック" panose="020B0400000000000000" pitchFamily="50" charset="-128"/>
                <a:ea typeface="BIZ UDPゴシック" panose="020B0400000000000000" pitchFamily="50" charset="-128"/>
              </a:rPr>
              <a:t>)</a:t>
            </a:r>
            <a:endParaRPr kumimoji="1" lang="ja-JP" altLang="en-US" sz="1000">
              <a:latin typeface="BIZ UDPゴシック" panose="020B0400000000000000" pitchFamily="50" charset="-128"/>
              <a:ea typeface="BIZ UDPゴシック" panose="020B0400000000000000" pitchFamily="50" charset="-128"/>
            </a:endParaRPr>
          </a:p>
        </p:txBody>
      </p:sp>
      <p:sp>
        <p:nvSpPr>
          <p:cNvPr id="17" name="楕円 16">
            <a:extLst>
              <a:ext uri="{FF2B5EF4-FFF2-40B4-BE49-F238E27FC236}">
                <a16:creationId xmlns:a16="http://schemas.microsoft.com/office/drawing/2014/main" id="{4348B8A9-D186-4C71-812A-34A682029C95}"/>
              </a:ext>
            </a:extLst>
          </p:cNvPr>
          <p:cNvSpPr/>
          <p:nvPr/>
        </p:nvSpPr>
        <p:spPr>
          <a:xfrm>
            <a:off x="5657854" y="2710640"/>
            <a:ext cx="824120" cy="39844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D286F51E-9178-4A39-B69B-682BDB777784}"/>
              </a:ext>
            </a:extLst>
          </p:cNvPr>
          <p:cNvSpPr/>
          <p:nvPr/>
        </p:nvSpPr>
        <p:spPr>
          <a:xfrm>
            <a:off x="8000728" y="3989850"/>
            <a:ext cx="850813" cy="32771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9766D05D-47D7-3343-A776-534DE6F568E4}"/>
              </a:ext>
            </a:extLst>
          </p:cNvPr>
          <p:cNvSpPr/>
          <p:nvPr/>
        </p:nvSpPr>
        <p:spPr>
          <a:xfrm>
            <a:off x="8040546" y="4892361"/>
            <a:ext cx="839114" cy="34890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E723D184-EE9D-5908-6B0A-9B1908838C3F}"/>
              </a:ext>
            </a:extLst>
          </p:cNvPr>
          <p:cNvSpPr/>
          <p:nvPr/>
        </p:nvSpPr>
        <p:spPr>
          <a:xfrm>
            <a:off x="7016190" y="6077100"/>
            <a:ext cx="275868" cy="2880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5BB02CE5-6FF4-F569-72FB-98875C7CE254}"/>
              </a:ext>
            </a:extLst>
          </p:cNvPr>
          <p:cNvSpPr/>
          <p:nvPr/>
        </p:nvSpPr>
        <p:spPr>
          <a:xfrm>
            <a:off x="6510411" y="1670978"/>
            <a:ext cx="5428857" cy="925409"/>
          </a:xfrm>
          <a:prstGeom prst="rect">
            <a:avLst/>
          </a:prstGeom>
          <a:solidFill>
            <a:schemeClr val="tx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t>➡ </a:t>
            </a:r>
            <a:r>
              <a:rPr lang="en-US" altLang="ja-JP" b="1"/>
              <a:t>GALLERIA</a:t>
            </a:r>
            <a:endParaRPr kumimoji="1" lang="ja-JP" altLang="en-US" b="1"/>
          </a:p>
        </p:txBody>
      </p:sp>
      <p:sp>
        <p:nvSpPr>
          <p:cNvPr id="59" name="四角形: 角を丸くする 58">
            <a:extLst>
              <a:ext uri="{FF2B5EF4-FFF2-40B4-BE49-F238E27FC236}">
                <a16:creationId xmlns:a16="http://schemas.microsoft.com/office/drawing/2014/main" id="{D8734D2A-3172-A0C2-3AB5-5DFD58999F71}"/>
              </a:ext>
            </a:extLst>
          </p:cNvPr>
          <p:cNvSpPr/>
          <p:nvPr/>
        </p:nvSpPr>
        <p:spPr>
          <a:xfrm>
            <a:off x="8313464" y="6299707"/>
            <a:ext cx="3678519" cy="330325"/>
          </a:xfrm>
          <a:prstGeom prst="roundRect">
            <a:avLst/>
          </a:prstGeom>
          <a:solidFill>
            <a:schemeClr val="bg2">
              <a:lumMod val="9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r>
              <a:rPr kumimoji="1" lang="en-US" altLang="ja-JP" sz="1100">
                <a:solidFill>
                  <a:schemeClr val="tx1">
                    <a:lumMod val="85000"/>
                    <a:lumOff val="15000"/>
                  </a:schemeClr>
                </a:solidFill>
                <a:latin typeface="メイリオ" panose="020B0604030504040204" pitchFamily="50" charset="-128"/>
                <a:ea typeface="メイリオ" panose="020B0604030504040204" pitchFamily="50" charset="-128"/>
              </a:rPr>
              <a:t>Core i3</a:t>
            </a:r>
            <a:r>
              <a:rPr kumimoji="1" lang="ja-JP" altLang="en-US" sz="1100">
                <a:solidFill>
                  <a:schemeClr val="tx1">
                    <a:lumMod val="85000"/>
                    <a:lumOff val="15000"/>
                  </a:schemeClr>
                </a:solidFill>
                <a:latin typeface="メイリオ" panose="020B0604030504040204" pitchFamily="50" charset="-128"/>
                <a:ea typeface="メイリオ" panose="020B0604030504040204" pitchFamily="50" charset="-128"/>
              </a:rPr>
              <a:t>以外の選択肢で調査。</a:t>
            </a:r>
            <a:r>
              <a:rPr kumimoji="1" lang="en-US" altLang="ja-JP" sz="1100" err="1">
                <a:solidFill>
                  <a:schemeClr val="tx1">
                    <a:lumMod val="85000"/>
                    <a:lumOff val="15000"/>
                  </a:schemeClr>
                </a:solidFill>
                <a:latin typeface="メイリオ" panose="020B0604030504040204" pitchFamily="50" charset="-128"/>
                <a:ea typeface="メイリオ" panose="020B0604030504040204" pitchFamily="50" charset="-128"/>
              </a:rPr>
              <a:t>Ryzen,Qualcom</a:t>
            </a:r>
            <a:r>
              <a:rPr kumimoji="1" lang="en-US" altLang="ja-JP" sz="1100">
                <a:solidFill>
                  <a:schemeClr val="tx1">
                    <a:lumMod val="85000"/>
                    <a:lumOff val="15000"/>
                  </a:schemeClr>
                </a:solidFill>
                <a:latin typeface="メイリオ" panose="020B0604030504040204" pitchFamily="50" charset="-128"/>
                <a:ea typeface="メイリオ" panose="020B0604030504040204" pitchFamily="50" charset="-128"/>
              </a:rPr>
              <a:t>…</a:t>
            </a:r>
            <a:endParaRPr lang="en-US" altLang="ja-JP" sz="110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20" name="四角形: 角を丸くする 19">
            <a:extLst>
              <a:ext uri="{FF2B5EF4-FFF2-40B4-BE49-F238E27FC236}">
                <a16:creationId xmlns:a16="http://schemas.microsoft.com/office/drawing/2014/main" id="{E5CDEE9E-4A1F-A013-57D0-C385271E6C09}"/>
              </a:ext>
            </a:extLst>
          </p:cNvPr>
          <p:cNvSpPr/>
          <p:nvPr/>
        </p:nvSpPr>
        <p:spPr>
          <a:xfrm>
            <a:off x="7071169" y="5602053"/>
            <a:ext cx="5056967" cy="330325"/>
          </a:xfrm>
          <a:prstGeom prst="roundRect">
            <a:avLst/>
          </a:prstGeom>
          <a:solidFill>
            <a:schemeClr val="bg2">
              <a:lumMod val="9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l"/>
            <a:r>
              <a:rPr lang="en-US" altLang="ja-JP" sz="1100">
                <a:solidFill>
                  <a:schemeClr val="tx1">
                    <a:lumMod val="85000"/>
                    <a:lumOff val="15000"/>
                  </a:schemeClr>
                </a:solidFill>
                <a:latin typeface="メイリオ" panose="020B0604030504040204" pitchFamily="50" charset="-128"/>
                <a:ea typeface="メイリオ" panose="020B0604030504040204" pitchFamily="50" charset="-128"/>
              </a:rPr>
              <a:t>V755/</a:t>
            </a:r>
            <a:r>
              <a:rPr lang="ja-JP" altLang="en-US" sz="1100">
                <a:solidFill>
                  <a:schemeClr val="tx1">
                    <a:lumMod val="85000"/>
                    <a:lumOff val="15000"/>
                  </a:schemeClr>
                </a:solidFill>
                <a:latin typeface="メイリオ" panose="020B0604030504040204" pitchFamily="50" charset="-128"/>
                <a:ea typeface="メイリオ" panose="020B0604030504040204" pitchFamily="50" charset="-128"/>
              </a:rPr>
              <a:t>マウスの値段みつつ、くぐれるかチェック（試算してみる）</a:t>
            </a:r>
            <a:endParaRPr lang="en-US" altLang="ja-JP" sz="1100">
              <a:solidFill>
                <a:schemeClr val="tx1">
                  <a:lumMod val="85000"/>
                  <a:lumOff val="15000"/>
                </a:schemeClr>
              </a:solidFill>
              <a:latin typeface="メイリオ" panose="020B0604030504040204" pitchFamily="50" charset="-128"/>
              <a:ea typeface="メイリオ" panose="020B0604030504040204" pitchFamily="50" charset="-128"/>
            </a:endParaRPr>
          </a:p>
        </p:txBody>
      </p:sp>
      <p:sp>
        <p:nvSpPr>
          <p:cNvPr id="34" name="星: 5 pt 33">
            <a:extLst>
              <a:ext uri="{FF2B5EF4-FFF2-40B4-BE49-F238E27FC236}">
                <a16:creationId xmlns:a16="http://schemas.microsoft.com/office/drawing/2014/main" id="{9CA9A229-064E-155E-4633-B597CB087875}"/>
              </a:ext>
            </a:extLst>
          </p:cNvPr>
          <p:cNvSpPr/>
          <p:nvPr/>
        </p:nvSpPr>
        <p:spPr>
          <a:xfrm>
            <a:off x="6998764" y="6165851"/>
            <a:ext cx="504816" cy="454097"/>
          </a:xfrm>
          <a:prstGeom prst="star5">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87336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B02F9-4FA6-175C-3394-FFD5F3FAABC3}"/>
            </a:ext>
          </a:extLst>
        </p:cNvPr>
        <p:cNvGrpSpPr/>
        <p:nvPr/>
      </p:nvGrpSpPr>
      <p:grpSpPr>
        <a:xfrm>
          <a:off x="0" y="0"/>
          <a:ext cx="0" cy="0"/>
          <a:chOff x="0" y="0"/>
          <a:chExt cx="0" cy="0"/>
        </a:xfrm>
      </p:grpSpPr>
      <p:sp>
        <p:nvSpPr>
          <p:cNvPr id="63" name="矢印: 五方向 30">
            <a:extLst>
              <a:ext uri="{FF2B5EF4-FFF2-40B4-BE49-F238E27FC236}">
                <a16:creationId xmlns:a16="http://schemas.microsoft.com/office/drawing/2014/main" id="{5E136806-CC83-CA50-BC58-275DA597A12B}"/>
              </a:ext>
            </a:extLst>
          </p:cNvPr>
          <p:cNvSpPr/>
          <p:nvPr/>
        </p:nvSpPr>
        <p:spPr>
          <a:xfrm>
            <a:off x="402224" y="1724565"/>
            <a:ext cx="11537044" cy="1469326"/>
          </a:xfrm>
          <a:prstGeom prst="rect">
            <a:avLst/>
          </a:prstGeom>
          <a:solidFill>
            <a:schemeClr val="accent2">
              <a:lumMod val="40000"/>
              <a:lumOff val="6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矢印: 五方向 30">
            <a:extLst>
              <a:ext uri="{FF2B5EF4-FFF2-40B4-BE49-F238E27FC236}">
                <a16:creationId xmlns:a16="http://schemas.microsoft.com/office/drawing/2014/main" id="{D62B4C0D-4C63-C4E8-C101-22BF18A51C32}"/>
              </a:ext>
            </a:extLst>
          </p:cNvPr>
          <p:cNvSpPr/>
          <p:nvPr/>
        </p:nvSpPr>
        <p:spPr>
          <a:xfrm>
            <a:off x="405462" y="3232556"/>
            <a:ext cx="11537044" cy="3467837"/>
          </a:xfrm>
          <a:prstGeom prst="rect">
            <a:avLst/>
          </a:prstGeom>
          <a:solidFill>
            <a:schemeClr val="accent1">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1">
            <a:extLst>
              <a:ext uri="{FF2B5EF4-FFF2-40B4-BE49-F238E27FC236}">
                <a16:creationId xmlns:a16="http://schemas.microsoft.com/office/drawing/2014/main" id="{E1FB10B7-6D92-201E-8D85-DF45005BA519}"/>
              </a:ext>
            </a:extLst>
          </p:cNvPr>
          <p:cNvSpPr txBox="1"/>
          <p:nvPr/>
        </p:nvSpPr>
        <p:spPr>
          <a:xfrm>
            <a:off x="259522" y="210921"/>
            <a:ext cx="6239424"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次期検討用ロードマップ（</a:t>
            </a:r>
            <a:r>
              <a:rPr kumimoji="1" lang="en-US" altLang="ja-JP"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2026~2028</a:t>
            </a:r>
            <a:r>
              <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a:t>
            </a:r>
            <a:r>
              <a:rPr lang="ja-JP" altLang="en-US" b="1">
                <a:solidFill>
                  <a:prstClr val="black"/>
                </a:solidFill>
                <a:latin typeface="游ゴシック" panose="020F0502020204030204"/>
                <a:ea typeface="游ゴシック" panose="020B0400000000000000" pitchFamily="50" charset="-128"/>
              </a:rPr>
              <a:t> </a:t>
            </a:r>
            <a:r>
              <a:rPr lang="en-US" altLang="ja-JP" b="1">
                <a:solidFill>
                  <a:prstClr val="black"/>
                </a:solidFill>
                <a:latin typeface="游ゴシック" panose="020F0502020204030204"/>
                <a:ea typeface="游ゴシック" panose="020B0400000000000000" pitchFamily="50" charset="-128"/>
              </a:rPr>
              <a:t>2026/06/22</a:t>
            </a:r>
            <a:r>
              <a:rPr lang="ja-JP" altLang="en-US" b="1">
                <a:solidFill>
                  <a:prstClr val="black"/>
                </a:solidFill>
                <a:latin typeface="游ゴシック" panose="020F0502020204030204"/>
                <a:ea typeface="游ゴシック" panose="020B0400000000000000" pitchFamily="50" charset="-128"/>
              </a:rPr>
              <a:t>版</a:t>
            </a:r>
            <a:endPar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cxnSp>
        <p:nvCxnSpPr>
          <p:cNvPr id="8" name="直線コネクタ 7">
            <a:extLst>
              <a:ext uri="{FF2B5EF4-FFF2-40B4-BE49-F238E27FC236}">
                <a16:creationId xmlns:a16="http://schemas.microsoft.com/office/drawing/2014/main" id="{304C4136-467F-C487-75C0-CEE653AAB3A5}"/>
              </a:ext>
            </a:extLst>
          </p:cNvPr>
          <p:cNvCxnSpPr>
            <a:cxnSpLocks/>
          </p:cNvCxnSpPr>
          <p:nvPr/>
        </p:nvCxnSpPr>
        <p:spPr>
          <a:xfrm>
            <a:off x="405461" y="1285468"/>
            <a:ext cx="0" cy="541489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32" name="正方形/長方形 31">
            <a:extLst>
              <a:ext uri="{FF2B5EF4-FFF2-40B4-BE49-F238E27FC236}">
                <a16:creationId xmlns:a16="http://schemas.microsoft.com/office/drawing/2014/main" id="{86A82323-BD26-8973-0FDE-3860F47D2161}"/>
              </a:ext>
            </a:extLst>
          </p:cNvPr>
          <p:cNvSpPr/>
          <p:nvPr/>
        </p:nvSpPr>
        <p:spPr>
          <a:xfrm>
            <a:off x="8921846" y="552760"/>
            <a:ext cx="678938" cy="26047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現行品</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28BF93A0-B2F4-8057-61DD-43F97D8B7618}"/>
              </a:ext>
            </a:extLst>
          </p:cNvPr>
          <p:cNvSpPr/>
          <p:nvPr/>
        </p:nvSpPr>
        <p:spPr>
          <a:xfrm>
            <a:off x="10362997" y="558142"/>
            <a:ext cx="617722" cy="260475"/>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予定品</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5" name="正方形/長方形 34">
            <a:extLst>
              <a:ext uri="{FF2B5EF4-FFF2-40B4-BE49-F238E27FC236}">
                <a16:creationId xmlns:a16="http://schemas.microsoft.com/office/drawing/2014/main" id="{8CD3D769-5B69-A668-340F-15E0DB76487E}"/>
              </a:ext>
            </a:extLst>
          </p:cNvPr>
          <p:cNvSpPr/>
          <p:nvPr/>
        </p:nvSpPr>
        <p:spPr>
          <a:xfrm>
            <a:off x="9670800" y="558293"/>
            <a:ext cx="617722" cy="26047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承認済</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cxnSp>
        <p:nvCxnSpPr>
          <p:cNvPr id="50" name="直線コネクタ 49">
            <a:extLst>
              <a:ext uri="{FF2B5EF4-FFF2-40B4-BE49-F238E27FC236}">
                <a16:creationId xmlns:a16="http://schemas.microsoft.com/office/drawing/2014/main" id="{D5DB2DBF-71D3-37F5-9955-062C7197924C}"/>
              </a:ext>
            </a:extLst>
          </p:cNvPr>
          <p:cNvCxnSpPr>
            <a:cxnSpLocks/>
          </p:cNvCxnSpPr>
          <p:nvPr/>
        </p:nvCxnSpPr>
        <p:spPr>
          <a:xfrm>
            <a:off x="5843484" y="971525"/>
            <a:ext cx="0" cy="5720165"/>
          </a:xfrm>
          <a:prstGeom prst="line">
            <a:avLst/>
          </a:prstGeom>
        </p:spPr>
        <p:style>
          <a:lnRef idx="1">
            <a:schemeClr val="accent1"/>
          </a:lnRef>
          <a:fillRef idx="0">
            <a:schemeClr val="accent1"/>
          </a:fillRef>
          <a:effectRef idx="0">
            <a:schemeClr val="accent1"/>
          </a:effectRef>
          <a:fontRef idx="minor">
            <a:schemeClr val="tx1"/>
          </a:fontRef>
        </p:style>
      </p:cxnSp>
      <p:sp>
        <p:nvSpPr>
          <p:cNvPr id="54" name="テキスト ボックス 1">
            <a:extLst>
              <a:ext uri="{FF2B5EF4-FFF2-40B4-BE49-F238E27FC236}">
                <a16:creationId xmlns:a16="http://schemas.microsoft.com/office/drawing/2014/main" id="{85A0B07C-516C-AB39-7B2B-BA792DE69B2C}"/>
              </a:ext>
            </a:extLst>
          </p:cNvPr>
          <p:cNvSpPr txBox="1"/>
          <p:nvPr/>
        </p:nvSpPr>
        <p:spPr>
          <a:xfrm>
            <a:off x="386148" y="626436"/>
            <a:ext cx="2953045"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THIRDWAVE </a:t>
            </a:r>
            <a:r>
              <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別枠製品</a:t>
            </a:r>
          </a:p>
        </p:txBody>
      </p:sp>
      <p:cxnSp>
        <p:nvCxnSpPr>
          <p:cNvPr id="57" name="直線コネクタ 56">
            <a:extLst>
              <a:ext uri="{FF2B5EF4-FFF2-40B4-BE49-F238E27FC236}">
                <a16:creationId xmlns:a16="http://schemas.microsoft.com/office/drawing/2014/main" id="{9C0944A9-3A39-41A0-5E4E-F5B71ED4804D}"/>
              </a:ext>
            </a:extLst>
          </p:cNvPr>
          <p:cNvCxnSpPr>
            <a:cxnSpLocks/>
          </p:cNvCxnSpPr>
          <p:nvPr/>
        </p:nvCxnSpPr>
        <p:spPr>
          <a:xfrm>
            <a:off x="9681100" y="995768"/>
            <a:ext cx="0" cy="5757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A4D8A9D0-6772-2213-96B4-BB600610D1E3}"/>
              </a:ext>
            </a:extLst>
          </p:cNvPr>
          <p:cNvCxnSpPr>
            <a:cxnSpLocks/>
          </p:cNvCxnSpPr>
          <p:nvPr/>
        </p:nvCxnSpPr>
        <p:spPr>
          <a:xfrm>
            <a:off x="1998447" y="971525"/>
            <a:ext cx="0" cy="5781500"/>
          </a:xfrm>
          <a:prstGeom prst="line">
            <a:avLst/>
          </a:prstGeom>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38E94523-A378-0E36-F12B-A0033C5AB5AB}"/>
              </a:ext>
            </a:extLst>
          </p:cNvPr>
          <p:cNvSpPr txBox="1"/>
          <p:nvPr/>
        </p:nvSpPr>
        <p:spPr>
          <a:xfrm>
            <a:off x="423858" y="1715546"/>
            <a:ext cx="1102419"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b="1">
                <a:solidFill>
                  <a:prstClr val="black"/>
                </a:solidFill>
                <a:latin typeface="BIZ UDPゴシック" panose="020B0400000000000000" pitchFamily="50" charset="-128"/>
                <a:ea typeface="BIZ UDPゴシック" panose="020B0400000000000000" pitchFamily="50" charset="-128"/>
              </a:rPr>
              <a:t>非</a:t>
            </a:r>
            <a:r>
              <a:rPr kumimoji="1" lang="ja-JP" altLang="en-US"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ノート</a:t>
            </a:r>
            <a:endPar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graphicFrame>
        <p:nvGraphicFramePr>
          <p:cNvPr id="36" name="表 35">
            <a:extLst>
              <a:ext uri="{FF2B5EF4-FFF2-40B4-BE49-F238E27FC236}">
                <a16:creationId xmlns:a16="http://schemas.microsoft.com/office/drawing/2014/main" id="{17DFF69D-7455-C4BA-38E5-F0523557B36E}"/>
              </a:ext>
            </a:extLst>
          </p:cNvPr>
          <p:cNvGraphicFramePr>
            <a:graphicFrameLocks noGrp="1"/>
          </p:cNvGraphicFramePr>
          <p:nvPr/>
        </p:nvGraphicFramePr>
        <p:xfrm>
          <a:off x="405002" y="971525"/>
          <a:ext cx="11517732" cy="714375"/>
        </p:xfrm>
        <a:graphic>
          <a:graphicData uri="http://schemas.openxmlformats.org/drawingml/2006/table">
            <a:tbl>
              <a:tblPr/>
              <a:tblGrid>
                <a:gridCol w="319937">
                  <a:extLst>
                    <a:ext uri="{9D8B030D-6E8A-4147-A177-3AD203B41FA5}">
                      <a16:colId xmlns:a16="http://schemas.microsoft.com/office/drawing/2014/main" val="1500898864"/>
                    </a:ext>
                  </a:extLst>
                </a:gridCol>
                <a:gridCol w="319937">
                  <a:extLst>
                    <a:ext uri="{9D8B030D-6E8A-4147-A177-3AD203B41FA5}">
                      <a16:colId xmlns:a16="http://schemas.microsoft.com/office/drawing/2014/main" val="492311195"/>
                    </a:ext>
                  </a:extLst>
                </a:gridCol>
                <a:gridCol w="319937">
                  <a:extLst>
                    <a:ext uri="{9D8B030D-6E8A-4147-A177-3AD203B41FA5}">
                      <a16:colId xmlns:a16="http://schemas.microsoft.com/office/drawing/2014/main" val="535944228"/>
                    </a:ext>
                  </a:extLst>
                </a:gridCol>
                <a:gridCol w="319937">
                  <a:extLst>
                    <a:ext uri="{9D8B030D-6E8A-4147-A177-3AD203B41FA5}">
                      <a16:colId xmlns:a16="http://schemas.microsoft.com/office/drawing/2014/main" val="1297611135"/>
                    </a:ext>
                  </a:extLst>
                </a:gridCol>
                <a:gridCol w="319937">
                  <a:extLst>
                    <a:ext uri="{9D8B030D-6E8A-4147-A177-3AD203B41FA5}">
                      <a16:colId xmlns:a16="http://schemas.microsoft.com/office/drawing/2014/main" val="1872956960"/>
                    </a:ext>
                  </a:extLst>
                </a:gridCol>
                <a:gridCol w="319937">
                  <a:extLst>
                    <a:ext uri="{9D8B030D-6E8A-4147-A177-3AD203B41FA5}">
                      <a16:colId xmlns:a16="http://schemas.microsoft.com/office/drawing/2014/main" val="1530389144"/>
                    </a:ext>
                  </a:extLst>
                </a:gridCol>
                <a:gridCol w="319937">
                  <a:extLst>
                    <a:ext uri="{9D8B030D-6E8A-4147-A177-3AD203B41FA5}">
                      <a16:colId xmlns:a16="http://schemas.microsoft.com/office/drawing/2014/main" val="1873387370"/>
                    </a:ext>
                  </a:extLst>
                </a:gridCol>
                <a:gridCol w="319937">
                  <a:extLst>
                    <a:ext uri="{9D8B030D-6E8A-4147-A177-3AD203B41FA5}">
                      <a16:colId xmlns:a16="http://schemas.microsoft.com/office/drawing/2014/main" val="2523210819"/>
                    </a:ext>
                  </a:extLst>
                </a:gridCol>
                <a:gridCol w="319937">
                  <a:extLst>
                    <a:ext uri="{9D8B030D-6E8A-4147-A177-3AD203B41FA5}">
                      <a16:colId xmlns:a16="http://schemas.microsoft.com/office/drawing/2014/main" val="1136697292"/>
                    </a:ext>
                  </a:extLst>
                </a:gridCol>
                <a:gridCol w="319937">
                  <a:extLst>
                    <a:ext uri="{9D8B030D-6E8A-4147-A177-3AD203B41FA5}">
                      <a16:colId xmlns:a16="http://schemas.microsoft.com/office/drawing/2014/main" val="4023778491"/>
                    </a:ext>
                  </a:extLst>
                </a:gridCol>
                <a:gridCol w="319937">
                  <a:extLst>
                    <a:ext uri="{9D8B030D-6E8A-4147-A177-3AD203B41FA5}">
                      <a16:colId xmlns:a16="http://schemas.microsoft.com/office/drawing/2014/main" val="3242310994"/>
                    </a:ext>
                  </a:extLst>
                </a:gridCol>
                <a:gridCol w="319937">
                  <a:extLst>
                    <a:ext uri="{9D8B030D-6E8A-4147-A177-3AD203B41FA5}">
                      <a16:colId xmlns:a16="http://schemas.microsoft.com/office/drawing/2014/main" val="3032464318"/>
                    </a:ext>
                  </a:extLst>
                </a:gridCol>
                <a:gridCol w="319937">
                  <a:extLst>
                    <a:ext uri="{9D8B030D-6E8A-4147-A177-3AD203B41FA5}">
                      <a16:colId xmlns:a16="http://schemas.microsoft.com/office/drawing/2014/main" val="718012166"/>
                    </a:ext>
                  </a:extLst>
                </a:gridCol>
                <a:gridCol w="319937">
                  <a:extLst>
                    <a:ext uri="{9D8B030D-6E8A-4147-A177-3AD203B41FA5}">
                      <a16:colId xmlns:a16="http://schemas.microsoft.com/office/drawing/2014/main" val="201977023"/>
                    </a:ext>
                  </a:extLst>
                </a:gridCol>
                <a:gridCol w="319937">
                  <a:extLst>
                    <a:ext uri="{9D8B030D-6E8A-4147-A177-3AD203B41FA5}">
                      <a16:colId xmlns:a16="http://schemas.microsoft.com/office/drawing/2014/main" val="3789184676"/>
                    </a:ext>
                  </a:extLst>
                </a:gridCol>
                <a:gridCol w="319937">
                  <a:extLst>
                    <a:ext uri="{9D8B030D-6E8A-4147-A177-3AD203B41FA5}">
                      <a16:colId xmlns:a16="http://schemas.microsoft.com/office/drawing/2014/main" val="2285191595"/>
                    </a:ext>
                  </a:extLst>
                </a:gridCol>
                <a:gridCol w="319937">
                  <a:extLst>
                    <a:ext uri="{9D8B030D-6E8A-4147-A177-3AD203B41FA5}">
                      <a16:colId xmlns:a16="http://schemas.microsoft.com/office/drawing/2014/main" val="1576469209"/>
                    </a:ext>
                  </a:extLst>
                </a:gridCol>
                <a:gridCol w="319937">
                  <a:extLst>
                    <a:ext uri="{9D8B030D-6E8A-4147-A177-3AD203B41FA5}">
                      <a16:colId xmlns:a16="http://schemas.microsoft.com/office/drawing/2014/main" val="2224905602"/>
                    </a:ext>
                  </a:extLst>
                </a:gridCol>
                <a:gridCol w="319937">
                  <a:extLst>
                    <a:ext uri="{9D8B030D-6E8A-4147-A177-3AD203B41FA5}">
                      <a16:colId xmlns:a16="http://schemas.microsoft.com/office/drawing/2014/main" val="324624714"/>
                    </a:ext>
                  </a:extLst>
                </a:gridCol>
                <a:gridCol w="319937">
                  <a:extLst>
                    <a:ext uri="{9D8B030D-6E8A-4147-A177-3AD203B41FA5}">
                      <a16:colId xmlns:a16="http://schemas.microsoft.com/office/drawing/2014/main" val="370901253"/>
                    </a:ext>
                  </a:extLst>
                </a:gridCol>
                <a:gridCol w="319937">
                  <a:extLst>
                    <a:ext uri="{9D8B030D-6E8A-4147-A177-3AD203B41FA5}">
                      <a16:colId xmlns:a16="http://schemas.microsoft.com/office/drawing/2014/main" val="4024422151"/>
                    </a:ext>
                  </a:extLst>
                </a:gridCol>
                <a:gridCol w="319937">
                  <a:extLst>
                    <a:ext uri="{9D8B030D-6E8A-4147-A177-3AD203B41FA5}">
                      <a16:colId xmlns:a16="http://schemas.microsoft.com/office/drawing/2014/main" val="2689519980"/>
                    </a:ext>
                  </a:extLst>
                </a:gridCol>
                <a:gridCol w="319937">
                  <a:extLst>
                    <a:ext uri="{9D8B030D-6E8A-4147-A177-3AD203B41FA5}">
                      <a16:colId xmlns:a16="http://schemas.microsoft.com/office/drawing/2014/main" val="3790508917"/>
                    </a:ext>
                  </a:extLst>
                </a:gridCol>
                <a:gridCol w="319937">
                  <a:extLst>
                    <a:ext uri="{9D8B030D-6E8A-4147-A177-3AD203B41FA5}">
                      <a16:colId xmlns:a16="http://schemas.microsoft.com/office/drawing/2014/main" val="355080256"/>
                    </a:ext>
                  </a:extLst>
                </a:gridCol>
                <a:gridCol w="319937">
                  <a:extLst>
                    <a:ext uri="{9D8B030D-6E8A-4147-A177-3AD203B41FA5}">
                      <a16:colId xmlns:a16="http://schemas.microsoft.com/office/drawing/2014/main" val="3004377733"/>
                    </a:ext>
                  </a:extLst>
                </a:gridCol>
                <a:gridCol w="319937">
                  <a:extLst>
                    <a:ext uri="{9D8B030D-6E8A-4147-A177-3AD203B41FA5}">
                      <a16:colId xmlns:a16="http://schemas.microsoft.com/office/drawing/2014/main" val="1158246796"/>
                    </a:ext>
                  </a:extLst>
                </a:gridCol>
                <a:gridCol w="319937">
                  <a:extLst>
                    <a:ext uri="{9D8B030D-6E8A-4147-A177-3AD203B41FA5}">
                      <a16:colId xmlns:a16="http://schemas.microsoft.com/office/drawing/2014/main" val="3566540348"/>
                    </a:ext>
                  </a:extLst>
                </a:gridCol>
                <a:gridCol w="319937">
                  <a:extLst>
                    <a:ext uri="{9D8B030D-6E8A-4147-A177-3AD203B41FA5}">
                      <a16:colId xmlns:a16="http://schemas.microsoft.com/office/drawing/2014/main" val="1664914038"/>
                    </a:ext>
                  </a:extLst>
                </a:gridCol>
                <a:gridCol w="319937">
                  <a:extLst>
                    <a:ext uri="{9D8B030D-6E8A-4147-A177-3AD203B41FA5}">
                      <a16:colId xmlns:a16="http://schemas.microsoft.com/office/drawing/2014/main" val="1814902996"/>
                    </a:ext>
                  </a:extLst>
                </a:gridCol>
                <a:gridCol w="319937">
                  <a:extLst>
                    <a:ext uri="{9D8B030D-6E8A-4147-A177-3AD203B41FA5}">
                      <a16:colId xmlns:a16="http://schemas.microsoft.com/office/drawing/2014/main" val="72780220"/>
                    </a:ext>
                  </a:extLst>
                </a:gridCol>
                <a:gridCol w="319937">
                  <a:extLst>
                    <a:ext uri="{9D8B030D-6E8A-4147-A177-3AD203B41FA5}">
                      <a16:colId xmlns:a16="http://schemas.microsoft.com/office/drawing/2014/main" val="640000408"/>
                    </a:ext>
                  </a:extLst>
                </a:gridCol>
                <a:gridCol w="319937">
                  <a:extLst>
                    <a:ext uri="{9D8B030D-6E8A-4147-A177-3AD203B41FA5}">
                      <a16:colId xmlns:a16="http://schemas.microsoft.com/office/drawing/2014/main" val="2576203230"/>
                    </a:ext>
                  </a:extLst>
                </a:gridCol>
                <a:gridCol w="319937">
                  <a:extLst>
                    <a:ext uri="{9D8B030D-6E8A-4147-A177-3AD203B41FA5}">
                      <a16:colId xmlns:a16="http://schemas.microsoft.com/office/drawing/2014/main" val="2578640369"/>
                    </a:ext>
                  </a:extLst>
                </a:gridCol>
                <a:gridCol w="319937">
                  <a:extLst>
                    <a:ext uri="{9D8B030D-6E8A-4147-A177-3AD203B41FA5}">
                      <a16:colId xmlns:a16="http://schemas.microsoft.com/office/drawing/2014/main" val="3620044266"/>
                    </a:ext>
                  </a:extLst>
                </a:gridCol>
                <a:gridCol w="319937">
                  <a:extLst>
                    <a:ext uri="{9D8B030D-6E8A-4147-A177-3AD203B41FA5}">
                      <a16:colId xmlns:a16="http://schemas.microsoft.com/office/drawing/2014/main" val="3123228021"/>
                    </a:ext>
                  </a:extLst>
                </a:gridCol>
                <a:gridCol w="319937">
                  <a:extLst>
                    <a:ext uri="{9D8B030D-6E8A-4147-A177-3AD203B41FA5}">
                      <a16:colId xmlns:a16="http://schemas.microsoft.com/office/drawing/2014/main" val="2629818710"/>
                    </a:ext>
                  </a:extLst>
                </a:gridCol>
              </a:tblGrid>
              <a:tr h="238125">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43</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44</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45</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E78"/>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639680362"/>
                  </a:ext>
                </a:extLst>
              </a:tr>
              <a:tr h="238125">
                <a:tc gridSpan="5">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7">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94673942"/>
                  </a:ext>
                </a:extLst>
              </a:tr>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797585"/>
                  </a:ext>
                </a:extLst>
              </a:tr>
            </a:tbl>
          </a:graphicData>
        </a:graphic>
      </p:graphicFrame>
      <p:sp>
        <p:nvSpPr>
          <p:cNvPr id="38" name="正方形/長方形 37">
            <a:extLst>
              <a:ext uri="{FF2B5EF4-FFF2-40B4-BE49-F238E27FC236}">
                <a16:creationId xmlns:a16="http://schemas.microsoft.com/office/drawing/2014/main" id="{9A7652CF-5A7C-9D0B-8B0A-ECBAE7EE1222}"/>
              </a:ext>
            </a:extLst>
          </p:cNvPr>
          <p:cNvSpPr/>
          <p:nvPr/>
        </p:nvSpPr>
        <p:spPr>
          <a:xfrm>
            <a:off x="11063893" y="556835"/>
            <a:ext cx="799250" cy="256400"/>
          </a:xfrm>
          <a:prstGeom prst="rect">
            <a:avLst/>
          </a:prstGeom>
          <a:solidFill>
            <a:schemeClr val="accent4">
              <a:lumMod val="20000"/>
              <a:lumOff val="80000"/>
            </a:schemeClr>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0" cap="none" spc="0" normalizeH="0" baseline="0" noProof="0">
                <a:ln>
                  <a:noFill/>
                </a:ln>
                <a:solidFill>
                  <a:srgbClr val="C00000"/>
                </a:solidFill>
                <a:effectLst/>
                <a:uLnTx/>
                <a:uFillTx/>
                <a:latin typeface="游ゴシック Light" panose="020B0300000000000000" pitchFamily="50" charset="-128"/>
                <a:ea typeface="游ゴシック Light" panose="020B0300000000000000" pitchFamily="50" charset="-128"/>
                <a:cs typeface="メイリオ" panose="020B0604030504040204" pitchFamily="50" charset="-128"/>
              </a:rPr>
              <a:t>将来計画</a:t>
            </a:r>
            <a:endParaRPr kumimoji="1" lang="ja-JP" altLang="en-US" sz="700" b="1" i="0" u="none" strike="noStrike" kern="0" cap="none" spc="0" normalizeH="0" baseline="0" noProof="0">
              <a:ln>
                <a:noFill/>
              </a:ln>
              <a:solidFill>
                <a:srgbClr val="C00000"/>
              </a:solidFill>
              <a:effectLst/>
              <a:uLnTx/>
              <a:uFillTx/>
              <a:latin typeface="游ゴシック Light" panose="020B0300000000000000" pitchFamily="50" charset="-128"/>
              <a:ea typeface="游ゴシック Light" panose="020B0300000000000000" pitchFamily="50" charset="-128"/>
              <a:cs typeface="メイリオ" panose="020B0604030504040204" pitchFamily="50" charset="-128"/>
            </a:endParaRPr>
          </a:p>
        </p:txBody>
      </p:sp>
      <p:sp>
        <p:nvSpPr>
          <p:cNvPr id="13" name="楕円 12">
            <a:extLst>
              <a:ext uri="{FF2B5EF4-FFF2-40B4-BE49-F238E27FC236}">
                <a16:creationId xmlns:a16="http://schemas.microsoft.com/office/drawing/2014/main" id="{E110B173-A69D-6883-44B4-B168A23E9635}"/>
              </a:ext>
            </a:extLst>
          </p:cNvPr>
          <p:cNvSpPr/>
          <p:nvPr/>
        </p:nvSpPr>
        <p:spPr>
          <a:xfrm>
            <a:off x="4506550" y="637465"/>
            <a:ext cx="458554" cy="25093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61B2BED8-C137-4838-3F57-63BE24E20B73}"/>
              </a:ext>
            </a:extLst>
          </p:cNvPr>
          <p:cNvSpPr txBox="1"/>
          <p:nvPr/>
        </p:nvSpPr>
        <p:spPr>
          <a:xfrm>
            <a:off x="4924874" y="634620"/>
            <a:ext cx="3914854" cy="246221"/>
          </a:xfrm>
          <a:prstGeom prst="rect">
            <a:avLst/>
          </a:prstGeom>
          <a:noFill/>
        </p:spPr>
        <p:txBody>
          <a:bodyPr wrap="none" rtlCol="0">
            <a:spAutoFit/>
          </a:bodyPr>
          <a:lstStyle/>
          <a:p>
            <a:r>
              <a:rPr kumimoji="1" lang="en-US" altLang="ja-JP" sz="1000">
                <a:latin typeface="BIZ UDPゴシック" panose="020B0400000000000000" pitchFamily="50" charset="-128"/>
                <a:ea typeface="BIZ UDPゴシック" panose="020B0400000000000000" pitchFamily="50" charset="-128"/>
              </a:rPr>
              <a:t>44</a:t>
            </a:r>
            <a:r>
              <a:rPr kumimoji="1" lang="ja-JP" altLang="en-US" sz="1000">
                <a:latin typeface="BIZ UDPゴシック" panose="020B0400000000000000" pitchFamily="50" charset="-128"/>
                <a:ea typeface="BIZ UDPゴシック" panose="020B0400000000000000" pitchFamily="50" charset="-128"/>
              </a:rPr>
              <a:t>期プロモ予算を必要とする新製品</a:t>
            </a:r>
            <a:r>
              <a:rPr kumimoji="1" lang="en-US" altLang="ja-JP" sz="1000">
                <a:latin typeface="BIZ UDPゴシック" panose="020B0400000000000000" pitchFamily="50" charset="-128"/>
                <a:ea typeface="BIZ UDPゴシック" panose="020B0400000000000000" pitchFamily="50" charset="-128"/>
              </a:rPr>
              <a:t>(</a:t>
            </a:r>
            <a:r>
              <a:rPr kumimoji="1" lang="ja-JP" altLang="en-US" sz="1000">
                <a:latin typeface="BIZ UDPゴシック" panose="020B0400000000000000" pitchFamily="50" charset="-128"/>
                <a:ea typeface="BIZ UDPゴシック" panose="020B0400000000000000" pitchFamily="50" charset="-128"/>
              </a:rPr>
              <a:t>丸の大きさが規模感と連動</a:t>
            </a:r>
            <a:r>
              <a:rPr kumimoji="1" lang="en-US" altLang="ja-JP" sz="1000">
                <a:latin typeface="BIZ UDPゴシック" panose="020B0400000000000000" pitchFamily="50" charset="-128"/>
                <a:ea typeface="BIZ UDPゴシック" panose="020B0400000000000000" pitchFamily="50" charset="-128"/>
              </a:rPr>
              <a:t>)</a:t>
            </a:r>
            <a:endParaRPr kumimoji="1" lang="ja-JP" altLang="en-US" sz="1000">
              <a:latin typeface="BIZ UDPゴシック" panose="020B0400000000000000" pitchFamily="50" charset="-128"/>
              <a:ea typeface="BIZ UDPゴシック" panose="020B0400000000000000" pitchFamily="50" charset="-128"/>
            </a:endParaRPr>
          </a:p>
        </p:txBody>
      </p:sp>
      <p:sp>
        <p:nvSpPr>
          <p:cNvPr id="48" name="矢印: 五方向 47">
            <a:extLst>
              <a:ext uri="{FF2B5EF4-FFF2-40B4-BE49-F238E27FC236}">
                <a16:creationId xmlns:a16="http://schemas.microsoft.com/office/drawing/2014/main" id="{456740C0-6A3E-91A5-1903-0672C2AE7C92}"/>
              </a:ext>
            </a:extLst>
          </p:cNvPr>
          <p:cNvSpPr/>
          <p:nvPr/>
        </p:nvSpPr>
        <p:spPr>
          <a:xfrm>
            <a:off x="6878464" y="3889710"/>
            <a:ext cx="5044269" cy="229906"/>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 16</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インチ　ブロックモジュール構造品</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(Pegatron)</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49" name="テキスト ボックス 48">
            <a:extLst>
              <a:ext uri="{FF2B5EF4-FFF2-40B4-BE49-F238E27FC236}">
                <a16:creationId xmlns:a16="http://schemas.microsoft.com/office/drawing/2014/main" id="{E4DC3BA4-011D-A3C9-CEA7-2CAEF0F030C3}"/>
              </a:ext>
            </a:extLst>
          </p:cNvPr>
          <p:cNvSpPr txBox="1"/>
          <p:nvPr/>
        </p:nvSpPr>
        <p:spPr>
          <a:xfrm>
            <a:off x="6998979" y="3657484"/>
            <a:ext cx="2401619"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実験的かつ先進的なアイコンとして採否検討</a:t>
            </a:r>
          </a:p>
        </p:txBody>
      </p:sp>
      <p:sp>
        <p:nvSpPr>
          <p:cNvPr id="52" name="矢印: 五方向 51">
            <a:extLst>
              <a:ext uri="{FF2B5EF4-FFF2-40B4-BE49-F238E27FC236}">
                <a16:creationId xmlns:a16="http://schemas.microsoft.com/office/drawing/2014/main" id="{F82C5A0B-1D59-DB35-D0CE-88DE3899F981}"/>
              </a:ext>
            </a:extLst>
          </p:cNvPr>
          <p:cNvSpPr/>
          <p:nvPr/>
        </p:nvSpPr>
        <p:spPr>
          <a:xfrm>
            <a:off x="6792597" y="4454515"/>
            <a:ext cx="5130137" cy="223029"/>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 2</a:t>
            </a:r>
            <a:r>
              <a:rPr lang="ja-JP" altLang="en-US" sz="1000" b="1">
                <a:solidFill>
                  <a:srgbClr val="C00000"/>
                </a:solidFill>
                <a:latin typeface="メイリオ" panose="020B0604030504040204" pitchFamily="50" charset="-128"/>
                <a:ea typeface="メイリオ" panose="020B0604030504040204" pitchFamily="50" charset="-128"/>
              </a:rPr>
              <a:t> </a:t>
            </a:r>
            <a:r>
              <a:rPr lang="en-US" altLang="ja-JP" sz="1000" b="1">
                <a:solidFill>
                  <a:srgbClr val="C00000"/>
                </a:solidFill>
                <a:latin typeface="メイリオ" panose="020B0604030504040204" pitchFamily="50" charset="-128"/>
                <a:ea typeface="メイリオ" panose="020B0604030504040204" pitchFamily="50" charset="-128"/>
              </a:rPr>
              <a:t>in</a:t>
            </a:r>
            <a:r>
              <a:rPr lang="ja-JP" altLang="en-US" sz="1000" b="1">
                <a:solidFill>
                  <a:srgbClr val="C00000"/>
                </a:solidFill>
                <a:latin typeface="メイリオ" panose="020B0604030504040204" pitchFamily="50" charset="-128"/>
                <a:ea typeface="メイリオ" panose="020B0604030504040204" pitchFamily="50" charset="-128"/>
              </a:rPr>
              <a:t> </a:t>
            </a:r>
            <a:r>
              <a:rPr lang="en-US" altLang="ja-JP" sz="1000" b="1">
                <a:solidFill>
                  <a:srgbClr val="C00000"/>
                </a:solidFill>
                <a:latin typeface="メイリオ" panose="020B0604030504040204" pitchFamily="50" charset="-128"/>
                <a:ea typeface="メイリオ" panose="020B0604030504040204" pitchFamily="50" charset="-128"/>
              </a:rPr>
              <a:t>1</a:t>
            </a:r>
            <a:r>
              <a:rPr lang="ja-JP" altLang="en-US" sz="1000" b="1">
                <a:solidFill>
                  <a:srgbClr val="C00000"/>
                </a:solidFill>
                <a:latin typeface="メイリオ" panose="020B0604030504040204" pitchFamily="50" charset="-128"/>
                <a:ea typeface="メイリオ" panose="020B0604030504040204" pitchFamily="50" charset="-128"/>
              </a:rPr>
              <a:t> </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Notebook</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　</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53" name="テキスト ボックス 52">
            <a:extLst>
              <a:ext uri="{FF2B5EF4-FFF2-40B4-BE49-F238E27FC236}">
                <a16:creationId xmlns:a16="http://schemas.microsoft.com/office/drawing/2014/main" id="{B8BE24BA-7E7A-770F-5462-498D6C59302C}"/>
              </a:ext>
            </a:extLst>
          </p:cNvPr>
          <p:cNvSpPr txBox="1"/>
          <p:nvPr/>
        </p:nvSpPr>
        <p:spPr>
          <a:xfrm>
            <a:off x="8513055" y="4446419"/>
            <a:ext cx="2612160" cy="230832"/>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a:solidFill>
                  <a:prstClr val="black"/>
                </a:solidFill>
                <a:latin typeface="BIZ UDPゴシック" panose="020B0400000000000000" pitchFamily="50" charset="-128"/>
                <a:ea typeface="BIZ UDPゴシック" panose="020B0400000000000000" pitchFamily="50" charset="-128"/>
              </a:rPr>
              <a:t>用途、価格、性能要件など整理し実現可能性調査</a:t>
            </a:r>
            <a:endParaRPr lang="en-US" altLang="ja-JP" sz="900">
              <a:solidFill>
                <a:prstClr val="black"/>
              </a:solidFill>
              <a:latin typeface="BIZ UDPゴシック" panose="020B0400000000000000" pitchFamily="50" charset="-128"/>
              <a:ea typeface="BIZ UDPゴシック" panose="020B0400000000000000" pitchFamily="50" charset="-128"/>
            </a:endParaRPr>
          </a:p>
        </p:txBody>
      </p:sp>
      <p:sp>
        <p:nvSpPr>
          <p:cNvPr id="61" name="テキスト ボックス 60">
            <a:extLst>
              <a:ext uri="{FF2B5EF4-FFF2-40B4-BE49-F238E27FC236}">
                <a16:creationId xmlns:a16="http://schemas.microsoft.com/office/drawing/2014/main" id="{6D2477E1-26EB-7088-93C2-84C976C7BF84}"/>
              </a:ext>
            </a:extLst>
          </p:cNvPr>
          <p:cNvSpPr txBox="1"/>
          <p:nvPr/>
        </p:nvSpPr>
        <p:spPr>
          <a:xfrm>
            <a:off x="386148" y="3210374"/>
            <a:ext cx="189032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ノートチャレンジ枠</a:t>
            </a:r>
            <a:endPar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62" name="矢印: 五方向 61">
            <a:extLst>
              <a:ext uri="{FF2B5EF4-FFF2-40B4-BE49-F238E27FC236}">
                <a16:creationId xmlns:a16="http://schemas.microsoft.com/office/drawing/2014/main" id="{A6C8F16D-BD59-9F7F-0A6A-0AA3F7A4133F}"/>
              </a:ext>
            </a:extLst>
          </p:cNvPr>
          <p:cNvSpPr/>
          <p:nvPr/>
        </p:nvSpPr>
        <p:spPr>
          <a:xfrm>
            <a:off x="6894999" y="1916036"/>
            <a:ext cx="5044269" cy="229906"/>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ミニ</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PC</a:t>
            </a:r>
          </a:p>
        </p:txBody>
      </p:sp>
    </p:spTree>
    <p:extLst>
      <p:ext uri="{BB962C8B-B14F-4D97-AF65-F5344CB8AC3E}">
        <p14:creationId xmlns:p14="http://schemas.microsoft.com/office/powerpoint/2010/main" val="1771199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a:extLst>
              <a:ext uri="{FF2B5EF4-FFF2-40B4-BE49-F238E27FC236}">
                <a16:creationId xmlns:a16="http://schemas.microsoft.com/office/drawing/2014/main" id="{B398039D-E114-9276-A76E-E9528A350E3C}"/>
              </a:ext>
            </a:extLst>
          </p:cNvPr>
          <p:cNvGraphicFramePr>
            <a:graphicFrameLocks noChangeAspect="1"/>
          </p:cNvGraphicFramePr>
          <p:nvPr/>
        </p:nvGraphicFramePr>
        <p:xfrm>
          <a:off x="173852" y="1305560"/>
          <a:ext cx="11844295" cy="2514600"/>
        </p:xfrm>
        <a:graphic>
          <a:graphicData uri="http://schemas.openxmlformats.org/presentationml/2006/ole">
            <mc:AlternateContent xmlns:mc="http://schemas.openxmlformats.org/markup-compatibility/2006">
              <mc:Choice xmlns:v="urn:schemas-microsoft-com:vml" Requires="v">
                <p:oleObj name="Worksheet" r:id="rId2" imgW="15133533" imgH="3208055" progId="Excel.Sheet.12">
                  <p:embed/>
                </p:oleObj>
              </mc:Choice>
              <mc:Fallback>
                <p:oleObj name="Worksheet" r:id="rId2" imgW="15133533" imgH="3208055" progId="Excel.Sheet.12">
                  <p:embed/>
                  <p:pic>
                    <p:nvPicPr>
                      <p:cNvPr id="4" name="オブジェクト 3">
                        <a:extLst>
                          <a:ext uri="{FF2B5EF4-FFF2-40B4-BE49-F238E27FC236}">
                            <a16:creationId xmlns:a16="http://schemas.microsoft.com/office/drawing/2014/main" id="{B398039D-E114-9276-A76E-E9528A350E3C}"/>
                          </a:ext>
                        </a:extLst>
                      </p:cNvPr>
                      <p:cNvPicPr/>
                      <p:nvPr/>
                    </p:nvPicPr>
                    <p:blipFill>
                      <a:blip r:embed="rId3"/>
                      <a:stretch>
                        <a:fillRect/>
                      </a:stretch>
                    </p:blipFill>
                    <p:spPr>
                      <a:xfrm>
                        <a:off x="173852" y="1305560"/>
                        <a:ext cx="11844295" cy="2514600"/>
                      </a:xfrm>
                      <a:prstGeom prst="rect">
                        <a:avLst/>
                      </a:prstGeom>
                    </p:spPr>
                  </p:pic>
                </p:oleObj>
              </mc:Fallback>
            </mc:AlternateContent>
          </a:graphicData>
        </a:graphic>
      </p:graphicFrame>
      <p:sp>
        <p:nvSpPr>
          <p:cNvPr id="6" name="テキスト ボックス 5">
            <a:extLst>
              <a:ext uri="{FF2B5EF4-FFF2-40B4-BE49-F238E27FC236}">
                <a16:creationId xmlns:a16="http://schemas.microsoft.com/office/drawing/2014/main" id="{5C72AFAD-0843-3BEB-4F6C-118C81E0EB82}"/>
              </a:ext>
            </a:extLst>
          </p:cNvPr>
          <p:cNvSpPr txBox="1"/>
          <p:nvPr/>
        </p:nvSpPr>
        <p:spPr>
          <a:xfrm>
            <a:off x="2158385" y="558641"/>
            <a:ext cx="6096000" cy="369332"/>
          </a:xfrm>
          <a:prstGeom prst="rect">
            <a:avLst/>
          </a:prstGeom>
          <a:noFill/>
        </p:spPr>
        <p:txBody>
          <a:bodyPr wrap="square">
            <a:spAutoFit/>
          </a:bodyPr>
          <a:lstStyle/>
          <a:p>
            <a:r>
              <a:rPr lang="ja-JP" altLang="en-US">
                <a:hlinkClick r:id="rId4"/>
              </a:rPr>
              <a:t>ロードマップ会議後</a:t>
            </a:r>
            <a:r>
              <a:rPr lang="en-US" altLang="ja-JP" err="1">
                <a:hlinkClick r:id="rId4"/>
              </a:rPr>
              <a:t>ToDo</a:t>
            </a:r>
            <a:r>
              <a:rPr lang="ja-JP" altLang="en-US">
                <a:hlinkClick r:id="rId4"/>
              </a:rPr>
              <a:t>のみ切り出し</a:t>
            </a:r>
            <a:r>
              <a:rPr lang="en-US" altLang="ja-JP">
                <a:hlinkClick r:id="rId4"/>
              </a:rPr>
              <a:t>.xlsx</a:t>
            </a:r>
            <a:endParaRPr lang="ja-JP" altLang="en-US"/>
          </a:p>
        </p:txBody>
      </p:sp>
      <p:sp>
        <p:nvSpPr>
          <p:cNvPr id="7" name="正方形/長方形 6">
            <a:extLst>
              <a:ext uri="{FF2B5EF4-FFF2-40B4-BE49-F238E27FC236}">
                <a16:creationId xmlns:a16="http://schemas.microsoft.com/office/drawing/2014/main" id="{FB5EB729-A9E9-6046-A7DB-7903F9326E07}"/>
              </a:ext>
            </a:extLst>
          </p:cNvPr>
          <p:cNvSpPr/>
          <p:nvPr/>
        </p:nvSpPr>
        <p:spPr>
          <a:xfrm>
            <a:off x="173851" y="2390140"/>
            <a:ext cx="11844295" cy="170180"/>
          </a:xfrm>
          <a:prstGeom prst="rect">
            <a:avLst/>
          </a:prstGeom>
          <a:solidFill>
            <a:schemeClr val="bg1">
              <a:lumMod val="75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9024B8F8-E529-16A2-88E6-4C73F58A9567}"/>
              </a:ext>
            </a:extLst>
          </p:cNvPr>
          <p:cNvSpPr/>
          <p:nvPr/>
        </p:nvSpPr>
        <p:spPr>
          <a:xfrm>
            <a:off x="173851" y="2924810"/>
            <a:ext cx="11844295" cy="895350"/>
          </a:xfrm>
          <a:prstGeom prst="rect">
            <a:avLst/>
          </a:prstGeom>
          <a:solidFill>
            <a:schemeClr val="bg1">
              <a:lumMod val="75000"/>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C4AA67DE-703C-3721-81C3-D1B2566E4AEB}"/>
              </a:ext>
            </a:extLst>
          </p:cNvPr>
          <p:cNvSpPr txBox="1"/>
          <p:nvPr/>
        </p:nvSpPr>
        <p:spPr>
          <a:xfrm>
            <a:off x="173851" y="4184650"/>
            <a:ext cx="5168403" cy="369332"/>
          </a:xfrm>
          <a:prstGeom prst="rect">
            <a:avLst/>
          </a:prstGeom>
          <a:noFill/>
        </p:spPr>
        <p:txBody>
          <a:bodyPr wrap="none" rtlCol="0">
            <a:spAutoFit/>
          </a:bodyPr>
          <a:lstStyle/>
          <a:p>
            <a:r>
              <a:rPr kumimoji="1" lang="ja-JP" altLang="en-US"/>
              <a:t>白背景部分</a:t>
            </a:r>
            <a:r>
              <a:rPr lang="ja-JP" altLang="en-US"/>
              <a:t>は</a:t>
            </a:r>
            <a:r>
              <a:rPr kumimoji="1" lang="en-US" altLang="ja-JP"/>
              <a:t>TW Notebook </a:t>
            </a:r>
            <a:r>
              <a:rPr kumimoji="1" lang="ja-JP" altLang="en-US"/>
              <a:t>ロードマップへ反映</a:t>
            </a:r>
          </a:p>
        </p:txBody>
      </p:sp>
      <p:sp>
        <p:nvSpPr>
          <p:cNvPr id="11" name="テキスト ボックス 10">
            <a:extLst>
              <a:ext uri="{FF2B5EF4-FFF2-40B4-BE49-F238E27FC236}">
                <a16:creationId xmlns:a16="http://schemas.microsoft.com/office/drawing/2014/main" id="{0DDC5807-7EF7-6F68-0A7D-980D6D5EFD19}"/>
              </a:ext>
            </a:extLst>
          </p:cNvPr>
          <p:cNvSpPr txBox="1"/>
          <p:nvPr/>
        </p:nvSpPr>
        <p:spPr>
          <a:xfrm>
            <a:off x="261712" y="578604"/>
            <a:ext cx="1896673" cy="369332"/>
          </a:xfrm>
          <a:prstGeom prst="rect">
            <a:avLst/>
          </a:prstGeom>
          <a:noFill/>
        </p:spPr>
        <p:txBody>
          <a:bodyPr wrap="none" rtlCol="0">
            <a:spAutoFit/>
          </a:bodyPr>
          <a:lstStyle/>
          <a:p>
            <a:r>
              <a:rPr kumimoji="1" lang="en-US" altLang="ja-JP"/>
              <a:t>2026/06/19</a:t>
            </a:r>
            <a:r>
              <a:rPr kumimoji="1" lang="ja-JP" altLang="en-US"/>
              <a:t>実施</a:t>
            </a:r>
          </a:p>
        </p:txBody>
      </p:sp>
    </p:spTree>
    <p:extLst>
      <p:ext uri="{BB962C8B-B14F-4D97-AF65-F5344CB8AC3E}">
        <p14:creationId xmlns:p14="http://schemas.microsoft.com/office/powerpoint/2010/main" val="3621322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486F7DA-FD4B-080C-4D40-D65C75D83E65}"/>
              </a:ext>
            </a:extLst>
          </p:cNvPr>
          <p:cNvSpPr txBox="1"/>
          <p:nvPr/>
        </p:nvSpPr>
        <p:spPr>
          <a:xfrm>
            <a:off x="854242" y="589546"/>
            <a:ext cx="1973617" cy="369332"/>
          </a:xfrm>
          <a:prstGeom prst="rect">
            <a:avLst/>
          </a:prstGeom>
          <a:noFill/>
        </p:spPr>
        <p:txBody>
          <a:bodyPr wrap="none" rtlCol="0">
            <a:spAutoFit/>
          </a:bodyPr>
          <a:lstStyle/>
          <a:p>
            <a:r>
              <a:rPr kumimoji="1" lang="en-US" altLang="ja-JP" b="1"/>
              <a:t>17.0” Notebook </a:t>
            </a:r>
          </a:p>
        </p:txBody>
      </p:sp>
      <p:sp>
        <p:nvSpPr>
          <p:cNvPr id="3" name="テキスト ボックス 2">
            <a:extLst>
              <a:ext uri="{FF2B5EF4-FFF2-40B4-BE49-F238E27FC236}">
                <a16:creationId xmlns:a16="http://schemas.microsoft.com/office/drawing/2014/main" id="{243E8864-04EB-8FB5-06CF-FAF82CF3B7D9}"/>
              </a:ext>
            </a:extLst>
          </p:cNvPr>
          <p:cNvSpPr txBox="1"/>
          <p:nvPr/>
        </p:nvSpPr>
        <p:spPr>
          <a:xfrm>
            <a:off x="854242" y="998619"/>
            <a:ext cx="4314001" cy="369332"/>
          </a:xfrm>
          <a:prstGeom prst="rect">
            <a:avLst/>
          </a:prstGeom>
          <a:noFill/>
        </p:spPr>
        <p:txBody>
          <a:bodyPr wrap="none" rtlCol="0">
            <a:spAutoFit/>
          </a:bodyPr>
          <a:lstStyle/>
          <a:p>
            <a:r>
              <a:rPr kumimoji="1" lang="ja-JP" altLang="en-US"/>
              <a:t>現行製品：</a:t>
            </a:r>
            <a:r>
              <a:rPr kumimoji="1" lang="en-US" altLang="ja-JP"/>
              <a:t>DX-17RP7A</a:t>
            </a:r>
            <a:r>
              <a:rPr lang="ja-JP" altLang="en-US"/>
              <a:t> </a:t>
            </a:r>
            <a:r>
              <a:rPr lang="en-US" altLang="ja-JP"/>
              <a:t>(CLEVO NP75)</a:t>
            </a:r>
            <a:r>
              <a:rPr lang="ja-JP" altLang="en-US"/>
              <a:t> </a:t>
            </a:r>
            <a:endParaRPr kumimoji="1" lang="ja-JP" altLang="en-US"/>
          </a:p>
        </p:txBody>
      </p:sp>
      <p:sp>
        <p:nvSpPr>
          <p:cNvPr id="4" name="テキスト ボックス 3">
            <a:extLst>
              <a:ext uri="{FF2B5EF4-FFF2-40B4-BE49-F238E27FC236}">
                <a16:creationId xmlns:a16="http://schemas.microsoft.com/office/drawing/2014/main" id="{D989F1E2-7E63-A7CF-E31B-8B20B1200293}"/>
              </a:ext>
            </a:extLst>
          </p:cNvPr>
          <p:cNvSpPr txBox="1"/>
          <p:nvPr/>
        </p:nvSpPr>
        <p:spPr>
          <a:xfrm>
            <a:off x="854242" y="1364305"/>
            <a:ext cx="3130985" cy="369332"/>
          </a:xfrm>
          <a:prstGeom prst="rect">
            <a:avLst/>
          </a:prstGeom>
          <a:noFill/>
        </p:spPr>
        <p:txBody>
          <a:bodyPr wrap="none" rtlCol="0">
            <a:spAutoFit/>
          </a:bodyPr>
          <a:lstStyle/>
          <a:p>
            <a:r>
              <a:rPr kumimoji="1" lang="ja-JP" altLang="en-US"/>
              <a:t>後継候補：</a:t>
            </a:r>
            <a:r>
              <a:rPr lang="en-US" altLang="ja-JP"/>
              <a:t>CLEVO V770xU</a:t>
            </a:r>
            <a:r>
              <a:rPr lang="ja-JP" altLang="en-US"/>
              <a:t> </a:t>
            </a:r>
            <a:endParaRPr kumimoji="1" lang="ja-JP" altLang="en-US"/>
          </a:p>
        </p:txBody>
      </p:sp>
      <p:sp>
        <p:nvSpPr>
          <p:cNvPr id="7" name="テキスト ボックス 6">
            <a:extLst>
              <a:ext uri="{FF2B5EF4-FFF2-40B4-BE49-F238E27FC236}">
                <a16:creationId xmlns:a16="http://schemas.microsoft.com/office/drawing/2014/main" id="{227DF915-BBA4-3EDA-F44A-BA0FC312D59A}"/>
              </a:ext>
            </a:extLst>
          </p:cNvPr>
          <p:cNvSpPr txBox="1"/>
          <p:nvPr/>
        </p:nvSpPr>
        <p:spPr>
          <a:xfrm>
            <a:off x="854241" y="1733637"/>
            <a:ext cx="3913251" cy="369332"/>
          </a:xfrm>
          <a:prstGeom prst="rect">
            <a:avLst/>
          </a:prstGeom>
          <a:noFill/>
        </p:spPr>
        <p:txBody>
          <a:bodyPr wrap="none" rtlCol="0">
            <a:spAutoFit/>
          </a:bodyPr>
          <a:lstStyle/>
          <a:p>
            <a:r>
              <a:rPr kumimoji="1" lang="ja-JP" altLang="en-US"/>
              <a:t>価格と</a:t>
            </a:r>
            <a:r>
              <a:rPr kumimoji="1" lang="en-US" altLang="ja-JP"/>
              <a:t>MOQ</a:t>
            </a:r>
            <a:r>
              <a:rPr kumimoji="1" lang="ja-JP" altLang="en-US"/>
              <a:t>折り合わず</a:t>
            </a:r>
            <a:r>
              <a:rPr kumimoji="1" lang="en-US" altLang="ja-JP"/>
              <a:t>(</a:t>
            </a:r>
            <a:r>
              <a:rPr kumimoji="1" lang="ja-JP" altLang="en-US"/>
              <a:t>別資料参照</a:t>
            </a:r>
            <a:r>
              <a:rPr kumimoji="1" lang="en-US" altLang="ja-JP"/>
              <a:t>)</a:t>
            </a:r>
            <a:endParaRPr kumimoji="1" lang="ja-JP" altLang="en-US"/>
          </a:p>
        </p:txBody>
      </p:sp>
      <p:sp>
        <p:nvSpPr>
          <p:cNvPr id="8" name="テキスト ボックス 7">
            <a:extLst>
              <a:ext uri="{FF2B5EF4-FFF2-40B4-BE49-F238E27FC236}">
                <a16:creationId xmlns:a16="http://schemas.microsoft.com/office/drawing/2014/main" id="{1F8AEA40-7502-9BCC-3D50-B65B28FA8138}"/>
              </a:ext>
            </a:extLst>
          </p:cNvPr>
          <p:cNvSpPr txBox="1"/>
          <p:nvPr/>
        </p:nvSpPr>
        <p:spPr>
          <a:xfrm>
            <a:off x="846226" y="2428364"/>
            <a:ext cx="3291286" cy="369332"/>
          </a:xfrm>
          <a:prstGeom prst="rect">
            <a:avLst/>
          </a:prstGeom>
          <a:noFill/>
        </p:spPr>
        <p:txBody>
          <a:bodyPr wrap="none" rtlCol="0">
            <a:spAutoFit/>
          </a:bodyPr>
          <a:lstStyle/>
          <a:p>
            <a:r>
              <a:rPr kumimoji="1" lang="en-US" altLang="ja-JP" b="1"/>
              <a:t>14.0” around 1kg Notebook </a:t>
            </a:r>
          </a:p>
        </p:txBody>
      </p:sp>
      <p:sp>
        <p:nvSpPr>
          <p:cNvPr id="9" name="テキスト ボックス 8">
            <a:extLst>
              <a:ext uri="{FF2B5EF4-FFF2-40B4-BE49-F238E27FC236}">
                <a16:creationId xmlns:a16="http://schemas.microsoft.com/office/drawing/2014/main" id="{A45DD87E-5754-8607-0218-EB844347B293}"/>
              </a:ext>
            </a:extLst>
          </p:cNvPr>
          <p:cNvSpPr txBox="1"/>
          <p:nvPr/>
        </p:nvSpPr>
        <p:spPr>
          <a:xfrm>
            <a:off x="854242" y="2978716"/>
            <a:ext cx="4063933" cy="369332"/>
          </a:xfrm>
          <a:prstGeom prst="rect">
            <a:avLst/>
          </a:prstGeom>
          <a:noFill/>
        </p:spPr>
        <p:txBody>
          <a:bodyPr wrap="none" rtlCol="0">
            <a:spAutoFit/>
          </a:bodyPr>
          <a:lstStyle/>
          <a:p>
            <a:r>
              <a:rPr kumimoji="1" lang="ja-JP" altLang="en-US"/>
              <a:t>過去製品：</a:t>
            </a:r>
            <a:r>
              <a:rPr kumimoji="1" lang="en-US" altLang="ja-JP"/>
              <a:t>F-14RPL</a:t>
            </a:r>
            <a:r>
              <a:rPr lang="ja-JP" altLang="en-US"/>
              <a:t> </a:t>
            </a:r>
            <a:r>
              <a:rPr lang="en-US" altLang="ja-JP"/>
              <a:t>(CLEVO L141)</a:t>
            </a:r>
            <a:r>
              <a:rPr lang="ja-JP" altLang="en-US"/>
              <a:t> </a:t>
            </a:r>
            <a:endParaRPr kumimoji="1" lang="ja-JP" altLang="en-US"/>
          </a:p>
        </p:txBody>
      </p:sp>
      <p:sp>
        <p:nvSpPr>
          <p:cNvPr id="10" name="テキスト ボックス 9">
            <a:extLst>
              <a:ext uri="{FF2B5EF4-FFF2-40B4-BE49-F238E27FC236}">
                <a16:creationId xmlns:a16="http://schemas.microsoft.com/office/drawing/2014/main" id="{AC008C61-835F-5B7D-D1BB-E3C7AD3B76C0}"/>
              </a:ext>
            </a:extLst>
          </p:cNvPr>
          <p:cNvSpPr txBox="1"/>
          <p:nvPr/>
        </p:nvSpPr>
        <p:spPr>
          <a:xfrm>
            <a:off x="854242" y="3344402"/>
            <a:ext cx="6875600" cy="1200329"/>
          </a:xfrm>
          <a:prstGeom prst="rect">
            <a:avLst/>
          </a:prstGeom>
          <a:noFill/>
        </p:spPr>
        <p:txBody>
          <a:bodyPr wrap="none" rtlCol="0">
            <a:spAutoFit/>
          </a:bodyPr>
          <a:lstStyle/>
          <a:p>
            <a:r>
              <a:rPr kumimoji="1" lang="ja-JP" altLang="en-US"/>
              <a:t>後継候補：</a:t>
            </a:r>
            <a:r>
              <a:rPr lang="en-US" altLang="ja-JP"/>
              <a:t>CLEVO L245TU (</a:t>
            </a:r>
            <a:r>
              <a:rPr lang="ja-JP" altLang="en-US"/>
              <a:t>現実解だが採用困難</a:t>
            </a:r>
            <a:r>
              <a:rPr lang="en-US" altLang="ja-JP"/>
              <a:t>?)</a:t>
            </a:r>
            <a:br>
              <a:rPr lang="en-US" altLang="ja-JP"/>
            </a:br>
            <a:r>
              <a:rPr lang="ja-JP" altLang="en-US"/>
              <a:t>　　　　　</a:t>
            </a:r>
            <a:r>
              <a:rPr lang="en-US" altLang="ja-JP" err="1"/>
              <a:t>Weibu</a:t>
            </a:r>
            <a:r>
              <a:rPr lang="en-US" altLang="ja-JP"/>
              <a:t> W Series</a:t>
            </a:r>
            <a:r>
              <a:rPr lang="ja-JP" altLang="en-US"/>
              <a:t> </a:t>
            </a:r>
            <a:r>
              <a:rPr lang="en-US" altLang="ja-JP"/>
              <a:t>(</a:t>
            </a:r>
            <a:r>
              <a:rPr lang="ja-JP" altLang="en-US"/>
              <a:t>最軽量だが形状がリスキー</a:t>
            </a:r>
            <a:r>
              <a:rPr lang="en-US" altLang="ja-JP"/>
              <a:t>)</a:t>
            </a:r>
          </a:p>
          <a:p>
            <a:r>
              <a:rPr lang="ja-JP" altLang="en-US"/>
              <a:t>　　　　　</a:t>
            </a:r>
            <a:r>
              <a:rPr lang="en-US" altLang="ja-JP" err="1"/>
              <a:t>Uniwill</a:t>
            </a:r>
            <a:r>
              <a:rPr lang="en-US" altLang="ja-JP"/>
              <a:t> IDD</a:t>
            </a:r>
            <a:r>
              <a:rPr lang="ja-JP" altLang="en-US"/>
              <a:t> </a:t>
            </a:r>
            <a:r>
              <a:rPr lang="en-US" altLang="ja-JP"/>
              <a:t>(</a:t>
            </a:r>
            <a:r>
              <a:rPr lang="ja-JP" altLang="en-US"/>
              <a:t>軽さ不足</a:t>
            </a:r>
            <a:r>
              <a:rPr lang="en-US" altLang="ja-JP"/>
              <a:t>)</a:t>
            </a:r>
            <a:r>
              <a:rPr lang="ja-JP" altLang="en-US"/>
              <a:t> </a:t>
            </a:r>
            <a:endParaRPr lang="en-US" altLang="ja-JP"/>
          </a:p>
          <a:p>
            <a:r>
              <a:rPr kumimoji="1" lang="en-US" altLang="ja-JP"/>
              <a:t>                  Quanta NLKC (</a:t>
            </a:r>
            <a:r>
              <a:rPr kumimoji="1" lang="ja-JP" altLang="en-US"/>
              <a:t>軽さ不足、</a:t>
            </a:r>
            <a:r>
              <a:rPr kumimoji="1" lang="en-US" altLang="ja-JP"/>
              <a:t>KBD Tooling</a:t>
            </a:r>
            <a:r>
              <a:rPr kumimoji="1" lang="ja-JP" altLang="en-US"/>
              <a:t>コスト不安</a:t>
            </a:r>
            <a:r>
              <a:rPr kumimoji="1" lang="en-US" altLang="ja-JP"/>
              <a:t>)</a:t>
            </a:r>
            <a:endParaRPr kumimoji="1" lang="ja-JP" altLang="en-US"/>
          </a:p>
        </p:txBody>
      </p:sp>
      <p:pic>
        <p:nvPicPr>
          <p:cNvPr id="16" name="図 15">
            <a:extLst>
              <a:ext uri="{FF2B5EF4-FFF2-40B4-BE49-F238E27FC236}">
                <a16:creationId xmlns:a16="http://schemas.microsoft.com/office/drawing/2014/main" id="{C225145D-C121-F492-B815-2E1E2631CFA0}"/>
              </a:ext>
            </a:extLst>
          </p:cNvPr>
          <p:cNvPicPr>
            <a:picLocks noChangeAspect="1"/>
          </p:cNvPicPr>
          <p:nvPr/>
        </p:nvPicPr>
        <p:blipFill>
          <a:blip r:embed="rId2"/>
          <a:stretch>
            <a:fillRect/>
          </a:stretch>
        </p:blipFill>
        <p:spPr>
          <a:xfrm>
            <a:off x="3634253" y="4883750"/>
            <a:ext cx="3067980" cy="1729938"/>
          </a:xfrm>
          <a:prstGeom prst="rect">
            <a:avLst/>
          </a:prstGeom>
        </p:spPr>
      </p:pic>
      <p:pic>
        <p:nvPicPr>
          <p:cNvPr id="18" name="図 17">
            <a:extLst>
              <a:ext uri="{FF2B5EF4-FFF2-40B4-BE49-F238E27FC236}">
                <a16:creationId xmlns:a16="http://schemas.microsoft.com/office/drawing/2014/main" id="{47B5FDB9-9634-37C8-F7E0-1D01DD87C003}"/>
              </a:ext>
            </a:extLst>
          </p:cNvPr>
          <p:cNvPicPr>
            <a:picLocks noChangeAspect="1"/>
          </p:cNvPicPr>
          <p:nvPr/>
        </p:nvPicPr>
        <p:blipFill>
          <a:blip r:embed="rId3"/>
          <a:stretch>
            <a:fillRect/>
          </a:stretch>
        </p:blipFill>
        <p:spPr>
          <a:xfrm>
            <a:off x="401893" y="4883750"/>
            <a:ext cx="3063899" cy="1729938"/>
          </a:xfrm>
          <a:prstGeom prst="rect">
            <a:avLst/>
          </a:prstGeom>
        </p:spPr>
      </p:pic>
      <p:pic>
        <p:nvPicPr>
          <p:cNvPr id="12" name="図 11">
            <a:extLst>
              <a:ext uri="{FF2B5EF4-FFF2-40B4-BE49-F238E27FC236}">
                <a16:creationId xmlns:a16="http://schemas.microsoft.com/office/drawing/2014/main" id="{B4E72A12-8440-0874-9691-881DB5944D58}"/>
              </a:ext>
            </a:extLst>
          </p:cNvPr>
          <p:cNvPicPr>
            <a:picLocks noChangeAspect="1"/>
          </p:cNvPicPr>
          <p:nvPr/>
        </p:nvPicPr>
        <p:blipFill>
          <a:blip r:embed="rId4"/>
          <a:stretch>
            <a:fillRect/>
          </a:stretch>
        </p:blipFill>
        <p:spPr>
          <a:xfrm>
            <a:off x="8084355" y="2547757"/>
            <a:ext cx="3391416" cy="1912416"/>
          </a:xfrm>
          <a:prstGeom prst="rect">
            <a:avLst/>
          </a:prstGeom>
        </p:spPr>
      </p:pic>
      <p:pic>
        <p:nvPicPr>
          <p:cNvPr id="14" name="図 13">
            <a:extLst>
              <a:ext uri="{FF2B5EF4-FFF2-40B4-BE49-F238E27FC236}">
                <a16:creationId xmlns:a16="http://schemas.microsoft.com/office/drawing/2014/main" id="{83517DCE-2E13-88E9-F55B-D86B160F78BF}"/>
              </a:ext>
            </a:extLst>
          </p:cNvPr>
          <p:cNvPicPr>
            <a:picLocks noChangeAspect="1"/>
          </p:cNvPicPr>
          <p:nvPr/>
        </p:nvPicPr>
        <p:blipFill>
          <a:blip r:embed="rId5"/>
          <a:stretch>
            <a:fillRect/>
          </a:stretch>
        </p:blipFill>
        <p:spPr>
          <a:xfrm>
            <a:off x="8084355" y="4618877"/>
            <a:ext cx="3548609" cy="1994811"/>
          </a:xfrm>
          <a:prstGeom prst="rect">
            <a:avLst/>
          </a:prstGeom>
        </p:spPr>
      </p:pic>
      <p:pic>
        <p:nvPicPr>
          <p:cNvPr id="6" name="図 5">
            <a:extLst>
              <a:ext uri="{FF2B5EF4-FFF2-40B4-BE49-F238E27FC236}">
                <a16:creationId xmlns:a16="http://schemas.microsoft.com/office/drawing/2014/main" id="{592CE0E6-462C-00D6-A9AD-2D39A5C8EF9E}"/>
              </a:ext>
            </a:extLst>
          </p:cNvPr>
          <p:cNvPicPr>
            <a:picLocks noChangeAspect="1"/>
          </p:cNvPicPr>
          <p:nvPr/>
        </p:nvPicPr>
        <p:blipFill>
          <a:blip r:embed="rId6"/>
          <a:stretch>
            <a:fillRect/>
          </a:stretch>
        </p:blipFill>
        <p:spPr>
          <a:xfrm>
            <a:off x="8084355" y="310265"/>
            <a:ext cx="3736519" cy="2108079"/>
          </a:xfrm>
          <a:prstGeom prst="rect">
            <a:avLst/>
          </a:prstGeom>
        </p:spPr>
      </p:pic>
    </p:spTree>
    <p:extLst>
      <p:ext uri="{BB962C8B-B14F-4D97-AF65-F5344CB8AC3E}">
        <p14:creationId xmlns:p14="http://schemas.microsoft.com/office/powerpoint/2010/main" val="3619816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F35A78-2B00-09F4-4C3E-DADE81985799}"/>
              </a:ext>
            </a:extLst>
          </p:cNvPr>
          <p:cNvSpPr>
            <a:spLocks noGrp="1"/>
          </p:cNvSpPr>
          <p:nvPr>
            <p:ph type="title"/>
          </p:nvPr>
        </p:nvSpPr>
        <p:spPr>
          <a:xfrm>
            <a:off x="340659" y="178243"/>
            <a:ext cx="10515600" cy="576169"/>
          </a:xfrm>
        </p:spPr>
        <p:txBody>
          <a:bodyPr>
            <a:normAutofit/>
          </a:bodyPr>
          <a:lstStyle/>
          <a:p>
            <a:r>
              <a:rPr lang="en-US" altLang="ja-JP" sz="1800" b="1">
                <a:latin typeface="+mn-ea"/>
                <a:ea typeface="+mn-ea"/>
              </a:rPr>
              <a:t>2027</a:t>
            </a:r>
            <a:r>
              <a:rPr lang="ja-JP" altLang="en-US" sz="1800" b="1">
                <a:latin typeface="+mn-ea"/>
                <a:ea typeface="+mn-ea"/>
              </a:rPr>
              <a:t>年～</a:t>
            </a:r>
            <a:r>
              <a:rPr lang="en-US" altLang="ja-JP" sz="1800" b="1">
                <a:latin typeface="+mn-ea"/>
                <a:ea typeface="+mn-ea"/>
              </a:rPr>
              <a:t>2028</a:t>
            </a:r>
            <a:r>
              <a:rPr lang="ja-JP" altLang="en-US" sz="1800" b="1">
                <a:latin typeface="+mn-ea"/>
                <a:ea typeface="+mn-ea"/>
              </a:rPr>
              <a:t>年に必要と想定される新ラインおよび技術傾向</a:t>
            </a:r>
            <a:endParaRPr kumimoji="1" lang="ja-JP" altLang="en-US" sz="1800" b="1">
              <a:latin typeface="+mn-ea"/>
              <a:ea typeface="+mn-ea"/>
            </a:endParaRPr>
          </a:p>
        </p:txBody>
      </p:sp>
      <p:sp>
        <p:nvSpPr>
          <p:cNvPr id="3" name="コンテンツ プレースホルダー 2">
            <a:extLst>
              <a:ext uri="{FF2B5EF4-FFF2-40B4-BE49-F238E27FC236}">
                <a16:creationId xmlns:a16="http://schemas.microsoft.com/office/drawing/2014/main" id="{28168F7A-E540-1FB9-B2E0-95D95E4A904C}"/>
              </a:ext>
            </a:extLst>
          </p:cNvPr>
          <p:cNvSpPr>
            <a:spLocks noGrp="1"/>
          </p:cNvSpPr>
          <p:nvPr>
            <p:ph idx="1"/>
          </p:nvPr>
        </p:nvSpPr>
        <p:spPr>
          <a:xfrm>
            <a:off x="580464" y="983012"/>
            <a:ext cx="11185711" cy="5696745"/>
          </a:xfrm>
        </p:spPr>
        <p:txBody>
          <a:bodyPr>
            <a:normAutofit fontScale="70000" lnSpcReduction="20000"/>
          </a:bodyPr>
          <a:lstStyle/>
          <a:p>
            <a:pPr marL="0" indent="0">
              <a:buNone/>
            </a:pPr>
            <a:r>
              <a:rPr kumimoji="1" lang="en-US" altLang="ja-JP" b="1"/>
              <a:t>A)</a:t>
            </a:r>
            <a:r>
              <a:rPr kumimoji="1" lang="ja-JP" altLang="en-US" b="1"/>
              <a:t> 携帯性を重視した普及価格帯モデル</a:t>
            </a:r>
            <a:endParaRPr kumimoji="1" lang="en-US" altLang="ja-JP" b="1"/>
          </a:p>
          <a:p>
            <a:pPr marL="0" indent="0">
              <a:buNone/>
            </a:pPr>
            <a:r>
              <a:rPr lang="ja-JP" altLang="en-US"/>
              <a:t>　 </a:t>
            </a:r>
            <a:r>
              <a:rPr kumimoji="1" lang="en-US" altLang="ja-JP"/>
              <a:t>1kg</a:t>
            </a:r>
            <a:r>
              <a:rPr kumimoji="1" lang="ja-JP" altLang="en-US"/>
              <a:t>未満</a:t>
            </a:r>
            <a:r>
              <a:rPr lang="en-US" altLang="ja-JP"/>
              <a:t>/14”</a:t>
            </a:r>
            <a:r>
              <a:rPr lang="ja-JP" altLang="en-US"/>
              <a:t>以下</a:t>
            </a:r>
            <a:r>
              <a:rPr lang="en-US" altLang="ja-JP"/>
              <a:t>/ </a:t>
            </a:r>
            <a:r>
              <a:rPr lang="ja-JP" altLang="en-US"/>
              <a:t>実売価格</a:t>
            </a:r>
            <a:r>
              <a:rPr lang="en-US" altLang="ja-JP"/>
              <a:t>12</a:t>
            </a:r>
            <a:r>
              <a:rPr lang="ja-JP" altLang="en-US"/>
              <a:t>万円</a:t>
            </a:r>
            <a:r>
              <a:rPr lang="en-US" altLang="ja-JP"/>
              <a:t>~15</a:t>
            </a:r>
            <a:r>
              <a:rPr lang="ja-JP" altLang="en-US"/>
              <a:t>万円</a:t>
            </a:r>
            <a:r>
              <a:rPr lang="en-US" altLang="ja-JP"/>
              <a:t>(5/7</a:t>
            </a:r>
            <a:r>
              <a:rPr lang="ja-JP" altLang="en-US"/>
              <a:t>クラス</a:t>
            </a:r>
            <a:r>
              <a:rPr lang="en-US" altLang="ja-JP"/>
              <a:t>)</a:t>
            </a:r>
          </a:p>
          <a:p>
            <a:pPr marL="0" indent="0">
              <a:buNone/>
            </a:pPr>
            <a:br>
              <a:rPr lang="en-US" altLang="ja-JP"/>
            </a:br>
            <a:br>
              <a:rPr lang="en-US" altLang="ja-JP" b="1"/>
            </a:br>
            <a:r>
              <a:rPr lang="en-US" altLang="ja-JP" b="1"/>
              <a:t>B)</a:t>
            </a:r>
            <a:r>
              <a:rPr lang="ja-JP" altLang="en-US" b="1"/>
              <a:t> 長時間電池駆動するモデル</a:t>
            </a:r>
            <a:endParaRPr lang="en-US" altLang="ja-JP" b="1"/>
          </a:p>
          <a:p>
            <a:pPr marL="0" indent="0">
              <a:buNone/>
            </a:pPr>
            <a:r>
              <a:rPr lang="ja-JP" altLang="en-US"/>
              <a:t>　 </a:t>
            </a:r>
            <a:r>
              <a:rPr lang="en-US" altLang="ja-JP"/>
              <a:t>JEITA 3.0</a:t>
            </a:r>
            <a:r>
              <a:rPr lang="ja-JP" altLang="en-US"/>
              <a:t>準拠 </a:t>
            </a:r>
            <a:r>
              <a:rPr lang="en-US" altLang="ja-JP"/>
              <a:t>24</a:t>
            </a:r>
            <a:r>
              <a:rPr lang="ja-JP" altLang="en-US"/>
              <a:t>時間超</a:t>
            </a:r>
            <a:r>
              <a:rPr lang="en-US" altLang="ja-JP"/>
              <a:t>(</a:t>
            </a:r>
            <a:r>
              <a:rPr lang="ja-JP" altLang="en-US"/>
              <a:t>動画再生時</a:t>
            </a:r>
            <a:r>
              <a:rPr lang="en-US" altLang="ja-JP"/>
              <a:t>)</a:t>
            </a:r>
            <a:r>
              <a:rPr lang="ja-JP" altLang="en-US"/>
              <a:t>の実現</a:t>
            </a:r>
            <a:endParaRPr lang="en-US" altLang="ja-JP"/>
          </a:p>
          <a:p>
            <a:pPr marL="0" indent="0">
              <a:buNone/>
            </a:pPr>
            <a:r>
              <a:rPr lang="en-US" altLang="ja-JP"/>
              <a:t>     </a:t>
            </a:r>
            <a:r>
              <a:rPr lang="ja-JP" altLang="en-US"/>
              <a:t>クアルコム等</a:t>
            </a:r>
            <a:r>
              <a:rPr lang="en-US" altLang="ja-JP"/>
              <a:t>ARM</a:t>
            </a:r>
            <a:r>
              <a:rPr lang="ja-JP" altLang="en-US"/>
              <a:t>系プロセッサおよび</a:t>
            </a:r>
            <a:r>
              <a:rPr lang="en-US" altLang="ja-JP" err="1"/>
              <a:t>WoA</a:t>
            </a:r>
            <a:r>
              <a:rPr lang="en-US" altLang="ja-JP"/>
              <a:t>(Windows on ARM)</a:t>
            </a:r>
            <a:r>
              <a:rPr lang="ja-JP" altLang="en-US"/>
              <a:t>の採用 ⇒ </a:t>
            </a:r>
            <a:r>
              <a:rPr lang="en-US" altLang="ja-JP"/>
              <a:t>2028</a:t>
            </a:r>
            <a:r>
              <a:rPr lang="ja-JP" altLang="en-US"/>
              <a:t>年目標</a:t>
            </a:r>
            <a:endParaRPr lang="en-US" altLang="ja-JP"/>
          </a:p>
          <a:p>
            <a:pPr marL="0" indent="0">
              <a:buNone/>
            </a:pPr>
            <a:endParaRPr lang="en-US" altLang="ja-JP"/>
          </a:p>
          <a:p>
            <a:pPr marL="0" indent="0">
              <a:buNone/>
            </a:pPr>
            <a:r>
              <a:rPr lang="ja-JP" altLang="en-US" b="1"/>
              <a:t>① 循環型社会適応設計製品への移行</a:t>
            </a:r>
            <a:endParaRPr lang="en-US" altLang="ja-JP" b="1"/>
          </a:p>
          <a:p>
            <a:pPr marL="0" indent="0">
              <a:buNone/>
            </a:pPr>
            <a:r>
              <a:rPr lang="ja-JP" altLang="en-US"/>
              <a:t>　 モジュラー構造型本体設計 ⇒ </a:t>
            </a:r>
            <a:r>
              <a:rPr lang="en-US" altLang="ja-JP"/>
              <a:t>Pegatron Optimus M16P </a:t>
            </a:r>
            <a:r>
              <a:rPr lang="ja-JP" altLang="en-US"/>
              <a:t>を調査</a:t>
            </a:r>
            <a:endParaRPr lang="en-US" altLang="ja-JP"/>
          </a:p>
          <a:p>
            <a:pPr marL="0" indent="0">
              <a:buNone/>
            </a:pPr>
            <a:r>
              <a:rPr lang="ja-JP" altLang="en-US"/>
              <a:t>　 ユーザーによる脱着可能なバッテリー ⇒ </a:t>
            </a:r>
            <a:r>
              <a:rPr lang="en-US" altLang="ja-JP"/>
              <a:t>CLEVO</a:t>
            </a:r>
            <a:r>
              <a:rPr lang="ja-JP" altLang="en-US"/>
              <a:t>に採用可能なものないか？</a:t>
            </a:r>
            <a:endParaRPr lang="en-US" altLang="ja-JP"/>
          </a:p>
          <a:p>
            <a:pPr marL="0" indent="0">
              <a:buNone/>
            </a:pPr>
            <a:r>
              <a:rPr lang="ja-JP" altLang="en-US"/>
              <a:t>     キートップのみからも交換修理可能な</a:t>
            </a:r>
            <a:r>
              <a:rPr lang="en-US" altLang="ja-JP"/>
              <a:t>(</a:t>
            </a:r>
            <a:r>
              <a:rPr lang="ja-JP" altLang="en-US"/>
              <a:t>部品保有</a:t>
            </a:r>
            <a:r>
              <a:rPr lang="en-US" altLang="ja-JP"/>
              <a:t>)</a:t>
            </a:r>
            <a:r>
              <a:rPr lang="ja-JP" altLang="en-US"/>
              <a:t>保守体制（</a:t>
            </a:r>
            <a:r>
              <a:rPr lang="en-US" altLang="ja-JP"/>
              <a:t>Desktop</a:t>
            </a:r>
            <a:r>
              <a:rPr lang="ja-JP" altLang="en-US"/>
              <a:t>準拠、約款作成）</a:t>
            </a:r>
            <a:endParaRPr lang="en-US" altLang="ja-JP"/>
          </a:p>
          <a:p>
            <a:pPr marL="0" indent="0">
              <a:buNone/>
            </a:pPr>
            <a:endParaRPr lang="en-US" altLang="ja-JP"/>
          </a:p>
          <a:p>
            <a:pPr marL="0" indent="0">
              <a:buNone/>
            </a:pPr>
            <a:r>
              <a:rPr lang="ja-JP" altLang="en-US" b="1"/>
              <a:t>② 環境負荷低減製造、パッケージングの採用</a:t>
            </a:r>
            <a:endParaRPr lang="en-US" altLang="ja-JP" b="1"/>
          </a:p>
          <a:p>
            <a:pPr marL="0" indent="0">
              <a:buNone/>
            </a:pPr>
            <a:r>
              <a:rPr lang="ja-JP" altLang="en-US"/>
              <a:t>　 リサイクル素材を使用した外装、シャーシ</a:t>
            </a:r>
            <a:endParaRPr lang="en-US" altLang="ja-JP"/>
          </a:p>
          <a:p>
            <a:pPr marL="0" indent="0">
              <a:buNone/>
            </a:pPr>
            <a:r>
              <a:rPr lang="ja-JP" altLang="en-US"/>
              <a:t>　 内装、緩衝材に石油由来素材不使用、パッケージに再生紙利用</a:t>
            </a:r>
            <a:endParaRPr lang="en-US" altLang="ja-JP"/>
          </a:p>
          <a:p>
            <a:pPr marL="0" indent="0">
              <a:buNone/>
            </a:pPr>
            <a:r>
              <a:rPr lang="ja-JP" altLang="en-US"/>
              <a:t>　 グリーン購入法ほかエコ基準への適応　⇒   法人に限らず今後必要になると思われる</a:t>
            </a:r>
            <a:endParaRPr lang="en-US" altLang="ja-JP"/>
          </a:p>
        </p:txBody>
      </p:sp>
    </p:spTree>
    <p:extLst>
      <p:ext uri="{BB962C8B-B14F-4D97-AF65-F5344CB8AC3E}">
        <p14:creationId xmlns:p14="http://schemas.microsoft.com/office/powerpoint/2010/main" val="285584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0F2A9F3E-EF9E-053C-D357-658CF018B907}"/>
              </a:ext>
            </a:extLst>
          </p:cNvPr>
          <p:cNvSpPr txBox="1"/>
          <p:nvPr/>
        </p:nvSpPr>
        <p:spPr>
          <a:xfrm>
            <a:off x="663025" y="4936102"/>
            <a:ext cx="6093994" cy="1477328"/>
          </a:xfrm>
          <a:prstGeom prst="rect">
            <a:avLst/>
          </a:prstGeom>
          <a:noFill/>
        </p:spPr>
        <p:txBody>
          <a:bodyPr wrap="square">
            <a:spAutoFit/>
          </a:bodyPr>
          <a:lstStyle/>
          <a:p>
            <a:r>
              <a:rPr lang="ja-JP" altLang="en-US"/>
              <a:t>追加すべきページ</a:t>
            </a:r>
            <a:endParaRPr lang="en-US" altLang="ja-JP"/>
          </a:p>
          <a:p>
            <a:r>
              <a:rPr lang="ja-JP" altLang="en-US"/>
              <a:t>１．命名ルール ⇒ </a:t>
            </a:r>
            <a:r>
              <a:rPr lang="en-US" altLang="ja-JP"/>
              <a:t>Done</a:t>
            </a:r>
          </a:p>
          <a:p>
            <a:r>
              <a:rPr lang="ja-JP" altLang="en-US"/>
              <a:t>２．</a:t>
            </a:r>
            <a:r>
              <a:rPr lang="en-US" altLang="ja-JP"/>
              <a:t>U/H/A</a:t>
            </a:r>
            <a:r>
              <a:rPr lang="ja-JP" altLang="en-US"/>
              <a:t>の定義 ⇒ </a:t>
            </a:r>
            <a:r>
              <a:rPr lang="en-US" altLang="ja-JP"/>
              <a:t>Done</a:t>
            </a:r>
          </a:p>
          <a:p>
            <a:r>
              <a:rPr lang="ja-JP" altLang="en-US"/>
              <a:t>３．全体販売ボリュームとその配分などの項目 ⇒未</a:t>
            </a:r>
          </a:p>
          <a:p>
            <a:r>
              <a:rPr lang="en-US" altLang="ja-JP"/>
              <a:t>※   </a:t>
            </a:r>
            <a:r>
              <a:rPr lang="ja-JP" altLang="en-US"/>
              <a:t>ロードマップ記載型式は製品名に統一</a:t>
            </a:r>
          </a:p>
        </p:txBody>
      </p:sp>
    </p:spTree>
    <p:extLst>
      <p:ext uri="{BB962C8B-B14F-4D97-AF65-F5344CB8AC3E}">
        <p14:creationId xmlns:p14="http://schemas.microsoft.com/office/powerpoint/2010/main" val="733582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9295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FBBE4E2D-FC4D-D772-7A82-C11445ADDF1C}"/>
              </a:ext>
            </a:extLst>
          </p:cNvPr>
          <p:cNvSpPr txBox="1"/>
          <p:nvPr/>
        </p:nvSpPr>
        <p:spPr>
          <a:xfrm>
            <a:off x="185356" y="168493"/>
            <a:ext cx="4851008" cy="400110"/>
          </a:xfrm>
          <a:prstGeom prst="rect">
            <a:avLst/>
          </a:prstGeom>
          <a:noFill/>
        </p:spPr>
        <p:txBody>
          <a:bodyPr wrap="none" rtlCol="0">
            <a:spAutoFit/>
          </a:bodyPr>
          <a:lstStyle/>
          <a:p>
            <a:r>
              <a:rPr lang="ja-JP" altLang="en-US" sz="2000" u="sng">
                <a:latin typeface="BIZ UDPゴシック" panose="020B0400000000000000" pitchFamily="50" charset="-128"/>
                <a:ea typeface="BIZ UDPゴシック" panose="020B0400000000000000" pitchFamily="50" charset="-128"/>
              </a:rPr>
              <a:t>製品ラインナップ・マトリクス</a:t>
            </a:r>
            <a:r>
              <a:rPr lang="en-US" altLang="ja-JP" sz="2000" u="sng">
                <a:latin typeface="BIZ UDPゴシック" panose="020B0400000000000000" pitchFamily="50" charset="-128"/>
                <a:ea typeface="BIZ UDPゴシック" panose="020B0400000000000000" pitchFamily="50" charset="-128"/>
              </a:rPr>
              <a:t>(</a:t>
            </a:r>
            <a:r>
              <a:rPr lang="ja-JP" altLang="en-US" sz="2000" u="sng">
                <a:latin typeface="BIZ UDPゴシック" panose="020B0400000000000000" pitchFamily="50" charset="-128"/>
                <a:ea typeface="BIZ UDPゴシック" panose="020B0400000000000000" pitchFamily="50" charset="-128"/>
              </a:rPr>
              <a:t>含将来計画</a:t>
            </a:r>
            <a:r>
              <a:rPr lang="en-US" altLang="ja-JP" sz="2000" u="sng">
                <a:latin typeface="BIZ UDPゴシック" panose="020B0400000000000000" pitchFamily="50" charset="-128"/>
                <a:ea typeface="BIZ UDPゴシック" panose="020B0400000000000000" pitchFamily="50" charset="-128"/>
              </a:rPr>
              <a:t>)</a:t>
            </a:r>
          </a:p>
        </p:txBody>
      </p:sp>
      <p:sp>
        <p:nvSpPr>
          <p:cNvPr id="4" name="正方形/長方形 3">
            <a:extLst>
              <a:ext uri="{FF2B5EF4-FFF2-40B4-BE49-F238E27FC236}">
                <a16:creationId xmlns:a16="http://schemas.microsoft.com/office/drawing/2014/main" id="{B15E5196-103C-DAC8-816D-8E21954C569C}"/>
              </a:ext>
            </a:extLst>
          </p:cNvPr>
          <p:cNvSpPr/>
          <p:nvPr/>
        </p:nvSpPr>
        <p:spPr>
          <a:xfrm>
            <a:off x="893509" y="4130666"/>
            <a:ext cx="10493922" cy="1739062"/>
          </a:xfrm>
          <a:prstGeom prst="rect">
            <a:avLst/>
          </a:prstGeom>
          <a:solidFill>
            <a:srgbClr val="FFC000">
              <a:lumMod val="20000"/>
              <a:lumOff val="80000"/>
              <a:alpha val="31000"/>
            </a:srgbClr>
          </a:solidFill>
          <a:ln w="12700" cap="flat" cmpd="sng" algn="ctr">
            <a:solidFill>
              <a:srgbClr val="FFC000"/>
            </a:solidFill>
            <a:prstDash val="sysDash"/>
            <a:miter lim="800000"/>
          </a:ln>
          <a:effectLst/>
        </p:spPr>
        <p:txBody>
          <a:bodyPr rtlCol="0" anchor="b"/>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defRPr/>
            </a:pPr>
            <a:endParaRPr lang="en-US" altLang="ja-JP" sz="1200">
              <a:solidFill>
                <a:sysClr val="windowText" lastClr="000000"/>
              </a:solidFill>
              <a:latin typeface="Noto Sans JP"/>
              <a:ea typeface="Noto Sans JP"/>
            </a:endParaRPr>
          </a:p>
        </p:txBody>
      </p:sp>
      <p:pic>
        <p:nvPicPr>
          <p:cNvPr id="6" name="Picture 2" descr="TSUKUMO】G-GEAR、NVIDIA GeForce RTX 5060 Tiを搭載したゲーミングPCの新モデルを発売 -  【TSUKUMO（ツクモ）】プレスリリース">
            <a:extLst>
              <a:ext uri="{FF2B5EF4-FFF2-40B4-BE49-F238E27FC236}">
                <a16:creationId xmlns:a16="http://schemas.microsoft.com/office/drawing/2014/main" id="{E053CC2D-8E24-AB63-325C-6CAE3B01407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35668" y="672415"/>
            <a:ext cx="779300" cy="436408"/>
          </a:xfrm>
          <a:prstGeom prst="rect">
            <a:avLst/>
          </a:prstGeom>
          <a:noFill/>
          <a:extLst>
            <a:ext uri="{909E8E84-426E-40DD-AFC4-6F175D3DCCD1}">
              <a14:hiddenFill xmlns:a14="http://schemas.microsoft.com/office/drawing/2010/main">
                <a:solidFill>
                  <a:srgbClr val="FFFFFF"/>
                </a:solidFill>
              </a14:hiddenFill>
            </a:ext>
          </a:extLst>
        </p:spPr>
      </p:pic>
      <p:sp>
        <p:nvSpPr>
          <p:cNvPr id="7" name="正方形/長方形 6">
            <a:extLst>
              <a:ext uri="{FF2B5EF4-FFF2-40B4-BE49-F238E27FC236}">
                <a16:creationId xmlns:a16="http://schemas.microsoft.com/office/drawing/2014/main" id="{4FE1B7E5-CD4C-E104-AA4D-7285CCBBFBE1}"/>
              </a:ext>
            </a:extLst>
          </p:cNvPr>
          <p:cNvSpPr/>
          <p:nvPr/>
        </p:nvSpPr>
        <p:spPr>
          <a:xfrm>
            <a:off x="930001" y="2259210"/>
            <a:ext cx="10493922" cy="1739062"/>
          </a:xfrm>
          <a:prstGeom prst="rect">
            <a:avLst/>
          </a:prstGeom>
          <a:solidFill>
            <a:srgbClr val="70AD47">
              <a:lumMod val="20000"/>
              <a:lumOff val="80000"/>
              <a:alpha val="31000"/>
            </a:srgbClr>
          </a:solidFill>
          <a:ln w="12700" cap="flat" cmpd="sng" algn="ctr">
            <a:solidFill>
              <a:srgbClr val="00B050"/>
            </a:solidFill>
            <a:prstDash val="sysDash"/>
            <a:miter lim="800000"/>
          </a:ln>
          <a:effectLst/>
        </p:spPr>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endParaRPr lang="ja-JP" altLang="en-US" sz="1200">
              <a:solidFill>
                <a:sysClr val="windowText" lastClr="000000"/>
              </a:solidFill>
              <a:latin typeface="Noto Sans JP"/>
              <a:ea typeface="Noto Sans JP"/>
            </a:endParaRPr>
          </a:p>
        </p:txBody>
      </p:sp>
      <p:sp>
        <p:nvSpPr>
          <p:cNvPr id="8" name="正方形/長方形 7">
            <a:extLst>
              <a:ext uri="{FF2B5EF4-FFF2-40B4-BE49-F238E27FC236}">
                <a16:creationId xmlns:a16="http://schemas.microsoft.com/office/drawing/2014/main" id="{A1473ABB-9B39-848B-BB48-93A72CDF1355}"/>
              </a:ext>
            </a:extLst>
          </p:cNvPr>
          <p:cNvSpPr/>
          <p:nvPr/>
        </p:nvSpPr>
        <p:spPr>
          <a:xfrm>
            <a:off x="930001" y="1091159"/>
            <a:ext cx="10493922" cy="814725"/>
          </a:xfrm>
          <a:prstGeom prst="rect">
            <a:avLst/>
          </a:prstGeom>
          <a:solidFill>
            <a:srgbClr val="FF0000">
              <a:alpha val="22000"/>
            </a:srgbClr>
          </a:solidFill>
          <a:ln w="12700" cap="flat" cmpd="sng" algn="ctr">
            <a:solidFill>
              <a:srgbClr val="FF0000"/>
            </a:solidFill>
            <a:prstDash val="sysDash"/>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defRPr/>
            </a:pPr>
            <a:r>
              <a:rPr lang="en-US" altLang="ja-JP" sz="1200">
                <a:solidFill>
                  <a:schemeClr val="tx1"/>
                </a:solidFill>
                <a:latin typeface="Noto Sans JP"/>
                <a:ea typeface="Noto Sans JP"/>
              </a:rPr>
              <a:t> </a:t>
            </a:r>
            <a:r>
              <a:rPr lang="ja-JP" altLang="en-US" sz="1200">
                <a:solidFill>
                  <a:schemeClr val="tx1"/>
                </a:solidFill>
                <a:latin typeface="Noto Sans JP"/>
                <a:ea typeface="Noto Sans JP"/>
              </a:rPr>
              <a:t>“高性能 ＋ </a:t>
            </a:r>
            <a:r>
              <a:rPr lang="en-US" altLang="ja-JP" sz="1200" err="1">
                <a:solidFill>
                  <a:schemeClr val="tx1"/>
                </a:solidFill>
                <a:latin typeface="Noto Sans JP"/>
                <a:ea typeface="Noto Sans JP"/>
              </a:rPr>
              <a:t>dGPU</a:t>
            </a:r>
            <a:r>
              <a:rPr lang="ja-JP" altLang="en-US" sz="1200">
                <a:solidFill>
                  <a:schemeClr val="tx1"/>
                </a:solidFill>
                <a:latin typeface="Noto Sans JP"/>
                <a:ea typeface="Noto Sans JP"/>
              </a:rPr>
              <a:t>搭載</a:t>
            </a:r>
            <a:r>
              <a:rPr lang="en-US" altLang="ja-JP" sz="1200">
                <a:solidFill>
                  <a:schemeClr val="tx1"/>
                </a:solidFill>
                <a:latin typeface="Noto Sans JP"/>
                <a:ea typeface="Noto Sans JP"/>
              </a:rPr>
              <a:t>”</a:t>
            </a:r>
          </a:p>
        </p:txBody>
      </p:sp>
      <p:sp>
        <p:nvSpPr>
          <p:cNvPr id="9" name="正方形/長方形 8">
            <a:extLst>
              <a:ext uri="{FF2B5EF4-FFF2-40B4-BE49-F238E27FC236}">
                <a16:creationId xmlns:a16="http://schemas.microsoft.com/office/drawing/2014/main" id="{A4F01925-7B2C-BA53-DAA9-9CB9F2D6676E}"/>
              </a:ext>
            </a:extLst>
          </p:cNvPr>
          <p:cNvSpPr/>
          <p:nvPr/>
        </p:nvSpPr>
        <p:spPr>
          <a:xfrm>
            <a:off x="7436401" y="2776165"/>
            <a:ext cx="1885949" cy="549389"/>
          </a:xfrm>
          <a:prstGeom prst="rect">
            <a:avLst/>
          </a:prstGeom>
          <a:solidFill>
            <a:schemeClr val="accent2"/>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ysClr val="window" lastClr="FFFFFF"/>
                </a:solidFill>
                <a:latin typeface="Noto Sans JP"/>
                <a:ea typeface="Noto Sans JP"/>
              </a:rPr>
              <a:t>DH6/BDH6</a:t>
            </a:r>
          </a:p>
          <a:p>
            <a:pPr algn="ctr">
              <a:defRPr/>
            </a:pPr>
            <a:r>
              <a:rPr lang="ja-JP" altLang="en-US" sz="1200" b="1">
                <a:solidFill>
                  <a:sysClr val="window" lastClr="FFFFFF"/>
                </a:solidFill>
                <a:latin typeface="Noto Sans JP"/>
                <a:ea typeface="Noto Sans JP"/>
              </a:rPr>
              <a:t>’</a:t>
            </a:r>
            <a:r>
              <a:rPr lang="en-US" altLang="ja-JP" sz="1200" b="1">
                <a:solidFill>
                  <a:sysClr val="window" lastClr="FFFFFF"/>
                </a:solidFill>
                <a:latin typeface="Noto Sans JP"/>
                <a:ea typeface="Noto Sans JP"/>
              </a:rPr>
              <a:t>27</a:t>
            </a:r>
            <a:r>
              <a:rPr lang="ja-JP" altLang="en-US" sz="1200" b="1">
                <a:solidFill>
                  <a:sysClr val="window" lastClr="FFFFFF"/>
                </a:solidFill>
                <a:latin typeface="Noto Sans JP"/>
                <a:ea typeface="Noto Sans JP"/>
              </a:rPr>
              <a:t>年 </a:t>
            </a:r>
            <a:r>
              <a:rPr lang="en-US" altLang="ja-JP" sz="1200" b="1">
                <a:solidFill>
                  <a:sysClr val="window" lastClr="FFFFFF"/>
                </a:solidFill>
                <a:latin typeface="Noto Sans JP"/>
                <a:ea typeface="Noto Sans JP"/>
              </a:rPr>
              <a:t>Nova Lake-H404</a:t>
            </a:r>
          </a:p>
        </p:txBody>
      </p:sp>
      <p:cxnSp>
        <p:nvCxnSpPr>
          <p:cNvPr id="10" name="直線コネクタ 9">
            <a:extLst>
              <a:ext uri="{FF2B5EF4-FFF2-40B4-BE49-F238E27FC236}">
                <a16:creationId xmlns:a16="http://schemas.microsoft.com/office/drawing/2014/main" id="{C1653443-5CA0-AAE2-60B8-159766E561F7}"/>
              </a:ext>
            </a:extLst>
          </p:cNvPr>
          <p:cNvCxnSpPr>
            <a:cxnSpLocks/>
          </p:cNvCxnSpPr>
          <p:nvPr/>
        </p:nvCxnSpPr>
        <p:spPr>
          <a:xfrm>
            <a:off x="574951" y="4063573"/>
            <a:ext cx="11010900" cy="0"/>
          </a:xfrm>
          <a:prstGeom prst="line">
            <a:avLst/>
          </a:prstGeom>
          <a:noFill/>
          <a:ln w="6350" cap="flat" cmpd="sng" algn="ctr">
            <a:solidFill>
              <a:srgbClr val="4472C4"/>
            </a:solidFill>
            <a:prstDash val="solid"/>
            <a:miter lim="800000"/>
          </a:ln>
          <a:effectLst/>
        </p:spPr>
      </p:cxnSp>
      <p:cxnSp>
        <p:nvCxnSpPr>
          <p:cNvPr id="11" name="直線コネクタ 10">
            <a:extLst>
              <a:ext uri="{FF2B5EF4-FFF2-40B4-BE49-F238E27FC236}">
                <a16:creationId xmlns:a16="http://schemas.microsoft.com/office/drawing/2014/main" id="{A7435DB7-8679-413B-01EA-CEDE32791B8A}"/>
              </a:ext>
            </a:extLst>
          </p:cNvPr>
          <p:cNvCxnSpPr>
            <a:cxnSpLocks/>
          </p:cNvCxnSpPr>
          <p:nvPr/>
        </p:nvCxnSpPr>
        <p:spPr>
          <a:xfrm flipH="1" flipV="1">
            <a:off x="5269358" y="765640"/>
            <a:ext cx="16041" cy="5171180"/>
          </a:xfrm>
          <a:prstGeom prst="line">
            <a:avLst/>
          </a:prstGeom>
          <a:noFill/>
          <a:ln w="6350" cap="flat" cmpd="sng" algn="ctr">
            <a:solidFill>
              <a:srgbClr val="4472C4"/>
            </a:solidFill>
            <a:prstDash val="solid"/>
            <a:miter lim="800000"/>
          </a:ln>
          <a:effectLst/>
        </p:spPr>
      </p:cxnSp>
      <p:sp>
        <p:nvSpPr>
          <p:cNvPr id="12" name="正方形/長方形 11">
            <a:extLst>
              <a:ext uri="{FF2B5EF4-FFF2-40B4-BE49-F238E27FC236}">
                <a16:creationId xmlns:a16="http://schemas.microsoft.com/office/drawing/2014/main" id="{A4C8560E-5E77-98E0-EA5C-682E8F69C9F1}"/>
              </a:ext>
            </a:extLst>
          </p:cNvPr>
          <p:cNvSpPr/>
          <p:nvPr/>
        </p:nvSpPr>
        <p:spPr>
          <a:xfrm>
            <a:off x="3044401" y="3379011"/>
            <a:ext cx="1885949" cy="265013"/>
          </a:xfrm>
          <a:prstGeom prst="rect">
            <a:avLst/>
          </a:prstGeom>
          <a:solidFill>
            <a:srgbClr val="4472C4">
              <a:lumMod val="75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200" b="1">
                <a:solidFill>
                  <a:sysClr val="window" lastClr="FFFFFF"/>
                </a:solidFill>
                <a:latin typeface="Noto Sans JP"/>
                <a:ea typeface="Noto Sans JP"/>
              </a:rPr>
              <a:t>F-14PN7A/5A</a:t>
            </a:r>
          </a:p>
        </p:txBody>
      </p:sp>
      <p:sp>
        <p:nvSpPr>
          <p:cNvPr id="13" name="正方形/長方形 12">
            <a:extLst>
              <a:ext uri="{FF2B5EF4-FFF2-40B4-BE49-F238E27FC236}">
                <a16:creationId xmlns:a16="http://schemas.microsoft.com/office/drawing/2014/main" id="{55D20CA1-88E1-A78D-9C1C-617211881052}"/>
              </a:ext>
            </a:extLst>
          </p:cNvPr>
          <p:cNvSpPr/>
          <p:nvPr/>
        </p:nvSpPr>
        <p:spPr>
          <a:xfrm>
            <a:off x="3044401" y="4191520"/>
            <a:ext cx="1885949" cy="549389"/>
          </a:xfrm>
          <a:prstGeom prst="rect">
            <a:avLst/>
          </a:prstGeom>
          <a:solidFill>
            <a:schemeClr val="accent6"/>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ysClr val="window" lastClr="FFFFFF"/>
                </a:solidFill>
                <a:latin typeface="Noto Sans JP"/>
                <a:ea typeface="Noto Sans JP"/>
              </a:rPr>
              <a:t>MA4/BMA4</a:t>
            </a:r>
          </a:p>
          <a:p>
            <a:pPr algn="ctr">
              <a:defRPr/>
            </a:pPr>
            <a:r>
              <a:rPr lang="ja-JP" altLang="en-US" sz="1200" b="1">
                <a:solidFill>
                  <a:sysClr val="window" lastClr="FFFFFF"/>
                </a:solidFill>
                <a:latin typeface="Noto Sans JP"/>
                <a:ea typeface="Noto Sans JP"/>
              </a:rPr>
              <a:t>（</a:t>
            </a:r>
            <a:r>
              <a:rPr lang="en-US" altLang="ja-JP" sz="1200" b="1">
                <a:solidFill>
                  <a:sysClr val="window" lastClr="FFFFFF"/>
                </a:solidFill>
                <a:latin typeface="Noto Sans JP"/>
                <a:ea typeface="Noto Sans JP"/>
              </a:rPr>
              <a:t>V745TU-2/BU-2</a:t>
            </a:r>
            <a:r>
              <a:rPr lang="ja-JP" altLang="en-US" sz="1200" b="1">
                <a:solidFill>
                  <a:sysClr val="window" lastClr="FFFFFF"/>
                </a:solidFill>
                <a:latin typeface="Noto Sans JP"/>
                <a:ea typeface="Noto Sans JP"/>
              </a:rPr>
              <a:t>）</a:t>
            </a:r>
            <a:endParaRPr lang="en-US" altLang="ja-JP" sz="1200" b="1">
              <a:solidFill>
                <a:sysClr val="window" lastClr="FFFFFF"/>
              </a:solidFill>
              <a:latin typeface="Noto Sans JP"/>
              <a:ea typeface="Noto Sans JP"/>
            </a:endParaRPr>
          </a:p>
        </p:txBody>
      </p:sp>
      <p:sp>
        <p:nvSpPr>
          <p:cNvPr id="15" name="正方形/長方形 14">
            <a:extLst>
              <a:ext uri="{FF2B5EF4-FFF2-40B4-BE49-F238E27FC236}">
                <a16:creationId xmlns:a16="http://schemas.microsoft.com/office/drawing/2014/main" id="{A43C65F3-6D4F-E149-097B-86FF1CD927AE}"/>
              </a:ext>
            </a:extLst>
          </p:cNvPr>
          <p:cNvSpPr/>
          <p:nvPr/>
        </p:nvSpPr>
        <p:spPr>
          <a:xfrm>
            <a:off x="5528401" y="4191520"/>
            <a:ext cx="1885949" cy="549389"/>
          </a:xfrm>
          <a:prstGeom prst="rect">
            <a:avLst/>
          </a:prstGeom>
          <a:solidFill>
            <a:schemeClr val="accent6"/>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ysClr val="window" lastClr="FFFFFF"/>
                </a:solidFill>
                <a:latin typeface="Noto Sans JP"/>
                <a:ea typeface="Noto Sans JP"/>
              </a:rPr>
              <a:t>DA5/BDA5</a:t>
            </a:r>
          </a:p>
          <a:p>
            <a:pPr algn="ctr">
              <a:defRPr/>
            </a:pPr>
            <a:r>
              <a:rPr lang="ja-JP" altLang="en-US" sz="1200" b="1">
                <a:solidFill>
                  <a:sysClr val="window" lastClr="FFFFFF"/>
                </a:solidFill>
                <a:latin typeface="Noto Sans JP"/>
                <a:ea typeface="Noto Sans JP"/>
              </a:rPr>
              <a:t>（</a:t>
            </a:r>
            <a:r>
              <a:rPr lang="en-US" altLang="ja-JP" sz="1200" b="1">
                <a:solidFill>
                  <a:sysClr val="window" lastClr="FFFFFF"/>
                </a:solidFill>
                <a:latin typeface="Noto Sans JP"/>
                <a:ea typeface="Noto Sans JP"/>
              </a:rPr>
              <a:t>V755TU-2</a:t>
            </a:r>
            <a:r>
              <a:rPr lang="ja-JP" altLang="en-US" sz="1200" b="1">
                <a:solidFill>
                  <a:sysClr val="window" lastClr="FFFFFF"/>
                </a:solidFill>
                <a:latin typeface="Noto Sans JP"/>
                <a:ea typeface="Noto Sans JP"/>
              </a:rPr>
              <a:t>）</a:t>
            </a:r>
            <a:endParaRPr lang="en-US" altLang="ja-JP" sz="1200" b="1">
              <a:solidFill>
                <a:sysClr val="window" lastClr="FFFFFF"/>
              </a:solidFill>
              <a:latin typeface="Noto Sans JP"/>
              <a:ea typeface="Noto Sans JP"/>
            </a:endParaRPr>
          </a:p>
        </p:txBody>
      </p:sp>
      <p:cxnSp>
        <p:nvCxnSpPr>
          <p:cNvPr id="18" name="直線矢印コネクタ 17">
            <a:extLst>
              <a:ext uri="{FF2B5EF4-FFF2-40B4-BE49-F238E27FC236}">
                <a16:creationId xmlns:a16="http://schemas.microsoft.com/office/drawing/2014/main" id="{53ABA047-9ECE-F728-686D-5663D575A031}"/>
              </a:ext>
            </a:extLst>
          </p:cNvPr>
          <p:cNvCxnSpPr>
            <a:cxnSpLocks/>
          </p:cNvCxnSpPr>
          <p:nvPr/>
        </p:nvCxnSpPr>
        <p:spPr>
          <a:xfrm>
            <a:off x="574951" y="1019358"/>
            <a:ext cx="0" cy="5004194"/>
          </a:xfrm>
          <a:prstGeom prst="straightConnector1">
            <a:avLst/>
          </a:prstGeom>
          <a:noFill/>
          <a:ln w="25400" cap="flat" cmpd="sng" algn="ctr">
            <a:solidFill>
              <a:srgbClr val="FF0000"/>
            </a:solidFill>
            <a:prstDash val="solid"/>
            <a:miter lim="800000"/>
            <a:headEnd type="triangle"/>
            <a:tailEnd type="triangle"/>
          </a:ln>
          <a:effectLst/>
        </p:spPr>
      </p:cxnSp>
      <p:cxnSp>
        <p:nvCxnSpPr>
          <p:cNvPr id="19" name="直線矢印コネクタ 18">
            <a:extLst>
              <a:ext uri="{FF2B5EF4-FFF2-40B4-BE49-F238E27FC236}">
                <a16:creationId xmlns:a16="http://schemas.microsoft.com/office/drawing/2014/main" id="{38AEADB4-DF7B-692F-902B-590049697185}"/>
              </a:ext>
            </a:extLst>
          </p:cNvPr>
          <p:cNvCxnSpPr>
            <a:cxnSpLocks/>
          </p:cNvCxnSpPr>
          <p:nvPr/>
        </p:nvCxnSpPr>
        <p:spPr>
          <a:xfrm flipH="1">
            <a:off x="767628" y="5975707"/>
            <a:ext cx="10619803" cy="0"/>
          </a:xfrm>
          <a:prstGeom prst="straightConnector1">
            <a:avLst/>
          </a:prstGeom>
          <a:noFill/>
          <a:ln w="25400" cap="flat" cmpd="sng" algn="ctr">
            <a:solidFill>
              <a:srgbClr val="FF0000"/>
            </a:solidFill>
            <a:prstDash val="solid"/>
            <a:miter lim="800000"/>
            <a:headEnd type="triangle"/>
            <a:tailEnd type="triangle"/>
          </a:ln>
          <a:effectLst/>
        </p:spPr>
      </p:cxnSp>
      <p:sp>
        <p:nvSpPr>
          <p:cNvPr id="20" name="正方形/長方形 19">
            <a:extLst>
              <a:ext uri="{FF2B5EF4-FFF2-40B4-BE49-F238E27FC236}">
                <a16:creationId xmlns:a16="http://schemas.microsoft.com/office/drawing/2014/main" id="{4CE1E826-1ACC-9084-6269-A85998D12D38}"/>
              </a:ext>
            </a:extLst>
          </p:cNvPr>
          <p:cNvSpPr/>
          <p:nvPr/>
        </p:nvSpPr>
        <p:spPr>
          <a:xfrm>
            <a:off x="7436401" y="3379011"/>
            <a:ext cx="1885949" cy="549389"/>
          </a:xfrm>
          <a:prstGeom prst="rect">
            <a:avLst/>
          </a:prstGeom>
          <a:solidFill>
            <a:srgbClr val="4472C4">
              <a:lumMod val="75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200" b="1">
                <a:solidFill>
                  <a:sysClr val="window" lastClr="FFFFFF"/>
                </a:solidFill>
                <a:latin typeface="Noto Sans JP"/>
                <a:ea typeface="Noto Sans JP"/>
              </a:rPr>
              <a:t>DX-16PN7A</a:t>
            </a:r>
          </a:p>
        </p:txBody>
      </p:sp>
      <p:sp>
        <p:nvSpPr>
          <p:cNvPr id="21" name="四角形: 角を丸くする 20">
            <a:extLst>
              <a:ext uri="{FF2B5EF4-FFF2-40B4-BE49-F238E27FC236}">
                <a16:creationId xmlns:a16="http://schemas.microsoft.com/office/drawing/2014/main" id="{C184183C-58BF-663A-23AD-AFA44E2DE829}"/>
              </a:ext>
            </a:extLst>
          </p:cNvPr>
          <p:cNvSpPr/>
          <p:nvPr/>
        </p:nvSpPr>
        <p:spPr>
          <a:xfrm>
            <a:off x="767628" y="2253194"/>
            <a:ext cx="1428302" cy="409575"/>
          </a:xfrm>
          <a:prstGeom prst="roundRect">
            <a:avLst/>
          </a:prstGeom>
          <a:solidFill>
            <a:srgbClr val="70AD47">
              <a:lumMod val="40000"/>
              <a:lumOff val="60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a:solidFill>
                  <a:sysClr val="windowText" lastClr="000000"/>
                </a:solidFill>
                <a:latin typeface="Noto Sans JP"/>
                <a:ea typeface="Noto Sans JP"/>
              </a:rPr>
              <a:t>MH/BMH</a:t>
            </a:r>
            <a:endParaRPr lang="ja-JP" altLang="en-US">
              <a:solidFill>
                <a:sysClr val="windowText" lastClr="000000"/>
              </a:solidFill>
              <a:latin typeface="Noto Sans JP"/>
              <a:ea typeface="Noto Sans JP"/>
            </a:endParaRPr>
          </a:p>
        </p:txBody>
      </p:sp>
      <p:sp>
        <p:nvSpPr>
          <p:cNvPr id="22" name="四角形: 角を丸くする 21">
            <a:extLst>
              <a:ext uri="{FF2B5EF4-FFF2-40B4-BE49-F238E27FC236}">
                <a16:creationId xmlns:a16="http://schemas.microsoft.com/office/drawing/2014/main" id="{CDFAC005-5B75-EC50-F728-A30F961CBBD7}"/>
              </a:ext>
            </a:extLst>
          </p:cNvPr>
          <p:cNvSpPr/>
          <p:nvPr/>
        </p:nvSpPr>
        <p:spPr>
          <a:xfrm>
            <a:off x="10138374" y="2096870"/>
            <a:ext cx="1428302" cy="409575"/>
          </a:xfrm>
          <a:prstGeom prst="roundRect">
            <a:avLst/>
          </a:prstGeom>
          <a:solidFill>
            <a:srgbClr val="70AD47">
              <a:lumMod val="60000"/>
              <a:lumOff val="40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a:solidFill>
                  <a:sysClr val="windowText" lastClr="000000"/>
                </a:solidFill>
                <a:latin typeface="Noto Sans JP"/>
                <a:ea typeface="Noto Sans JP"/>
              </a:rPr>
              <a:t>DH/BDH</a:t>
            </a:r>
            <a:endParaRPr lang="ja-JP" altLang="en-US">
              <a:solidFill>
                <a:sysClr val="windowText" lastClr="000000"/>
              </a:solidFill>
              <a:latin typeface="Noto Sans JP"/>
              <a:ea typeface="Noto Sans JP"/>
            </a:endParaRPr>
          </a:p>
        </p:txBody>
      </p:sp>
      <p:cxnSp>
        <p:nvCxnSpPr>
          <p:cNvPr id="23" name="直線コネクタ 22">
            <a:extLst>
              <a:ext uri="{FF2B5EF4-FFF2-40B4-BE49-F238E27FC236}">
                <a16:creationId xmlns:a16="http://schemas.microsoft.com/office/drawing/2014/main" id="{653E68E6-536D-B44C-2EE1-C16A5E91F3AB}"/>
              </a:ext>
            </a:extLst>
          </p:cNvPr>
          <p:cNvCxnSpPr>
            <a:cxnSpLocks/>
          </p:cNvCxnSpPr>
          <p:nvPr/>
        </p:nvCxnSpPr>
        <p:spPr>
          <a:xfrm>
            <a:off x="160257" y="2043357"/>
            <a:ext cx="11441635" cy="0"/>
          </a:xfrm>
          <a:prstGeom prst="line">
            <a:avLst/>
          </a:prstGeom>
          <a:noFill/>
          <a:ln w="6350" cap="flat" cmpd="sng" algn="ctr">
            <a:solidFill>
              <a:srgbClr val="4472C4"/>
            </a:solidFill>
            <a:prstDash val="solid"/>
            <a:miter lim="800000"/>
          </a:ln>
          <a:effectLst/>
        </p:spPr>
      </p:cxnSp>
      <p:sp>
        <p:nvSpPr>
          <p:cNvPr id="24" name="四角形: 角を丸くする 23">
            <a:extLst>
              <a:ext uri="{FF2B5EF4-FFF2-40B4-BE49-F238E27FC236}">
                <a16:creationId xmlns:a16="http://schemas.microsoft.com/office/drawing/2014/main" id="{2B5ED330-48C3-79D5-0CB2-04B2C19FE8C8}"/>
              </a:ext>
            </a:extLst>
          </p:cNvPr>
          <p:cNvSpPr/>
          <p:nvPr/>
        </p:nvSpPr>
        <p:spPr>
          <a:xfrm>
            <a:off x="767628" y="752284"/>
            <a:ext cx="1428302" cy="409575"/>
          </a:xfrm>
          <a:prstGeom prst="roundRect">
            <a:avLst/>
          </a:prstGeom>
          <a:solidFill>
            <a:srgbClr val="FF0000"/>
          </a:solidFill>
          <a:ln w="12700" cap="flat" cmpd="sng" algn="ctr">
            <a:solidFill>
              <a:srgbClr val="FF0000"/>
            </a:solidFill>
            <a:prstDash val="sysDash"/>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600" b="1">
                <a:solidFill>
                  <a:prstClr val="white"/>
                </a:solidFill>
                <a:latin typeface="Noto Sans JP"/>
                <a:ea typeface="Noto Sans JP"/>
              </a:rPr>
              <a:t>MU/BMU</a:t>
            </a:r>
            <a:endParaRPr lang="ja-JP" altLang="en-US" sz="1600" b="1">
              <a:solidFill>
                <a:prstClr val="white"/>
              </a:solidFill>
              <a:latin typeface="Noto Sans JP"/>
              <a:ea typeface="Noto Sans JP"/>
            </a:endParaRPr>
          </a:p>
        </p:txBody>
      </p:sp>
      <p:sp>
        <p:nvSpPr>
          <p:cNvPr id="26" name="四角形: 角を丸くする 25">
            <a:extLst>
              <a:ext uri="{FF2B5EF4-FFF2-40B4-BE49-F238E27FC236}">
                <a16:creationId xmlns:a16="http://schemas.microsoft.com/office/drawing/2014/main" id="{EE2544D2-4EEF-E8CB-6F68-9A90675C51A2}"/>
              </a:ext>
            </a:extLst>
          </p:cNvPr>
          <p:cNvSpPr/>
          <p:nvPr/>
        </p:nvSpPr>
        <p:spPr>
          <a:xfrm>
            <a:off x="767628" y="5437672"/>
            <a:ext cx="1428302" cy="409575"/>
          </a:xfrm>
          <a:prstGeom prst="roundRect">
            <a:avLst/>
          </a:prstGeom>
          <a:solidFill>
            <a:srgbClr val="ED7D31">
              <a:lumMod val="40000"/>
              <a:lumOff val="60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a:solidFill>
                  <a:sysClr val="windowText" lastClr="000000"/>
                </a:solidFill>
                <a:latin typeface="Noto Sans JP"/>
                <a:ea typeface="Noto Sans JP"/>
              </a:rPr>
              <a:t>MA/BMA</a:t>
            </a:r>
          </a:p>
        </p:txBody>
      </p:sp>
      <p:sp>
        <p:nvSpPr>
          <p:cNvPr id="27" name="四角形: 角を丸くする 26">
            <a:extLst>
              <a:ext uri="{FF2B5EF4-FFF2-40B4-BE49-F238E27FC236}">
                <a16:creationId xmlns:a16="http://schemas.microsoft.com/office/drawing/2014/main" id="{0CE638F6-10ED-A52D-A455-B4F6CFBE466B}"/>
              </a:ext>
            </a:extLst>
          </p:cNvPr>
          <p:cNvSpPr/>
          <p:nvPr/>
        </p:nvSpPr>
        <p:spPr>
          <a:xfrm>
            <a:off x="10112801" y="5437672"/>
            <a:ext cx="1428302" cy="409575"/>
          </a:xfrm>
          <a:prstGeom prst="roundRect">
            <a:avLst/>
          </a:prstGeom>
          <a:solidFill>
            <a:srgbClr val="FFC000"/>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a:solidFill>
                  <a:sysClr val="windowText" lastClr="000000"/>
                </a:solidFill>
                <a:latin typeface="Noto Sans JP"/>
                <a:ea typeface="Noto Sans JP"/>
              </a:rPr>
              <a:t>DA/BDA</a:t>
            </a:r>
          </a:p>
        </p:txBody>
      </p:sp>
      <p:sp>
        <p:nvSpPr>
          <p:cNvPr id="28" name="四角形: 角を丸くする 27">
            <a:extLst>
              <a:ext uri="{FF2B5EF4-FFF2-40B4-BE49-F238E27FC236}">
                <a16:creationId xmlns:a16="http://schemas.microsoft.com/office/drawing/2014/main" id="{157A34CB-1938-C675-B172-AEB75638FACC}"/>
              </a:ext>
            </a:extLst>
          </p:cNvPr>
          <p:cNvSpPr/>
          <p:nvPr/>
        </p:nvSpPr>
        <p:spPr>
          <a:xfrm>
            <a:off x="10151249" y="765821"/>
            <a:ext cx="1428302" cy="409575"/>
          </a:xfrm>
          <a:prstGeom prst="roundRect">
            <a:avLst/>
          </a:prstGeom>
          <a:solidFill>
            <a:srgbClr val="FF0000"/>
          </a:solidFill>
          <a:ln w="12700" cap="flat" cmpd="sng" algn="ctr">
            <a:solidFill>
              <a:srgbClr val="FF0000"/>
            </a:solidFill>
            <a:prstDash val="sysDash"/>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600" b="1">
                <a:solidFill>
                  <a:prstClr val="white"/>
                </a:solidFill>
                <a:latin typeface="Noto Sans JP"/>
                <a:ea typeface="Noto Sans JP"/>
              </a:rPr>
              <a:t>DU/BDU</a:t>
            </a:r>
            <a:endParaRPr lang="ja-JP" altLang="en-US" sz="1600" b="1">
              <a:solidFill>
                <a:prstClr val="white"/>
              </a:solidFill>
              <a:latin typeface="Noto Sans JP"/>
              <a:ea typeface="Noto Sans JP"/>
            </a:endParaRPr>
          </a:p>
        </p:txBody>
      </p:sp>
      <p:sp>
        <p:nvSpPr>
          <p:cNvPr id="29" name="テキスト ボックス 34">
            <a:extLst>
              <a:ext uri="{FF2B5EF4-FFF2-40B4-BE49-F238E27FC236}">
                <a16:creationId xmlns:a16="http://schemas.microsoft.com/office/drawing/2014/main" id="{51C03D7A-AA04-82DF-1BF0-7ECA22733443}"/>
              </a:ext>
            </a:extLst>
          </p:cNvPr>
          <p:cNvSpPr txBox="1"/>
          <p:nvPr/>
        </p:nvSpPr>
        <p:spPr>
          <a:xfrm>
            <a:off x="2659074" y="5979546"/>
            <a:ext cx="7246923"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a:solidFill>
                  <a:prstClr val="black"/>
                </a:solidFill>
                <a:latin typeface="Noto Sans JP"/>
                <a:ea typeface="Noto Sans JP"/>
              </a:rPr>
              <a:t>フットプリント軸  ⇒  右に行くほどサイズ：大　 </a:t>
            </a:r>
            <a:r>
              <a:rPr lang="en-US" altLang="ja-JP" sz="1200" b="1">
                <a:solidFill>
                  <a:prstClr val="black"/>
                </a:solidFill>
                <a:latin typeface="Noto Sans JP"/>
                <a:ea typeface="Noto Sans JP"/>
              </a:rPr>
              <a:t>(</a:t>
            </a:r>
            <a:r>
              <a:rPr lang="ja-JP" altLang="en-US" sz="1200" b="1">
                <a:solidFill>
                  <a:prstClr val="black"/>
                </a:solidFill>
                <a:latin typeface="Noto Sans JP"/>
                <a:ea typeface="Noto Sans JP"/>
              </a:rPr>
              <a:t>命名境界基準：</a:t>
            </a:r>
            <a:r>
              <a:rPr lang="en-US" altLang="ja-JP" sz="1200" b="1">
                <a:solidFill>
                  <a:prstClr val="black"/>
                </a:solidFill>
                <a:latin typeface="Noto Sans JP"/>
                <a:ea typeface="Noto Sans JP"/>
              </a:rPr>
              <a:t>14”</a:t>
            </a:r>
            <a:r>
              <a:rPr lang="ja-JP" altLang="en-US" sz="1200" b="1">
                <a:solidFill>
                  <a:prstClr val="black"/>
                </a:solidFill>
                <a:latin typeface="Noto Sans JP"/>
                <a:ea typeface="Noto Sans JP"/>
              </a:rPr>
              <a:t>まで</a:t>
            </a:r>
            <a:r>
              <a:rPr lang="en-US" altLang="ja-JP" sz="1200" b="1">
                <a:solidFill>
                  <a:prstClr val="black"/>
                </a:solidFill>
                <a:latin typeface="Noto Sans JP"/>
                <a:ea typeface="Noto Sans JP"/>
              </a:rPr>
              <a:t> = Mx  /  15” </a:t>
            </a:r>
            <a:r>
              <a:rPr lang="ja-JP" altLang="en-US" sz="1200" b="1">
                <a:solidFill>
                  <a:prstClr val="black"/>
                </a:solidFill>
                <a:latin typeface="Noto Sans JP"/>
                <a:ea typeface="Noto Sans JP"/>
              </a:rPr>
              <a:t>以上</a:t>
            </a:r>
            <a:r>
              <a:rPr lang="en-US" altLang="ja-JP" sz="1200" b="1">
                <a:solidFill>
                  <a:prstClr val="black"/>
                </a:solidFill>
                <a:latin typeface="Noto Sans JP"/>
                <a:ea typeface="Noto Sans JP"/>
              </a:rPr>
              <a:t>  = Dx</a:t>
            </a:r>
            <a:r>
              <a:rPr lang="en-US" altLang="ja-JP" sz="1200" b="1" u="sng">
                <a:solidFill>
                  <a:prstClr val="black"/>
                </a:solidFill>
                <a:latin typeface="Noto Sans JP"/>
                <a:ea typeface="Noto Sans JP"/>
              </a:rPr>
              <a:t>)</a:t>
            </a:r>
          </a:p>
        </p:txBody>
      </p:sp>
      <p:sp>
        <p:nvSpPr>
          <p:cNvPr id="30" name="テキスト ボックス 29">
            <a:extLst>
              <a:ext uri="{FF2B5EF4-FFF2-40B4-BE49-F238E27FC236}">
                <a16:creationId xmlns:a16="http://schemas.microsoft.com/office/drawing/2014/main" id="{F130D6B8-077B-ED10-045E-5E327778E26A}"/>
              </a:ext>
            </a:extLst>
          </p:cNvPr>
          <p:cNvSpPr txBox="1"/>
          <p:nvPr/>
        </p:nvSpPr>
        <p:spPr>
          <a:xfrm rot="16200000">
            <a:off x="-2196846" y="3240304"/>
            <a:ext cx="5090195" cy="276999"/>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200" b="1">
                <a:solidFill>
                  <a:prstClr val="black"/>
                </a:solidFill>
                <a:latin typeface="Noto Sans JP"/>
                <a:ea typeface="Noto Sans JP"/>
              </a:rPr>
              <a:t>性能 軸</a:t>
            </a:r>
            <a:r>
              <a:rPr lang="en-US" altLang="ja-JP" sz="1200" b="1">
                <a:solidFill>
                  <a:prstClr val="black"/>
                </a:solidFill>
                <a:latin typeface="Noto Sans JP"/>
                <a:ea typeface="Noto Sans JP"/>
              </a:rPr>
              <a:t>(CPU</a:t>
            </a:r>
            <a:r>
              <a:rPr lang="ja-JP" altLang="en-US" sz="1200" b="1">
                <a:solidFill>
                  <a:prstClr val="black"/>
                </a:solidFill>
                <a:latin typeface="Noto Sans JP"/>
                <a:ea typeface="Noto Sans JP"/>
              </a:rPr>
              <a:t>クラス</a:t>
            </a:r>
            <a:r>
              <a:rPr lang="en-US" altLang="ja-JP" sz="1200" b="1">
                <a:solidFill>
                  <a:prstClr val="black"/>
                </a:solidFill>
                <a:latin typeface="Noto Sans JP"/>
                <a:ea typeface="Noto Sans JP"/>
              </a:rPr>
              <a:t>)</a:t>
            </a:r>
            <a:r>
              <a:rPr lang="ja-JP" altLang="en-US" sz="1200" b="1">
                <a:solidFill>
                  <a:prstClr val="black"/>
                </a:solidFill>
                <a:latin typeface="Noto Sans JP"/>
                <a:ea typeface="Noto Sans JP"/>
              </a:rPr>
              <a:t>　⇒  上に行くほど高性能　                         </a:t>
            </a:r>
            <a:r>
              <a:rPr lang="en-US" altLang="ja-JP" sz="1200" b="1" err="1">
                <a:solidFill>
                  <a:prstClr val="black"/>
                </a:solidFill>
                <a:latin typeface="Noto Sans JP"/>
                <a:ea typeface="Noto Sans JP"/>
              </a:rPr>
              <a:t>dGPU</a:t>
            </a:r>
            <a:r>
              <a:rPr lang="ja-JP" altLang="en-US" sz="1200" b="1">
                <a:solidFill>
                  <a:prstClr val="black"/>
                </a:solidFill>
                <a:latin typeface="Noto Sans JP"/>
                <a:ea typeface="Noto Sans JP"/>
              </a:rPr>
              <a:t>付き</a:t>
            </a:r>
          </a:p>
        </p:txBody>
      </p:sp>
      <p:sp>
        <p:nvSpPr>
          <p:cNvPr id="31" name="テキスト ボックス 30">
            <a:extLst>
              <a:ext uri="{FF2B5EF4-FFF2-40B4-BE49-F238E27FC236}">
                <a16:creationId xmlns:a16="http://schemas.microsoft.com/office/drawing/2014/main" id="{568E3756-3357-C49A-B50B-D13E1878B303}"/>
              </a:ext>
            </a:extLst>
          </p:cNvPr>
          <p:cNvSpPr txBox="1"/>
          <p:nvPr/>
        </p:nvSpPr>
        <p:spPr>
          <a:xfrm>
            <a:off x="597003" y="1129338"/>
            <a:ext cx="2157698" cy="276999"/>
          </a:xfrm>
          <a:prstGeom prst="rect">
            <a:avLst/>
          </a:prstGeom>
          <a:noFill/>
        </p:spPr>
        <p:txBody>
          <a:bodyPr wrap="square">
            <a:spAutoFit/>
          </a:bodyPr>
          <a:lstStyle/>
          <a:p>
            <a:pPr algn="ctr">
              <a:defRPr/>
            </a:pPr>
            <a:r>
              <a:rPr lang="en-US" altLang="ja-JP" sz="1200">
                <a:solidFill>
                  <a:sysClr val="windowText" lastClr="000000"/>
                </a:solidFill>
                <a:latin typeface="Noto Sans JP"/>
                <a:ea typeface="Noto Sans JP"/>
              </a:rPr>
              <a:t>U</a:t>
            </a:r>
            <a:r>
              <a:rPr lang="ja-JP" altLang="en-US" sz="1200">
                <a:solidFill>
                  <a:sysClr val="windowText" lastClr="000000"/>
                </a:solidFill>
                <a:latin typeface="Noto Sans JP"/>
                <a:ea typeface="Noto Sans JP"/>
              </a:rPr>
              <a:t>＝</a:t>
            </a:r>
            <a:r>
              <a:rPr lang="en-US" altLang="ja-JP" sz="1200" err="1">
                <a:solidFill>
                  <a:sysClr val="windowText" lastClr="000000"/>
                </a:solidFill>
                <a:latin typeface="Noto Sans JP"/>
                <a:ea typeface="Noto Sans JP"/>
              </a:rPr>
              <a:t>Ultimet</a:t>
            </a:r>
            <a:r>
              <a:rPr lang="en-US" altLang="ja-JP" sz="1200">
                <a:solidFill>
                  <a:sysClr val="windowText" lastClr="000000"/>
                </a:solidFill>
                <a:latin typeface="Noto Sans JP"/>
                <a:ea typeface="Noto Sans JP"/>
              </a:rPr>
              <a:t> </a:t>
            </a:r>
            <a:r>
              <a:rPr lang="ja-JP" altLang="en-US" sz="1200">
                <a:solidFill>
                  <a:sysClr val="windowText" lastClr="000000"/>
                </a:solidFill>
                <a:latin typeface="Noto Sans JP"/>
                <a:ea typeface="Noto Sans JP"/>
              </a:rPr>
              <a:t>ライン</a:t>
            </a:r>
            <a:endParaRPr lang="en-US" altLang="ja-JP" sz="1200">
              <a:solidFill>
                <a:sysClr val="windowText" lastClr="000000"/>
              </a:solidFill>
              <a:latin typeface="Noto Sans JP"/>
              <a:ea typeface="Noto Sans JP"/>
            </a:endParaRPr>
          </a:p>
        </p:txBody>
      </p:sp>
      <p:sp>
        <p:nvSpPr>
          <p:cNvPr id="32" name="AutoShape 6" descr="Radeon RX Series PCs">
            <a:extLst>
              <a:ext uri="{FF2B5EF4-FFF2-40B4-BE49-F238E27FC236}">
                <a16:creationId xmlns:a16="http://schemas.microsoft.com/office/drawing/2014/main" id="{EE13129A-450A-67A1-16CB-04D59E46BED2}"/>
              </a:ext>
            </a:extLst>
          </p:cNvPr>
          <p:cNvSpPr>
            <a:spLocks noChangeAspect="1" noChangeArrowheads="1"/>
          </p:cNvSpPr>
          <p:nvPr/>
        </p:nvSpPr>
        <p:spPr bwMode="auto">
          <a:xfrm>
            <a:off x="5943600" y="28067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kumimoji="0" lang="ja-JP" altLang="en-US">
              <a:solidFill>
                <a:prstClr val="black"/>
              </a:solidFill>
              <a:latin typeface="Noto Sans JP"/>
              <a:ea typeface="Noto Sans JP"/>
            </a:endParaRPr>
          </a:p>
        </p:txBody>
      </p:sp>
      <p:pic>
        <p:nvPicPr>
          <p:cNvPr id="33" name="図 32">
            <a:extLst>
              <a:ext uri="{FF2B5EF4-FFF2-40B4-BE49-F238E27FC236}">
                <a16:creationId xmlns:a16="http://schemas.microsoft.com/office/drawing/2014/main" id="{18436C21-119C-1F88-D525-B83016C43E53}"/>
              </a:ext>
            </a:extLst>
          </p:cNvPr>
          <p:cNvPicPr>
            <a:picLocks noChangeAspect="1"/>
          </p:cNvPicPr>
          <p:nvPr/>
        </p:nvPicPr>
        <p:blipFill>
          <a:blip r:embed="rId3"/>
          <a:stretch>
            <a:fillRect/>
          </a:stretch>
        </p:blipFill>
        <p:spPr>
          <a:xfrm>
            <a:off x="8802548" y="734328"/>
            <a:ext cx="347271" cy="307335"/>
          </a:xfrm>
          <a:prstGeom prst="rect">
            <a:avLst/>
          </a:prstGeom>
        </p:spPr>
      </p:pic>
      <p:sp>
        <p:nvSpPr>
          <p:cNvPr id="34" name="矢印: 上 33">
            <a:extLst>
              <a:ext uri="{FF2B5EF4-FFF2-40B4-BE49-F238E27FC236}">
                <a16:creationId xmlns:a16="http://schemas.microsoft.com/office/drawing/2014/main" id="{89AA3AE4-253D-F3C6-CBDA-9CBC07C3C7E3}"/>
              </a:ext>
            </a:extLst>
          </p:cNvPr>
          <p:cNvSpPr/>
          <p:nvPr/>
        </p:nvSpPr>
        <p:spPr>
          <a:xfrm>
            <a:off x="4430328" y="509035"/>
            <a:ext cx="1710142" cy="510324"/>
          </a:xfrm>
          <a:prstGeom prst="upArrow">
            <a:avLst/>
          </a:prstGeom>
          <a:solidFill>
            <a:srgbClr val="4472C4"/>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000">
                <a:solidFill>
                  <a:sysClr val="window" lastClr="FFFFFF"/>
                </a:solidFill>
                <a:latin typeface="游ゴシック" panose="020F0502020204030204"/>
                <a:ea typeface="游ゴシック" panose="020B0400000000000000" pitchFamily="50" charset="-128"/>
              </a:rPr>
              <a:t>GALLERIA</a:t>
            </a:r>
          </a:p>
          <a:p>
            <a:pPr algn="ctr">
              <a:defRPr/>
            </a:pPr>
            <a:r>
              <a:rPr lang="ja-JP" altLang="en-US" sz="1000">
                <a:solidFill>
                  <a:sysClr val="window" lastClr="FFFFFF"/>
                </a:solidFill>
                <a:latin typeface="游ゴシック" panose="020F0502020204030204"/>
                <a:ea typeface="游ゴシック" panose="020B0400000000000000" pitchFamily="50" charset="-128"/>
              </a:rPr>
              <a:t>領域へ</a:t>
            </a:r>
          </a:p>
        </p:txBody>
      </p:sp>
      <p:pic>
        <p:nvPicPr>
          <p:cNvPr id="35" name="Picture 2" descr="TSUKUMO】G-GEAR、NVIDIA GeForce RTX 5060 Tiを搭載したゲーミングPCの新モデルを発売 -  【TSUKUMO（ツクモ）】プレスリリース">
            <a:extLst>
              <a:ext uri="{FF2B5EF4-FFF2-40B4-BE49-F238E27FC236}">
                <a16:creationId xmlns:a16="http://schemas.microsoft.com/office/drawing/2014/main" id="{33E08D50-197B-AAC8-18AE-34416908519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4924" y="652900"/>
            <a:ext cx="779300" cy="436408"/>
          </a:xfrm>
          <a:prstGeom prst="rect">
            <a:avLst/>
          </a:prstGeom>
          <a:noFill/>
          <a:extLst>
            <a:ext uri="{909E8E84-426E-40DD-AFC4-6F175D3DCCD1}">
              <a14:hiddenFill xmlns:a14="http://schemas.microsoft.com/office/drawing/2010/main">
                <a:solidFill>
                  <a:srgbClr val="FFFFFF"/>
                </a:solidFill>
              </a14:hiddenFill>
            </a:ext>
          </a:extLst>
        </p:spPr>
      </p:pic>
      <p:pic>
        <p:nvPicPr>
          <p:cNvPr id="36" name="図 35">
            <a:extLst>
              <a:ext uri="{FF2B5EF4-FFF2-40B4-BE49-F238E27FC236}">
                <a16:creationId xmlns:a16="http://schemas.microsoft.com/office/drawing/2014/main" id="{CEBAD8CC-7B10-49ED-08D8-04F3059A6D37}"/>
              </a:ext>
            </a:extLst>
          </p:cNvPr>
          <p:cNvPicPr>
            <a:picLocks noChangeAspect="1"/>
          </p:cNvPicPr>
          <p:nvPr/>
        </p:nvPicPr>
        <p:blipFill>
          <a:blip r:embed="rId3"/>
          <a:stretch>
            <a:fillRect/>
          </a:stretch>
        </p:blipFill>
        <p:spPr>
          <a:xfrm>
            <a:off x="2311804" y="714813"/>
            <a:ext cx="347271" cy="307335"/>
          </a:xfrm>
          <a:prstGeom prst="rect">
            <a:avLst/>
          </a:prstGeom>
        </p:spPr>
      </p:pic>
      <p:sp>
        <p:nvSpPr>
          <p:cNvPr id="38" name="テキスト ボックス 37">
            <a:extLst>
              <a:ext uri="{FF2B5EF4-FFF2-40B4-BE49-F238E27FC236}">
                <a16:creationId xmlns:a16="http://schemas.microsoft.com/office/drawing/2014/main" id="{0C0AA66E-D32D-A442-27AD-4F04B0C067D4}"/>
              </a:ext>
            </a:extLst>
          </p:cNvPr>
          <p:cNvSpPr txBox="1"/>
          <p:nvPr/>
        </p:nvSpPr>
        <p:spPr>
          <a:xfrm>
            <a:off x="865991" y="4950895"/>
            <a:ext cx="2160225" cy="461665"/>
          </a:xfrm>
          <a:prstGeom prst="rect">
            <a:avLst/>
          </a:prstGeom>
          <a:noFill/>
        </p:spPr>
        <p:txBody>
          <a:bodyPr wrap="square">
            <a:spAutoFit/>
          </a:bodyPr>
          <a:lstStyle/>
          <a:p>
            <a:pPr>
              <a:defRPr/>
            </a:pPr>
            <a:r>
              <a:rPr lang="en-US" altLang="ja-JP" sz="1200">
                <a:solidFill>
                  <a:sysClr val="windowText" lastClr="000000"/>
                </a:solidFill>
                <a:latin typeface="Noto Sans JP"/>
                <a:ea typeface="Noto Sans JP"/>
              </a:rPr>
              <a:t>A</a:t>
            </a:r>
            <a:r>
              <a:rPr lang="ja-JP" altLang="en-US" sz="1200">
                <a:solidFill>
                  <a:sysClr val="windowText" lastClr="000000"/>
                </a:solidFill>
                <a:latin typeface="Noto Sans JP"/>
                <a:ea typeface="Noto Sans JP"/>
              </a:rPr>
              <a:t>＝</a:t>
            </a:r>
            <a:r>
              <a:rPr lang="en-US" altLang="ja-JP" sz="1200">
                <a:solidFill>
                  <a:sysClr val="windowText" lastClr="000000"/>
                </a:solidFill>
                <a:latin typeface="Noto Sans JP"/>
                <a:ea typeface="Noto Sans JP"/>
              </a:rPr>
              <a:t>Affordable </a:t>
            </a:r>
            <a:r>
              <a:rPr lang="ja-JP" altLang="en-US" sz="1200">
                <a:solidFill>
                  <a:sysClr val="windowText" lastClr="000000"/>
                </a:solidFill>
                <a:latin typeface="Noto Sans JP"/>
                <a:ea typeface="Noto Sans JP"/>
              </a:rPr>
              <a:t>ライン</a:t>
            </a:r>
            <a:endParaRPr lang="en-US" altLang="ja-JP" sz="1200">
              <a:solidFill>
                <a:sysClr val="windowText" lastClr="000000"/>
              </a:solidFill>
              <a:latin typeface="Noto Sans JP"/>
              <a:ea typeface="Noto Sans JP"/>
            </a:endParaRPr>
          </a:p>
          <a:p>
            <a:pPr>
              <a:defRPr/>
            </a:pPr>
            <a:r>
              <a:rPr lang="ja-JP" altLang="en-US" sz="1200">
                <a:solidFill>
                  <a:sysClr val="windowText" lastClr="000000"/>
                </a:solidFill>
                <a:latin typeface="Noto Sans JP"/>
                <a:ea typeface="Noto Sans JP"/>
              </a:rPr>
              <a:t>“スタンダード</a:t>
            </a:r>
            <a:r>
              <a:rPr lang="en-US" altLang="ja-JP" sz="1200">
                <a:solidFill>
                  <a:sysClr val="windowText" lastClr="000000"/>
                </a:solidFill>
                <a:latin typeface="Noto Sans JP"/>
                <a:ea typeface="Noto Sans JP"/>
              </a:rPr>
              <a:t>”</a:t>
            </a:r>
          </a:p>
        </p:txBody>
      </p:sp>
      <p:sp>
        <p:nvSpPr>
          <p:cNvPr id="39" name="テキスト ボックス 38">
            <a:extLst>
              <a:ext uri="{FF2B5EF4-FFF2-40B4-BE49-F238E27FC236}">
                <a16:creationId xmlns:a16="http://schemas.microsoft.com/office/drawing/2014/main" id="{C8E5C5D2-DA08-299C-323E-104289DE9B8C}"/>
              </a:ext>
            </a:extLst>
          </p:cNvPr>
          <p:cNvSpPr txBox="1"/>
          <p:nvPr/>
        </p:nvSpPr>
        <p:spPr>
          <a:xfrm>
            <a:off x="923318" y="2694399"/>
            <a:ext cx="1700148" cy="461665"/>
          </a:xfrm>
          <a:prstGeom prst="rect">
            <a:avLst/>
          </a:prstGeom>
          <a:noFill/>
        </p:spPr>
        <p:txBody>
          <a:bodyPr wrap="square">
            <a:spAutoFit/>
          </a:bodyPr>
          <a:lstStyle/>
          <a:p>
            <a:pPr>
              <a:defRPr/>
            </a:pPr>
            <a:r>
              <a:rPr lang="en-US" altLang="ja-JP" sz="1200">
                <a:solidFill>
                  <a:sysClr val="windowText" lastClr="000000"/>
                </a:solidFill>
                <a:latin typeface="Noto Sans JP"/>
                <a:ea typeface="Noto Sans JP"/>
              </a:rPr>
              <a:t>H</a:t>
            </a:r>
            <a:r>
              <a:rPr lang="ja-JP" altLang="en-US" sz="1200">
                <a:solidFill>
                  <a:sysClr val="windowText" lastClr="000000"/>
                </a:solidFill>
                <a:latin typeface="Noto Sans JP"/>
                <a:ea typeface="Noto Sans JP"/>
              </a:rPr>
              <a:t>＝</a:t>
            </a:r>
            <a:r>
              <a:rPr lang="en-US" altLang="ja-JP" sz="1200">
                <a:solidFill>
                  <a:sysClr val="windowText" lastClr="000000"/>
                </a:solidFill>
                <a:latin typeface="Noto Sans JP"/>
                <a:ea typeface="Noto Sans JP"/>
              </a:rPr>
              <a:t>High-end </a:t>
            </a:r>
            <a:r>
              <a:rPr lang="ja-JP" altLang="en-US" sz="1200">
                <a:solidFill>
                  <a:sysClr val="windowText" lastClr="000000"/>
                </a:solidFill>
                <a:latin typeface="Noto Sans JP"/>
                <a:ea typeface="Noto Sans JP"/>
              </a:rPr>
              <a:t>ライン</a:t>
            </a:r>
            <a:endParaRPr lang="en-US" altLang="ja-JP" sz="1200">
              <a:solidFill>
                <a:sysClr val="windowText" lastClr="000000"/>
              </a:solidFill>
              <a:latin typeface="Noto Sans JP"/>
              <a:ea typeface="Noto Sans JP"/>
            </a:endParaRPr>
          </a:p>
          <a:p>
            <a:pPr>
              <a:defRPr/>
            </a:pPr>
            <a:r>
              <a:rPr lang="ja-JP" altLang="en-US" sz="1200">
                <a:solidFill>
                  <a:sysClr val="windowText" lastClr="000000"/>
                </a:solidFill>
                <a:latin typeface="Noto Sans JP"/>
                <a:ea typeface="Noto Sans JP"/>
              </a:rPr>
              <a:t>“高性能”</a:t>
            </a:r>
            <a:endParaRPr lang="en-US" altLang="ja-JP" sz="1200">
              <a:solidFill>
                <a:sysClr val="windowText" lastClr="000000"/>
              </a:solidFill>
              <a:latin typeface="Noto Sans JP"/>
              <a:ea typeface="Noto Sans JP"/>
            </a:endParaRPr>
          </a:p>
        </p:txBody>
      </p:sp>
      <p:sp>
        <p:nvSpPr>
          <p:cNvPr id="40" name="正方形/長方形 39">
            <a:extLst>
              <a:ext uri="{FF2B5EF4-FFF2-40B4-BE49-F238E27FC236}">
                <a16:creationId xmlns:a16="http://schemas.microsoft.com/office/drawing/2014/main" id="{A58E2DD7-2251-5923-FAC0-C0D7B472A96F}"/>
              </a:ext>
            </a:extLst>
          </p:cNvPr>
          <p:cNvSpPr/>
          <p:nvPr/>
        </p:nvSpPr>
        <p:spPr>
          <a:xfrm>
            <a:off x="3053866" y="2698630"/>
            <a:ext cx="1885949" cy="549389"/>
          </a:xfrm>
          <a:prstGeom prst="rect">
            <a:avLst/>
          </a:prstGeom>
          <a:solidFill>
            <a:schemeClr val="accent2"/>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ysClr val="window" lastClr="FFFFFF"/>
                </a:solidFill>
                <a:latin typeface="Noto Sans JP"/>
                <a:ea typeface="Noto Sans JP"/>
              </a:rPr>
              <a:t>MH4/BMH4</a:t>
            </a:r>
          </a:p>
          <a:p>
            <a:pPr algn="ctr">
              <a:defRPr/>
            </a:pPr>
            <a:r>
              <a:rPr lang="en-US" altLang="ja-JP" sz="1200" b="1">
                <a:solidFill>
                  <a:sysClr val="window" lastClr="FFFFFF"/>
                </a:solidFill>
                <a:latin typeface="Noto Sans JP"/>
                <a:ea typeface="Noto Sans JP"/>
              </a:rPr>
              <a:t>‘27</a:t>
            </a:r>
            <a:r>
              <a:rPr lang="ja-JP" altLang="en-US" sz="1200" b="1">
                <a:solidFill>
                  <a:sysClr val="window" lastClr="FFFFFF"/>
                </a:solidFill>
                <a:latin typeface="Noto Sans JP"/>
                <a:ea typeface="Noto Sans JP"/>
              </a:rPr>
              <a:t>年 </a:t>
            </a:r>
            <a:r>
              <a:rPr lang="en-US" altLang="ja-JP" sz="1200" b="1">
                <a:solidFill>
                  <a:sysClr val="window" lastClr="FFFFFF"/>
                </a:solidFill>
                <a:latin typeface="Noto Sans JP"/>
                <a:ea typeface="Noto Sans JP"/>
              </a:rPr>
              <a:t>Nova Lake-H404</a:t>
            </a:r>
          </a:p>
        </p:txBody>
      </p:sp>
      <p:sp>
        <p:nvSpPr>
          <p:cNvPr id="42" name="正方形/長方形 41">
            <a:extLst>
              <a:ext uri="{FF2B5EF4-FFF2-40B4-BE49-F238E27FC236}">
                <a16:creationId xmlns:a16="http://schemas.microsoft.com/office/drawing/2014/main" id="{0AB17309-70B8-5212-549A-0A52F1B639E0}"/>
              </a:ext>
            </a:extLst>
          </p:cNvPr>
          <p:cNvSpPr/>
          <p:nvPr/>
        </p:nvSpPr>
        <p:spPr>
          <a:xfrm>
            <a:off x="10004615" y="323842"/>
            <a:ext cx="594875" cy="164183"/>
          </a:xfrm>
          <a:prstGeom prst="rect">
            <a:avLst/>
          </a:prstGeom>
          <a:solidFill>
            <a:srgbClr val="4472C4">
              <a:lumMod val="75000"/>
            </a:srgbClr>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800" b="0" i="0" u="none" strike="noStrike" kern="0" cap="none" spc="0" normalizeH="0" baseline="0" noProof="0">
                <a:ln>
                  <a:noFill/>
                </a:ln>
                <a:solidFill>
                  <a:prstClr val="white"/>
                </a:solidFill>
                <a:effectLst/>
                <a:uLnTx/>
                <a:uFillTx/>
                <a:latin typeface="+mj-ea"/>
                <a:ea typeface="+mj-ea"/>
                <a:cs typeface="メイリオ" panose="020B0604030504040204" pitchFamily="50" charset="-128"/>
              </a:rPr>
              <a:t>現行品</a:t>
            </a:r>
            <a:endParaRPr kumimoji="1" lang="ja-JP" altLang="en-US" sz="500" b="1" i="0" u="none" strike="noStrike" kern="0" cap="none" spc="0" normalizeH="0" baseline="0" noProof="0">
              <a:ln>
                <a:noFill/>
              </a:ln>
              <a:solidFill>
                <a:prstClr val="white"/>
              </a:solidFill>
              <a:effectLst/>
              <a:uLnTx/>
              <a:uFillTx/>
              <a:latin typeface="+mj-ea"/>
              <a:ea typeface="+mj-ea"/>
              <a:cs typeface="メイリオ" panose="020B0604030504040204" pitchFamily="50" charset="-128"/>
            </a:endParaRPr>
          </a:p>
        </p:txBody>
      </p:sp>
      <p:sp>
        <p:nvSpPr>
          <p:cNvPr id="43" name="正方形/長方形 42">
            <a:extLst>
              <a:ext uri="{FF2B5EF4-FFF2-40B4-BE49-F238E27FC236}">
                <a16:creationId xmlns:a16="http://schemas.microsoft.com/office/drawing/2014/main" id="{21178B08-120B-4694-1E7A-60DCC9A93044}"/>
              </a:ext>
            </a:extLst>
          </p:cNvPr>
          <p:cNvSpPr/>
          <p:nvPr/>
        </p:nvSpPr>
        <p:spPr>
          <a:xfrm>
            <a:off x="11263249" y="329858"/>
            <a:ext cx="594875" cy="164183"/>
          </a:xfrm>
          <a:prstGeom prst="rect">
            <a:avLst/>
          </a:prstGeom>
          <a:solidFill>
            <a:srgbClr val="ED7D31"/>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800" b="0" i="0" u="none" strike="noStrike" kern="0" cap="none" spc="0" normalizeH="0" baseline="0" noProof="0">
                <a:ln>
                  <a:noFill/>
                </a:ln>
                <a:solidFill>
                  <a:prstClr val="white"/>
                </a:solidFill>
                <a:effectLst/>
                <a:uLnTx/>
                <a:uFillTx/>
                <a:latin typeface="+mj-ea"/>
                <a:ea typeface="+mj-ea"/>
                <a:cs typeface="メイリオ" panose="020B0604030504040204" pitchFamily="50" charset="-128"/>
              </a:rPr>
              <a:t>予定品</a:t>
            </a:r>
            <a:endParaRPr kumimoji="1" lang="ja-JP" altLang="en-US" sz="500" b="1" i="0" u="none" strike="noStrike" kern="0" cap="none" spc="0" normalizeH="0" baseline="0" noProof="0">
              <a:ln>
                <a:noFill/>
              </a:ln>
              <a:solidFill>
                <a:prstClr val="white"/>
              </a:solidFill>
              <a:effectLst/>
              <a:uLnTx/>
              <a:uFillTx/>
              <a:latin typeface="+mj-ea"/>
              <a:ea typeface="+mj-ea"/>
              <a:cs typeface="メイリオ" panose="020B0604030504040204" pitchFamily="50" charset="-128"/>
            </a:endParaRPr>
          </a:p>
        </p:txBody>
      </p:sp>
      <p:sp>
        <p:nvSpPr>
          <p:cNvPr id="44" name="正方形/長方形 43">
            <a:extLst>
              <a:ext uri="{FF2B5EF4-FFF2-40B4-BE49-F238E27FC236}">
                <a16:creationId xmlns:a16="http://schemas.microsoft.com/office/drawing/2014/main" id="{4EBE4EE6-FA61-27F1-B6D9-7508BE8E89F7}"/>
              </a:ext>
            </a:extLst>
          </p:cNvPr>
          <p:cNvSpPr/>
          <p:nvPr/>
        </p:nvSpPr>
        <p:spPr>
          <a:xfrm>
            <a:off x="10633932" y="329858"/>
            <a:ext cx="594875" cy="164183"/>
          </a:xfrm>
          <a:prstGeom prst="rect">
            <a:avLst/>
          </a:prstGeom>
          <a:solidFill>
            <a:srgbClr val="92D050"/>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800" b="0" i="0" u="none" strike="noStrike" kern="0" cap="none" spc="0" normalizeH="0" baseline="0" noProof="0">
                <a:ln>
                  <a:noFill/>
                </a:ln>
                <a:solidFill>
                  <a:prstClr val="white"/>
                </a:solidFill>
                <a:effectLst/>
                <a:uLnTx/>
                <a:uFillTx/>
                <a:latin typeface="+mj-ea"/>
                <a:ea typeface="+mj-ea"/>
                <a:cs typeface="メイリオ" panose="020B0604030504040204" pitchFamily="50" charset="-128"/>
              </a:rPr>
              <a:t>承認済</a:t>
            </a:r>
            <a:endParaRPr kumimoji="1" lang="ja-JP" altLang="en-US" sz="500" b="1" i="0" u="none" strike="noStrike" kern="0" cap="none" spc="0" normalizeH="0" baseline="0" noProof="0">
              <a:ln>
                <a:noFill/>
              </a:ln>
              <a:solidFill>
                <a:prstClr val="white"/>
              </a:solidFill>
              <a:effectLst/>
              <a:uLnTx/>
              <a:uFillTx/>
              <a:latin typeface="+mj-ea"/>
              <a:ea typeface="+mj-ea"/>
              <a:cs typeface="メイリオ" panose="020B0604030504040204" pitchFamily="50" charset="-128"/>
            </a:endParaRPr>
          </a:p>
        </p:txBody>
      </p:sp>
      <p:sp>
        <p:nvSpPr>
          <p:cNvPr id="45" name="正方形/長方形 44">
            <a:extLst>
              <a:ext uri="{FF2B5EF4-FFF2-40B4-BE49-F238E27FC236}">
                <a16:creationId xmlns:a16="http://schemas.microsoft.com/office/drawing/2014/main" id="{CB213B29-E24E-5F1C-530B-FA4481B01F87}"/>
              </a:ext>
            </a:extLst>
          </p:cNvPr>
          <p:cNvSpPr/>
          <p:nvPr/>
        </p:nvSpPr>
        <p:spPr>
          <a:xfrm>
            <a:off x="9416592" y="4466214"/>
            <a:ext cx="1885949" cy="409576"/>
          </a:xfrm>
          <a:prstGeom prst="rect">
            <a:avLst/>
          </a:prstGeom>
          <a:solidFill>
            <a:schemeClr val="accent2"/>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400" b="1">
                <a:solidFill>
                  <a:sysClr val="window" lastClr="FFFFFF"/>
                </a:solidFill>
                <a:latin typeface="Noto Sans JP"/>
                <a:ea typeface="Noto Sans JP"/>
              </a:rPr>
              <a:t>DA7</a:t>
            </a:r>
            <a:br>
              <a:rPr lang="en-US" altLang="ja-JP" sz="1400" b="1">
                <a:solidFill>
                  <a:sysClr val="window" lastClr="FFFFFF"/>
                </a:solidFill>
                <a:latin typeface="Noto Sans JP"/>
                <a:ea typeface="Noto Sans JP"/>
              </a:rPr>
            </a:br>
            <a:r>
              <a:rPr lang="ja-JP" altLang="en-US" sz="1050" b="1">
                <a:solidFill>
                  <a:sysClr val="window" lastClr="FFFFFF"/>
                </a:solidFill>
                <a:latin typeface="Noto Sans JP"/>
                <a:ea typeface="Noto Sans JP"/>
              </a:rPr>
              <a:t>（次期</a:t>
            </a:r>
            <a:r>
              <a:rPr lang="en-US" altLang="ja-JP" sz="1050" b="1">
                <a:solidFill>
                  <a:sysClr val="window" lastClr="FFFFFF"/>
                </a:solidFill>
                <a:latin typeface="Noto Sans JP"/>
                <a:ea typeface="Noto Sans JP"/>
              </a:rPr>
              <a:t>17.0” </a:t>
            </a:r>
            <a:r>
              <a:rPr lang="ja-JP" altLang="en-US" sz="1050" b="1">
                <a:solidFill>
                  <a:sysClr val="window" lastClr="FFFFFF"/>
                </a:solidFill>
                <a:latin typeface="Noto Sans JP"/>
                <a:ea typeface="Noto Sans JP"/>
              </a:rPr>
              <a:t>ベア未定）</a:t>
            </a:r>
            <a:endParaRPr lang="en-US" altLang="ja-JP" sz="1050" b="1">
              <a:solidFill>
                <a:sysClr val="window" lastClr="FFFFFF"/>
              </a:solidFill>
              <a:latin typeface="Noto Sans JP"/>
              <a:ea typeface="Noto Sans JP"/>
            </a:endParaRPr>
          </a:p>
        </p:txBody>
      </p:sp>
      <p:sp>
        <p:nvSpPr>
          <p:cNvPr id="47" name="正方形/長方形 46">
            <a:extLst>
              <a:ext uri="{FF2B5EF4-FFF2-40B4-BE49-F238E27FC236}">
                <a16:creationId xmlns:a16="http://schemas.microsoft.com/office/drawing/2014/main" id="{AF491C4E-51DA-3597-BED2-EAFB7D0D3AD9}"/>
              </a:ext>
            </a:extLst>
          </p:cNvPr>
          <p:cNvSpPr/>
          <p:nvPr/>
        </p:nvSpPr>
        <p:spPr>
          <a:xfrm>
            <a:off x="3047434" y="3687522"/>
            <a:ext cx="1885949" cy="265013"/>
          </a:xfrm>
          <a:prstGeom prst="rect">
            <a:avLst/>
          </a:prstGeom>
          <a:solidFill>
            <a:srgbClr val="4472C4">
              <a:lumMod val="75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200" b="1">
                <a:solidFill>
                  <a:sysClr val="window" lastClr="FFFFFF"/>
                </a:solidFill>
                <a:latin typeface="Noto Sans JP"/>
                <a:ea typeface="Noto Sans JP"/>
              </a:rPr>
              <a:t>F-14LN7LA/5LA</a:t>
            </a:r>
          </a:p>
        </p:txBody>
      </p:sp>
      <p:sp>
        <p:nvSpPr>
          <p:cNvPr id="5" name="テキスト ボックス 4">
            <a:extLst>
              <a:ext uri="{FF2B5EF4-FFF2-40B4-BE49-F238E27FC236}">
                <a16:creationId xmlns:a16="http://schemas.microsoft.com/office/drawing/2014/main" id="{C03891E1-3356-95D2-3B6D-004E4A789930}"/>
              </a:ext>
            </a:extLst>
          </p:cNvPr>
          <p:cNvSpPr txBox="1"/>
          <p:nvPr/>
        </p:nvSpPr>
        <p:spPr>
          <a:xfrm>
            <a:off x="6248400" y="284516"/>
            <a:ext cx="3424335" cy="338554"/>
          </a:xfrm>
          <a:prstGeom prst="rect">
            <a:avLst/>
          </a:prstGeom>
          <a:noFill/>
        </p:spPr>
        <p:txBody>
          <a:bodyPr wrap="none" rtlCol="0">
            <a:spAutoFit/>
          </a:bodyPr>
          <a:lstStyle/>
          <a:p>
            <a:r>
              <a:rPr kumimoji="1" lang="ja-JP" altLang="en-US" sz="800">
                <a:latin typeface="BIZ UDPゴシック" panose="020B0400000000000000" pitchFamily="50" charset="-128"/>
                <a:ea typeface="BIZ UDPゴシック" panose="020B0400000000000000" pitchFamily="50" charset="-128"/>
              </a:rPr>
              <a:t>四角ワク内の </a:t>
            </a:r>
            <a:r>
              <a:rPr kumimoji="1" lang="en-US" altLang="ja-JP" sz="800">
                <a:latin typeface="BIZ UDPゴシック" panose="020B0400000000000000" pitchFamily="50" charset="-128"/>
                <a:ea typeface="BIZ UDPゴシック" panose="020B0400000000000000" pitchFamily="50" charset="-128"/>
              </a:rPr>
              <a:t>MA/MH/MU/DA/DH/DU </a:t>
            </a:r>
            <a:r>
              <a:rPr kumimoji="1" lang="ja-JP" altLang="en-US" sz="800">
                <a:latin typeface="BIZ UDPゴシック" panose="020B0400000000000000" pitchFamily="50" charset="-128"/>
                <a:ea typeface="BIZ UDPゴシック" panose="020B0400000000000000" pitchFamily="50" charset="-128"/>
              </a:rPr>
              <a:t>は</a:t>
            </a:r>
            <a:r>
              <a:rPr lang="ja-JP" altLang="en-US" sz="800">
                <a:latin typeface="BIZ UDPゴシック" panose="020B0400000000000000" pitchFamily="50" charset="-128"/>
                <a:ea typeface="BIZ UDPゴシック" panose="020B0400000000000000" pitchFamily="50" charset="-128"/>
              </a:rPr>
              <a:t>　</a:t>
            </a:r>
            <a:r>
              <a:rPr lang="en-US" altLang="ja-JP" sz="800">
                <a:latin typeface="BIZ UDPゴシック" panose="020B0400000000000000" pitchFamily="50" charset="-128"/>
                <a:ea typeface="BIZ UDPゴシック" panose="020B0400000000000000" pitchFamily="50" charset="-128"/>
              </a:rPr>
              <a:t>8/27</a:t>
            </a:r>
            <a:r>
              <a:rPr lang="ja-JP" altLang="en-US" sz="800">
                <a:latin typeface="BIZ UDPゴシック" panose="020B0400000000000000" pitchFamily="50" charset="-128"/>
                <a:ea typeface="BIZ UDPゴシック" panose="020B0400000000000000" pitchFamily="50" charset="-128"/>
              </a:rPr>
              <a:t>発表製品以降より</a:t>
            </a:r>
            <a:endParaRPr lang="en-US" altLang="ja-JP" sz="800">
              <a:latin typeface="BIZ UDPゴシック" panose="020B0400000000000000" pitchFamily="50" charset="-128"/>
              <a:ea typeface="BIZ UDPゴシック" panose="020B0400000000000000" pitchFamily="50" charset="-128"/>
            </a:endParaRPr>
          </a:p>
          <a:p>
            <a:r>
              <a:rPr lang="ja-JP" altLang="en-US" sz="800">
                <a:latin typeface="BIZ UDPゴシック" panose="020B0400000000000000" pitchFamily="50" charset="-128"/>
                <a:ea typeface="BIZ UDPゴシック" panose="020B0400000000000000" pitchFamily="50" charset="-128"/>
              </a:rPr>
              <a:t>適用される新たな「製品名」の先頭</a:t>
            </a:r>
            <a:r>
              <a:rPr lang="en-US" altLang="ja-JP" sz="800">
                <a:latin typeface="BIZ UDPゴシック" panose="020B0400000000000000" pitchFamily="50" charset="-128"/>
                <a:ea typeface="BIZ UDPゴシック" panose="020B0400000000000000" pitchFamily="50" charset="-128"/>
              </a:rPr>
              <a:t>2</a:t>
            </a:r>
            <a:r>
              <a:rPr lang="ja-JP" altLang="en-US" sz="800">
                <a:latin typeface="BIZ UDPゴシック" panose="020B0400000000000000" pitchFamily="50" charset="-128"/>
                <a:ea typeface="BIZ UDPゴシック" panose="020B0400000000000000" pitchFamily="50" charset="-128"/>
              </a:rPr>
              <a:t>文字を用いた略称</a:t>
            </a:r>
            <a:endParaRPr lang="en-US" altLang="ja-JP" sz="800">
              <a:latin typeface="BIZ UDPゴシック" panose="020B0400000000000000" pitchFamily="50" charset="-128"/>
              <a:ea typeface="BIZ UDPゴシック" panose="020B0400000000000000" pitchFamily="50" charset="-128"/>
            </a:endParaRPr>
          </a:p>
        </p:txBody>
      </p:sp>
      <p:sp>
        <p:nvSpPr>
          <p:cNvPr id="49" name="正方形/長方形 48">
            <a:extLst>
              <a:ext uri="{FF2B5EF4-FFF2-40B4-BE49-F238E27FC236}">
                <a16:creationId xmlns:a16="http://schemas.microsoft.com/office/drawing/2014/main" id="{70D68B76-2310-0F44-0408-C4F55E8678E8}"/>
              </a:ext>
            </a:extLst>
          </p:cNvPr>
          <p:cNvSpPr/>
          <p:nvPr/>
        </p:nvSpPr>
        <p:spPr>
          <a:xfrm>
            <a:off x="7360207" y="1155044"/>
            <a:ext cx="2150264" cy="431565"/>
          </a:xfrm>
          <a:prstGeom prst="rect">
            <a:avLst/>
          </a:prstGeom>
          <a:solidFill>
            <a:schemeClr val="accent2"/>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400" b="1">
                <a:solidFill>
                  <a:sysClr val="window" lastClr="FFFFFF"/>
                </a:solidFill>
                <a:latin typeface="Noto Sans JP"/>
                <a:ea typeface="Noto Sans JP"/>
              </a:rPr>
              <a:t>BDU6</a:t>
            </a:r>
          </a:p>
          <a:p>
            <a:pPr algn="ctr">
              <a:defRPr/>
            </a:pPr>
            <a:r>
              <a:rPr lang="ja-JP" altLang="en-US" sz="1200" b="1">
                <a:solidFill>
                  <a:sysClr val="window" lastClr="FFFFFF"/>
                </a:solidFill>
                <a:latin typeface="Noto Sans JP"/>
                <a:ea typeface="Noto Sans JP"/>
              </a:rPr>
              <a:t>’</a:t>
            </a:r>
            <a:r>
              <a:rPr lang="en-US" altLang="ja-JP" sz="1200" b="1">
                <a:solidFill>
                  <a:sysClr val="window" lastClr="FFFFFF"/>
                </a:solidFill>
                <a:latin typeface="Noto Sans JP"/>
                <a:ea typeface="Noto Sans JP"/>
              </a:rPr>
              <a:t>27</a:t>
            </a:r>
            <a:r>
              <a:rPr lang="ja-JP" altLang="en-US" sz="1200" b="1">
                <a:solidFill>
                  <a:sysClr val="window" lastClr="FFFFFF"/>
                </a:solidFill>
                <a:latin typeface="Noto Sans JP"/>
                <a:ea typeface="Noto Sans JP"/>
              </a:rPr>
              <a:t>年 法人向け</a:t>
            </a:r>
            <a:r>
              <a:rPr lang="en-US" altLang="ja-JP" sz="1200" b="1" err="1">
                <a:solidFill>
                  <a:sysClr val="window" lastClr="FFFFFF"/>
                </a:solidFill>
                <a:latin typeface="Noto Sans JP"/>
                <a:ea typeface="Noto Sans JP"/>
              </a:rPr>
              <a:t>dGPU</a:t>
            </a:r>
            <a:r>
              <a:rPr lang="ja-JP" altLang="en-US" sz="1200" b="1">
                <a:solidFill>
                  <a:sysClr val="window" lastClr="FFFFFF"/>
                </a:solidFill>
                <a:latin typeface="Noto Sans JP"/>
                <a:ea typeface="Noto Sans JP"/>
              </a:rPr>
              <a:t>搭載機</a:t>
            </a:r>
            <a:endParaRPr lang="en-US" altLang="ja-JP" sz="1200" b="1">
              <a:solidFill>
                <a:sysClr val="window" lastClr="FFFFFF"/>
              </a:solidFill>
              <a:latin typeface="Noto Sans JP"/>
              <a:ea typeface="Noto Sans JP"/>
            </a:endParaRPr>
          </a:p>
        </p:txBody>
      </p:sp>
      <p:sp>
        <p:nvSpPr>
          <p:cNvPr id="52" name="正方形/長方形 51">
            <a:extLst>
              <a:ext uri="{FF2B5EF4-FFF2-40B4-BE49-F238E27FC236}">
                <a16:creationId xmlns:a16="http://schemas.microsoft.com/office/drawing/2014/main" id="{46196289-A935-36A0-479D-93AF62BD89A3}"/>
              </a:ext>
            </a:extLst>
          </p:cNvPr>
          <p:cNvSpPr/>
          <p:nvPr/>
        </p:nvSpPr>
        <p:spPr>
          <a:xfrm>
            <a:off x="7476634" y="1640121"/>
            <a:ext cx="1885949" cy="228291"/>
          </a:xfrm>
          <a:prstGeom prst="rect">
            <a:avLst/>
          </a:prstGeom>
          <a:solidFill>
            <a:srgbClr val="4472C4">
              <a:lumMod val="75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200" b="1">
                <a:solidFill>
                  <a:sysClr val="window" lastClr="FFFFFF"/>
                </a:solidFill>
                <a:latin typeface="Noto Sans JP"/>
                <a:ea typeface="Noto Sans JP"/>
              </a:rPr>
              <a:t>DX-16RP7A-6</a:t>
            </a:r>
          </a:p>
        </p:txBody>
      </p:sp>
      <p:sp>
        <p:nvSpPr>
          <p:cNvPr id="53" name="正方形/長方形 52">
            <a:extLst>
              <a:ext uri="{FF2B5EF4-FFF2-40B4-BE49-F238E27FC236}">
                <a16:creationId xmlns:a16="http://schemas.microsoft.com/office/drawing/2014/main" id="{91676767-AABF-411F-1F17-4BF91FD750B9}"/>
              </a:ext>
            </a:extLst>
          </p:cNvPr>
          <p:cNvSpPr/>
          <p:nvPr/>
        </p:nvSpPr>
        <p:spPr>
          <a:xfrm>
            <a:off x="9431269" y="4931713"/>
            <a:ext cx="1885949" cy="265013"/>
          </a:xfrm>
          <a:prstGeom prst="rect">
            <a:avLst/>
          </a:prstGeom>
          <a:solidFill>
            <a:srgbClr val="4472C4">
              <a:lumMod val="75000"/>
            </a:srgb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200" b="1">
                <a:solidFill>
                  <a:sysClr val="window" lastClr="FFFFFF"/>
                </a:solidFill>
                <a:latin typeface="Noto Sans JP"/>
                <a:ea typeface="Noto Sans JP"/>
              </a:rPr>
              <a:t>DX-17RP5A</a:t>
            </a:r>
          </a:p>
        </p:txBody>
      </p:sp>
      <p:sp>
        <p:nvSpPr>
          <p:cNvPr id="14" name="正方形/長方形 13">
            <a:extLst>
              <a:ext uri="{FF2B5EF4-FFF2-40B4-BE49-F238E27FC236}">
                <a16:creationId xmlns:a16="http://schemas.microsoft.com/office/drawing/2014/main" id="{B8453A1C-29A1-3DD4-BE62-FE3574A92F1F}"/>
              </a:ext>
            </a:extLst>
          </p:cNvPr>
          <p:cNvSpPr/>
          <p:nvPr/>
        </p:nvSpPr>
        <p:spPr>
          <a:xfrm>
            <a:off x="3064852" y="1238863"/>
            <a:ext cx="1885949" cy="549389"/>
          </a:xfrm>
          <a:prstGeom prst="rect">
            <a:avLst/>
          </a:prstGeom>
          <a:solidFill>
            <a:schemeClr val="accent4">
              <a:lumMod val="20000"/>
              <a:lumOff val="80000"/>
            </a:scheme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rgbClr val="C00000"/>
                </a:solidFill>
                <a:latin typeface="Noto Sans JP"/>
                <a:ea typeface="Noto Sans JP"/>
              </a:rPr>
              <a:t>BMU4</a:t>
            </a:r>
          </a:p>
          <a:p>
            <a:pPr algn="ctr">
              <a:defRPr/>
            </a:pPr>
            <a:r>
              <a:rPr lang="en-US" altLang="ja-JP" sz="1200" b="1">
                <a:solidFill>
                  <a:srgbClr val="C00000"/>
                </a:solidFill>
                <a:latin typeface="Noto Sans JP"/>
                <a:ea typeface="Noto Sans JP"/>
              </a:rPr>
              <a:t>’27</a:t>
            </a:r>
            <a:r>
              <a:rPr lang="ja-JP" altLang="en-US" sz="1200" b="1">
                <a:solidFill>
                  <a:srgbClr val="C00000"/>
                </a:solidFill>
                <a:latin typeface="Noto Sans JP"/>
                <a:ea typeface="Noto Sans JP"/>
              </a:rPr>
              <a:t>年 法人文教向け</a:t>
            </a:r>
            <a:r>
              <a:rPr lang="en-US" altLang="ja-JP" sz="1200" b="1">
                <a:solidFill>
                  <a:srgbClr val="C00000"/>
                </a:solidFill>
                <a:latin typeface="Noto Sans JP"/>
                <a:ea typeface="Noto Sans JP"/>
              </a:rPr>
              <a:t>14”  </a:t>
            </a:r>
          </a:p>
        </p:txBody>
      </p:sp>
      <p:sp>
        <p:nvSpPr>
          <p:cNvPr id="16" name="正方形/長方形 15">
            <a:extLst>
              <a:ext uri="{FF2B5EF4-FFF2-40B4-BE49-F238E27FC236}">
                <a16:creationId xmlns:a16="http://schemas.microsoft.com/office/drawing/2014/main" id="{07619569-BFA2-980A-5FB8-9C5DB4F7684A}"/>
              </a:ext>
            </a:extLst>
          </p:cNvPr>
          <p:cNvSpPr/>
          <p:nvPr/>
        </p:nvSpPr>
        <p:spPr>
          <a:xfrm>
            <a:off x="3044401" y="4868011"/>
            <a:ext cx="1885949" cy="549389"/>
          </a:xfrm>
          <a:prstGeom prst="rect">
            <a:avLst/>
          </a:prstGeom>
          <a:solidFill>
            <a:schemeClr val="accent4">
              <a:lumMod val="20000"/>
              <a:lumOff val="80000"/>
            </a:scheme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rgbClr val="C00000"/>
                </a:solidFill>
                <a:latin typeface="Noto Sans JP"/>
                <a:ea typeface="Noto Sans JP"/>
              </a:rPr>
              <a:t>MA4/BMA4</a:t>
            </a:r>
          </a:p>
          <a:p>
            <a:pPr algn="ctr">
              <a:defRPr/>
            </a:pPr>
            <a:r>
              <a:rPr lang="en-US" altLang="ja-JP" sz="1200" b="1">
                <a:solidFill>
                  <a:srgbClr val="C00000"/>
                </a:solidFill>
                <a:latin typeface="Noto Sans JP"/>
                <a:ea typeface="Noto Sans JP"/>
              </a:rPr>
              <a:t>’27</a:t>
            </a:r>
            <a:r>
              <a:rPr lang="ja-JP" altLang="en-US" sz="1200" b="1">
                <a:solidFill>
                  <a:srgbClr val="C00000"/>
                </a:solidFill>
                <a:latin typeface="Noto Sans JP"/>
                <a:ea typeface="Noto Sans JP"/>
              </a:rPr>
              <a:t>年 </a:t>
            </a:r>
            <a:r>
              <a:rPr lang="en-US" altLang="ja-JP" sz="1200" b="1">
                <a:solidFill>
                  <a:srgbClr val="C00000"/>
                </a:solidFill>
                <a:latin typeface="Noto Sans JP"/>
                <a:ea typeface="Noto Sans JP"/>
              </a:rPr>
              <a:t>1kg</a:t>
            </a:r>
            <a:r>
              <a:rPr lang="ja-JP" altLang="en-US" sz="1200" b="1">
                <a:solidFill>
                  <a:srgbClr val="C00000"/>
                </a:solidFill>
                <a:latin typeface="Noto Sans JP"/>
                <a:ea typeface="Noto Sans JP"/>
              </a:rPr>
              <a:t>以下低価格機</a:t>
            </a:r>
            <a:r>
              <a:rPr lang="en-US" altLang="ja-JP" sz="1200" b="1">
                <a:solidFill>
                  <a:srgbClr val="C00000"/>
                </a:solidFill>
                <a:latin typeface="Noto Sans JP"/>
                <a:ea typeface="Noto Sans JP"/>
              </a:rPr>
              <a:t>  </a:t>
            </a:r>
          </a:p>
        </p:txBody>
      </p:sp>
      <p:sp>
        <p:nvSpPr>
          <p:cNvPr id="25" name="正方形/長方形 24">
            <a:extLst>
              <a:ext uri="{FF2B5EF4-FFF2-40B4-BE49-F238E27FC236}">
                <a16:creationId xmlns:a16="http://schemas.microsoft.com/office/drawing/2014/main" id="{7D5052DB-13DD-833A-663A-EC737AF439E8}"/>
              </a:ext>
            </a:extLst>
          </p:cNvPr>
          <p:cNvSpPr/>
          <p:nvPr/>
        </p:nvSpPr>
        <p:spPr>
          <a:xfrm>
            <a:off x="5540873" y="5280705"/>
            <a:ext cx="1885949" cy="549389"/>
          </a:xfrm>
          <a:prstGeom prst="rect">
            <a:avLst/>
          </a:prstGeom>
          <a:solidFill>
            <a:schemeClr val="accent4">
              <a:lumMod val="20000"/>
              <a:lumOff val="80000"/>
            </a:scheme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rgbClr val="C00000"/>
                </a:solidFill>
                <a:latin typeface="Noto Sans JP"/>
                <a:ea typeface="Noto Sans JP"/>
              </a:rPr>
              <a:t>DA5/BDA5</a:t>
            </a:r>
          </a:p>
          <a:p>
            <a:pPr algn="ctr">
              <a:defRPr/>
            </a:pPr>
            <a:r>
              <a:rPr lang="en-US" altLang="ja-JP" sz="1200" b="1">
                <a:solidFill>
                  <a:srgbClr val="C00000"/>
                </a:solidFill>
                <a:latin typeface="Noto Sans JP"/>
                <a:ea typeface="Noto Sans JP"/>
              </a:rPr>
              <a:t>’27</a:t>
            </a:r>
            <a:r>
              <a:rPr lang="ja-JP" altLang="en-US" sz="1200" b="1">
                <a:solidFill>
                  <a:srgbClr val="C00000"/>
                </a:solidFill>
                <a:latin typeface="Noto Sans JP"/>
                <a:ea typeface="Noto Sans JP"/>
              </a:rPr>
              <a:t>年 </a:t>
            </a:r>
            <a:r>
              <a:rPr lang="en-US" altLang="ja-JP" sz="1200" b="1">
                <a:solidFill>
                  <a:srgbClr val="C00000"/>
                </a:solidFill>
                <a:latin typeface="Noto Sans JP"/>
                <a:ea typeface="Noto Sans JP"/>
              </a:rPr>
              <a:t>10</a:t>
            </a:r>
            <a:r>
              <a:rPr lang="ja-JP" altLang="en-US" sz="1200" b="1">
                <a:solidFill>
                  <a:srgbClr val="C00000"/>
                </a:solidFill>
                <a:latin typeface="Noto Sans JP"/>
                <a:ea typeface="Noto Sans JP"/>
              </a:rPr>
              <a:t>万円以下製品</a:t>
            </a:r>
            <a:r>
              <a:rPr lang="en-US" altLang="ja-JP" sz="1200" b="1">
                <a:solidFill>
                  <a:srgbClr val="C00000"/>
                </a:solidFill>
                <a:latin typeface="Noto Sans JP"/>
                <a:ea typeface="Noto Sans JP"/>
              </a:rPr>
              <a:t>  </a:t>
            </a:r>
          </a:p>
        </p:txBody>
      </p:sp>
      <p:sp>
        <p:nvSpPr>
          <p:cNvPr id="37" name="正方形/長方形 36">
            <a:extLst>
              <a:ext uri="{FF2B5EF4-FFF2-40B4-BE49-F238E27FC236}">
                <a16:creationId xmlns:a16="http://schemas.microsoft.com/office/drawing/2014/main" id="{DDD207E6-768D-6987-459A-177A16EB17E0}"/>
              </a:ext>
            </a:extLst>
          </p:cNvPr>
          <p:cNvSpPr/>
          <p:nvPr/>
        </p:nvSpPr>
        <p:spPr>
          <a:xfrm>
            <a:off x="9527661" y="1150536"/>
            <a:ext cx="1252633" cy="549389"/>
          </a:xfrm>
          <a:prstGeom prst="rect">
            <a:avLst/>
          </a:prstGeom>
          <a:solidFill>
            <a:schemeClr val="accent4">
              <a:lumMod val="20000"/>
              <a:lumOff val="80000"/>
            </a:scheme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sz="1100" b="1">
                <a:solidFill>
                  <a:srgbClr val="C00000"/>
                </a:solidFill>
                <a:latin typeface="Noto Sans JP"/>
                <a:ea typeface="Noto Sans JP"/>
              </a:rPr>
              <a:t>BDU6</a:t>
            </a:r>
            <a:r>
              <a:rPr lang="ja-JP" altLang="en-US" sz="1100" b="1">
                <a:solidFill>
                  <a:srgbClr val="C00000"/>
                </a:solidFill>
                <a:latin typeface="Noto Sans JP"/>
                <a:ea typeface="Noto Sans JP"/>
              </a:rPr>
              <a:t>は</a:t>
            </a:r>
            <a:r>
              <a:rPr lang="en-US" altLang="ja-JP" sz="1100" b="1">
                <a:solidFill>
                  <a:srgbClr val="C00000"/>
                </a:solidFill>
                <a:latin typeface="Noto Sans JP"/>
                <a:ea typeface="Noto Sans JP"/>
              </a:rPr>
              <a:t>3</a:t>
            </a:r>
            <a:r>
              <a:rPr lang="ja-JP" altLang="en-US" sz="1100" b="1">
                <a:solidFill>
                  <a:srgbClr val="C00000"/>
                </a:solidFill>
                <a:latin typeface="Noto Sans JP"/>
                <a:ea typeface="Noto Sans JP"/>
              </a:rPr>
              <a:t>種要望</a:t>
            </a:r>
            <a:endParaRPr lang="en-US" altLang="ja-JP" sz="1100" b="1">
              <a:solidFill>
                <a:srgbClr val="C00000"/>
              </a:solidFill>
              <a:latin typeface="Noto Sans JP"/>
              <a:ea typeface="Noto Sans JP"/>
            </a:endParaRPr>
          </a:p>
          <a:p>
            <a:pPr algn="ctr">
              <a:defRPr/>
            </a:pPr>
            <a:r>
              <a:rPr lang="en-US" altLang="ja-JP" sz="900" b="1">
                <a:solidFill>
                  <a:srgbClr val="C00000"/>
                </a:solidFill>
                <a:latin typeface="Noto Sans JP"/>
                <a:ea typeface="Noto Sans JP"/>
              </a:rPr>
              <a:t>Intel xxx + 5070 12G / 5060 / 3050</a:t>
            </a:r>
          </a:p>
        </p:txBody>
      </p:sp>
      <p:sp>
        <p:nvSpPr>
          <p:cNvPr id="41" name="正方形/長方形 40">
            <a:extLst>
              <a:ext uri="{FF2B5EF4-FFF2-40B4-BE49-F238E27FC236}">
                <a16:creationId xmlns:a16="http://schemas.microsoft.com/office/drawing/2014/main" id="{FB7C68FD-4A0E-087B-F483-B690B5A8EA48}"/>
              </a:ext>
            </a:extLst>
          </p:cNvPr>
          <p:cNvSpPr/>
          <p:nvPr/>
        </p:nvSpPr>
        <p:spPr>
          <a:xfrm>
            <a:off x="7475445" y="4191521"/>
            <a:ext cx="1885949" cy="539642"/>
          </a:xfrm>
          <a:prstGeom prst="rect">
            <a:avLst/>
          </a:prstGeom>
          <a:solidFill>
            <a:schemeClr val="accent4">
              <a:lumMod val="20000"/>
              <a:lumOff val="80000"/>
            </a:schemeClr>
          </a:solidFill>
          <a:ln w="12700" cap="flat" cmpd="sng" algn="ctr">
            <a:solidFill>
              <a:srgbClr val="4472C4">
                <a:shade val="15000"/>
              </a:srgbClr>
            </a:solidFill>
            <a:prstDash val="solid"/>
            <a:miter lim="800000"/>
          </a:ln>
          <a:effectLst/>
        </p:spPr>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defRPr/>
            </a:pPr>
            <a:r>
              <a:rPr lang="en-US" altLang="ja-JP" b="1">
                <a:solidFill>
                  <a:srgbClr val="C00000"/>
                </a:solidFill>
                <a:latin typeface="Noto Sans JP"/>
                <a:ea typeface="Noto Sans JP"/>
              </a:rPr>
              <a:t>DA6/BDA6</a:t>
            </a:r>
          </a:p>
          <a:p>
            <a:pPr algn="ctr">
              <a:defRPr/>
            </a:pPr>
            <a:r>
              <a:rPr lang="en-US" altLang="ja-JP" sz="1200" b="1">
                <a:solidFill>
                  <a:srgbClr val="C00000"/>
                </a:solidFill>
                <a:latin typeface="Noto Sans JP"/>
                <a:ea typeface="Noto Sans JP"/>
              </a:rPr>
              <a:t>Pegatron</a:t>
            </a:r>
            <a:r>
              <a:rPr lang="ja-JP" altLang="en-US" sz="1200" b="1">
                <a:solidFill>
                  <a:srgbClr val="C00000"/>
                </a:solidFill>
                <a:latin typeface="Noto Sans JP"/>
                <a:ea typeface="Noto Sans JP"/>
              </a:rPr>
              <a:t>モジュール機</a:t>
            </a:r>
            <a:r>
              <a:rPr lang="en-US" altLang="ja-JP" sz="1200" b="1">
                <a:solidFill>
                  <a:srgbClr val="C00000"/>
                </a:solidFill>
                <a:latin typeface="Noto Sans JP"/>
                <a:ea typeface="Noto Sans JP"/>
              </a:rPr>
              <a:t>  </a:t>
            </a:r>
          </a:p>
        </p:txBody>
      </p:sp>
      <p:sp>
        <p:nvSpPr>
          <p:cNvPr id="55" name="テキスト ボックス 54">
            <a:extLst>
              <a:ext uri="{FF2B5EF4-FFF2-40B4-BE49-F238E27FC236}">
                <a16:creationId xmlns:a16="http://schemas.microsoft.com/office/drawing/2014/main" id="{E1073AE9-3D56-8BB6-8E4E-21A29185A988}"/>
              </a:ext>
            </a:extLst>
          </p:cNvPr>
          <p:cNvSpPr txBox="1"/>
          <p:nvPr/>
        </p:nvSpPr>
        <p:spPr>
          <a:xfrm>
            <a:off x="2912193" y="2101945"/>
            <a:ext cx="5465351" cy="276999"/>
          </a:xfrm>
          <a:prstGeom prst="rect">
            <a:avLst/>
          </a:prstGeom>
          <a:solidFill>
            <a:schemeClr val="accent4"/>
          </a:solidFill>
        </p:spPr>
        <p:txBody>
          <a:bodyPr wrap="square">
            <a:spAutoFit/>
          </a:bodyPr>
          <a:lstStyle/>
          <a:p>
            <a:pPr algn="ctr">
              <a:defRPr/>
            </a:pPr>
            <a:r>
              <a:rPr lang="ja-JP" altLang="en-US" sz="1200">
                <a:solidFill>
                  <a:sysClr val="windowText" lastClr="000000"/>
                </a:solidFill>
                <a:latin typeface="BIZ UDPゴシック" panose="020B0400000000000000" pitchFamily="50" charset="-128"/>
                <a:ea typeface="BIZ UDPゴシック" panose="020B0400000000000000" pitchFamily="50" charset="-128"/>
              </a:rPr>
              <a:t>法人向け製品は各カテゴリ名の先頭に</a:t>
            </a:r>
            <a:r>
              <a:rPr lang="en-US" altLang="ja-JP" sz="1200">
                <a:solidFill>
                  <a:sysClr val="windowText" lastClr="000000"/>
                </a:solidFill>
                <a:latin typeface="BIZ UDPゴシック" panose="020B0400000000000000" pitchFamily="50" charset="-128"/>
                <a:ea typeface="BIZ UDPゴシック" panose="020B0400000000000000" pitchFamily="50" charset="-128"/>
              </a:rPr>
              <a:t>”B”</a:t>
            </a:r>
            <a:r>
              <a:rPr lang="ja-JP" altLang="en-US" sz="1200">
                <a:solidFill>
                  <a:sysClr val="windowText" lastClr="000000"/>
                </a:solidFill>
                <a:latin typeface="BIZ UDPゴシック" panose="020B0400000000000000" pitchFamily="50" charset="-128"/>
                <a:ea typeface="BIZ UDPゴシック" panose="020B0400000000000000" pitchFamily="50" charset="-128"/>
              </a:rPr>
              <a:t>を付けることで明確に区分</a:t>
            </a:r>
          </a:p>
        </p:txBody>
      </p:sp>
      <p:sp>
        <p:nvSpPr>
          <p:cNvPr id="46" name="正方形/長方形 45">
            <a:extLst>
              <a:ext uri="{FF2B5EF4-FFF2-40B4-BE49-F238E27FC236}">
                <a16:creationId xmlns:a16="http://schemas.microsoft.com/office/drawing/2014/main" id="{BEFB45F3-BA78-61D1-9B84-196C216D7D27}"/>
              </a:ext>
            </a:extLst>
          </p:cNvPr>
          <p:cNvSpPr/>
          <p:nvPr/>
        </p:nvSpPr>
        <p:spPr>
          <a:xfrm>
            <a:off x="11263249" y="547553"/>
            <a:ext cx="594875" cy="164183"/>
          </a:xfrm>
          <a:prstGeom prst="rect">
            <a:avLst/>
          </a:prstGeom>
          <a:solidFill>
            <a:schemeClr val="accent4">
              <a:lumMod val="20000"/>
              <a:lumOff val="80000"/>
            </a:schemeClr>
          </a:solid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800" b="0" i="0" u="none" strike="noStrike" kern="0" cap="none" spc="0" normalizeH="0" baseline="0" noProof="0">
                <a:ln>
                  <a:noFill/>
                </a:ln>
                <a:solidFill>
                  <a:srgbClr val="C00000"/>
                </a:solidFill>
                <a:effectLst/>
                <a:uLnTx/>
                <a:uFillTx/>
                <a:latin typeface="+mj-ea"/>
                <a:ea typeface="+mj-ea"/>
                <a:cs typeface="メイリオ" panose="020B0604030504040204" pitchFamily="50" charset="-128"/>
              </a:rPr>
              <a:t>将来計画</a:t>
            </a:r>
            <a:endParaRPr kumimoji="1" lang="ja-JP" altLang="en-US" sz="500" b="1" i="0" u="none" strike="noStrike" kern="0" cap="none" spc="0" normalizeH="0" baseline="0" noProof="0">
              <a:ln>
                <a:noFill/>
              </a:ln>
              <a:solidFill>
                <a:srgbClr val="C00000"/>
              </a:solidFill>
              <a:effectLst/>
              <a:uLnTx/>
              <a:uFillTx/>
              <a:latin typeface="+mj-ea"/>
              <a:ea typeface="+mj-ea"/>
              <a:cs typeface="メイリオ" panose="020B0604030504040204" pitchFamily="50" charset="-128"/>
            </a:endParaRPr>
          </a:p>
        </p:txBody>
      </p:sp>
      <p:sp>
        <p:nvSpPr>
          <p:cNvPr id="2" name="四角形: 角を丸くする 1">
            <a:extLst>
              <a:ext uri="{FF2B5EF4-FFF2-40B4-BE49-F238E27FC236}">
                <a16:creationId xmlns:a16="http://schemas.microsoft.com/office/drawing/2014/main" id="{463004F8-64F8-3D47-DF3E-2121390843FB}"/>
              </a:ext>
            </a:extLst>
          </p:cNvPr>
          <p:cNvSpPr/>
          <p:nvPr/>
        </p:nvSpPr>
        <p:spPr>
          <a:xfrm>
            <a:off x="264171" y="250259"/>
            <a:ext cx="3325311" cy="76178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a:t>6/24</a:t>
            </a:r>
            <a:r>
              <a:rPr kumimoji="1" lang="ja-JP" altLang="en-US"/>
              <a:t>引継ぎ時</a:t>
            </a:r>
          </a:p>
        </p:txBody>
      </p:sp>
    </p:spTree>
    <p:extLst>
      <p:ext uri="{BB962C8B-B14F-4D97-AF65-F5344CB8AC3E}">
        <p14:creationId xmlns:p14="http://schemas.microsoft.com/office/powerpoint/2010/main" val="12838725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矢印: 五方向 30">
            <a:extLst>
              <a:ext uri="{FF2B5EF4-FFF2-40B4-BE49-F238E27FC236}">
                <a16:creationId xmlns:a16="http://schemas.microsoft.com/office/drawing/2014/main" id="{18DCD3D8-2C56-5D59-B5C5-9061B44E7842}"/>
              </a:ext>
            </a:extLst>
          </p:cNvPr>
          <p:cNvSpPr/>
          <p:nvPr/>
        </p:nvSpPr>
        <p:spPr>
          <a:xfrm>
            <a:off x="402224" y="1763387"/>
            <a:ext cx="11537044" cy="1735992"/>
          </a:xfrm>
          <a:prstGeom prst="rect">
            <a:avLst/>
          </a:prstGeom>
          <a:solidFill>
            <a:schemeClr val="accent6">
              <a:lumMod val="40000"/>
              <a:lumOff val="6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矢印: 五方向 30">
            <a:extLst>
              <a:ext uri="{FF2B5EF4-FFF2-40B4-BE49-F238E27FC236}">
                <a16:creationId xmlns:a16="http://schemas.microsoft.com/office/drawing/2014/main" id="{67C9D39E-F8AD-B8C3-A4EB-14823D660E6E}"/>
              </a:ext>
            </a:extLst>
          </p:cNvPr>
          <p:cNvSpPr/>
          <p:nvPr/>
        </p:nvSpPr>
        <p:spPr>
          <a:xfrm>
            <a:off x="366082" y="3546430"/>
            <a:ext cx="11537044" cy="3225920"/>
          </a:xfrm>
          <a:prstGeom prst="rect">
            <a:avLst/>
          </a:prstGeom>
          <a:solidFill>
            <a:schemeClr val="tx1">
              <a:lumMod val="50000"/>
              <a:lumOff val="5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1">
            <a:extLst>
              <a:ext uri="{FF2B5EF4-FFF2-40B4-BE49-F238E27FC236}">
                <a16:creationId xmlns:a16="http://schemas.microsoft.com/office/drawing/2014/main" id="{71D63655-7648-34C1-087C-D63E5E031465}"/>
              </a:ext>
            </a:extLst>
          </p:cNvPr>
          <p:cNvSpPr txBox="1"/>
          <p:nvPr/>
        </p:nvSpPr>
        <p:spPr>
          <a:xfrm>
            <a:off x="316084" y="97797"/>
            <a:ext cx="6494905" cy="338554"/>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r>
              <a:rPr kumimoji="1" lang="ja-JP" altLang="en-US" sz="16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次期検討用ロードマップ（</a:t>
            </a:r>
            <a:r>
              <a:rPr kumimoji="1" lang="en-US" altLang="ja-JP" sz="16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2026~2028</a:t>
            </a:r>
            <a:r>
              <a:rPr kumimoji="1" lang="ja-JP" altLang="en-US" sz="16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a:t>
            </a:r>
            <a:r>
              <a:rPr lang="ja-JP" altLang="en-US" sz="1600" b="1">
                <a:solidFill>
                  <a:prstClr val="black"/>
                </a:solidFill>
              </a:rPr>
              <a:t> </a:t>
            </a:r>
            <a:r>
              <a:rPr lang="en-US" altLang="ja-JP" sz="1600" b="1">
                <a:solidFill>
                  <a:prstClr val="black"/>
                </a:solidFill>
              </a:rPr>
              <a:t>2026/06/22</a:t>
            </a:r>
            <a:r>
              <a:rPr lang="ja-JP" altLang="en-US" sz="1600" b="1">
                <a:solidFill>
                  <a:prstClr val="black"/>
                </a:solidFill>
              </a:rPr>
              <a:t>版</a:t>
            </a:r>
            <a:endParaRPr kumimoji="1" lang="ja-JP" altLang="en-US" sz="16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cxnSp>
        <p:nvCxnSpPr>
          <p:cNvPr id="6" name="直線コネクタ 5">
            <a:extLst>
              <a:ext uri="{FF2B5EF4-FFF2-40B4-BE49-F238E27FC236}">
                <a16:creationId xmlns:a16="http://schemas.microsoft.com/office/drawing/2014/main" id="{763F2E25-6DE4-7D6E-D0BA-4917DAE6BF8D}"/>
              </a:ext>
            </a:extLst>
          </p:cNvPr>
          <p:cNvCxnSpPr>
            <a:cxnSpLocks/>
          </p:cNvCxnSpPr>
          <p:nvPr/>
        </p:nvCxnSpPr>
        <p:spPr>
          <a:xfrm>
            <a:off x="8090023" y="1794412"/>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A5608288-6025-7081-6C7D-DDAA629E0606}"/>
              </a:ext>
            </a:extLst>
          </p:cNvPr>
          <p:cNvCxnSpPr>
            <a:cxnSpLocks/>
          </p:cNvCxnSpPr>
          <p:nvPr/>
        </p:nvCxnSpPr>
        <p:spPr>
          <a:xfrm>
            <a:off x="4243077" y="1794412"/>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20B77AE9-6CFA-C094-944E-2054D3545458}"/>
              </a:ext>
            </a:extLst>
          </p:cNvPr>
          <p:cNvCxnSpPr>
            <a:cxnSpLocks/>
          </p:cNvCxnSpPr>
          <p:nvPr/>
        </p:nvCxnSpPr>
        <p:spPr>
          <a:xfrm>
            <a:off x="405461" y="1285468"/>
            <a:ext cx="0" cy="541489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7" name="矢印: 五方向 16">
            <a:extLst>
              <a:ext uri="{FF2B5EF4-FFF2-40B4-BE49-F238E27FC236}">
                <a16:creationId xmlns:a16="http://schemas.microsoft.com/office/drawing/2014/main" id="{9FAC818C-6E21-EEFB-43B8-F5448F95A5D9}"/>
              </a:ext>
            </a:extLst>
          </p:cNvPr>
          <p:cNvSpPr/>
          <p:nvPr/>
        </p:nvSpPr>
        <p:spPr>
          <a:xfrm>
            <a:off x="4563376" y="6211483"/>
            <a:ext cx="3838652"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[A]MA4-R5SIGA-08B/C/G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(CLE V745 : AMD Ryzen 5 7535HS/60Wh/IR Cam)</a:t>
            </a:r>
          </a:p>
        </p:txBody>
      </p:sp>
      <p:sp>
        <p:nvSpPr>
          <p:cNvPr id="18" name="矢印: 五方向 17">
            <a:extLst>
              <a:ext uri="{FF2B5EF4-FFF2-40B4-BE49-F238E27FC236}">
                <a16:creationId xmlns:a16="http://schemas.microsoft.com/office/drawing/2014/main" id="{778F820C-2EC5-D0B0-26A1-EE1B5F416CF6}"/>
              </a:ext>
            </a:extLst>
          </p:cNvPr>
          <p:cNvSpPr/>
          <p:nvPr/>
        </p:nvSpPr>
        <p:spPr>
          <a:xfrm>
            <a:off x="1998444" y="3987172"/>
            <a:ext cx="1941803"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[A]F-14RP7F-B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7 150U/50Wh/</a:t>
            </a:r>
            <a:r>
              <a:rPr kumimoji="1" lang="ja-JP" altLang="en-US"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指紋</a:t>
            </a: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p>
        </p:txBody>
      </p:sp>
      <p:sp>
        <p:nvSpPr>
          <p:cNvPr id="19" name="矢印: 五方向 18">
            <a:extLst>
              <a:ext uri="{FF2B5EF4-FFF2-40B4-BE49-F238E27FC236}">
                <a16:creationId xmlns:a16="http://schemas.microsoft.com/office/drawing/2014/main" id="{9A4E633A-6B7B-F1E0-2758-16287D2B2D3E}"/>
              </a:ext>
            </a:extLst>
          </p:cNvPr>
          <p:cNvSpPr/>
          <p:nvPr/>
        </p:nvSpPr>
        <p:spPr>
          <a:xfrm>
            <a:off x="392863" y="5653230"/>
            <a:ext cx="3208566"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[A]F-14RP5T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i5-1335U)</a:t>
            </a:r>
          </a:p>
        </p:txBody>
      </p:sp>
      <p:sp>
        <p:nvSpPr>
          <p:cNvPr id="20" name="矢印: 五方向 19">
            <a:extLst>
              <a:ext uri="{FF2B5EF4-FFF2-40B4-BE49-F238E27FC236}">
                <a16:creationId xmlns:a16="http://schemas.microsoft.com/office/drawing/2014/main" id="{3BBE5C5C-C4AE-2E2F-16D0-973417544974}"/>
              </a:ext>
            </a:extLst>
          </p:cNvPr>
          <p:cNvSpPr/>
          <p:nvPr/>
        </p:nvSpPr>
        <p:spPr>
          <a:xfrm>
            <a:off x="2316906" y="4694336"/>
            <a:ext cx="2906884"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[A]F-14RP5H-B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5 120U/DDR5/50Wh/</a:t>
            </a:r>
            <a:r>
              <a:rPr kumimoji="1" lang="ja-JP" altLang="en-US"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指紋</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p>
        </p:txBody>
      </p:sp>
      <p:sp>
        <p:nvSpPr>
          <p:cNvPr id="21" name="矢印: 五方向 20">
            <a:extLst>
              <a:ext uri="{FF2B5EF4-FFF2-40B4-BE49-F238E27FC236}">
                <a16:creationId xmlns:a16="http://schemas.microsoft.com/office/drawing/2014/main" id="{3BDFE8CE-6910-FDF7-3566-4ED028055DDE}"/>
              </a:ext>
            </a:extLst>
          </p:cNvPr>
          <p:cNvSpPr/>
          <p:nvPr/>
        </p:nvSpPr>
        <p:spPr>
          <a:xfrm>
            <a:off x="402224" y="6406039"/>
            <a:ext cx="4129420"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[A]F-14BR5A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(AMD Ryzen5 7430U)</a:t>
            </a:r>
          </a:p>
        </p:txBody>
      </p:sp>
      <p:sp>
        <p:nvSpPr>
          <p:cNvPr id="25" name="矢印: 五方向 24">
            <a:extLst>
              <a:ext uri="{FF2B5EF4-FFF2-40B4-BE49-F238E27FC236}">
                <a16:creationId xmlns:a16="http://schemas.microsoft.com/office/drawing/2014/main" id="{DA140C97-8F9C-7CA0-099F-FFF666A71330}"/>
              </a:ext>
            </a:extLst>
          </p:cNvPr>
          <p:cNvSpPr/>
          <p:nvPr/>
        </p:nvSpPr>
        <p:spPr>
          <a:xfrm>
            <a:off x="404328" y="3162627"/>
            <a:ext cx="4165715"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[H]F-14LN5LA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5 226V)</a:t>
            </a:r>
          </a:p>
        </p:txBody>
      </p:sp>
      <p:sp>
        <p:nvSpPr>
          <p:cNvPr id="26" name="矢印: 五方向 25">
            <a:extLst>
              <a:ext uri="{FF2B5EF4-FFF2-40B4-BE49-F238E27FC236}">
                <a16:creationId xmlns:a16="http://schemas.microsoft.com/office/drawing/2014/main" id="{2947780A-E159-B475-7C64-D4FCF19EC1C9}"/>
              </a:ext>
            </a:extLst>
          </p:cNvPr>
          <p:cNvSpPr/>
          <p:nvPr/>
        </p:nvSpPr>
        <p:spPr>
          <a:xfrm>
            <a:off x="4561080" y="3658682"/>
            <a:ext cx="3838651"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[A]MA4-C7HIGA-08B/C/G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(CLE V745 : Intel Core Ultra 7 155U/60Wh/IR Cam)</a:t>
            </a:r>
          </a:p>
        </p:txBody>
      </p:sp>
      <p:sp>
        <p:nvSpPr>
          <p:cNvPr id="27" name="矢印: 五方向 26">
            <a:extLst>
              <a:ext uri="{FF2B5EF4-FFF2-40B4-BE49-F238E27FC236}">
                <a16:creationId xmlns:a16="http://schemas.microsoft.com/office/drawing/2014/main" id="{488E02DA-8E59-282A-01ED-BCD3C53F0903}"/>
              </a:ext>
            </a:extLst>
          </p:cNvPr>
          <p:cNvSpPr/>
          <p:nvPr/>
        </p:nvSpPr>
        <p:spPr>
          <a:xfrm>
            <a:off x="405461" y="2474784"/>
            <a:ext cx="3208566"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[H]F-14MTL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7 125U)</a:t>
            </a:r>
          </a:p>
        </p:txBody>
      </p:sp>
      <p:sp>
        <p:nvSpPr>
          <p:cNvPr id="29" name="矢印: 五方向 28">
            <a:extLst>
              <a:ext uri="{FF2B5EF4-FFF2-40B4-BE49-F238E27FC236}">
                <a16:creationId xmlns:a16="http://schemas.microsoft.com/office/drawing/2014/main" id="{121E013E-A680-7B07-3536-D3786E14DBBC}"/>
              </a:ext>
            </a:extLst>
          </p:cNvPr>
          <p:cNvSpPr/>
          <p:nvPr/>
        </p:nvSpPr>
        <p:spPr>
          <a:xfrm>
            <a:off x="2328500" y="3660737"/>
            <a:ext cx="2232579"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[A]F-14RP7H-B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7 150U/DDR5/50Wh/</a:t>
            </a:r>
            <a:r>
              <a:rPr kumimoji="1" lang="ja-JP" altLang="en-US"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指紋</a:t>
            </a:r>
            <a:r>
              <a:rPr kumimoji="1" lang="en-US" altLang="ja-JP"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p>
        </p:txBody>
      </p:sp>
      <p:sp>
        <p:nvSpPr>
          <p:cNvPr id="31" name="矢印: 五方向 30">
            <a:extLst>
              <a:ext uri="{FF2B5EF4-FFF2-40B4-BE49-F238E27FC236}">
                <a16:creationId xmlns:a16="http://schemas.microsoft.com/office/drawing/2014/main" id="{E5AED692-36F7-59F5-6024-D1BDC1B9B197}"/>
              </a:ext>
            </a:extLst>
          </p:cNvPr>
          <p:cNvSpPr/>
          <p:nvPr/>
        </p:nvSpPr>
        <p:spPr>
          <a:xfrm>
            <a:off x="405458" y="4312538"/>
            <a:ext cx="2574587"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[A]F-14RP7S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i7-1355U)</a:t>
            </a:r>
          </a:p>
        </p:txBody>
      </p:sp>
      <p:sp>
        <p:nvSpPr>
          <p:cNvPr id="39" name="矢印: 五方向 38">
            <a:extLst>
              <a:ext uri="{FF2B5EF4-FFF2-40B4-BE49-F238E27FC236}">
                <a16:creationId xmlns:a16="http://schemas.microsoft.com/office/drawing/2014/main" id="{336C6E06-5792-ED99-E0C8-0334F1D2F097}"/>
              </a:ext>
            </a:extLst>
          </p:cNvPr>
          <p:cNvSpPr/>
          <p:nvPr/>
        </p:nvSpPr>
        <p:spPr>
          <a:xfrm>
            <a:off x="8409224" y="6225737"/>
            <a:ext cx="3533282"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CLE V745 + Ryzen5 </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2" name="矢印: 五方向 41">
            <a:extLst>
              <a:ext uri="{FF2B5EF4-FFF2-40B4-BE49-F238E27FC236}">
                <a16:creationId xmlns:a16="http://schemas.microsoft.com/office/drawing/2014/main" id="{97969201-8849-FE36-11FC-C499C9FE49AC}"/>
              </a:ext>
            </a:extLst>
          </p:cNvPr>
          <p:cNvSpPr/>
          <p:nvPr/>
        </p:nvSpPr>
        <p:spPr>
          <a:xfrm>
            <a:off x="8426807" y="4815077"/>
            <a:ext cx="3533282"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CLE V745 + WCL or WCL-Ref CU5</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4" name="矢印: 五方向 43">
            <a:extLst>
              <a:ext uri="{FF2B5EF4-FFF2-40B4-BE49-F238E27FC236}">
                <a16:creationId xmlns:a16="http://schemas.microsoft.com/office/drawing/2014/main" id="{BED2E6BB-A381-7747-2F6E-12862C92679B}"/>
              </a:ext>
            </a:extLst>
          </p:cNvPr>
          <p:cNvSpPr/>
          <p:nvPr/>
        </p:nvSpPr>
        <p:spPr>
          <a:xfrm>
            <a:off x="8426807" y="3668856"/>
            <a:ext cx="3533282" cy="287999"/>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CLE V745 + WCL or WCL-Ref-CU7</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6" name="矢印: 五方向 45">
            <a:extLst>
              <a:ext uri="{FF2B5EF4-FFF2-40B4-BE49-F238E27FC236}">
                <a16:creationId xmlns:a16="http://schemas.microsoft.com/office/drawing/2014/main" id="{FC1EB149-BD57-BB06-855D-F1F43B65D739}"/>
              </a:ext>
            </a:extLst>
          </p:cNvPr>
          <p:cNvSpPr/>
          <p:nvPr/>
        </p:nvSpPr>
        <p:spPr>
          <a:xfrm>
            <a:off x="402224" y="5990276"/>
            <a:ext cx="3228582"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[A]F-14RP5S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i5-1334U)</a:t>
            </a:r>
          </a:p>
        </p:txBody>
      </p:sp>
      <p:sp>
        <p:nvSpPr>
          <p:cNvPr id="47" name="矢印: 五方向 46">
            <a:extLst>
              <a:ext uri="{FF2B5EF4-FFF2-40B4-BE49-F238E27FC236}">
                <a16:creationId xmlns:a16="http://schemas.microsoft.com/office/drawing/2014/main" id="{3AB92186-BEDA-E0E5-58E8-29541955B26E}"/>
              </a:ext>
            </a:extLst>
          </p:cNvPr>
          <p:cNvSpPr/>
          <p:nvPr/>
        </p:nvSpPr>
        <p:spPr>
          <a:xfrm>
            <a:off x="1671478" y="5330303"/>
            <a:ext cx="2244234"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[A]F-14RP5F-B</a:t>
            </a:r>
            <a:b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b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5 120U/50Wh/</a:t>
            </a:r>
            <a:r>
              <a:rPr kumimoji="1" lang="ja-JP" altLang="en-US"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指紋</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p>
        </p:txBody>
      </p:sp>
      <p:sp>
        <p:nvSpPr>
          <p:cNvPr id="48" name="矢印: 五方向 47">
            <a:extLst>
              <a:ext uri="{FF2B5EF4-FFF2-40B4-BE49-F238E27FC236}">
                <a16:creationId xmlns:a16="http://schemas.microsoft.com/office/drawing/2014/main" id="{40F311B4-4985-0EED-4940-5B4DCF022FCB}"/>
              </a:ext>
            </a:extLst>
          </p:cNvPr>
          <p:cNvSpPr/>
          <p:nvPr/>
        </p:nvSpPr>
        <p:spPr>
          <a:xfrm>
            <a:off x="3598702" y="5007326"/>
            <a:ext cx="971342"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[A]F-14RP5V </a:t>
            </a:r>
            <a:r>
              <a:rPr kumimoji="1" lang="en-US" altLang="ja-JP" sz="3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 1334U/DDR5)</a:t>
            </a:r>
          </a:p>
        </p:txBody>
      </p:sp>
      <p:cxnSp>
        <p:nvCxnSpPr>
          <p:cNvPr id="50" name="直線コネクタ 49">
            <a:extLst>
              <a:ext uri="{FF2B5EF4-FFF2-40B4-BE49-F238E27FC236}">
                <a16:creationId xmlns:a16="http://schemas.microsoft.com/office/drawing/2014/main" id="{F150F5BE-FF3E-A287-7CEE-F23DA68DF02F}"/>
              </a:ext>
            </a:extLst>
          </p:cNvPr>
          <p:cNvCxnSpPr/>
          <p:nvPr/>
        </p:nvCxnSpPr>
        <p:spPr>
          <a:xfrm>
            <a:off x="5830278" y="682998"/>
            <a:ext cx="0" cy="6070027"/>
          </a:xfrm>
          <a:prstGeom prst="line">
            <a:avLst/>
          </a:prstGeom>
        </p:spPr>
        <p:style>
          <a:lnRef idx="1">
            <a:schemeClr val="accent1"/>
          </a:lnRef>
          <a:fillRef idx="0">
            <a:schemeClr val="accent1"/>
          </a:fillRef>
          <a:effectRef idx="0">
            <a:schemeClr val="accent1"/>
          </a:effectRef>
          <a:fontRef idx="minor">
            <a:schemeClr val="tx1"/>
          </a:fontRef>
        </p:style>
      </p:cxnSp>
      <p:sp>
        <p:nvSpPr>
          <p:cNvPr id="51" name="矢印: 五方向 50">
            <a:extLst>
              <a:ext uri="{FF2B5EF4-FFF2-40B4-BE49-F238E27FC236}">
                <a16:creationId xmlns:a16="http://schemas.microsoft.com/office/drawing/2014/main" id="{2B45B3C1-BB50-AE45-BA4A-A0769FE30040}"/>
              </a:ext>
            </a:extLst>
          </p:cNvPr>
          <p:cNvSpPr/>
          <p:nvPr/>
        </p:nvSpPr>
        <p:spPr>
          <a:xfrm>
            <a:off x="396164" y="2139733"/>
            <a:ext cx="4827625"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[H]F-14LN7LA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7 258V)</a:t>
            </a:r>
          </a:p>
        </p:txBody>
      </p:sp>
      <p:sp>
        <p:nvSpPr>
          <p:cNvPr id="52" name="矢印: 五方向 51">
            <a:extLst>
              <a:ext uri="{FF2B5EF4-FFF2-40B4-BE49-F238E27FC236}">
                <a16:creationId xmlns:a16="http://schemas.microsoft.com/office/drawing/2014/main" id="{32E72AE2-B9C2-621E-1838-2CD97FB4A365}"/>
              </a:ext>
            </a:extLst>
          </p:cNvPr>
          <p:cNvSpPr/>
          <p:nvPr/>
        </p:nvSpPr>
        <p:spPr>
          <a:xfrm>
            <a:off x="2326668" y="2833765"/>
            <a:ext cx="4534138"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[H]F-14PN5A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5 325)</a:t>
            </a:r>
          </a:p>
        </p:txBody>
      </p:sp>
      <p:sp>
        <p:nvSpPr>
          <p:cNvPr id="53" name="矢印: 五方向 52">
            <a:extLst>
              <a:ext uri="{FF2B5EF4-FFF2-40B4-BE49-F238E27FC236}">
                <a16:creationId xmlns:a16="http://schemas.microsoft.com/office/drawing/2014/main" id="{16C8567F-16A8-B6FD-7969-31F11A541E6F}"/>
              </a:ext>
            </a:extLst>
          </p:cNvPr>
          <p:cNvSpPr/>
          <p:nvPr/>
        </p:nvSpPr>
        <p:spPr>
          <a:xfrm>
            <a:off x="2344685" y="1810636"/>
            <a:ext cx="4534138"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[H]F-14PN7A</a:t>
            </a:r>
            <a:r>
              <a:rPr kumimoji="1" lang="ja-JP" altLang="en-US"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7 355)</a:t>
            </a:r>
          </a:p>
        </p:txBody>
      </p:sp>
      <p:sp>
        <p:nvSpPr>
          <p:cNvPr id="54" name="テキスト ボックス 1">
            <a:extLst>
              <a:ext uri="{FF2B5EF4-FFF2-40B4-BE49-F238E27FC236}">
                <a16:creationId xmlns:a16="http://schemas.microsoft.com/office/drawing/2014/main" id="{2D843031-06C8-3CEF-5FF4-CDA57334184E}"/>
              </a:ext>
            </a:extLst>
          </p:cNvPr>
          <p:cNvSpPr txBox="1"/>
          <p:nvPr/>
        </p:nvSpPr>
        <p:spPr>
          <a:xfrm>
            <a:off x="386148" y="400193"/>
            <a:ext cx="2953045" cy="307777"/>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THIRDWAVE 14.0”</a:t>
            </a:r>
            <a:endParaRPr kumimoji="1" lang="ja-JP" altLang="en-US" sz="14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55" name="矢印: 五方向 54">
            <a:extLst>
              <a:ext uri="{FF2B5EF4-FFF2-40B4-BE49-F238E27FC236}">
                <a16:creationId xmlns:a16="http://schemas.microsoft.com/office/drawing/2014/main" id="{874A7C27-21EE-26C2-AF7D-3E10D8B38B6A}"/>
              </a:ext>
            </a:extLst>
          </p:cNvPr>
          <p:cNvSpPr/>
          <p:nvPr/>
        </p:nvSpPr>
        <p:spPr>
          <a:xfrm>
            <a:off x="4565081" y="4815077"/>
            <a:ext cx="3838652"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[A]MA4-C5UIGA-08B/C/G</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(CLE V745 : Intel Core Ultra 5 125U/60Wh/IR Cam)</a:t>
            </a:r>
          </a:p>
        </p:txBody>
      </p:sp>
      <p:sp>
        <p:nvSpPr>
          <p:cNvPr id="40" name="矢印: 五方向 39">
            <a:extLst>
              <a:ext uri="{FF2B5EF4-FFF2-40B4-BE49-F238E27FC236}">
                <a16:creationId xmlns:a16="http://schemas.microsoft.com/office/drawing/2014/main" id="{06ED9F09-38B1-55EB-17CE-ACC6D0E808A1}"/>
              </a:ext>
            </a:extLst>
          </p:cNvPr>
          <p:cNvSpPr/>
          <p:nvPr/>
        </p:nvSpPr>
        <p:spPr>
          <a:xfrm>
            <a:off x="6286500" y="1938779"/>
            <a:ext cx="4322747"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 Intel NVL Core Ultra 7 </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3" name="矢印: 五方向 42">
            <a:extLst>
              <a:ext uri="{FF2B5EF4-FFF2-40B4-BE49-F238E27FC236}">
                <a16:creationId xmlns:a16="http://schemas.microsoft.com/office/drawing/2014/main" id="{3DF5DDC1-D812-D4E5-F5AC-256BD474C5DF}"/>
              </a:ext>
            </a:extLst>
          </p:cNvPr>
          <p:cNvSpPr/>
          <p:nvPr/>
        </p:nvSpPr>
        <p:spPr>
          <a:xfrm>
            <a:off x="6286500" y="2735951"/>
            <a:ext cx="4361068"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 Intel NVL Core Ultra 5</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22" name="矢印: 五方向 21">
            <a:extLst>
              <a:ext uri="{FF2B5EF4-FFF2-40B4-BE49-F238E27FC236}">
                <a16:creationId xmlns:a16="http://schemas.microsoft.com/office/drawing/2014/main" id="{6AF0C56E-42B7-CACD-69AA-380F08413652}"/>
              </a:ext>
            </a:extLst>
          </p:cNvPr>
          <p:cNvSpPr/>
          <p:nvPr/>
        </p:nvSpPr>
        <p:spPr>
          <a:xfrm>
            <a:off x="10115550" y="1796323"/>
            <a:ext cx="1844539" cy="370154"/>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[H] Intel Razer Lake H CU7</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56" name="矢印: 五方向 55">
            <a:extLst>
              <a:ext uri="{FF2B5EF4-FFF2-40B4-BE49-F238E27FC236}">
                <a16:creationId xmlns:a16="http://schemas.microsoft.com/office/drawing/2014/main" id="{0D93F6A7-7DD1-28E1-60DC-114FAE0513C1}"/>
              </a:ext>
            </a:extLst>
          </p:cNvPr>
          <p:cNvSpPr/>
          <p:nvPr/>
        </p:nvSpPr>
        <p:spPr>
          <a:xfrm>
            <a:off x="10098819" y="2593676"/>
            <a:ext cx="1844539" cy="370154"/>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[H] Intel Razer Lake H CU5</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cxnSp>
        <p:nvCxnSpPr>
          <p:cNvPr id="57" name="直線コネクタ 56">
            <a:extLst>
              <a:ext uri="{FF2B5EF4-FFF2-40B4-BE49-F238E27FC236}">
                <a16:creationId xmlns:a16="http://schemas.microsoft.com/office/drawing/2014/main" id="{D5EB9DAF-684C-9EC5-CDA7-7DABCE7E4719}"/>
              </a:ext>
            </a:extLst>
          </p:cNvPr>
          <p:cNvCxnSpPr/>
          <p:nvPr/>
        </p:nvCxnSpPr>
        <p:spPr>
          <a:xfrm>
            <a:off x="9681100" y="682998"/>
            <a:ext cx="0" cy="6070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40BD3C27-8EA2-3690-2DB4-3CD1B8B1A2C8}"/>
              </a:ext>
            </a:extLst>
          </p:cNvPr>
          <p:cNvCxnSpPr/>
          <p:nvPr/>
        </p:nvCxnSpPr>
        <p:spPr>
          <a:xfrm>
            <a:off x="1998444" y="682998"/>
            <a:ext cx="0" cy="6070027"/>
          </a:xfrm>
          <a:prstGeom prst="line">
            <a:avLst/>
          </a:prstGeom>
        </p:spPr>
        <p:style>
          <a:lnRef idx="1">
            <a:schemeClr val="accent1"/>
          </a:lnRef>
          <a:fillRef idx="0">
            <a:schemeClr val="accent1"/>
          </a:fillRef>
          <a:effectRef idx="0">
            <a:schemeClr val="accent1"/>
          </a:effectRef>
          <a:fontRef idx="minor">
            <a:schemeClr val="tx1"/>
          </a:fontRef>
        </p:style>
      </p:cxnSp>
      <p:sp>
        <p:nvSpPr>
          <p:cNvPr id="59" name="テキスト ボックス 58">
            <a:extLst>
              <a:ext uri="{FF2B5EF4-FFF2-40B4-BE49-F238E27FC236}">
                <a16:creationId xmlns:a16="http://schemas.microsoft.com/office/drawing/2014/main" id="{2FFDE9EC-8E30-73E4-EB6D-A77B8E9E1324}"/>
              </a:ext>
            </a:extLst>
          </p:cNvPr>
          <p:cNvSpPr txBox="1"/>
          <p:nvPr/>
        </p:nvSpPr>
        <p:spPr>
          <a:xfrm>
            <a:off x="8545455" y="3858537"/>
            <a:ext cx="2975495" cy="3693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MTL-U</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のままであと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1</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年継続するか</a:t>
            </a:r>
            <a:r>
              <a:rPr lang="en-US" altLang="ja-JP" sz="900">
                <a:solidFill>
                  <a:prstClr val="black"/>
                </a:solidFill>
                <a:latin typeface="BIZ UDPゴシック" panose="020B0400000000000000" pitchFamily="50" charset="-128"/>
                <a:ea typeface="BIZ UDPゴシック" panose="020B0400000000000000" pitchFamily="50" charset="-128"/>
              </a:rPr>
              <a:t>WCL</a:t>
            </a:r>
            <a:r>
              <a:rPr lang="ja-JP" altLang="en-US" sz="900">
                <a:solidFill>
                  <a:prstClr val="black"/>
                </a:solidFill>
                <a:latin typeface="BIZ UDPゴシック" panose="020B0400000000000000" pitchFamily="50" charset="-128"/>
                <a:ea typeface="BIZ UDPゴシック" panose="020B0400000000000000" pitchFamily="50" charset="-128"/>
              </a:rPr>
              <a:t>へ移行するか</a:t>
            </a:r>
            <a:endParaRPr lang="en-US" altLang="ja-JP" sz="900">
              <a:solidFill>
                <a:prstClr val="black"/>
              </a:solidFill>
              <a:latin typeface="BIZ UDPゴシック" panose="020B0400000000000000" pitchFamily="50" charset="-128"/>
              <a:ea typeface="BIZ UDPゴシック" panose="020B04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販売実績と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WCL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価格推移見て判断</a:t>
            </a:r>
          </a:p>
        </p:txBody>
      </p:sp>
      <p:sp>
        <p:nvSpPr>
          <p:cNvPr id="61" name="テキスト ボックス 60">
            <a:extLst>
              <a:ext uri="{FF2B5EF4-FFF2-40B4-BE49-F238E27FC236}">
                <a16:creationId xmlns:a16="http://schemas.microsoft.com/office/drawing/2014/main" id="{FDD11AD5-38D6-92D6-D82D-03A2EA141DC1}"/>
              </a:ext>
            </a:extLst>
          </p:cNvPr>
          <p:cNvSpPr txBox="1"/>
          <p:nvPr/>
        </p:nvSpPr>
        <p:spPr>
          <a:xfrm>
            <a:off x="6352209" y="2164597"/>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62" name="テキスト ボックス 61">
            <a:extLst>
              <a:ext uri="{FF2B5EF4-FFF2-40B4-BE49-F238E27FC236}">
                <a16:creationId xmlns:a16="http://schemas.microsoft.com/office/drawing/2014/main" id="{0797839D-46CF-CF7F-CFA2-846A5D5837EF}"/>
              </a:ext>
            </a:extLst>
          </p:cNvPr>
          <p:cNvSpPr txBox="1"/>
          <p:nvPr/>
        </p:nvSpPr>
        <p:spPr>
          <a:xfrm>
            <a:off x="8476461" y="6008978"/>
            <a:ext cx="3462807"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価格訴求に重点　</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Ryzen5 7535HS</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供給可能ならそのまま継続</a:t>
            </a:r>
            <a:endPar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64" name="テキスト ボックス 63">
            <a:extLst>
              <a:ext uri="{FF2B5EF4-FFF2-40B4-BE49-F238E27FC236}">
                <a16:creationId xmlns:a16="http://schemas.microsoft.com/office/drawing/2014/main" id="{D00EE1DF-B326-6B73-2814-6CB33A711498}"/>
              </a:ext>
            </a:extLst>
          </p:cNvPr>
          <p:cNvSpPr txBox="1"/>
          <p:nvPr/>
        </p:nvSpPr>
        <p:spPr>
          <a:xfrm>
            <a:off x="353453" y="1741158"/>
            <a:ext cx="84830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High-end</a:t>
            </a:r>
          </a:p>
        </p:txBody>
      </p:sp>
      <p:sp>
        <p:nvSpPr>
          <p:cNvPr id="65" name="テキスト ボックス 64">
            <a:extLst>
              <a:ext uri="{FF2B5EF4-FFF2-40B4-BE49-F238E27FC236}">
                <a16:creationId xmlns:a16="http://schemas.microsoft.com/office/drawing/2014/main" id="{783503C2-B5D3-77B8-6891-136D2700E77E}"/>
              </a:ext>
            </a:extLst>
          </p:cNvPr>
          <p:cNvSpPr txBox="1"/>
          <p:nvPr/>
        </p:nvSpPr>
        <p:spPr>
          <a:xfrm>
            <a:off x="366083" y="3503535"/>
            <a:ext cx="973343"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Affordable</a:t>
            </a:r>
          </a:p>
        </p:txBody>
      </p:sp>
      <p:sp>
        <p:nvSpPr>
          <p:cNvPr id="9" name="矢印: 五方向 30">
            <a:extLst>
              <a:ext uri="{FF2B5EF4-FFF2-40B4-BE49-F238E27FC236}">
                <a16:creationId xmlns:a16="http://schemas.microsoft.com/office/drawing/2014/main" id="{80AD5C06-C7B4-76C6-F476-3FF90E3E8311}"/>
              </a:ext>
            </a:extLst>
          </p:cNvPr>
          <p:cNvSpPr/>
          <p:nvPr/>
        </p:nvSpPr>
        <p:spPr>
          <a:xfrm>
            <a:off x="395805" y="1406204"/>
            <a:ext cx="11537044" cy="329817"/>
          </a:xfrm>
          <a:prstGeom prst="rect">
            <a:avLst/>
          </a:prstGeom>
          <a:solidFill>
            <a:schemeClr val="accent2">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10" name="テキスト ボックス 9">
            <a:extLst>
              <a:ext uri="{FF2B5EF4-FFF2-40B4-BE49-F238E27FC236}">
                <a16:creationId xmlns:a16="http://schemas.microsoft.com/office/drawing/2014/main" id="{E1B06FB3-7825-CFFE-791D-90D3176CB47A}"/>
              </a:ext>
            </a:extLst>
          </p:cNvPr>
          <p:cNvSpPr txBox="1"/>
          <p:nvPr/>
        </p:nvSpPr>
        <p:spPr>
          <a:xfrm>
            <a:off x="382862" y="1406137"/>
            <a:ext cx="1518364"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Ultimate (</a:t>
            </a:r>
            <a:r>
              <a:rPr kumimoji="1" lang="en-US" altLang="ja-JP" sz="1000" b="1" i="0" u="none" strike="noStrike" kern="1200" cap="none" spc="0" normalizeH="0" baseline="0" noProof="0" err="1">
                <a:ln>
                  <a:noFill/>
                </a:ln>
                <a:solidFill>
                  <a:prstClr val="black"/>
                </a:solidFill>
                <a:effectLst/>
                <a:uLnTx/>
                <a:uFillTx/>
                <a:latin typeface="BIZ UDPゴシック" panose="020B0400000000000000" pitchFamily="50" charset="-128"/>
                <a:ea typeface="BIZ UDPゴシック" panose="020B0400000000000000" pitchFamily="50" charset="-128"/>
                <a:cs typeface="+mn-cs"/>
              </a:rPr>
              <a:t>dGPU</a:t>
            </a:r>
            <a:r>
              <a:rPr kumimoji="1" lang="ja-JP" altLang="en-US"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付</a:t>
            </a: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a:t>
            </a:r>
          </a:p>
        </p:txBody>
      </p:sp>
      <p:sp>
        <p:nvSpPr>
          <p:cNvPr id="11" name="矢印: 五方向 10">
            <a:extLst>
              <a:ext uri="{FF2B5EF4-FFF2-40B4-BE49-F238E27FC236}">
                <a16:creationId xmlns:a16="http://schemas.microsoft.com/office/drawing/2014/main" id="{F4A87F5C-F568-F53C-330B-6E841DBA0B4B}"/>
              </a:ext>
            </a:extLst>
          </p:cNvPr>
          <p:cNvSpPr/>
          <p:nvPr/>
        </p:nvSpPr>
        <p:spPr>
          <a:xfrm>
            <a:off x="6170746" y="1485271"/>
            <a:ext cx="5762102" cy="153566"/>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法人</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GALLERIA] Intel xxx +5060 </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12" name="テキスト ボックス 11">
            <a:extLst>
              <a:ext uri="{FF2B5EF4-FFF2-40B4-BE49-F238E27FC236}">
                <a16:creationId xmlns:a16="http://schemas.microsoft.com/office/drawing/2014/main" id="{4672C88F-0E84-A0DF-9B7C-5ED06F974888}"/>
              </a:ext>
            </a:extLst>
          </p:cNvPr>
          <p:cNvSpPr txBox="1"/>
          <p:nvPr/>
        </p:nvSpPr>
        <p:spPr>
          <a:xfrm>
            <a:off x="8743872" y="1460372"/>
            <a:ext cx="1034885" cy="230832"/>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法人学校案件用</a:t>
            </a:r>
            <a:endPar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graphicFrame>
        <p:nvGraphicFramePr>
          <p:cNvPr id="16" name="表 15">
            <a:extLst>
              <a:ext uri="{FF2B5EF4-FFF2-40B4-BE49-F238E27FC236}">
                <a16:creationId xmlns:a16="http://schemas.microsoft.com/office/drawing/2014/main" id="{8B2D02F0-58D4-1595-5D10-475C019FF82D}"/>
              </a:ext>
            </a:extLst>
          </p:cNvPr>
          <p:cNvGraphicFramePr>
            <a:graphicFrameLocks noGrp="1"/>
          </p:cNvGraphicFramePr>
          <p:nvPr/>
        </p:nvGraphicFramePr>
        <p:xfrm>
          <a:off x="394894" y="658193"/>
          <a:ext cx="11517732" cy="714375"/>
        </p:xfrm>
        <a:graphic>
          <a:graphicData uri="http://schemas.openxmlformats.org/drawingml/2006/table">
            <a:tbl>
              <a:tblPr/>
              <a:tblGrid>
                <a:gridCol w="319937">
                  <a:extLst>
                    <a:ext uri="{9D8B030D-6E8A-4147-A177-3AD203B41FA5}">
                      <a16:colId xmlns:a16="http://schemas.microsoft.com/office/drawing/2014/main" val="1500898864"/>
                    </a:ext>
                  </a:extLst>
                </a:gridCol>
                <a:gridCol w="319937">
                  <a:extLst>
                    <a:ext uri="{9D8B030D-6E8A-4147-A177-3AD203B41FA5}">
                      <a16:colId xmlns:a16="http://schemas.microsoft.com/office/drawing/2014/main" val="492311195"/>
                    </a:ext>
                  </a:extLst>
                </a:gridCol>
                <a:gridCol w="319937">
                  <a:extLst>
                    <a:ext uri="{9D8B030D-6E8A-4147-A177-3AD203B41FA5}">
                      <a16:colId xmlns:a16="http://schemas.microsoft.com/office/drawing/2014/main" val="535944228"/>
                    </a:ext>
                  </a:extLst>
                </a:gridCol>
                <a:gridCol w="319937">
                  <a:extLst>
                    <a:ext uri="{9D8B030D-6E8A-4147-A177-3AD203B41FA5}">
                      <a16:colId xmlns:a16="http://schemas.microsoft.com/office/drawing/2014/main" val="1297611135"/>
                    </a:ext>
                  </a:extLst>
                </a:gridCol>
                <a:gridCol w="319937">
                  <a:extLst>
                    <a:ext uri="{9D8B030D-6E8A-4147-A177-3AD203B41FA5}">
                      <a16:colId xmlns:a16="http://schemas.microsoft.com/office/drawing/2014/main" val="1872956960"/>
                    </a:ext>
                  </a:extLst>
                </a:gridCol>
                <a:gridCol w="319937">
                  <a:extLst>
                    <a:ext uri="{9D8B030D-6E8A-4147-A177-3AD203B41FA5}">
                      <a16:colId xmlns:a16="http://schemas.microsoft.com/office/drawing/2014/main" val="1530389144"/>
                    </a:ext>
                  </a:extLst>
                </a:gridCol>
                <a:gridCol w="319937">
                  <a:extLst>
                    <a:ext uri="{9D8B030D-6E8A-4147-A177-3AD203B41FA5}">
                      <a16:colId xmlns:a16="http://schemas.microsoft.com/office/drawing/2014/main" val="1873387370"/>
                    </a:ext>
                  </a:extLst>
                </a:gridCol>
                <a:gridCol w="319937">
                  <a:extLst>
                    <a:ext uri="{9D8B030D-6E8A-4147-A177-3AD203B41FA5}">
                      <a16:colId xmlns:a16="http://schemas.microsoft.com/office/drawing/2014/main" val="2523210819"/>
                    </a:ext>
                  </a:extLst>
                </a:gridCol>
                <a:gridCol w="319937">
                  <a:extLst>
                    <a:ext uri="{9D8B030D-6E8A-4147-A177-3AD203B41FA5}">
                      <a16:colId xmlns:a16="http://schemas.microsoft.com/office/drawing/2014/main" val="1136697292"/>
                    </a:ext>
                  </a:extLst>
                </a:gridCol>
                <a:gridCol w="319937">
                  <a:extLst>
                    <a:ext uri="{9D8B030D-6E8A-4147-A177-3AD203B41FA5}">
                      <a16:colId xmlns:a16="http://schemas.microsoft.com/office/drawing/2014/main" val="4023778491"/>
                    </a:ext>
                  </a:extLst>
                </a:gridCol>
                <a:gridCol w="319937">
                  <a:extLst>
                    <a:ext uri="{9D8B030D-6E8A-4147-A177-3AD203B41FA5}">
                      <a16:colId xmlns:a16="http://schemas.microsoft.com/office/drawing/2014/main" val="3242310994"/>
                    </a:ext>
                  </a:extLst>
                </a:gridCol>
                <a:gridCol w="319937">
                  <a:extLst>
                    <a:ext uri="{9D8B030D-6E8A-4147-A177-3AD203B41FA5}">
                      <a16:colId xmlns:a16="http://schemas.microsoft.com/office/drawing/2014/main" val="3032464318"/>
                    </a:ext>
                  </a:extLst>
                </a:gridCol>
                <a:gridCol w="319937">
                  <a:extLst>
                    <a:ext uri="{9D8B030D-6E8A-4147-A177-3AD203B41FA5}">
                      <a16:colId xmlns:a16="http://schemas.microsoft.com/office/drawing/2014/main" val="718012166"/>
                    </a:ext>
                  </a:extLst>
                </a:gridCol>
                <a:gridCol w="319937">
                  <a:extLst>
                    <a:ext uri="{9D8B030D-6E8A-4147-A177-3AD203B41FA5}">
                      <a16:colId xmlns:a16="http://schemas.microsoft.com/office/drawing/2014/main" val="201977023"/>
                    </a:ext>
                  </a:extLst>
                </a:gridCol>
                <a:gridCol w="319937">
                  <a:extLst>
                    <a:ext uri="{9D8B030D-6E8A-4147-A177-3AD203B41FA5}">
                      <a16:colId xmlns:a16="http://schemas.microsoft.com/office/drawing/2014/main" val="3789184676"/>
                    </a:ext>
                  </a:extLst>
                </a:gridCol>
                <a:gridCol w="319937">
                  <a:extLst>
                    <a:ext uri="{9D8B030D-6E8A-4147-A177-3AD203B41FA5}">
                      <a16:colId xmlns:a16="http://schemas.microsoft.com/office/drawing/2014/main" val="2285191595"/>
                    </a:ext>
                  </a:extLst>
                </a:gridCol>
                <a:gridCol w="319937">
                  <a:extLst>
                    <a:ext uri="{9D8B030D-6E8A-4147-A177-3AD203B41FA5}">
                      <a16:colId xmlns:a16="http://schemas.microsoft.com/office/drawing/2014/main" val="1576469209"/>
                    </a:ext>
                  </a:extLst>
                </a:gridCol>
                <a:gridCol w="319937">
                  <a:extLst>
                    <a:ext uri="{9D8B030D-6E8A-4147-A177-3AD203B41FA5}">
                      <a16:colId xmlns:a16="http://schemas.microsoft.com/office/drawing/2014/main" val="2224905602"/>
                    </a:ext>
                  </a:extLst>
                </a:gridCol>
                <a:gridCol w="319937">
                  <a:extLst>
                    <a:ext uri="{9D8B030D-6E8A-4147-A177-3AD203B41FA5}">
                      <a16:colId xmlns:a16="http://schemas.microsoft.com/office/drawing/2014/main" val="324624714"/>
                    </a:ext>
                  </a:extLst>
                </a:gridCol>
                <a:gridCol w="319937">
                  <a:extLst>
                    <a:ext uri="{9D8B030D-6E8A-4147-A177-3AD203B41FA5}">
                      <a16:colId xmlns:a16="http://schemas.microsoft.com/office/drawing/2014/main" val="370901253"/>
                    </a:ext>
                  </a:extLst>
                </a:gridCol>
                <a:gridCol w="319937">
                  <a:extLst>
                    <a:ext uri="{9D8B030D-6E8A-4147-A177-3AD203B41FA5}">
                      <a16:colId xmlns:a16="http://schemas.microsoft.com/office/drawing/2014/main" val="4024422151"/>
                    </a:ext>
                  </a:extLst>
                </a:gridCol>
                <a:gridCol w="319937">
                  <a:extLst>
                    <a:ext uri="{9D8B030D-6E8A-4147-A177-3AD203B41FA5}">
                      <a16:colId xmlns:a16="http://schemas.microsoft.com/office/drawing/2014/main" val="2689519980"/>
                    </a:ext>
                  </a:extLst>
                </a:gridCol>
                <a:gridCol w="319937">
                  <a:extLst>
                    <a:ext uri="{9D8B030D-6E8A-4147-A177-3AD203B41FA5}">
                      <a16:colId xmlns:a16="http://schemas.microsoft.com/office/drawing/2014/main" val="3790508917"/>
                    </a:ext>
                  </a:extLst>
                </a:gridCol>
                <a:gridCol w="319937">
                  <a:extLst>
                    <a:ext uri="{9D8B030D-6E8A-4147-A177-3AD203B41FA5}">
                      <a16:colId xmlns:a16="http://schemas.microsoft.com/office/drawing/2014/main" val="355080256"/>
                    </a:ext>
                  </a:extLst>
                </a:gridCol>
                <a:gridCol w="319937">
                  <a:extLst>
                    <a:ext uri="{9D8B030D-6E8A-4147-A177-3AD203B41FA5}">
                      <a16:colId xmlns:a16="http://schemas.microsoft.com/office/drawing/2014/main" val="3004377733"/>
                    </a:ext>
                  </a:extLst>
                </a:gridCol>
                <a:gridCol w="319937">
                  <a:extLst>
                    <a:ext uri="{9D8B030D-6E8A-4147-A177-3AD203B41FA5}">
                      <a16:colId xmlns:a16="http://schemas.microsoft.com/office/drawing/2014/main" val="1158246796"/>
                    </a:ext>
                  </a:extLst>
                </a:gridCol>
                <a:gridCol w="319937">
                  <a:extLst>
                    <a:ext uri="{9D8B030D-6E8A-4147-A177-3AD203B41FA5}">
                      <a16:colId xmlns:a16="http://schemas.microsoft.com/office/drawing/2014/main" val="3566540348"/>
                    </a:ext>
                  </a:extLst>
                </a:gridCol>
                <a:gridCol w="319937">
                  <a:extLst>
                    <a:ext uri="{9D8B030D-6E8A-4147-A177-3AD203B41FA5}">
                      <a16:colId xmlns:a16="http://schemas.microsoft.com/office/drawing/2014/main" val="1664914038"/>
                    </a:ext>
                  </a:extLst>
                </a:gridCol>
                <a:gridCol w="319937">
                  <a:extLst>
                    <a:ext uri="{9D8B030D-6E8A-4147-A177-3AD203B41FA5}">
                      <a16:colId xmlns:a16="http://schemas.microsoft.com/office/drawing/2014/main" val="1814902996"/>
                    </a:ext>
                  </a:extLst>
                </a:gridCol>
                <a:gridCol w="319937">
                  <a:extLst>
                    <a:ext uri="{9D8B030D-6E8A-4147-A177-3AD203B41FA5}">
                      <a16:colId xmlns:a16="http://schemas.microsoft.com/office/drawing/2014/main" val="72780220"/>
                    </a:ext>
                  </a:extLst>
                </a:gridCol>
                <a:gridCol w="319937">
                  <a:extLst>
                    <a:ext uri="{9D8B030D-6E8A-4147-A177-3AD203B41FA5}">
                      <a16:colId xmlns:a16="http://schemas.microsoft.com/office/drawing/2014/main" val="640000408"/>
                    </a:ext>
                  </a:extLst>
                </a:gridCol>
                <a:gridCol w="319937">
                  <a:extLst>
                    <a:ext uri="{9D8B030D-6E8A-4147-A177-3AD203B41FA5}">
                      <a16:colId xmlns:a16="http://schemas.microsoft.com/office/drawing/2014/main" val="2576203230"/>
                    </a:ext>
                  </a:extLst>
                </a:gridCol>
                <a:gridCol w="319937">
                  <a:extLst>
                    <a:ext uri="{9D8B030D-6E8A-4147-A177-3AD203B41FA5}">
                      <a16:colId xmlns:a16="http://schemas.microsoft.com/office/drawing/2014/main" val="2578640369"/>
                    </a:ext>
                  </a:extLst>
                </a:gridCol>
                <a:gridCol w="319937">
                  <a:extLst>
                    <a:ext uri="{9D8B030D-6E8A-4147-A177-3AD203B41FA5}">
                      <a16:colId xmlns:a16="http://schemas.microsoft.com/office/drawing/2014/main" val="3620044266"/>
                    </a:ext>
                  </a:extLst>
                </a:gridCol>
                <a:gridCol w="319937">
                  <a:extLst>
                    <a:ext uri="{9D8B030D-6E8A-4147-A177-3AD203B41FA5}">
                      <a16:colId xmlns:a16="http://schemas.microsoft.com/office/drawing/2014/main" val="3123228021"/>
                    </a:ext>
                  </a:extLst>
                </a:gridCol>
                <a:gridCol w="319937">
                  <a:extLst>
                    <a:ext uri="{9D8B030D-6E8A-4147-A177-3AD203B41FA5}">
                      <a16:colId xmlns:a16="http://schemas.microsoft.com/office/drawing/2014/main" val="2629818710"/>
                    </a:ext>
                  </a:extLst>
                </a:gridCol>
              </a:tblGrid>
              <a:tr h="238125">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43</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44</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45</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E78"/>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639680362"/>
                  </a:ext>
                </a:extLst>
              </a:tr>
              <a:tr h="238125">
                <a:tc gridSpan="5">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7">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94673942"/>
                  </a:ext>
                </a:extLst>
              </a:tr>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797585"/>
                  </a:ext>
                </a:extLst>
              </a:tr>
            </a:tbl>
          </a:graphicData>
        </a:graphic>
      </p:graphicFrame>
      <p:sp>
        <p:nvSpPr>
          <p:cNvPr id="23" name="正方形/長方形 22">
            <a:extLst>
              <a:ext uri="{FF2B5EF4-FFF2-40B4-BE49-F238E27FC236}">
                <a16:creationId xmlns:a16="http://schemas.microsoft.com/office/drawing/2014/main" id="{C07DF126-E0ED-B874-4148-2780ED1CCF88}"/>
              </a:ext>
            </a:extLst>
          </p:cNvPr>
          <p:cNvSpPr/>
          <p:nvPr/>
        </p:nvSpPr>
        <p:spPr>
          <a:xfrm>
            <a:off x="8921846" y="288062"/>
            <a:ext cx="678938" cy="26047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現行品</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4" name="正方形/長方形 23">
            <a:extLst>
              <a:ext uri="{FF2B5EF4-FFF2-40B4-BE49-F238E27FC236}">
                <a16:creationId xmlns:a16="http://schemas.microsoft.com/office/drawing/2014/main" id="{41A44CE8-9A46-89E4-8710-52F872F53C70}"/>
              </a:ext>
            </a:extLst>
          </p:cNvPr>
          <p:cNvSpPr/>
          <p:nvPr/>
        </p:nvSpPr>
        <p:spPr>
          <a:xfrm>
            <a:off x="10362997" y="293444"/>
            <a:ext cx="617722" cy="260475"/>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予定品</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正方形/長方形 27">
            <a:extLst>
              <a:ext uri="{FF2B5EF4-FFF2-40B4-BE49-F238E27FC236}">
                <a16:creationId xmlns:a16="http://schemas.microsoft.com/office/drawing/2014/main" id="{B76837E2-4DB9-BDFD-3F50-3DD1CC50C0CC}"/>
              </a:ext>
            </a:extLst>
          </p:cNvPr>
          <p:cNvSpPr/>
          <p:nvPr/>
        </p:nvSpPr>
        <p:spPr>
          <a:xfrm>
            <a:off x="9670800" y="293595"/>
            <a:ext cx="617722" cy="26047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承認済</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5977FCC9-C015-4086-A399-F3AEDBF59E53}"/>
              </a:ext>
            </a:extLst>
          </p:cNvPr>
          <p:cNvSpPr/>
          <p:nvPr/>
        </p:nvSpPr>
        <p:spPr>
          <a:xfrm>
            <a:off x="11063893" y="292137"/>
            <a:ext cx="799250" cy="256400"/>
          </a:xfrm>
          <a:prstGeom prst="rect">
            <a:avLst/>
          </a:prstGeom>
          <a:solidFill>
            <a:schemeClr val="accent4">
              <a:lumMod val="20000"/>
              <a:lumOff val="80000"/>
            </a:schemeClr>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0" cap="none" spc="0" normalizeH="0" baseline="0" noProof="0">
                <a:ln>
                  <a:noFill/>
                </a:ln>
                <a:solidFill>
                  <a:srgbClr val="C00000"/>
                </a:solidFill>
                <a:effectLst/>
                <a:uLnTx/>
                <a:uFillTx/>
                <a:latin typeface="游ゴシック Light" panose="020B0300000000000000" pitchFamily="50" charset="-128"/>
                <a:ea typeface="游ゴシック Light" panose="020B0300000000000000" pitchFamily="50" charset="-128"/>
                <a:cs typeface="メイリオ" panose="020B0604030504040204" pitchFamily="50" charset="-128"/>
              </a:rPr>
              <a:t>将来計画</a:t>
            </a:r>
            <a:endParaRPr kumimoji="1" lang="ja-JP" altLang="en-US" sz="700" b="1" i="0" u="none" strike="noStrike" kern="0" cap="none" spc="0" normalizeH="0" baseline="0" noProof="0">
              <a:ln>
                <a:noFill/>
              </a:ln>
              <a:solidFill>
                <a:srgbClr val="C00000"/>
              </a:solidFill>
              <a:effectLst/>
              <a:uLnTx/>
              <a:uFillTx/>
              <a:latin typeface="游ゴシック Light" panose="020B0300000000000000" pitchFamily="50" charset="-128"/>
              <a:ea typeface="游ゴシック Light" panose="020B0300000000000000" pitchFamily="50" charset="-128"/>
              <a:cs typeface="メイリオ" panose="020B0604030504040204" pitchFamily="50" charset="-128"/>
            </a:endParaRPr>
          </a:p>
        </p:txBody>
      </p:sp>
      <p:sp>
        <p:nvSpPr>
          <p:cNvPr id="2" name="矢印: 五方向 1">
            <a:extLst>
              <a:ext uri="{FF2B5EF4-FFF2-40B4-BE49-F238E27FC236}">
                <a16:creationId xmlns:a16="http://schemas.microsoft.com/office/drawing/2014/main" id="{FF1078BE-367E-D085-4844-DF4C50809C41}"/>
              </a:ext>
            </a:extLst>
          </p:cNvPr>
          <p:cNvSpPr/>
          <p:nvPr/>
        </p:nvSpPr>
        <p:spPr>
          <a:xfrm>
            <a:off x="6266433" y="4491779"/>
            <a:ext cx="5636693" cy="230832"/>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 1.0kg</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以下 </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Notebook</a:t>
            </a:r>
            <a:r>
              <a:rPr lang="ja-JP" altLang="en-US" sz="1000" b="1">
                <a:solidFill>
                  <a:srgbClr val="C00000"/>
                </a:solidFill>
                <a:latin typeface="メイリオ" panose="020B0604030504040204" pitchFamily="50" charset="-128"/>
                <a:ea typeface="メイリオ" panose="020B0604030504040204" pitchFamily="50" charset="-128"/>
              </a:rPr>
              <a:t> </a:t>
            </a:r>
            <a:r>
              <a:rPr lang="en-US" altLang="ja-JP" sz="1000" b="1">
                <a:solidFill>
                  <a:srgbClr val="C00000"/>
                </a:solidFill>
                <a:latin typeface="メイリオ" panose="020B0604030504040204" pitchFamily="50" charset="-128"/>
                <a:ea typeface="メイリオ" panose="020B0604030504040204" pitchFamily="50" charset="-128"/>
              </a:rPr>
              <a:t>/</a:t>
            </a:r>
            <a:r>
              <a:rPr lang="ja-JP" altLang="en-US" sz="1000" b="1">
                <a:solidFill>
                  <a:srgbClr val="C00000"/>
                </a:solidFill>
                <a:latin typeface="メイリオ" panose="020B0604030504040204" pitchFamily="50" charset="-128"/>
                <a:ea typeface="メイリオ" panose="020B0604030504040204" pitchFamily="50" charset="-128"/>
              </a:rPr>
              <a:t> </a:t>
            </a:r>
            <a:r>
              <a:rPr lang="en-US" altLang="ja-JP" sz="1000" b="1" err="1">
                <a:solidFill>
                  <a:srgbClr val="C00000"/>
                </a:solidFill>
                <a:latin typeface="メイリオ" panose="020B0604030504040204" pitchFamily="50" charset="-128"/>
                <a:ea typeface="メイリオ" panose="020B0604030504040204" pitchFamily="50" charset="-128"/>
              </a:rPr>
              <a:t>Uniwill</a:t>
            </a:r>
            <a:r>
              <a:rPr lang="en-US" altLang="ja-JP" sz="1000" b="1">
                <a:solidFill>
                  <a:srgbClr val="C00000"/>
                </a:solidFill>
                <a:latin typeface="メイリオ" panose="020B0604030504040204" pitchFamily="50" charset="-128"/>
                <a:ea typeface="メイリオ" panose="020B0604030504040204" pitchFamily="50" charset="-128"/>
              </a:rPr>
              <a:t> IDD </a:t>
            </a:r>
            <a:r>
              <a:rPr lang="ja-JP" altLang="en-US" sz="1000" b="1">
                <a:solidFill>
                  <a:srgbClr val="C00000"/>
                </a:solidFill>
                <a:latin typeface="メイリオ" panose="020B0604030504040204" pitchFamily="50" charset="-128"/>
                <a:ea typeface="メイリオ" panose="020B0604030504040204" pitchFamily="50" charset="-128"/>
              </a:rPr>
              <a:t>など</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　</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45" name="テキスト ボックス 44">
            <a:extLst>
              <a:ext uri="{FF2B5EF4-FFF2-40B4-BE49-F238E27FC236}">
                <a16:creationId xmlns:a16="http://schemas.microsoft.com/office/drawing/2014/main" id="{F7E7185B-F002-674E-B54B-F4422360E9B7}"/>
              </a:ext>
            </a:extLst>
          </p:cNvPr>
          <p:cNvSpPr txBox="1"/>
          <p:nvPr/>
        </p:nvSpPr>
        <p:spPr>
          <a:xfrm>
            <a:off x="8508482" y="5016563"/>
            <a:ext cx="2975495" cy="3693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MTL-U</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のままであと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1</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年継続するか</a:t>
            </a:r>
            <a:r>
              <a:rPr lang="en-US" altLang="ja-JP" sz="900">
                <a:solidFill>
                  <a:prstClr val="black"/>
                </a:solidFill>
                <a:latin typeface="BIZ UDPゴシック" panose="020B0400000000000000" pitchFamily="50" charset="-128"/>
                <a:ea typeface="BIZ UDPゴシック" panose="020B0400000000000000" pitchFamily="50" charset="-128"/>
              </a:rPr>
              <a:t>WCL</a:t>
            </a:r>
            <a:r>
              <a:rPr lang="ja-JP" altLang="en-US" sz="900">
                <a:solidFill>
                  <a:prstClr val="black"/>
                </a:solidFill>
                <a:latin typeface="BIZ UDPゴシック" panose="020B0400000000000000" pitchFamily="50" charset="-128"/>
                <a:ea typeface="BIZ UDPゴシック" panose="020B0400000000000000" pitchFamily="50" charset="-128"/>
              </a:rPr>
              <a:t>へ移行するか</a:t>
            </a:r>
            <a:endParaRPr lang="en-US" altLang="ja-JP" sz="900">
              <a:solidFill>
                <a:prstClr val="black"/>
              </a:solidFill>
              <a:latin typeface="BIZ UDPゴシック" panose="020B0400000000000000" pitchFamily="50" charset="-128"/>
              <a:ea typeface="BIZ UDPゴシック" panose="020B04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販売実績と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WCL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価格推移見て判断</a:t>
            </a:r>
          </a:p>
        </p:txBody>
      </p:sp>
      <p:sp>
        <p:nvSpPr>
          <p:cNvPr id="3" name="テキスト ボックス 2">
            <a:extLst>
              <a:ext uri="{FF2B5EF4-FFF2-40B4-BE49-F238E27FC236}">
                <a16:creationId xmlns:a16="http://schemas.microsoft.com/office/drawing/2014/main" id="{45CFD6B0-1525-1FC2-6A37-F2C50DEACEAC}"/>
              </a:ext>
            </a:extLst>
          </p:cNvPr>
          <p:cNvSpPr txBox="1"/>
          <p:nvPr/>
        </p:nvSpPr>
        <p:spPr>
          <a:xfrm>
            <a:off x="7323918" y="4308578"/>
            <a:ext cx="4553732" cy="230832"/>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a:solidFill>
                  <a:prstClr val="black"/>
                </a:solidFill>
                <a:latin typeface="BIZ UDPゴシック" panose="020B0400000000000000" pitchFamily="50" charset="-128"/>
                <a:ea typeface="BIZ UDPゴシック" panose="020B0400000000000000" pitchFamily="50" charset="-128"/>
              </a:rPr>
              <a:t>明確に「軽さ」を最優先で検討。</a:t>
            </a:r>
            <a:r>
              <a:rPr lang="en-US" altLang="ja-JP" sz="900">
                <a:solidFill>
                  <a:prstClr val="black"/>
                </a:solidFill>
                <a:latin typeface="BIZ UDPゴシック" panose="020B0400000000000000" pitchFamily="50" charset="-128"/>
                <a:ea typeface="BIZ UDPゴシック" panose="020B0400000000000000" pitchFamily="50" charset="-128"/>
              </a:rPr>
              <a:t>WCL</a:t>
            </a:r>
            <a:r>
              <a:rPr lang="ja-JP" altLang="en-US" sz="900">
                <a:solidFill>
                  <a:prstClr val="black"/>
                </a:solidFill>
                <a:latin typeface="BIZ UDPゴシック" panose="020B0400000000000000" pitchFamily="50" charset="-128"/>
                <a:ea typeface="BIZ UDPゴシック" panose="020B0400000000000000" pitchFamily="50" charset="-128"/>
              </a:rPr>
              <a:t>絡め各社ベア調査。</a:t>
            </a:r>
            <a:r>
              <a:rPr lang="en-US" altLang="ja-JP" sz="900">
                <a:solidFill>
                  <a:prstClr val="black"/>
                </a:solidFill>
                <a:latin typeface="BIZ UDPゴシック" panose="020B0400000000000000" pitchFamily="50" charset="-128"/>
                <a:ea typeface="BIZ UDPゴシック" panose="020B0400000000000000" pitchFamily="50" charset="-128"/>
              </a:rPr>
              <a:t>13</a:t>
            </a:r>
            <a:r>
              <a:rPr lang="ja-JP" altLang="en-US" sz="900">
                <a:solidFill>
                  <a:prstClr val="black"/>
                </a:solidFill>
                <a:latin typeface="BIZ UDPゴシック" panose="020B0400000000000000" pitchFamily="50" charset="-128"/>
                <a:ea typeface="BIZ UDPゴシック" panose="020B0400000000000000" pitchFamily="50" charset="-128"/>
              </a:rPr>
              <a:t>インチも調査対象に含む。</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49" name="テキスト ボックス 48">
            <a:extLst>
              <a:ext uri="{FF2B5EF4-FFF2-40B4-BE49-F238E27FC236}">
                <a16:creationId xmlns:a16="http://schemas.microsoft.com/office/drawing/2014/main" id="{EA550A30-F45E-5A32-842C-380C15CD95FF}"/>
              </a:ext>
            </a:extLst>
          </p:cNvPr>
          <p:cNvSpPr txBox="1"/>
          <p:nvPr/>
        </p:nvSpPr>
        <p:spPr>
          <a:xfrm>
            <a:off x="6366217" y="2569392"/>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cxnSp>
        <p:nvCxnSpPr>
          <p:cNvPr id="71" name="直線コネクタ 70">
            <a:extLst>
              <a:ext uri="{FF2B5EF4-FFF2-40B4-BE49-F238E27FC236}">
                <a16:creationId xmlns:a16="http://schemas.microsoft.com/office/drawing/2014/main" id="{1CB0DF98-796F-17CA-5F4F-3EEE1650205F}"/>
              </a:ext>
            </a:extLst>
          </p:cNvPr>
          <p:cNvCxnSpPr>
            <a:cxnSpLocks/>
          </p:cNvCxnSpPr>
          <p:nvPr/>
        </p:nvCxnSpPr>
        <p:spPr>
          <a:xfrm>
            <a:off x="4228298" y="1134841"/>
            <a:ext cx="0" cy="56375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4" name="テキスト ボックス 73">
            <a:extLst>
              <a:ext uri="{FF2B5EF4-FFF2-40B4-BE49-F238E27FC236}">
                <a16:creationId xmlns:a16="http://schemas.microsoft.com/office/drawing/2014/main" id="{39971478-AB93-B5E2-C84B-EDB02E09B4C7}"/>
              </a:ext>
            </a:extLst>
          </p:cNvPr>
          <p:cNvSpPr txBox="1"/>
          <p:nvPr/>
        </p:nvSpPr>
        <p:spPr>
          <a:xfrm>
            <a:off x="10066257" y="2054123"/>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75" name="テキスト ボックス 74">
            <a:extLst>
              <a:ext uri="{FF2B5EF4-FFF2-40B4-BE49-F238E27FC236}">
                <a16:creationId xmlns:a16="http://schemas.microsoft.com/office/drawing/2014/main" id="{97B64A73-F7A6-CB87-2C38-18787CA5F408}"/>
              </a:ext>
            </a:extLst>
          </p:cNvPr>
          <p:cNvSpPr txBox="1"/>
          <p:nvPr/>
        </p:nvSpPr>
        <p:spPr>
          <a:xfrm>
            <a:off x="10059132" y="2393548"/>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13" name="矢印: 五方向 12">
            <a:extLst>
              <a:ext uri="{FF2B5EF4-FFF2-40B4-BE49-F238E27FC236}">
                <a16:creationId xmlns:a16="http://schemas.microsoft.com/office/drawing/2014/main" id="{4FD40970-81E3-B068-E23F-A1E92C9FB728}"/>
              </a:ext>
            </a:extLst>
          </p:cNvPr>
          <p:cNvSpPr/>
          <p:nvPr/>
        </p:nvSpPr>
        <p:spPr>
          <a:xfrm>
            <a:off x="6286500" y="5670439"/>
            <a:ext cx="5636693" cy="230832"/>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 </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廉価帯 </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Notebook</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　</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14" name="テキスト ボックス 13">
            <a:extLst>
              <a:ext uri="{FF2B5EF4-FFF2-40B4-BE49-F238E27FC236}">
                <a16:creationId xmlns:a16="http://schemas.microsoft.com/office/drawing/2014/main" id="{8A6664E9-DA60-D6DA-42D3-F76E479EEB28}"/>
              </a:ext>
            </a:extLst>
          </p:cNvPr>
          <p:cNvSpPr txBox="1"/>
          <p:nvPr/>
        </p:nvSpPr>
        <p:spPr>
          <a:xfrm>
            <a:off x="7343985" y="5487238"/>
            <a:ext cx="4553732" cy="230832"/>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a:solidFill>
                  <a:prstClr val="black"/>
                </a:solidFill>
                <a:latin typeface="BIZ UDPゴシック" panose="020B0400000000000000" pitchFamily="50" charset="-128"/>
                <a:ea typeface="BIZ UDPゴシック" panose="020B0400000000000000" pitchFamily="50" charset="-128"/>
              </a:rPr>
              <a:t>明確に「廉価」を最優先で検討。</a:t>
            </a:r>
            <a:r>
              <a:rPr lang="en-US" altLang="ja-JP" sz="900">
                <a:solidFill>
                  <a:prstClr val="black"/>
                </a:solidFill>
                <a:latin typeface="BIZ UDPゴシック" panose="020B0400000000000000" pitchFamily="50" charset="-128"/>
                <a:ea typeface="BIZ UDPゴシック" panose="020B0400000000000000" pitchFamily="50" charset="-128"/>
              </a:rPr>
              <a:t>WCL</a:t>
            </a:r>
            <a:r>
              <a:rPr lang="ja-JP" altLang="en-US" sz="900">
                <a:solidFill>
                  <a:prstClr val="black"/>
                </a:solidFill>
                <a:latin typeface="BIZ UDPゴシック" panose="020B0400000000000000" pitchFamily="50" charset="-128"/>
                <a:ea typeface="BIZ UDPゴシック" panose="020B0400000000000000" pitchFamily="50" charset="-128"/>
              </a:rPr>
              <a:t>絡め各社ベア調査。</a:t>
            </a:r>
            <a:r>
              <a:rPr lang="en-US" altLang="ja-JP" sz="900">
                <a:solidFill>
                  <a:prstClr val="black"/>
                </a:solidFill>
                <a:latin typeface="BIZ UDPゴシック" panose="020B0400000000000000" pitchFamily="50" charset="-128"/>
                <a:ea typeface="BIZ UDPゴシック" panose="020B0400000000000000" pitchFamily="50" charset="-128"/>
              </a:rPr>
              <a:t>13</a:t>
            </a:r>
            <a:r>
              <a:rPr lang="ja-JP" altLang="en-US" sz="900">
                <a:solidFill>
                  <a:prstClr val="black"/>
                </a:solidFill>
                <a:latin typeface="BIZ UDPゴシック" panose="020B0400000000000000" pitchFamily="50" charset="-128"/>
                <a:ea typeface="BIZ UDPゴシック" panose="020B0400000000000000" pitchFamily="50" charset="-128"/>
              </a:rPr>
              <a:t>インチも調査対象に含む。</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15" name="矢印: 五方向 14">
            <a:extLst>
              <a:ext uri="{FF2B5EF4-FFF2-40B4-BE49-F238E27FC236}">
                <a16:creationId xmlns:a16="http://schemas.microsoft.com/office/drawing/2014/main" id="{B891BEF2-3485-6E4C-769D-3365F201B39D}"/>
              </a:ext>
            </a:extLst>
          </p:cNvPr>
          <p:cNvSpPr/>
          <p:nvPr/>
        </p:nvSpPr>
        <p:spPr>
          <a:xfrm>
            <a:off x="6824997" y="6584143"/>
            <a:ext cx="5130137" cy="223029"/>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 2</a:t>
            </a:r>
            <a:r>
              <a:rPr lang="ja-JP" altLang="en-US" sz="1000" b="1">
                <a:solidFill>
                  <a:srgbClr val="C00000"/>
                </a:solidFill>
                <a:latin typeface="メイリオ" panose="020B0604030504040204" pitchFamily="50" charset="-128"/>
                <a:ea typeface="メイリオ" panose="020B0604030504040204" pitchFamily="50" charset="-128"/>
              </a:rPr>
              <a:t> </a:t>
            </a:r>
            <a:r>
              <a:rPr lang="en-US" altLang="ja-JP" sz="1000" b="1">
                <a:solidFill>
                  <a:srgbClr val="C00000"/>
                </a:solidFill>
                <a:latin typeface="メイリオ" panose="020B0604030504040204" pitchFamily="50" charset="-128"/>
                <a:ea typeface="メイリオ" panose="020B0604030504040204" pitchFamily="50" charset="-128"/>
              </a:rPr>
              <a:t>in</a:t>
            </a:r>
            <a:r>
              <a:rPr lang="ja-JP" altLang="en-US" sz="1000" b="1">
                <a:solidFill>
                  <a:srgbClr val="C00000"/>
                </a:solidFill>
                <a:latin typeface="メイリオ" panose="020B0604030504040204" pitchFamily="50" charset="-128"/>
                <a:ea typeface="メイリオ" panose="020B0604030504040204" pitchFamily="50" charset="-128"/>
              </a:rPr>
              <a:t> </a:t>
            </a:r>
            <a:r>
              <a:rPr lang="en-US" altLang="ja-JP" sz="1000" b="1">
                <a:solidFill>
                  <a:srgbClr val="C00000"/>
                </a:solidFill>
                <a:latin typeface="メイリオ" panose="020B0604030504040204" pitchFamily="50" charset="-128"/>
                <a:ea typeface="メイリオ" panose="020B0604030504040204" pitchFamily="50" charset="-128"/>
              </a:rPr>
              <a:t>1</a:t>
            </a:r>
            <a:r>
              <a:rPr lang="ja-JP" altLang="en-US" sz="1000" b="1">
                <a:solidFill>
                  <a:srgbClr val="C00000"/>
                </a:solidFill>
                <a:latin typeface="メイリオ" panose="020B0604030504040204" pitchFamily="50" charset="-128"/>
                <a:ea typeface="メイリオ" panose="020B0604030504040204" pitchFamily="50" charset="-128"/>
              </a:rPr>
              <a:t> </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Notebook</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　</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32" name="テキスト ボックス 31">
            <a:extLst>
              <a:ext uri="{FF2B5EF4-FFF2-40B4-BE49-F238E27FC236}">
                <a16:creationId xmlns:a16="http://schemas.microsoft.com/office/drawing/2014/main" id="{92C77955-F5F4-5A21-18EF-5E564B7011B9}"/>
              </a:ext>
            </a:extLst>
          </p:cNvPr>
          <p:cNvSpPr txBox="1"/>
          <p:nvPr/>
        </p:nvSpPr>
        <p:spPr>
          <a:xfrm>
            <a:off x="8545455" y="6576047"/>
            <a:ext cx="2612160" cy="230832"/>
          </a:xfrm>
          <a:prstGeom prst="rect">
            <a:avLst/>
          </a:prstGeom>
          <a:solidFill>
            <a:srgbClr val="FFFF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a:solidFill>
                  <a:prstClr val="black"/>
                </a:solidFill>
                <a:latin typeface="BIZ UDPゴシック" panose="020B0400000000000000" pitchFamily="50" charset="-128"/>
                <a:ea typeface="BIZ UDPゴシック" panose="020B0400000000000000" pitchFamily="50" charset="-128"/>
              </a:rPr>
              <a:t>用途、価格、性能要件など整理し実現可能性調査</a:t>
            </a:r>
            <a:endParaRPr lang="en-US" altLang="ja-JP" sz="900">
              <a:solidFill>
                <a:prstClr val="black"/>
              </a:solidFill>
              <a:latin typeface="BIZ UDPゴシック" panose="020B0400000000000000" pitchFamily="50" charset="-128"/>
              <a:ea typeface="BIZ UDPゴシック" panose="020B0400000000000000" pitchFamily="50" charset="-128"/>
            </a:endParaRPr>
          </a:p>
        </p:txBody>
      </p:sp>
      <p:sp>
        <p:nvSpPr>
          <p:cNvPr id="33" name="楕円 32">
            <a:extLst>
              <a:ext uri="{FF2B5EF4-FFF2-40B4-BE49-F238E27FC236}">
                <a16:creationId xmlns:a16="http://schemas.microsoft.com/office/drawing/2014/main" id="{CBECED11-B3C7-8549-9146-A9F4A6A1249B}"/>
              </a:ext>
            </a:extLst>
          </p:cNvPr>
          <p:cNvSpPr/>
          <p:nvPr/>
        </p:nvSpPr>
        <p:spPr>
          <a:xfrm>
            <a:off x="4506550" y="377270"/>
            <a:ext cx="458554" cy="25093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9798065D-06E0-1FDD-668C-D1F16B48B8AB}"/>
              </a:ext>
            </a:extLst>
          </p:cNvPr>
          <p:cNvSpPr txBox="1"/>
          <p:nvPr/>
        </p:nvSpPr>
        <p:spPr>
          <a:xfrm>
            <a:off x="4924874" y="374425"/>
            <a:ext cx="3914854" cy="246221"/>
          </a:xfrm>
          <a:prstGeom prst="rect">
            <a:avLst/>
          </a:prstGeom>
          <a:noFill/>
        </p:spPr>
        <p:txBody>
          <a:bodyPr wrap="none" rtlCol="0">
            <a:spAutoFit/>
          </a:bodyPr>
          <a:lstStyle/>
          <a:p>
            <a:r>
              <a:rPr kumimoji="1" lang="en-US" altLang="ja-JP" sz="1000">
                <a:latin typeface="BIZ UDPゴシック" panose="020B0400000000000000" pitchFamily="50" charset="-128"/>
                <a:ea typeface="BIZ UDPゴシック" panose="020B0400000000000000" pitchFamily="50" charset="-128"/>
              </a:rPr>
              <a:t>44</a:t>
            </a:r>
            <a:r>
              <a:rPr kumimoji="1" lang="ja-JP" altLang="en-US" sz="1000">
                <a:latin typeface="BIZ UDPゴシック" panose="020B0400000000000000" pitchFamily="50" charset="-128"/>
                <a:ea typeface="BIZ UDPゴシック" panose="020B0400000000000000" pitchFamily="50" charset="-128"/>
              </a:rPr>
              <a:t>期プロモ予算を必要とする新製品</a:t>
            </a:r>
            <a:r>
              <a:rPr kumimoji="1" lang="en-US" altLang="ja-JP" sz="1000">
                <a:latin typeface="BIZ UDPゴシック" panose="020B0400000000000000" pitchFamily="50" charset="-128"/>
                <a:ea typeface="BIZ UDPゴシック" panose="020B0400000000000000" pitchFamily="50" charset="-128"/>
              </a:rPr>
              <a:t>(</a:t>
            </a:r>
            <a:r>
              <a:rPr kumimoji="1" lang="ja-JP" altLang="en-US" sz="1000">
                <a:latin typeface="BIZ UDPゴシック" panose="020B0400000000000000" pitchFamily="50" charset="-128"/>
                <a:ea typeface="BIZ UDPゴシック" panose="020B0400000000000000" pitchFamily="50" charset="-128"/>
              </a:rPr>
              <a:t>丸の大きさが規模感と連動</a:t>
            </a:r>
            <a:r>
              <a:rPr kumimoji="1" lang="en-US" altLang="ja-JP" sz="1000">
                <a:latin typeface="BIZ UDPゴシック" panose="020B0400000000000000" pitchFamily="50" charset="-128"/>
                <a:ea typeface="BIZ UDPゴシック" panose="020B0400000000000000" pitchFamily="50" charset="-128"/>
              </a:rPr>
              <a:t>)</a:t>
            </a:r>
            <a:endParaRPr kumimoji="1" lang="ja-JP" altLang="en-US" sz="1000">
              <a:latin typeface="BIZ UDPゴシック" panose="020B0400000000000000" pitchFamily="50" charset="-128"/>
              <a:ea typeface="BIZ UDPゴシック" panose="020B0400000000000000" pitchFamily="50" charset="-128"/>
            </a:endParaRPr>
          </a:p>
        </p:txBody>
      </p:sp>
      <p:sp>
        <p:nvSpPr>
          <p:cNvPr id="66" name="楕円 65">
            <a:extLst>
              <a:ext uri="{FF2B5EF4-FFF2-40B4-BE49-F238E27FC236}">
                <a16:creationId xmlns:a16="http://schemas.microsoft.com/office/drawing/2014/main" id="{8FB5826E-B14A-FD7F-9711-31E9CB5BEA8F}"/>
              </a:ext>
            </a:extLst>
          </p:cNvPr>
          <p:cNvSpPr/>
          <p:nvPr/>
        </p:nvSpPr>
        <p:spPr>
          <a:xfrm>
            <a:off x="5590060" y="2725051"/>
            <a:ext cx="1003868" cy="2989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楕円 71">
            <a:extLst>
              <a:ext uri="{FF2B5EF4-FFF2-40B4-BE49-F238E27FC236}">
                <a16:creationId xmlns:a16="http://schemas.microsoft.com/office/drawing/2014/main" id="{10C19438-B278-D0E3-55FC-3D773A4E156A}"/>
              </a:ext>
            </a:extLst>
          </p:cNvPr>
          <p:cNvSpPr/>
          <p:nvPr/>
        </p:nvSpPr>
        <p:spPr>
          <a:xfrm>
            <a:off x="5526620" y="1900997"/>
            <a:ext cx="1067308" cy="357421"/>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楕円 75">
            <a:extLst>
              <a:ext uri="{FF2B5EF4-FFF2-40B4-BE49-F238E27FC236}">
                <a16:creationId xmlns:a16="http://schemas.microsoft.com/office/drawing/2014/main" id="{4A3F88C8-C92C-75B9-1AE9-AA9C1096C823}"/>
              </a:ext>
            </a:extLst>
          </p:cNvPr>
          <p:cNvSpPr/>
          <p:nvPr/>
        </p:nvSpPr>
        <p:spPr>
          <a:xfrm>
            <a:off x="7552176" y="3527291"/>
            <a:ext cx="1003869" cy="55870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楕円 76">
            <a:extLst>
              <a:ext uri="{FF2B5EF4-FFF2-40B4-BE49-F238E27FC236}">
                <a16:creationId xmlns:a16="http://schemas.microsoft.com/office/drawing/2014/main" id="{C068D7AB-F01E-688B-6D32-0B0AD196FEE8}"/>
              </a:ext>
            </a:extLst>
          </p:cNvPr>
          <p:cNvSpPr/>
          <p:nvPr/>
        </p:nvSpPr>
        <p:spPr>
          <a:xfrm>
            <a:off x="7564641" y="4702981"/>
            <a:ext cx="1003869" cy="55870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楕円 77">
            <a:extLst>
              <a:ext uri="{FF2B5EF4-FFF2-40B4-BE49-F238E27FC236}">
                <a16:creationId xmlns:a16="http://schemas.microsoft.com/office/drawing/2014/main" id="{58157FDB-4386-076C-4BEC-3B531DE9EB62}"/>
              </a:ext>
            </a:extLst>
          </p:cNvPr>
          <p:cNvSpPr/>
          <p:nvPr/>
        </p:nvSpPr>
        <p:spPr>
          <a:xfrm>
            <a:off x="7588988" y="6099988"/>
            <a:ext cx="1003869" cy="55870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3769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2652C-166D-FBE2-190F-8BFEEA9EC1EE}"/>
            </a:ext>
          </a:extLst>
        </p:cNvPr>
        <p:cNvGrpSpPr/>
        <p:nvPr/>
      </p:nvGrpSpPr>
      <p:grpSpPr>
        <a:xfrm>
          <a:off x="0" y="0"/>
          <a:ext cx="0" cy="0"/>
          <a:chOff x="0" y="0"/>
          <a:chExt cx="0" cy="0"/>
        </a:xfrm>
      </p:grpSpPr>
      <p:sp>
        <p:nvSpPr>
          <p:cNvPr id="23" name="矢印: 五方向 30">
            <a:extLst>
              <a:ext uri="{FF2B5EF4-FFF2-40B4-BE49-F238E27FC236}">
                <a16:creationId xmlns:a16="http://schemas.microsoft.com/office/drawing/2014/main" id="{07013150-6057-CBE4-2703-1D4AAA258731}"/>
              </a:ext>
            </a:extLst>
          </p:cNvPr>
          <p:cNvSpPr/>
          <p:nvPr/>
        </p:nvSpPr>
        <p:spPr>
          <a:xfrm>
            <a:off x="412851" y="2641178"/>
            <a:ext cx="11537044" cy="507408"/>
          </a:xfrm>
          <a:prstGeom prst="rect">
            <a:avLst/>
          </a:prstGeom>
          <a:solidFill>
            <a:schemeClr val="accent4">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3" name="矢印: 五方向 30">
            <a:extLst>
              <a:ext uri="{FF2B5EF4-FFF2-40B4-BE49-F238E27FC236}">
                <a16:creationId xmlns:a16="http://schemas.microsoft.com/office/drawing/2014/main" id="{AE53D87B-A30F-4749-03B4-A369A47D2A9F}"/>
              </a:ext>
            </a:extLst>
          </p:cNvPr>
          <p:cNvSpPr/>
          <p:nvPr/>
        </p:nvSpPr>
        <p:spPr>
          <a:xfrm>
            <a:off x="402224" y="1724565"/>
            <a:ext cx="11537044" cy="866837"/>
          </a:xfrm>
          <a:prstGeom prst="rect">
            <a:avLst/>
          </a:prstGeom>
          <a:solidFill>
            <a:schemeClr val="accent2">
              <a:lumMod val="40000"/>
              <a:lumOff val="6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 name="矢印: 五方向 30">
            <a:extLst>
              <a:ext uri="{FF2B5EF4-FFF2-40B4-BE49-F238E27FC236}">
                <a16:creationId xmlns:a16="http://schemas.microsoft.com/office/drawing/2014/main" id="{9C8E547D-B3B0-571D-80EA-F718D540B53C}"/>
              </a:ext>
            </a:extLst>
          </p:cNvPr>
          <p:cNvSpPr/>
          <p:nvPr/>
        </p:nvSpPr>
        <p:spPr>
          <a:xfrm>
            <a:off x="405462" y="3198105"/>
            <a:ext cx="11537044" cy="3502288"/>
          </a:xfrm>
          <a:prstGeom prst="rect">
            <a:avLst/>
          </a:prstGeom>
          <a:solidFill>
            <a:schemeClr val="accent1">
              <a:lumMod val="20000"/>
              <a:lumOff val="80000"/>
              <a:alpha val="6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1" i="0" u="sng"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5" name="テキスト ボックス 1">
            <a:extLst>
              <a:ext uri="{FF2B5EF4-FFF2-40B4-BE49-F238E27FC236}">
                <a16:creationId xmlns:a16="http://schemas.microsoft.com/office/drawing/2014/main" id="{82772CB3-4B69-9651-9F93-47766F90B738}"/>
              </a:ext>
            </a:extLst>
          </p:cNvPr>
          <p:cNvSpPr txBox="1"/>
          <p:nvPr/>
        </p:nvSpPr>
        <p:spPr>
          <a:xfrm>
            <a:off x="259522" y="210921"/>
            <a:ext cx="6239424"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次期検討用ロードマップ（</a:t>
            </a:r>
            <a:r>
              <a:rPr kumimoji="1" lang="en-US" altLang="ja-JP"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2026~2028</a:t>
            </a:r>
            <a:r>
              <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a:t>
            </a:r>
            <a:r>
              <a:rPr lang="ja-JP" altLang="en-US" b="1">
                <a:solidFill>
                  <a:prstClr val="black"/>
                </a:solidFill>
                <a:latin typeface="游ゴシック" panose="020F0502020204030204"/>
                <a:ea typeface="游ゴシック" panose="020B0400000000000000" pitchFamily="50" charset="-128"/>
              </a:rPr>
              <a:t> </a:t>
            </a:r>
            <a:r>
              <a:rPr lang="en-US" altLang="ja-JP" b="1">
                <a:solidFill>
                  <a:prstClr val="black"/>
                </a:solidFill>
                <a:latin typeface="游ゴシック" panose="020F0502020204030204"/>
                <a:ea typeface="游ゴシック" panose="020B0400000000000000" pitchFamily="50" charset="-128"/>
              </a:rPr>
              <a:t>2026/06/22</a:t>
            </a:r>
            <a:r>
              <a:rPr lang="ja-JP" altLang="en-US" b="1">
                <a:solidFill>
                  <a:prstClr val="black"/>
                </a:solidFill>
                <a:latin typeface="游ゴシック" panose="020F0502020204030204"/>
                <a:ea typeface="游ゴシック" panose="020B0400000000000000" pitchFamily="50" charset="-128"/>
              </a:rPr>
              <a:t>版</a:t>
            </a:r>
            <a:endPar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cxnSp>
        <p:nvCxnSpPr>
          <p:cNvPr id="6" name="直線コネクタ 5">
            <a:extLst>
              <a:ext uri="{FF2B5EF4-FFF2-40B4-BE49-F238E27FC236}">
                <a16:creationId xmlns:a16="http://schemas.microsoft.com/office/drawing/2014/main" id="{2A399E57-43F1-A9F6-1E6F-BC3CBDBB8098}"/>
              </a:ext>
            </a:extLst>
          </p:cNvPr>
          <p:cNvCxnSpPr>
            <a:cxnSpLocks/>
          </p:cNvCxnSpPr>
          <p:nvPr/>
        </p:nvCxnSpPr>
        <p:spPr>
          <a:xfrm>
            <a:off x="8090023" y="1747277"/>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BFA9654-B27A-7159-0558-F20CEA39BB56}"/>
              </a:ext>
            </a:extLst>
          </p:cNvPr>
          <p:cNvCxnSpPr>
            <a:cxnSpLocks/>
          </p:cNvCxnSpPr>
          <p:nvPr/>
        </p:nvCxnSpPr>
        <p:spPr>
          <a:xfrm>
            <a:off x="4243077" y="1747277"/>
            <a:ext cx="0" cy="4953081"/>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B1589091-B026-8D03-FC3B-21734E687650}"/>
              </a:ext>
            </a:extLst>
          </p:cNvPr>
          <p:cNvCxnSpPr>
            <a:cxnSpLocks/>
          </p:cNvCxnSpPr>
          <p:nvPr/>
        </p:nvCxnSpPr>
        <p:spPr>
          <a:xfrm>
            <a:off x="405461" y="1285468"/>
            <a:ext cx="0" cy="541489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9" name="矢印: 五方向 18">
            <a:extLst>
              <a:ext uri="{FF2B5EF4-FFF2-40B4-BE49-F238E27FC236}">
                <a16:creationId xmlns:a16="http://schemas.microsoft.com/office/drawing/2014/main" id="{AE835948-E453-2F70-4480-71AB8BD984B3}"/>
              </a:ext>
            </a:extLst>
          </p:cNvPr>
          <p:cNvSpPr/>
          <p:nvPr/>
        </p:nvSpPr>
        <p:spPr>
          <a:xfrm>
            <a:off x="392863" y="5937549"/>
            <a:ext cx="4509276" cy="189303"/>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[A]DX-R5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i5-1335U)</a:t>
            </a:r>
          </a:p>
        </p:txBody>
      </p:sp>
      <p:sp>
        <p:nvSpPr>
          <p:cNvPr id="21" name="矢印: 五方向 20">
            <a:extLst>
              <a:ext uri="{FF2B5EF4-FFF2-40B4-BE49-F238E27FC236}">
                <a16:creationId xmlns:a16="http://schemas.microsoft.com/office/drawing/2014/main" id="{FF9F0D82-C174-7D7E-3BAA-BD40FC968B80}"/>
              </a:ext>
            </a:extLst>
          </p:cNvPr>
          <p:cNvSpPr/>
          <p:nvPr/>
        </p:nvSpPr>
        <p:spPr>
          <a:xfrm>
            <a:off x="402222" y="6462873"/>
            <a:ext cx="4488717" cy="208969"/>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[A]DX-RP3S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i3-1315U)</a:t>
            </a:r>
          </a:p>
        </p:txBody>
      </p:sp>
      <p:sp>
        <p:nvSpPr>
          <p:cNvPr id="25" name="矢印: 五方向 24">
            <a:extLst>
              <a:ext uri="{FF2B5EF4-FFF2-40B4-BE49-F238E27FC236}">
                <a16:creationId xmlns:a16="http://schemas.microsoft.com/office/drawing/2014/main" id="{117E8440-7407-4306-AD44-C286B44DE618}"/>
              </a:ext>
            </a:extLst>
          </p:cNvPr>
          <p:cNvSpPr/>
          <p:nvPr/>
        </p:nvSpPr>
        <p:spPr>
          <a:xfrm>
            <a:off x="2316258" y="2850346"/>
            <a:ext cx="4165715" cy="220639"/>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[H]DX-16PN7A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Ultra 7 355)</a:t>
            </a:r>
          </a:p>
        </p:txBody>
      </p:sp>
      <p:sp>
        <p:nvSpPr>
          <p:cNvPr id="26" name="矢印: 五方向 25">
            <a:extLst>
              <a:ext uri="{FF2B5EF4-FFF2-40B4-BE49-F238E27FC236}">
                <a16:creationId xmlns:a16="http://schemas.microsoft.com/office/drawing/2014/main" id="{1BE09675-8AD1-C3C6-B116-B6093B17FC84}"/>
              </a:ext>
            </a:extLst>
          </p:cNvPr>
          <p:cNvSpPr/>
          <p:nvPr/>
        </p:nvSpPr>
        <p:spPr>
          <a:xfrm>
            <a:off x="4561080" y="3785225"/>
            <a:ext cx="3947315"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[A]DA5-C7HIGA-08S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(CLE V755 : Intel Core Ultra 7 155H/60Wh/IR Cam)</a:t>
            </a:r>
          </a:p>
        </p:txBody>
      </p:sp>
      <p:sp>
        <p:nvSpPr>
          <p:cNvPr id="27" name="矢印: 五方向 26">
            <a:extLst>
              <a:ext uri="{FF2B5EF4-FFF2-40B4-BE49-F238E27FC236}">
                <a16:creationId xmlns:a16="http://schemas.microsoft.com/office/drawing/2014/main" id="{A30BEDA8-D61A-DF80-F944-BF31047E171E}"/>
              </a:ext>
            </a:extLst>
          </p:cNvPr>
          <p:cNvSpPr/>
          <p:nvPr/>
        </p:nvSpPr>
        <p:spPr>
          <a:xfrm>
            <a:off x="2325113" y="2220016"/>
            <a:ext cx="4173833"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[U]DX-16RP7A-6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i7-14650HX + 5060)</a:t>
            </a:r>
          </a:p>
        </p:txBody>
      </p:sp>
      <p:sp>
        <p:nvSpPr>
          <p:cNvPr id="29" name="矢印: 五方向 28">
            <a:extLst>
              <a:ext uri="{FF2B5EF4-FFF2-40B4-BE49-F238E27FC236}">
                <a16:creationId xmlns:a16="http://schemas.microsoft.com/office/drawing/2014/main" id="{0A38D588-E490-B8F1-C13E-FFF32AC0FB17}"/>
              </a:ext>
            </a:extLst>
          </p:cNvPr>
          <p:cNvSpPr/>
          <p:nvPr/>
        </p:nvSpPr>
        <p:spPr>
          <a:xfrm>
            <a:off x="2328500" y="3862986"/>
            <a:ext cx="2232579"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[A]DX-15RP7A</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i7-1355U/DDR5)</a:t>
            </a:r>
          </a:p>
        </p:txBody>
      </p:sp>
      <p:sp>
        <p:nvSpPr>
          <p:cNvPr id="31" name="矢印: 五方向 30">
            <a:extLst>
              <a:ext uri="{FF2B5EF4-FFF2-40B4-BE49-F238E27FC236}">
                <a16:creationId xmlns:a16="http://schemas.microsoft.com/office/drawing/2014/main" id="{A26F9DAD-FE74-DBA7-6A9E-58447E6AD0F7}"/>
              </a:ext>
            </a:extLst>
          </p:cNvPr>
          <p:cNvSpPr/>
          <p:nvPr/>
        </p:nvSpPr>
        <p:spPr>
          <a:xfrm>
            <a:off x="405458" y="4435191"/>
            <a:ext cx="3197345" cy="22628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[A]DX-R7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i7-1355U)</a:t>
            </a:r>
          </a:p>
        </p:txBody>
      </p:sp>
      <p:sp>
        <p:nvSpPr>
          <p:cNvPr id="32" name="正方形/長方形 31">
            <a:extLst>
              <a:ext uri="{FF2B5EF4-FFF2-40B4-BE49-F238E27FC236}">
                <a16:creationId xmlns:a16="http://schemas.microsoft.com/office/drawing/2014/main" id="{6EE2D18C-8F44-B366-A9EE-0E423797093B}"/>
              </a:ext>
            </a:extLst>
          </p:cNvPr>
          <p:cNvSpPr/>
          <p:nvPr/>
        </p:nvSpPr>
        <p:spPr>
          <a:xfrm>
            <a:off x="8921846" y="552760"/>
            <a:ext cx="678938" cy="260475"/>
          </a:xfrm>
          <a:prstGeom prst="rect">
            <a:avLst/>
          </a:prstGeom>
          <a:solidFill>
            <a:schemeClr val="accent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現行品</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D39BB9B4-88EA-B078-F1D5-BE075198A294}"/>
              </a:ext>
            </a:extLst>
          </p:cNvPr>
          <p:cNvSpPr/>
          <p:nvPr/>
        </p:nvSpPr>
        <p:spPr>
          <a:xfrm>
            <a:off x="10362997" y="558142"/>
            <a:ext cx="617722" cy="260475"/>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予定品</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5" name="正方形/長方形 34">
            <a:extLst>
              <a:ext uri="{FF2B5EF4-FFF2-40B4-BE49-F238E27FC236}">
                <a16:creationId xmlns:a16="http://schemas.microsoft.com/office/drawing/2014/main" id="{5B5A7583-CAD5-C885-9FA4-8D9EAD67F15A}"/>
              </a:ext>
            </a:extLst>
          </p:cNvPr>
          <p:cNvSpPr/>
          <p:nvPr/>
        </p:nvSpPr>
        <p:spPr>
          <a:xfrm>
            <a:off x="9670800" y="558293"/>
            <a:ext cx="617722" cy="260475"/>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rPr>
              <a:t>承認済</a:t>
            </a:r>
            <a:endParaRPr kumimoji="1" lang="ja-JP" altLang="en-US"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42" name="矢印: 五方向 41">
            <a:extLst>
              <a:ext uri="{FF2B5EF4-FFF2-40B4-BE49-F238E27FC236}">
                <a16:creationId xmlns:a16="http://schemas.microsoft.com/office/drawing/2014/main" id="{94910764-FE43-A82E-F368-48DDF17ADCA4}"/>
              </a:ext>
            </a:extLst>
          </p:cNvPr>
          <p:cNvSpPr/>
          <p:nvPr/>
        </p:nvSpPr>
        <p:spPr>
          <a:xfrm>
            <a:off x="8426807" y="5072991"/>
            <a:ext cx="3533282" cy="288000"/>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CLE V755 + WCL or WCL-Ref CU5</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4" name="矢印: 五方向 43">
            <a:extLst>
              <a:ext uri="{FF2B5EF4-FFF2-40B4-BE49-F238E27FC236}">
                <a16:creationId xmlns:a16="http://schemas.microsoft.com/office/drawing/2014/main" id="{400ACAE3-A81F-C812-D7DE-56EF38A9F1E7}"/>
              </a:ext>
            </a:extLst>
          </p:cNvPr>
          <p:cNvSpPr/>
          <p:nvPr/>
        </p:nvSpPr>
        <p:spPr>
          <a:xfrm>
            <a:off x="8426807" y="3774831"/>
            <a:ext cx="3533282" cy="306338"/>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CLE V755 + WCL or WCL-Ref-CU7</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46" name="矢印: 五方向 45">
            <a:extLst>
              <a:ext uri="{FF2B5EF4-FFF2-40B4-BE49-F238E27FC236}">
                <a16:creationId xmlns:a16="http://schemas.microsoft.com/office/drawing/2014/main" id="{70673EA0-820A-3C93-6926-8FDA35106591}"/>
              </a:ext>
            </a:extLst>
          </p:cNvPr>
          <p:cNvSpPr/>
          <p:nvPr/>
        </p:nvSpPr>
        <p:spPr>
          <a:xfrm>
            <a:off x="2652601" y="6212273"/>
            <a:ext cx="4509276" cy="20581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[A]DX-15RP3A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i5-1315U)</a:t>
            </a:r>
          </a:p>
        </p:txBody>
      </p:sp>
      <p:sp>
        <p:nvSpPr>
          <p:cNvPr id="47" name="矢印: 五方向 46">
            <a:extLst>
              <a:ext uri="{FF2B5EF4-FFF2-40B4-BE49-F238E27FC236}">
                <a16:creationId xmlns:a16="http://schemas.microsoft.com/office/drawing/2014/main" id="{84D653B5-8C26-2AEF-114B-17CE52391DC2}"/>
              </a:ext>
            </a:extLst>
          </p:cNvPr>
          <p:cNvSpPr/>
          <p:nvPr/>
        </p:nvSpPr>
        <p:spPr>
          <a:xfrm>
            <a:off x="2636618" y="5359152"/>
            <a:ext cx="1591680"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[A]DX-15RP5A</a:t>
            </a:r>
            <a:br>
              <a:rPr kumimoji="1" lang="en-US" altLang="ja-JP" sz="9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br>
            <a:r>
              <a:rPr kumimoji="1" lang="en-US" altLang="ja-JP"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i5-1334U)</a:t>
            </a:r>
          </a:p>
        </p:txBody>
      </p:sp>
      <p:cxnSp>
        <p:nvCxnSpPr>
          <p:cNvPr id="50" name="直線コネクタ 49">
            <a:extLst>
              <a:ext uri="{FF2B5EF4-FFF2-40B4-BE49-F238E27FC236}">
                <a16:creationId xmlns:a16="http://schemas.microsoft.com/office/drawing/2014/main" id="{BD852EC7-D242-1420-BA6E-B7E218CFEB06}"/>
              </a:ext>
            </a:extLst>
          </p:cNvPr>
          <p:cNvCxnSpPr>
            <a:cxnSpLocks/>
          </p:cNvCxnSpPr>
          <p:nvPr/>
        </p:nvCxnSpPr>
        <p:spPr>
          <a:xfrm>
            <a:off x="5843484" y="971525"/>
            <a:ext cx="0" cy="5720165"/>
          </a:xfrm>
          <a:prstGeom prst="line">
            <a:avLst/>
          </a:prstGeom>
        </p:spPr>
        <p:style>
          <a:lnRef idx="1">
            <a:schemeClr val="accent1"/>
          </a:lnRef>
          <a:fillRef idx="0">
            <a:schemeClr val="accent1"/>
          </a:fillRef>
          <a:effectRef idx="0">
            <a:schemeClr val="accent1"/>
          </a:effectRef>
          <a:fontRef idx="minor">
            <a:schemeClr val="tx1"/>
          </a:fontRef>
        </p:style>
      </p:cxnSp>
      <p:sp>
        <p:nvSpPr>
          <p:cNvPr id="51" name="矢印: 五方向 50">
            <a:extLst>
              <a:ext uri="{FF2B5EF4-FFF2-40B4-BE49-F238E27FC236}">
                <a16:creationId xmlns:a16="http://schemas.microsoft.com/office/drawing/2014/main" id="{E2E74D35-08D3-FD4C-350D-3178EFE32B4E}"/>
              </a:ext>
            </a:extLst>
          </p:cNvPr>
          <p:cNvSpPr/>
          <p:nvPr/>
        </p:nvSpPr>
        <p:spPr>
          <a:xfrm>
            <a:off x="1325137" y="3257937"/>
            <a:ext cx="5483291" cy="183576"/>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[A]DX-17RP5A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i5-1334U)</a:t>
            </a:r>
          </a:p>
        </p:txBody>
      </p:sp>
      <p:sp>
        <p:nvSpPr>
          <p:cNvPr id="54" name="テキスト ボックス 1">
            <a:extLst>
              <a:ext uri="{FF2B5EF4-FFF2-40B4-BE49-F238E27FC236}">
                <a16:creationId xmlns:a16="http://schemas.microsoft.com/office/drawing/2014/main" id="{DF575742-89A1-F9CA-0735-E79D23490A3A}"/>
              </a:ext>
            </a:extLst>
          </p:cNvPr>
          <p:cNvSpPr txBox="1"/>
          <p:nvPr/>
        </p:nvSpPr>
        <p:spPr>
          <a:xfrm>
            <a:off x="386148" y="626436"/>
            <a:ext cx="2953045"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THIRDWAVE 15.6”</a:t>
            </a:r>
            <a:r>
              <a:rPr kumimoji="1" lang="ja-JP" altLang="en-US" sz="1800" b="1"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rPr>
              <a:t>～</a:t>
            </a:r>
          </a:p>
        </p:txBody>
      </p:sp>
      <p:sp>
        <p:nvSpPr>
          <p:cNvPr id="55" name="矢印: 五方向 54">
            <a:extLst>
              <a:ext uri="{FF2B5EF4-FFF2-40B4-BE49-F238E27FC236}">
                <a16:creationId xmlns:a16="http://schemas.microsoft.com/office/drawing/2014/main" id="{FDF50D86-7799-3EEF-806B-FB10A8A6F618}"/>
              </a:ext>
            </a:extLst>
          </p:cNvPr>
          <p:cNvSpPr/>
          <p:nvPr/>
        </p:nvSpPr>
        <p:spPr>
          <a:xfrm>
            <a:off x="4565081" y="5067198"/>
            <a:ext cx="3861726" cy="288000"/>
          </a:xfrm>
          <a:prstGeom prst="homePlate">
            <a:avLst/>
          </a:prstGeom>
          <a:solidFill>
            <a:srgbClr val="92D050"/>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[A]DA5-C5IUGA-08S</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(CLE V755 : Intel Core Ultra 5 125U/60Wh/IR Cam)</a:t>
            </a:r>
          </a:p>
        </p:txBody>
      </p:sp>
      <p:sp>
        <p:nvSpPr>
          <p:cNvPr id="43" name="矢印: 五方向 42">
            <a:extLst>
              <a:ext uri="{FF2B5EF4-FFF2-40B4-BE49-F238E27FC236}">
                <a16:creationId xmlns:a16="http://schemas.microsoft.com/office/drawing/2014/main" id="{6CF52F5E-879D-2EC1-D660-6FABDC85D6CF}"/>
              </a:ext>
            </a:extLst>
          </p:cNvPr>
          <p:cNvSpPr/>
          <p:nvPr/>
        </p:nvSpPr>
        <p:spPr>
          <a:xfrm>
            <a:off x="6286500" y="2721028"/>
            <a:ext cx="4361068" cy="214226"/>
          </a:xfrm>
          <a:prstGeom prst="homePlate">
            <a:avLst/>
          </a:prstGeom>
          <a:solidFill>
            <a:srgbClr val="ED7D31"/>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[H] Intel NVL Core Ultra 7</a:t>
            </a:r>
            <a:endPar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56" name="矢印: 五方向 55">
            <a:extLst>
              <a:ext uri="{FF2B5EF4-FFF2-40B4-BE49-F238E27FC236}">
                <a16:creationId xmlns:a16="http://schemas.microsoft.com/office/drawing/2014/main" id="{E1D48185-E425-769B-E5CF-62016A014173}"/>
              </a:ext>
            </a:extLst>
          </p:cNvPr>
          <p:cNvSpPr/>
          <p:nvPr/>
        </p:nvSpPr>
        <p:spPr>
          <a:xfrm>
            <a:off x="10098819" y="2779300"/>
            <a:ext cx="1844539" cy="291685"/>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[H] Intel Razer Lake H CU7</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cxnSp>
        <p:nvCxnSpPr>
          <p:cNvPr id="57" name="直線コネクタ 56">
            <a:extLst>
              <a:ext uri="{FF2B5EF4-FFF2-40B4-BE49-F238E27FC236}">
                <a16:creationId xmlns:a16="http://schemas.microsoft.com/office/drawing/2014/main" id="{76F5E3BF-0792-2A6B-4D1F-0ABFD0FFEA6C}"/>
              </a:ext>
            </a:extLst>
          </p:cNvPr>
          <p:cNvCxnSpPr>
            <a:cxnSpLocks/>
          </p:cNvCxnSpPr>
          <p:nvPr/>
        </p:nvCxnSpPr>
        <p:spPr>
          <a:xfrm>
            <a:off x="9681100" y="995768"/>
            <a:ext cx="0" cy="5757257"/>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6247F18C-959C-548D-468F-D53F5B8F9E5D}"/>
              </a:ext>
            </a:extLst>
          </p:cNvPr>
          <p:cNvCxnSpPr>
            <a:cxnSpLocks/>
          </p:cNvCxnSpPr>
          <p:nvPr/>
        </p:nvCxnSpPr>
        <p:spPr>
          <a:xfrm>
            <a:off x="1998447" y="971525"/>
            <a:ext cx="0" cy="5781500"/>
          </a:xfrm>
          <a:prstGeom prst="line">
            <a:avLst/>
          </a:prstGeom>
        </p:spPr>
        <p:style>
          <a:lnRef idx="1">
            <a:schemeClr val="accent1"/>
          </a:lnRef>
          <a:fillRef idx="0">
            <a:schemeClr val="accent1"/>
          </a:fillRef>
          <a:effectRef idx="0">
            <a:schemeClr val="accent1"/>
          </a:effectRef>
          <a:fontRef idx="minor">
            <a:schemeClr val="tx1"/>
          </a:fontRef>
        </p:style>
      </p:cxnSp>
      <p:sp>
        <p:nvSpPr>
          <p:cNvPr id="2" name="矢印: 五方向 1">
            <a:extLst>
              <a:ext uri="{FF2B5EF4-FFF2-40B4-BE49-F238E27FC236}">
                <a16:creationId xmlns:a16="http://schemas.microsoft.com/office/drawing/2014/main" id="{A0CC1E6D-C053-339C-5D30-941101CA3172}"/>
              </a:ext>
            </a:extLst>
          </p:cNvPr>
          <p:cNvSpPr/>
          <p:nvPr/>
        </p:nvSpPr>
        <p:spPr>
          <a:xfrm>
            <a:off x="408982" y="5674100"/>
            <a:ext cx="3842390" cy="222946"/>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[A]DX-R5T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i5-1334U)</a:t>
            </a:r>
          </a:p>
        </p:txBody>
      </p:sp>
      <p:sp>
        <p:nvSpPr>
          <p:cNvPr id="3" name="矢印: 五方向 2">
            <a:extLst>
              <a:ext uri="{FF2B5EF4-FFF2-40B4-BE49-F238E27FC236}">
                <a16:creationId xmlns:a16="http://schemas.microsoft.com/office/drawing/2014/main" id="{7E1E44CB-0EA6-ADD5-3C56-27E3696ECAC7}"/>
              </a:ext>
            </a:extLst>
          </p:cNvPr>
          <p:cNvSpPr/>
          <p:nvPr/>
        </p:nvSpPr>
        <p:spPr>
          <a:xfrm>
            <a:off x="3283399" y="5044929"/>
            <a:ext cx="1291996"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6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[A]DX-15RP5B</a:t>
            </a:r>
            <a:b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br>
            <a:r>
              <a:rPr kumimoji="1" lang="en-US" altLang="ja-JP" sz="5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i5-1335U/DDR5)</a:t>
            </a:r>
          </a:p>
        </p:txBody>
      </p:sp>
      <p:sp>
        <p:nvSpPr>
          <p:cNvPr id="9" name="矢印: 五方向 8">
            <a:extLst>
              <a:ext uri="{FF2B5EF4-FFF2-40B4-BE49-F238E27FC236}">
                <a16:creationId xmlns:a16="http://schemas.microsoft.com/office/drawing/2014/main" id="{1B1C2DF6-F6D3-D81D-7F6E-A60E1FD791D0}"/>
              </a:ext>
            </a:extLst>
          </p:cNvPr>
          <p:cNvSpPr/>
          <p:nvPr/>
        </p:nvSpPr>
        <p:spPr>
          <a:xfrm>
            <a:off x="3593345" y="4724894"/>
            <a:ext cx="1923431"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[A]DX-15RP5C</a:t>
            </a:r>
            <a:br>
              <a:rPr kumimoji="1" lang="en-US" altLang="ja-JP"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br>
            <a: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i5-1335U/DDR4)</a:t>
            </a:r>
          </a:p>
        </p:txBody>
      </p:sp>
      <p:sp>
        <p:nvSpPr>
          <p:cNvPr id="10" name="矢印: 五方向 9">
            <a:extLst>
              <a:ext uri="{FF2B5EF4-FFF2-40B4-BE49-F238E27FC236}">
                <a16:creationId xmlns:a16="http://schemas.microsoft.com/office/drawing/2014/main" id="{42C2EA54-FCBF-A985-099C-12D7F9FE8F8B}"/>
              </a:ext>
            </a:extLst>
          </p:cNvPr>
          <p:cNvSpPr/>
          <p:nvPr/>
        </p:nvSpPr>
        <p:spPr>
          <a:xfrm>
            <a:off x="407938" y="4184561"/>
            <a:ext cx="3197345" cy="214175"/>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[A]DX-R7S </a:t>
            </a:r>
            <a:r>
              <a:rPr kumimoji="1" lang="en-US" altLang="ja-JP" sz="8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(Intel Core i7-1355U)</a:t>
            </a:r>
          </a:p>
        </p:txBody>
      </p:sp>
      <p:sp>
        <p:nvSpPr>
          <p:cNvPr id="11" name="矢印: 五方向 10">
            <a:extLst>
              <a:ext uri="{FF2B5EF4-FFF2-40B4-BE49-F238E27FC236}">
                <a16:creationId xmlns:a16="http://schemas.microsoft.com/office/drawing/2014/main" id="{56B9261F-5CF0-EC3A-B40F-6FCE0123743D}"/>
              </a:ext>
            </a:extLst>
          </p:cNvPr>
          <p:cNvSpPr/>
          <p:nvPr/>
        </p:nvSpPr>
        <p:spPr>
          <a:xfrm>
            <a:off x="3697783" y="3557458"/>
            <a:ext cx="909757" cy="288000"/>
          </a:xfrm>
          <a:prstGeom prst="homePlate">
            <a:avLst/>
          </a:prstGeom>
          <a:solidFill>
            <a:srgbClr val="2F5597"/>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5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[A]DX-15RP7C</a:t>
            </a:r>
            <a:br>
              <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br>
            <a:r>
              <a:rPr kumimoji="1" lang="en-US" altLang="ja-JP" sz="4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(Core i7-1355U/DDr4)</a:t>
            </a:r>
          </a:p>
        </p:txBody>
      </p:sp>
      <p:sp>
        <p:nvSpPr>
          <p:cNvPr id="12" name="矢印: 五方向 11">
            <a:extLst>
              <a:ext uri="{FF2B5EF4-FFF2-40B4-BE49-F238E27FC236}">
                <a16:creationId xmlns:a16="http://schemas.microsoft.com/office/drawing/2014/main" id="{C057C5E9-418F-DE92-53F2-82D6962EF212}"/>
              </a:ext>
            </a:extLst>
          </p:cNvPr>
          <p:cNvSpPr/>
          <p:nvPr/>
        </p:nvSpPr>
        <p:spPr>
          <a:xfrm>
            <a:off x="7143038" y="6059394"/>
            <a:ext cx="4915492" cy="229806"/>
          </a:xfrm>
          <a:prstGeom prst="homePlate">
            <a:avLst/>
          </a:prstGeom>
          <a:solidFill>
            <a:schemeClr val="accent2"/>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 </a:t>
            </a:r>
            <a:r>
              <a:rPr kumimoji="1" lang="ja-JP" altLang="en-US"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低価格ノート</a:t>
            </a:r>
            <a:r>
              <a:rPr kumimoji="1" lang="en-US" altLang="ja-JP"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r>
              <a:rPr kumimoji="1" lang="ja-JP" altLang="en-US"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調査中</a:t>
            </a:r>
            <a:r>
              <a:rPr kumimoji="1" lang="en-US" altLang="ja-JP" sz="10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rPr>
              <a:t>)</a:t>
            </a:r>
            <a:endParaRPr kumimoji="1" lang="en-US" altLang="ja-JP" sz="700" b="1" i="0" u="none" strike="noStrike" kern="1200" cap="none" spc="0" normalizeH="0" baseline="0" noProof="0">
              <a:ln>
                <a:noFill/>
              </a:ln>
              <a:solidFill>
                <a:prstClr val="white"/>
              </a:solidFill>
              <a:effectLst/>
              <a:uLnTx/>
              <a:uFillTx/>
              <a:latin typeface="メイリオ" panose="020B0604030504040204" pitchFamily="50" charset="-128"/>
              <a:ea typeface="メイリオ" panose="020B0604030504040204" pitchFamily="50" charset="-128"/>
              <a:cs typeface="+mn-cs"/>
            </a:endParaRPr>
          </a:p>
        </p:txBody>
      </p:sp>
      <p:sp>
        <p:nvSpPr>
          <p:cNvPr id="15" name="矢印: 五方向 14">
            <a:extLst>
              <a:ext uri="{FF2B5EF4-FFF2-40B4-BE49-F238E27FC236}">
                <a16:creationId xmlns:a16="http://schemas.microsoft.com/office/drawing/2014/main" id="{FC112FD6-C1F6-9467-423B-C1B9D62B9094}"/>
              </a:ext>
            </a:extLst>
          </p:cNvPr>
          <p:cNvSpPr/>
          <p:nvPr/>
        </p:nvSpPr>
        <p:spPr>
          <a:xfrm>
            <a:off x="6493875" y="1838657"/>
            <a:ext cx="5428857" cy="685955"/>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法人</a:t>
            </a:r>
            <a:r>
              <a:rPr lang="en-US" altLang="ja-JP" sz="1000" b="1">
                <a:solidFill>
                  <a:srgbClr val="C00000"/>
                </a:solidFill>
                <a:latin typeface="メイリオ" panose="020B0604030504040204" pitchFamily="50" charset="-128"/>
                <a:ea typeface="メイリオ" panose="020B0604030504040204" pitchFamily="50" charset="-128"/>
              </a:rPr>
              <a:t>GALLERIA]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Intel xxx + 5070/12GB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Intel xxx + 5060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b="1">
                <a:solidFill>
                  <a:srgbClr val="C00000"/>
                </a:solidFill>
                <a:latin typeface="メイリオ" panose="020B0604030504040204" pitchFamily="50" charset="-128"/>
                <a:ea typeface="メイリオ" panose="020B0604030504040204" pitchFamily="50" charset="-128"/>
              </a:rPr>
              <a:t>Intel xxx + 3050</a:t>
            </a:r>
            <a:endPar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24" name="テキスト ボックス 23">
            <a:extLst>
              <a:ext uri="{FF2B5EF4-FFF2-40B4-BE49-F238E27FC236}">
                <a16:creationId xmlns:a16="http://schemas.microsoft.com/office/drawing/2014/main" id="{02E9AA5F-4376-BA41-D2C8-610F59D65D98}"/>
              </a:ext>
            </a:extLst>
          </p:cNvPr>
          <p:cNvSpPr txBox="1"/>
          <p:nvPr/>
        </p:nvSpPr>
        <p:spPr>
          <a:xfrm>
            <a:off x="326331" y="1708082"/>
            <a:ext cx="1518364"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Ultimate (</a:t>
            </a:r>
            <a:r>
              <a:rPr kumimoji="1" lang="en-US" altLang="ja-JP" sz="1000" b="1" i="0" u="none" strike="noStrike" kern="1200" cap="none" spc="0" normalizeH="0" baseline="0" noProof="0" err="1">
                <a:ln>
                  <a:noFill/>
                </a:ln>
                <a:solidFill>
                  <a:prstClr val="black"/>
                </a:solidFill>
                <a:effectLst/>
                <a:uLnTx/>
                <a:uFillTx/>
                <a:latin typeface="BIZ UDPゴシック" panose="020B0400000000000000" pitchFamily="50" charset="-128"/>
                <a:ea typeface="BIZ UDPゴシック" panose="020B0400000000000000" pitchFamily="50" charset="-128"/>
                <a:cs typeface="+mn-cs"/>
              </a:rPr>
              <a:t>dGPU</a:t>
            </a:r>
            <a:r>
              <a:rPr kumimoji="1" lang="ja-JP" altLang="en-US"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付</a:t>
            </a: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a:t>
            </a:r>
          </a:p>
        </p:txBody>
      </p:sp>
      <p:sp>
        <p:nvSpPr>
          <p:cNvPr id="28" name="テキスト ボックス 27">
            <a:extLst>
              <a:ext uri="{FF2B5EF4-FFF2-40B4-BE49-F238E27FC236}">
                <a16:creationId xmlns:a16="http://schemas.microsoft.com/office/drawing/2014/main" id="{BB714EC6-D088-485E-B6E1-0EF06D38F03B}"/>
              </a:ext>
            </a:extLst>
          </p:cNvPr>
          <p:cNvSpPr txBox="1"/>
          <p:nvPr/>
        </p:nvSpPr>
        <p:spPr>
          <a:xfrm>
            <a:off x="371562" y="2624977"/>
            <a:ext cx="848309"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High-end</a:t>
            </a:r>
          </a:p>
        </p:txBody>
      </p:sp>
      <p:sp>
        <p:nvSpPr>
          <p:cNvPr id="30" name="テキスト ボックス 29">
            <a:extLst>
              <a:ext uri="{FF2B5EF4-FFF2-40B4-BE49-F238E27FC236}">
                <a16:creationId xmlns:a16="http://schemas.microsoft.com/office/drawing/2014/main" id="{7C212BAC-5920-0DD6-CAEA-D4AEB4D15741}"/>
              </a:ext>
            </a:extLst>
          </p:cNvPr>
          <p:cNvSpPr txBox="1"/>
          <p:nvPr/>
        </p:nvSpPr>
        <p:spPr>
          <a:xfrm>
            <a:off x="397064" y="3198596"/>
            <a:ext cx="973343" cy="24622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Affordable</a:t>
            </a:r>
          </a:p>
        </p:txBody>
      </p:sp>
      <p:sp>
        <p:nvSpPr>
          <p:cNvPr id="16" name="テキスト ボックス 15">
            <a:extLst>
              <a:ext uri="{FF2B5EF4-FFF2-40B4-BE49-F238E27FC236}">
                <a16:creationId xmlns:a16="http://schemas.microsoft.com/office/drawing/2014/main" id="{7F8C45C6-B185-F475-1F70-681753CDBFB4}"/>
              </a:ext>
            </a:extLst>
          </p:cNvPr>
          <p:cNvSpPr txBox="1"/>
          <p:nvPr/>
        </p:nvSpPr>
        <p:spPr>
          <a:xfrm>
            <a:off x="8634337" y="1932349"/>
            <a:ext cx="2225289" cy="507831"/>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6/19</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会議にて</a:t>
            </a:r>
            <a:endPar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GPU</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付きは</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GALLERIA</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に統合する方向</a:t>
            </a:r>
            <a:endPar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a:solidFill>
                  <a:prstClr val="black"/>
                </a:solidFill>
                <a:latin typeface="BIZ UDPゴシック" panose="020B0400000000000000" pitchFamily="50" charset="-128"/>
                <a:ea typeface="BIZ UDPゴシック" panose="020B0400000000000000" pitchFamily="50" charset="-128"/>
              </a:rPr>
              <a:t>との通達有り</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graphicFrame>
        <p:nvGraphicFramePr>
          <p:cNvPr id="36" name="表 35">
            <a:extLst>
              <a:ext uri="{FF2B5EF4-FFF2-40B4-BE49-F238E27FC236}">
                <a16:creationId xmlns:a16="http://schemas.microsoft.com/office/drawing/2014/main" id="{2A92A648-4900-1A86-3BFE-661CD67CC3D5}"/>
              </a:ext>
            </a:extLst>
          </p:cNvPr>
          <p:cNvGraphicFramePr>
            <a:graphicFrameLocks noGrp="1"/>
          </p:cNvGraphicFramePr>
          <p:nvPr/>
        </p:nvGraphicFramePr>
        <p:xfrm>
          <a:off x="405002" y="971525"/>
          <a:ext cx="11517732" cy="714375"/>
        </p:xfrm>
        <a:graphic>
          <a:graphicData uri="http://schemas.openxmlformats.org/drawingml/2006/table">
            <a:tbl>
              <a:tblPr/>
              <a:tblGrid>
                <a:gridCol w="319937">
                  <a:extLst>
                    <a:ext uri="{9D8B030D-6E8A-4147-A177-3AD203B41FA5}">
                      <a16:colId xmlns:a16="http://schemas.microsoft.com/office/drawing/2014/main" val="1500898864"/>
                    </a:ext>
                  </a:extLst>
                </a:gridCol>
                <a:gridCol w="319937">
                  <a:extLst>
                    <a:ext uri="{9D8B030D-6E8A-4147-A177-3AD203B41FA5}">
                      <a16:colId xmlns:a16="http://schemas.microsoft.com/office/drawing/2014/main" val="492311195"/>
                    </a:ext>
                  </a:extLst>
                </a:gridCol>
                <a:gridCol w="319937">
                  <a:extLst>
                    <a:ext uri="{9D8B030D-6E8A-4147-A177-3AD203B41FA5}">
                      <a16:colId xmlns:a16="http://schemas.microsoft.com/office/drawing/2014/main" val="535944228"/>
                    </a:ext>
                  </a:extLst>
                </a:gridCol>
                <a:gridCol w="319937">
                  <a:extLst>
                    <a:ext uri="{9D8B030D-6E8A-4147-A177-3AD203B41FA5}">
                      <a16:colId xmlns:a16="http://schemas.microsoft.com/office/drawing/2014/main" val="1297611135"/>
                    </a:ext>
                  </a:extLst>
                </a:gridCol>
                <a:gridCol w="319937">
                  <a:extLst>
                    <a:ext uri="{9D8B030D-6E8A-4147-A177-3AD203B41FA5}">
                      <a16:colId xmlns:a16="http://schemas.microsoft.com/office/drawing/2014/main" val="1872956960"/>
                    </a:ext>
                  </a:extLst>
                </a:gridCol>
                <a:gridCol w="319937">
                  <a:extLst>
                    <a:ext uri="{9D8B030D-6E8A-4147-A177-3AD203B41FA5}">
                      <a16:colId xmlns:a16="http://schemas.microsoft.com/office/drawing/2014/main" val="1530389144"/>
                    </a:ext>
                  </a:extLst>
                </a:gridCol>
                <a:gridCol w="319937">
                  <a:extLst>
                    <a:ext uri="{9D8B030D-6E8A-4147-A177-3AD203B41FA5}">
                      <a16:colId xmlns:a16="http://schemas.microsoft.com/office/drawing/2014/main" val="1873387370"/>
                    </a:ext>
                  </a:extLst>
                </a:gridCol>
                <a:gridCol w="319937">
                  <a:extLst>
                    <a:ext uri="{9D8B030D-6E8A-4147-A177-3AD203B41FA5}">
                      <a16:colId xmlns:a16="http://schemas.microsoft.com/office/drawing/2014/main" val="2523210819"/>
                    </a:ext>
                  </a:extLst>
                </a:gridCol>
                <a:gridCol w="319937">
                  <a:extLst>
                    <a:ext uri="{9D8B030D-6E8A-4147-A177-3AD203B41FA5}">
                      <a16:colId xmlns:a16="http://schemas.microsoft.com/office/drawing/2014/main" val="1136697292"/>
                    </a:ext>
                  </a:extLst>
                </a:gridCol>
                <a:gridCol w="319937">
                  <a:extLst>
                    <a:ext uri="{9D8B030D-6E8A-4147-A177-3AD203B41FA5}">
                      <a16:colId xmlns:a16="http://schemas.microsoft.com/office/drawing/2014/main" val="4023778491"/>
                    </a:ext>
                  </a:extLst>
                </a:gridCol>
                <a:gridCol w="319937">
                  <a:extLst>
                    <a:ext uri="{9D8B030D-6E8A-4147-A177-3AD203B41FA5}">
                      <a16:colId xmlns:a16="http://schemas.microsoft.com/office/drawing/2014/main" val="3242310994"/>
                    </a:ext>
                  </a:extLst>
                </a:gridCol>
                <a:gridCol w="319937">
                  <a:extLst>
                    <a:ext uri="{9D8B030D-6E8A-4147-A177-3AD203B41FA5}">
                      <a16:colId xmlns:a16="http://schemas.microsoft.com/office/drawing/2014/main" val="3032464318"/>
                    </a:ext>
                  </a:extLst>
                </a:gridCol>
                <a:gridCol w="319937">
                  <a:extLst>
                    <a:ext uri="{9D8B030D-6E8A-4147-A177-3AD203B41FA5}">
                      <a16:colId xmlns:a16="http://schemas.microsoft.com/office/drawing/2014/main" val="718012166"/>
                    </a:ext>
                  </a:extLst>
                </a:gridCol>
                <a:gridCol w="319937">
                  <a:extLst>
                    <a:ext uri="{9D8B030D-6E8A-4147-A177-3AD203B41FA5}">
                      <a16:colId xmlns:a16="http://schemas.microsoft.com/office/drawing/2014/main" val="201977023"/>
                    </a:ext>
                  </a:extLst>
                </a:gridCol>
                <a:gridCol w="319937">
                  <a:extLst>
                    <a:ext uri="{9D8B030D-6E8A-4147-A177-3AD203B41FA5}">
                      <a16:colId xmlns:a16="http://schemas.microsoft.com/office/drawing/2014/main" val="3789184676"/>
                    </a:ext>
                  </a:extLst>
                </a:gridCol>
                <a:gridCol w="319937">
                  <a:extLst>
                    <a:ext uri="{9D8B030D-6E8A-4147-A177-3AD203B41FA5}">
                      <a16:colId xmlns:a16="http://schemas.microsoft.com/office/drawing/2014/main" val="2285191595"/>
                    </a:ext>
                  </a:extLst>
                </a:gridCol>
                <a:gridCol w="319937">
                  <a:extLst>
                    <a:ext uri="{9D8B030D-6E8A-4147-A177-3AD203B41FA5}">
                      <a16:colId xmlns:a16="http://schemas.microsoft.com/office/drawing/2014/main" val="1576469209"/>
                    </a:ext>
                  </a:extLst>
                </a:gridCol>
                <a:gridCol w="319937">
                  <a:extLst>
                    <a:ext uri="{9D8B030D-6E8A-4147-A177-3AD203B41FA5}">
                      <a16:colId xmlns:a16="http://schemas.microsoft.com/office/drawing/2014/main" val="2224905602"/>
                    </a:ext>
                  </a:extLst>
                </a:gridCol>
                <a:gridCol w="319937">
                  <a:extLst>
                    <a:ext uri="{9D8B030D-6E8A-4147-A177-3AD203B41FA5}">
                      <a16:colId xmlns:a16="http://schemas.microsoft.com/office/drawing/2014/main" val="324624714"/>
                    </a:ext>
                  </a:extLst>
                </a:gridCol>
                <a:gridCol w="319937">
                  <a:extLst>
                    <a:ext uri="{9D8B030D-6E8A-4147-A177-3AD203B41FA5}">
                      <a16:colId xmlns:a16="http://schemas.microsoft.com/office/drawing/2014/main" val="370901253"/>
                    </a:ext>
                  </a:extLst>
                </a:gridCol>
                <a:gridCol w="319937">
                  <a:extLst>
                    <a:ext uri="{9D8B030D-6E8A-4147-A177-3AD203B41FA5}">
                      <a16:colId xmlns:a16="http://schemas.microsoft.com/office/drawing/2014/main" val="4024422151"/>
                    </a:ext>
                  </a:extLst>
                </a:gridCol>
                <a:gridCol w="319937">
                  <a:extLst>
                    <a:ext uri="{9D8B030D-6E8A-4147-A177-3AD203B41FA5}">
                      <a16:colId xmlns:a16="http://schemas.microsoft.com/office/drawing/2014/main" val="2689519980"/>
                    </a:ext>
                  </a:extLst>
                </a:gridCol>
                <a:gridCol w="319937">
                  <a:extLst>
                    <a:ext uri="{9D8B030D-6E8A-4147-A177-3AD203B41FA5}">
                      <a16:colId xmlns:a16="http://schemas.microsoft.com/office/drawing/2014/main" val="3790508917"/>
                    </a:ext>
                  </a:extLst>
                </a:gridCol>
                <a:gridCol w="319937">
                  <a:extLst>
                    <a:ext uri="{9D8B030D-6E8A-4147-A177-3AD203B41FA5}">
                      <a16:colId xmlns:a16="http://schemas.microsoft.com/office/drawing/2014/main" val="355080256"/>
                    </a:ext>
                  </a:extLst>
                </a:gridCol>
                <a:gridCol w="319937">
                  <a:extLst>
                    <a:ext uri="{9D8B030D-6E8A-4147-A177-3AD203B41FA5}">
                      <a16:colId xmlns:a16="http://schemas.microsoft.com/office/drawing/2014/main" val="3004377733"/>
                    </a:ext>
                  </a:extLst>
                </a:gridCol>
                <a:gridCol w="319937">
                  <a:extLst>
                    <a:ext uri="{9D8B030D-6E8A-4147-A177-3AD203B41FA5}">
                      <a16:colId xmlns:a16="http://schemas.microsoft.com/office/drawing/2014/main" val="1158246796"/>
                    </a:ext>
                  </a:extLst>
                </a:gridCol>
                <a:gridCol w="319937">
                  <a:extLst>
                    <a:ext uri="{9D8B030D-6E8A-4147-A177-3AD203B41FA5}">
                      <a16:colId xmlns:a16="http://schemas.microsoft.com/office/drawing/2014/main" val="3566540348"/>
                    </a:ext>
                  </a:extLst>
                </a:gridCol>
                <a:gridCol w="319937">
                  <a:extLst>
                    <a:ext uri="{9D8B030D-6E8A-4147-A177-3AD203B41FA5}">
                      <a16:colId xmlns:a16="http://schemas.microsoft.com/office/drawing/2014/main" val="1664914038"/>
                    </a:ext>
                  </a:extLst>
                </a:gridCol>
                <a:gridCol w="319937">
                  <a:extLst>
                    <a:ext uri="{9D8B030D-6E8A-4147-A177-3AD203B41FA5}">
                      <a16:colId xmlns:a16="http://schemas.microsoft.com/office/drawing/2014/main" val="1814902996"/>
                    </a:ext>
                  </a:extLst>
                </a:gridCol>
                <a:gridCol w="319937">
                  <a:extLst>
                    <a:ext uri="{9D8B030D-6E8A-4147-A177-3AD203B41FA5}">
                      <a16:colId xmlns:a16="http://schemas.microsoft.com/office/drawing/2014/main" val="72780220"/>
                    </a:ext>
                  </a:extLst>
                </a:gridCol>
                <a:gridCol w="319937">
                  <a:extLst>
                    <a:ext uri="{9D8B030D-6E8A-4147-A177-3AD203B41FA5}">
                      <a16:colId xmlns:a16="http://schemas.microsoft.com/office/drawing/2014/main" val="640000408"/>
                    </a:ext>
                  </a:extLst>
                </a:gridCol>
                <a:gridCol w="319937">
                  <a:extLst>
                    <a:ext uri="{9D8B030D-6E8A-4147-A177-3AD203B41FA5}">
                      <a16:colId xmlns:a16="http://schemas.microsoft.com/office/drawing/2014/main" val="2576203230"/>
                    </a:ext>
                  </a:extLst>
                </a:gridCol>
                <a:gridCol w="319937">
                  <a:extLst>
                    <a:ext uri="{9D8B030D-6E8A-4147-A177-3AD203B41FA5}">
                      <a16:colId xmlns:a16="http://schemas.microsoft.com/office/drawing/2014/main" val="2578640369"/>
                    </a:ext>
                  </a:extLst>
                </a:gridCol>
                <a:gridCol w="319937">
                  <a:extLst>
                    <a:ext uri="{9D8B030D-6E8A-4147-A177-3AD203B41FA5}">
                      <a16:colId xmlns:a16="http://schemas.microsoft.com/office/drawing/2014/main" val="3620044266"/>
                    </a:ext>
                  </a:extLst>
                </a:gridCol>
                <a:gridCol w="319937">
                  <a:extLst>
                    <a:ext uri="{9D8B030D-6E8A-4147-A177-3AD203B41FA5}">
                      <a16:colId xmlns:a16="http://schemas.microsoft.com/office/drawing/2014/main" val="3123228021"/>
                    </a:ext>
                  </a:extLst>
                </a:gridCol>
                <a:gridCol w="319937">
                  <a:extLst>
                    <a:ext uri="{9D8B030D-6E8A-4147-A177-3AD203B41FA5}">
                      <a16:colId xmlns:a16="http://schemas.microsoft.com/office/drawing/2014/main" val="2629818710"/>
                    </a:ext>
                  </a:extLst>
                </a:gridCol>
              </a:tblGrid>
              <a:tr h="238125">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43</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44</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F75B5"/>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it-IT" sz="1100" b="1" i="0" u="none" strike="noStrike">
                          <a:solidFill>
                            <a:srgbClr val="FFFFFF"/>
                          </a:solidFill>
                          <a:effectLst/>
                          <a:latin typeface="游ゴシック" panose="020B0400000000000000" pitchFamily="50" charset="-128"/>
                          <a:ea typeface="游ゴシック" panose="020B0400000000000000" pitchFamily="50" charset="-128"/>
                        </a:rPr>
                        <a:t>THIRDWAVE  45</a:t>
                      </a:r>
                      <a:r>
                        <a:rPr lang="ja-JP" altLang="en-US" sz="1100" b="1" i="0" u="none" strike="noStrike">
                          <a:solidFill>
                            <a:srgbClr val="FFFFFF"/>
                          </a:solidFill>
                          <a:effectLst/>
                          <a:latin typeface="游ゴシック" panose="020B0400000000000000" pitchFamily="50" charset="-128"/>
                          <a:ea typeface="游ゴシック" panose="020B0400000000000000" pitchFamily="50" charset="-128"/>
                        </a:rPr>
                        <a:t>期</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E78"/>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639680362"/>
                  </a:ext>
                </a:extLst>
              </a:tr>
              <a:tr h="238125">
                <a:tc gridSpan="5">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7">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2028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94673942"/>
                  </a:ext>
                </a:extLst>
              </a:tr>
              <a:tr h="238125">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1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797585"/>
                  </a:ext>
                </a:extLst>
              </a:tr>
            </a:tbl>
          </a:graphicData>
        </a:graphic>
      </p:graphicFrame>
      <p:sp>
        <p:nvSpPr>
          <p:cNvPr id="34" name="矢印: 五方向 33">
            <a:extLst>
              <a:ext uri="{FF2B5EF4-FFF2-40B4-BE49-F238E27FC236}">
                <a16:creationId xmlns:a16="http://schemas.microsoft.com/office/drawing/2014/main" id="{D0AFC5EA-36B1-8340-F712-D5FA704FA53D}"/>
              </a:ext>
            </a:extLst>
          </p:cNvPr>
          <p:cNvSpPr/>
          <p:nvPr/>
        </p:nvSpPr>
        <p:spPr>
          <a:xfrm>
            <a:off x="10466614" y="6540703"/>
            <a:ext cx="1456119" cy="262645"/>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 </a:t>
            </a:r>
            <a:r>
              <a:rPr lang="ja-JP" altLang="en-US" sz="1000" b="1">
                <a:solidFill>
                  <a:srgbClr val="C00000"/>
                </a:solidFill>
                <a:latin typeface="メイリオ" panose="020B0604030504040204" pitchFamily="50" charset="-128"/>
                <a:ea typeface="メイリオ" panose="020B0604030504040204" pitchFamily="50" charset="-128"/>
              </a:rPr>
              <a:t>低価格</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ノート</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20" name="テキスト ボックス 19">
            <a:extLst>
              <a:ext uri="{FF2B5EF4-FFF2-40B4-BE49-F238E27FC236}">
                <a16:creationId xmlns:a16="http://schemas.microsoft.com/office/drawing/2014/main" id="{74605EEE-924A-F502-F754-6B8FD0188F05}"/>
              </a:ext>
            </a:extLst>
          </p:cNvPr>
          <p:cNvSpPr txBox="1"/>
          <p:nvPr/>
        </p:nvSpPr>
        <p:spPr>
          <a:xfrm>
            <a:off x="9391727" y="6336525"/>
            <a:ext cx="2585964"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Qualcomm</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a:t>
            </a:r>
            <a:r>
              <a:rPr kumimoji="1" lang="en-US" altLang="ja-JP" sz="900" b="0" i="0" u="none" strike="noStrike" kern="1200" cap="none" spc="0" normalizeH="0" baseline="0" noProof="0" err="1">
                <a:ln>
                  <a:noFill/>
                </a:ln>
                <a:solidFill>
                  <a:prstClr val="black"/>
                </a:solidFill>
                <a:effectLst/>
                <a:uLnTx/>
                <a:uFillTx/>
                <a:latin typeface="BIZ UDPゴシック" panose="020B0400000000000000" pitchFamily="50" charset="-128"/>
                <a:ea typeface="BIZ UDPゴシック" panose="020B0400000000000000" pitchFamily="50" charset="-128"/>
                <a:cs typeface="+mn-cs"/>
              </a:rPr>
              <a:t>WoA</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 </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で低価格製品できないか</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 </a:t>
            </a:r>
          </a:p>
        </p:txBody>
      </p:sp>
      <p:sp>
        <p:nvSpPr>
          <p:cNvPr id="37" name="テキスト ボックス 36">
            <a:extLst>
              <a:ext uri="{FF2B5EF4-FFF2-40B4-BE49-F238E27FC236}">
                <a16:creationId xmlns:a16="http://schemas.microsoft.com/office/drawing/2014/main" id="{36E5E9F2-D7AA-266C-AAAE-00D7ACC10827}"/>
              </a:ext>
            </a:extLst>
          </p:cNvPr>
          <p:cNvSpPr txBox="1"/>
          <p:nvPr/>
        </p:nvSpPr>
        <p:spPr>
          <a:xfrm>
            <a:off x="7239693" y="5820669"/>
            <a:ext cx="3701654"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RP3A</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完売時期を見つつ後継機検討する。販売価格</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10</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万円台が目標</a:t>
            </a:r>
          </a:p>
        </p:txBody>
      </p:sp>
      <p:sp>
        <p:nvSpPr>
          <p:cNvPr id="38" name="正方形/長方形 37">
            <a:extLst>
              <a:ext uri="{FF2B5EF4-FFF2-40B4-BE49-F238E27FC236}">
                <a16:creationId xmlns:a16="http://schemas.microsoft.com/office/drawing/2014/main" id="{66540ED9-A460-79FA-7D74-32BA8517AA84}"/>
              </a:ext>
            </a:extLst>
          </p:cNvPr>
          <p:cNvSpPr/>
          <p:nvPr/>
        </p:nvSpPr>
        <p:spPr>
          <a:xfrm>
            <a:off x="11063893" y="556835"/>
            <a:ext cx="799250" cy="256400"/>
          </a:xfrm>
          <a:prstGeom prst="rect">
            <a:avLst/>
          </a:prstGeom>
          <a:solidFill>
            <a:schemeClr val="accent4">
              <a:lumMod val="20000"/>
              <a:lumOff val="80000"/>
            </a:schemeClr>
          </a:solidFill>
          <a:ln w="12700" cap="flat" cmpd="sng" algn="ctr">
            <a:solidFill>
              <a:sysClr val="windowText" lastClr="0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1" i="0" u="none" strike="noStrike" kern="0" cap="none" spc="0" normalizeH="0" baseline="0" noProof="0">
                <a:ln>
                  <a:noFill/>
                </a:ln>
                <a:solidFill>
                  <a:srgbClr val="C00000"/>
                </a:solidFill>
                <a:effectLst/>
                <a:uLnTx/>
                <a:uFillTx/>
                <a:latin typeface="游ゴシック Light" panose="020B0300000000000000" pitchFamily="50" charset="-128"/>
                <a:ea typeface="游ゴシック Light" panose="020B0300000000000000" pitchFamily="50" charset="-128"/>
                <a:cs typeface="メイリオ" panose="020B0604030504040204" pitchFamily="50" charset="-128"/>
              </a:rPr>
              <a:t>将来計画</a:t>
            </a:r>
            <a:endParaRPr kumimoji="1" lang="ja-JP" altLang="en-US" sz="700" b="1" i="0" u="none" strike="noStrike" kern="0" cap="none" spc="0" normalizeH="0" baseline="0" noProof="0">
              <a:ln>
                <a:noFill/>
              </a:ln>
              <a:solidFill>
                <a:srgbClr val="C00000"/>
              </a:solidFill>
              <a:effectLst/>
              <a:uLnTx/>
              <a:uFillTx/>
              <a:latin typeface="游ゴシック Light" panose="020B0300000000000000" pitchFamily="50" charset="-128"/>
              <a:ea typeface="游ゴシック Light" panose="020B0300000000000000" pitchFamily="50" charset="-128"/>
              <a:cs typeface="メイリオ" panose="020B0604030504040204" pitchFamily="50" charset="-128"/>
            </a:endParaRPr>
          </a:p>
        </p:txBody>
      </p:sp>
      <p:sp>
        <p:nvSpPr>
          <p:cNvPr id="39" name="矢印: 五方向 38">
            <a:extLst>
              <a:ext uri="{FF2B5EF4-FFF2-40B4-BE49-F238E27FC236}">
                <a16:creationId xmlns:a16="http://schemas.microsoft.com/office/drawing/2014/main" id="{405A1DB4-7B3C-8196-F129-AE1546044E4B}"/>
              </a:ext>
            </a:extLst>
          </p:cNvPr>
          <p:cNvSpPr/>
          <p:nvPr/>
        </p:nvSpPr>
        <p:spPr>
          <a:xfrm>
            <a:off x="6898828" y="4391068"/>
            <a:ext cx="5044269" cy="229906"/>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 16</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インチ　ブロックモジュール構造品</a:t>
            </a: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(Pegatron)</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41" name="テキスト ボックス 40">
            <a:extLst>
              <a:ext uri="{FF2B5EF4-FFF2-40B4-BE49-F238E27FC236}">
                <a16:creationId xmlns:a16="http://schemas.microsoft.com/office/drawing/2014/main" id="{7D4CED72-4AD6-F1E9-B27F-2CAC762B3FA7}"/>
              </a:ext>
            </a:extLst>
          </p:cNvPr>
          <p:cNvSpPr txBox="1"/>
          <p:nvPr/>
        </p:nvSpPr>
        <p:spPr>
          <a:xfrm>
            <a:off x="7019343" y="4158842"/>
            <a:ext cx="2401619"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実験的かつ先進的なアイコンとして採否検討</a:t>
            </a:r>
          </a:p>
        </p:txBody>
      </p:sp>
      <p:sp>
        <p:nvSpPr>
          <p:cNvPr id="45" name="矢印: 五方向 44">
            <a:extLst>
              <a:ext uri="{FF2B5EF4-FFF2-40B4-BE49-F238E27FC236}">
                <a16:creationId xmlns:a16="http://schemas.microsoft.com/office/drawing/2014/main" id="{9BE60271-483A-5C59-110D-4AC010BA4454}"/>
              </a:ext>
            </a:extLst>
          </p:cNvPr>
          <p:cNvSpPr/>
          <p:nvPr/>
        </p:nvSpPr>
        <p:spPr>
          <a:xfrm>
            <a:off x="6817043" y="3251542"/>
            <a:ext cx="5132851" cy="198218"/>
          </a:xfrm>
          <a:prstGeom prst="homePlate">
            <a:avLst/>
          </a:prstGeom>
          <a:solidFill>
            <a:schemeClr val="accent4">
              <a:lumMod val="20000"/>
              <a:lumOff val="80000"/>
            </a:schemeClr>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ja-JP"/>
            </a:defPPr>
            <a:lvl1pPr marL="0" indent="0" algn="l" defTabSz="914400" rtl="0" eaLnBrk="1" latinLnBrk="0" hangingPunct="1">
              <a:defRPr kumimoji="1" sz="1100" kern="1200">
                <a:solidFill>
                  <a:schemeClr val="lt1"/>
                </a:solidFill>
                <a:latin typeface="+mn-lt"/>
                <a:ea typeface="+mn-ea"/>
                <a:cs typeface="+mn-cs"/>
              </a:defRPr>
            </a:lvl1pPr>
            <a:lvl2pPr marL="457200" indent="0" algn="l" defTabSz="914400" rtl="0" eaLnBrk="1" latinLnBrk="0" hangingPunct="1">
              <a:defRPr kumimoji="1" sz="1100" kern="1200">
                <a:solidFill>
                  <a:schemeClr val="lt1"/>
                </a:solidFill>
                <a:latin typeface="+mn-lt"/>
                <a:ea typeface="+mn-ea"/>
                <a:cs typeface="+mn-cs"/>
              </a:defRPr>
            </a:lvl2pPr>
            <a:lvl3pPr marL="914400" indent="0" algn="l" defTabSz="914400" rtl="0" eaLnBrk="1" latinLnBrk="0" hangingPunct="1">
              <a:defRPr kumimoji="1" sz="1100" kern="1200">
                <a:solidFill>
                  <a:schemeClr val="lt1"/>
                </a:solidFill>
                <a:latin typeface="+mn-lt"/>
                <a:ea typeface="+mn-ea"/>
                <a:cs typeface="+mn-cs"/>
              </a:defRPr>
            </a:lvl3pPr>
            <a:lvl4pPr marL="1371600" indent="0" algn="l" defTabSz="914400" rtl="0" eaLnBrk="1" latinLnBrk="0" hangingPunct="1">
              <a:defRPr kumimoji="1" sz="1100" kern="1200">
                <a:solidFill>
                  <a:schemeClr val="lt1"/>
                </a:solidFill>
                <a:latin typeface="+mn-lt"/>
                <a:ea typeface="+mn-ea"/>
                <a:cs typeface="+mn-cs"/>
              </a:defRPr>
            </a:lvl4pPr>
            <a:lvl5pPr marL="1828800" indent="0" algn="l" defTabSz="914400" rtl="0" eaLnBrk="1" latinLnBrk="0" hangingPunct="1">
              <a:defRPr kumimoji="1" sz="1100" kern="1200">
                <a:solidFill>
                  <a:schemeClr val="lt1"/>
                </a:solidFill>
                <a:latin typeface="+mn-lt"/>
                <a:ea typeface="+mn-ea"/>
                <a:cs typeface="+mn-cs"/>
              </a:defRPr>
            </a:lvl5pPr>
            <a:lvl6pPr marL="2286000" indent="0" algn="l" defTabSz="914400" rtl="0" eaLnBrk="1" latinLnBrk="0" hangingPunct="1">
              <a:defRPr kumimoji="1" sz="1100" kern="1200">
                <a:solidFill>
                  <a:schemeClr val="lt1"/>
                </a:solidFill>
                <a:latin typeface="+mn-lt"/>
                <a:ea typeface="+mn-ea"/>
                <a:cs typeface="+mn-cs"/>
              </a:defRPr>
            </a:lvl6pPr>
            <a:lvl7pPr marL="2743200" indent="0" algn="l" defTabSz="914400" rtl="0" eaLnBrk="1" latinLnBrk="0" hangingPunct="1">
              <a:defRPr kumimoji="1" sz="1100" kern="1200">
                <a:solidFill>
                  <a:schemeClr val="lt1"/>
                </a:solidFill>
                <a:latin typeface="+mn-lt"/>
                <a:ea typeface="+mn-ea"/>
                <a:cs typeface="+mn-cs"/>
              </a:defRPr>
            </a:lvl7pPr>
            <a:lvl8pPr marL="3200400" indent="0" algn="l" defTabSz="914400" rtl="0" eaLnBrk="1" latinLnBrk="0" hangingPunct="1">
              <a:defRPr kumimoji="1" sz="1100" kern="1200">
                <a:solidFill>
                  <a:schemeClr val="lt1"/>
                </a:solidFill>
                <a:latin typeface="+mn-lt"/>
                <a:ea typeface="+mn-ea"/>
                <a:cs typeface="+mn-cs"/>
              </a:defRPr>
            </a:lvl8pPr>
            <a:lvl9pPr marL="3657600" indent="0" algn="l" defTabSz="914400" rtl="0" eaLnBrk="1" latinLnBrk="0" hangingPunct="1">
              <a:defRPr kumimoji="1" sz="11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[A] 17</a:t>
            </a:r>
            <a:r>
              <a:rPr kumimoji="1" lang="ja-JP" altLang="en-US" sz="10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rPr>
              <a:t>インチ後継製品</a:t>
            </a:r>
            <a:endParaRPr kumimoji="1" lang="en-US" altLang="ja-JP" sz="700" b="1" i="0" u="none" strike="noStrike" kern="1200" cap="none" spc="0" normalizeH="0" baseline="0" noProof="0">
              <a:ln>
                <a:noFill/>
              </a:ln>
              <a:solidFill>
                <a:srgbClr val="C00000"/>
              </a:solidFill>
              <a:effectLst/>
              <a:uLnTx/>
              <a:uFillTx/>
              <a:latin typeface="メイリオ" panose="020B0604030504040204" pitchFamily="50" charset="-128"/>
              <a:ea typeface="メイリオ" panose="020B0604030504040204" pitchFamily="50" charset="-128"/>
              <a:cs typeface="+mn-cs"/>
            </a:endParaRPr>
          </a:p>
        </p:txBody>
      </p:sp>
      <p:sp>
        <p:nvSpPr>
          <p:cNvPr id="65" name="テキスト ボックス 64">
            <a:extLst>
              <a:ext uri="{FF2B5EF4-FFF2-40B4-BE49-F238E27FC236}">
                <a16:creationId xmlns:a16="http://schemas.microsoft.com/office/drawing/2014/main" id="{85BB9529-E794-AFCC-B814-7AECF049026A}"/>
              </a:ext>
            </a:extLst>
          </p:cNvPr>
          <p:cNvSpPr txBox="1"/>
          <p:nvPr/>
        </p:nvSpPr>
        <p:spPr>
          <a:xfrm>
            <a:off x="6170193" y="3414697"/>
            <a:ext cx="1797287"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現行品の販売状況見て採否決定</a:t>
            </a:r>
          </a:p>
        </p:txBody>
      </p:sp>
      <p:sp>
        <p:nvSpPr>
          <p:cNvPr id="66" name="テキスト ボックス 65">
            <a:extLst>
              <a:ext uri="{FF2B5EF4-FFF2-40B4-BE49-F238E27FC236}">
                <a16:creationId xmlns:a16="http://schemas.microsoft.com/office/drawing/2014/main" id="{C358287E-BC60-CF5B-72F1-2D2FBAC591A9}"/>
              </a:ext>
            </a:extLst>
          </p:cNvPr>
          <p:cNvSpPr txBox="1"/>
          <p:nvPr/>
        </p:nvSpPr>
        <p:spPr>
          <a:xfrm>
            <a:off x="7884131" y="3507477"/>
            <a:ext cx="2975495" cy="3693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MTL-H</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のままであと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1</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年継続するか</a:t>
            </a:r>
            <a:r>
              <a:rPr lang="en-US" altLang="ja-JP" sz="900">
                <a:solidFill>
                  <a:prstClr val="black"/>
                </a:solidFill>
                <a:latin typeface="BIZ UDPゴシック" panose="020B0400000000000000" pitchFamily="50" charset="-128"/>
                <a:ea typeface="BIZ UDPゴシック" panose="020B0400000000000000" pitchFamily="50" charset="-128"/>
              </a:rPr>
              <a:t>WCL</a:t>
            </a:r>
            <a:r>
              <a:rPr lang="ja-JP" altLang="en-US" sz="900">
                <a:solidFill>
                  <a:prstClr val="black"/>
                </a:solidFill>
                <a:latin typeface="BIZ UDPゴシック" panose="020B0400000000000000" pitchFamily="50" charset="-128"/>
                <a:ea typeface="BIZ UDPゴシック" panose="020B0400000000000000" pitchFamily="50" charset="-128"/>
              </a:rPr>
              <a:t>へ移行するか</a:t>
            </a:r>
            <a:endParaRPr lang="en-US" altLang="ja-JP" sz="900">
              <a:solidFill>
                <a:prstClr val="black"/>
              </a:solidFill>
              <a:latin typeface="BIZ UDPゴシック" panose="020B0400000000000000" pitchFamily="50" charset="-128"/>
              <a:ea typeface="BIZ UDPゴシック" panose="020B04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販売実績と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WCL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価格推移見て判断</a:t>
            </a:r>
          </a:p>
        </p:txBody>
      </p:sp>
      <p:sp>
        <p:nvSpPr>
          <p:cNvPr id="67" name="テキスト ボックス 66">
            <a:extLst>
              <a:ext uri="{FF2B5EF4-FFF2-40B4-BE49-F238E27FC236}">
                <a16:creationId xmlns:a16="http://schemas.microsoft.com/office/drawing/2014/main" id="{1FFB7C32-5D58-D307-151A-EDFA64E57926}"/>
              </a:ext>
            </a:extLst>
          </p:cNvPr>
          <p:cNvSpPr txBox="1"/>
          <p:nvPr/>
        </p:nvSpPr>
        <p:spPr>
          <a:xfrm>
            <a:off x="7672073" y="4732647"/>
            <a:ext cx="2975495" cy="3693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MTL-U</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のままであと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1</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年継続するか</a:t>
            </a:r>
            <a:r>
              <a:rPr lang="en-US" altLang="ja-JP" sz="900">
                <a:solidFill>
                  <a:prstClr val="black"/>
                </a:solidFill>
                <a:latin typeface="BIZ UDPゴシック" panose="020B0400000000000000" pitchFamily="50" charset="-128"/>
                <a:ea typeface="BIZ UDPゴシック" panose="020B0400000000000000" pitchFamily="50" charset="-128"/>
              </a:rPr>
              <a:t>WCL</a:t>
            </a:r>
            <a:r>
              <a:rPr lang="ja-JP" altLang="en-US" sz="900">
                <a:solidFill>
                  <a:prstClr val="black"/>
                </a:solidFill>
                <a:latin typeface="BIZ UDPゴシック" panose="020B0400000000000000" pitchFamily="50" charset="-128"/>
                <a:ea typeface="BIZ UDPゴシック" panose="020B0400000000000000" pitchFamily="50" charset="-128"/>
              </a:rPr>
              <a:t>へ移行するか</a:t>
            </a:r>
            <a:endParaRPr lang="en-US" altLang="ja-JP" sz="900">
              <a:solidFill>
                <a:prstClr val="black"/>
              </a:solidFill>
              <a:latin typeface="BIZ UDPゴシック" panose="020B0400000000000000" pitchFamily="50" charset="-128"/>
              <a:ea typeface="BIZ UDPゴシック" panose="020B04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MTL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販売実績と</a:t>
            </a:r>
            <a:r>
              <a:rPr kumimoji="1" lang="en-US" altLang="ja-JP"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WCL</a:t>
            </a:r>
            <a:r>
              <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rPr>
              <a:t>価格推移見て判断</a:t>
            </a:r>
          </a:p>
        </p:txBody>
      </p:sp>
      <p:cxnSp>
        <p:nvCxnSpPr>
          <p:cNvPr id="72" name="直線コネクタ 71">
            <a:extLst>
              <a:ext uri="{FF2B5EF4-FFF2-40B4-BE49-F238E27FC236}">
                <a16:creationId xmlns:a16="http://schemas.microsoft.com/office/drawing/2014/main" id="{41A9AD30-C564-1D77-D1B7-7910C89A1515}"/>
              </a:ext>
            </a:extLst>
          </p:cNvPr>
          <p:cNvCxnSpPr/>
          <p:nvPr/>
        </p:nvCxnSpPr>
        <p:spPr>
          <a:xfrm>
            <a:off x="4228298" y="1453243"/>
            <a:ext cx="23074" cy="53175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4" name="テキスト ボックス 73">
            <a:extLst>
              <a:ext uri="{FF2B5EF4-FFF2-40B4-BE49-F238E27FC236}">
                <a16:creationId xmlns:a16="http://schemas.microsoft.com/office/drawing/2014/main" id="{D0D823E9-B9C2-CC0F-82D3-42CC0C22C456}"/>
              </a:ext>
            </a:extLst>
          </p:cNvPr>
          <p:cNvSpPr txBox="1"/>
          <p:nvPr/>
        </p:nvSpPr>
        <p:spPr>
          <a:xfrm>
            <a:off x="6335453" y="2908108"/>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75" name="テキスト ボックス 74">
            <a:extLst>
              <a:ext uri="{FF2B5EF4-FFF2-40B4-BE49-F238E27FC236}">
                <a16:creationId xmlns:a16="http://schemas.microsoft.com/office/drawing/2014/main" id="{05CBB9F9-86A0-E4A3-CFC4-B16A55DF7E06}"/>
              </a:ext>
            </a:extLst>
          </p:cNvPr>
          <p:cNvSpPr txBox="1"/>
          <p:nvPr/>
        </p:nvSpPr>
        <p:spPr>
          <a:xfrm>
            <a:off x="9868919" y="2538222"/>
            <a:ext cx="458780" cy="230832"/>
          </a:xfrm>
          <a:prstGeom prst="rect">
            <a:avLst/>
          </a:prstGeom>
          <a:solidFill>
            <a:srgbClr val="FFFF0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a:solidFill>
                  <a:prstClr val="black"/>
                </a:solidFill>
                <a:latin typeface="BIZ UDPゴシック" panose="020B0400000000000000" pitchFamily="50" charset="-128"/>
                <a:ea typeface="BIZ UDPゴシック" panose="020B0400000000000000" pitchFamily="50" charset="-128"/>
              </a:rPr>
              <a:t>TTM</a:t>
            </a:r>
            <a:endParaRPr kumimoji="1" lang="ja-JP" altLang="en-US" sz="900" b="0" i="0" u="none" strike="noStrike" kern="1200" cap="none" spc="0" normalizeH="0" baseline="0" noProof="0">
              <a:ln>
                <a:noFill/>
              </a:ln>
              <a:solidFill>
                <a:prstClr val="black"/>
              </a:solidFill>
              <a:effectLst/>
              <a:uLnTx/>
              <a:uFillTx/>
              <a:latin typeface="BIZ UDPゴシック" panose="020B0400000000000000" pitchFamily="50" charset="-128"/>
              <a:ea typeface="BIZ UDPゴシック" panose="020B0400000000000000" pitchFamily="50" charset="-128"/>
              <a:cs typeface="+mn-cs"/>
            </a:endParaRPr>
          </a:p>
        </p:txBody>
      </p:sp>
      <p:sp>
        <p:nvSpPr>
          <p:cNvPr id="13" name="楕円 12">
            <a:extLst>
              <a:ext uri="{FF2B5EF4-FFF2-40B4-BE49-F238E27FC236}">
                <a16:creationId xmlns:a16="http://schemas.microsoft.com/office/drawing/2014/main" id="{775055C8-3034-736F-65E1-F58B57132F59}"/>
              </a:ext>
            </a:extLst>
          </p:cNvPr>
          <p:cNvSpPr/>
          <p:nvPr/>
        </p:nvSpPr>
        <p:spPr>
          <a:xfrm>
            <a:off x="4506550" y="637465"/>
            <a:ext cx="458554" cy="25093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1B044331-DC2E-A3E8-0936-E41142E55286}"/>
              </a:ext>
            </a:extLst>
          </p:cNvPr>
          <p:cNvSpPr txBox="1"/>
          <p:nvPr/>
        </p:nvSpPr>
        <p:spPr>
          <a:xfrm>
            <a:off x="4924874" y="634620"/>
            <a:ext cx="3914854" cy="246221"/>
          </a:xfrm>
          <a:prstGeom prst="rect">
            <a:avLst/>
          </a:prstGeom>
          <a:noFill/>
        </p:spPr>
        <p:txBody>
          <a:bodyPr wrap="none" rtlCol="0">
            <a:spAutoFit/>
          </a:bodyPr>
          <a:lstStyle/>
          <a:p>
            <a:r>
              <a:rPr kumimoji="1" lang="en-US" altLang="ja-JP" sz="1000">
                <a:latin typeface="BIZ UDPゴシック" panose="020B0400000000000000" pitchFamily="50" charset="-128"/>
                <a:ea typeface="BIZ UDPゴシック" panose="020B0400000000000000" pitchFamily="50" charset="-128"/>
              </a:rPr>
              <a:t>44</a:t>
            </a:r>
            <a:r>
              <a:rPr kumimoji="1" lang="ja-JP" altLang="en-US" sz="1000">
                <a:latin typeface="BIZ UDPゴシック" panose="020B0400000000000000" pitchFamily="50" charset="-128"/>
                <a:ea typeface="BIZ UDPゴシック" panose="020B0400000000000000" pitchFamily="50" charset="-128"/>
              </a:rPr>
              <a:t>期プロモ予算を必要とする新製品</a:t>
            </a:r>
            <a:r>
              <a:rPr kumimoji="1" lang="en-US" altLang="ja-JP" sz="1000">
                <a:latin typeface="BIZ UDPゴシック" panose="020B0400000000000000" pitchFamily="50" charset="-128"/>
                <a:ea typeface="BIZ UDPゴシック" panose="020B0400000000000000" pitchFamily="50" charset="-128"/>
              </a:rPr>
              <a:t>(</a:t>
            </a:r>
            <a:r>
              <a:rPr kumimoji="1" lang="ja-JP" altLang="en-US" sz="1000">
                <a:latin typeface="BIZ UDPゴシック" panose="020B0400000000000000" pitchFamily="50" charset="-128"/>
                <a:ea typeface="BIZ UDPゴシック" panose="020B0400000000000000" pitchFamily="50" charset="-128"/>
              </a:rPr>
              <a:t>丸の大きさが規模感と連動</a:t>
            </a:r>
            <a:r>
              <a:rPr kumimoji="1" lang="en-US" altLang="ja-JP" sz="1000">
                <a:latin typeface="BIZ UDPゴシック" panose="020B0400000000000000" pitchFamily="50" charset="-128"/>
                <a:ea typeface="BIZ UDPゴシック" panose="020B0400000000000000" pitchFamily="50" charset="-128"/>
              </a:rPr>
              <a:t>)</a:t>
            </a:r>
            <a:endParaRPr kumimoji="1" lang="ja-JP" altLang="en-US" sz="1000">
              <a:latin typeface="BIZ UDPゴシック" panose="020B0400000000000000" pitchFamily="50" charset="-128"/>
              <a:ea typeface="BIZ UDPゴシック" panose="020B0400000000000000" pitchFamily="50" charset="-128"/>
            </a:endParaRPr>
          </a:p>
        </p:txBody>
      </p:sp>
      <p:sp>
        <p:nvSpPr>
          <p:cNvPr id="17" name="楕円 16">
            <a:extLst>
              <a:ext uri="{FF2B5EF4-FFF2-40B4-BE49-F238E27FC236}">
                <a16:creationId xmlns:a16="http://schemas.microsoft.com/office/drawing/2014/main" id="{24F45D59-A245-E8EC-A1D7-3FA9B70A5C0C}"/>
              </a:ext>
            </a:extLst>
          </p:cNvPr>
          <p:cNvSpPr/>
          <p:nvPr/>
        </p:nvSpPr>
        <p:spPr>
          <a:xfrm>
            <a:off x="5657854" y="2672540"/>
            <a:ext cx="824120" cy="39844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EDC28532-2064-2EBB-1312-97F9CF7FA6B3}"/>
              </a:ext>
            </a:extLst>
          </p:cNvPr>
          <p:cNvSpPr/>
          <p:nvPr/>
        </p:nvSpPr>
        <p:spPr>
          <a:xfrm>
            <a:off x="7547881" y="3846975"/>
            <a:ext cx="850813" cy="32771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9E88B225-F165-F4D4-3FF4-DE7D6B314E32}"/>
              </a:ext>
            </a:extLst>
          </p:cNvPr>
          <p:cNvSpPr/>
          <p:nvPr/>
        </p:nvSpPr>
        <p:spPr>
          <a:xfrm>
            <a:off x="7587694" y="5044761"/>
            <a:ext cx="839114" cy="34890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89614C59-8A7D-513E-A5C8-C42C95687847}"/>
              </a:ext>
            </a:extLst>
          </p:cNvPr>
          <p:cNvSpPr/>
          <p:nvPr/>
        </p:nvSpPr>
        <p:spPr>
          <a:xfrm>
            <a:off x="7016190" y="6048525"/>
            <a:ext cx="275868" cy="28800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8117175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3147</Words>
  <Application>Microsoft Office PowerPoint</Application>
  <PresentationFormat>ワイド画面</PresentationFormat>
  <Paragraphs>628</Paragraphs>
  <Slides>16</Slides>
  <Notes>2</Notes>
  <HiddenSlides>0</HiddenSlides>
  <MMClips>0</MMClips>
  <ScaleCrop>false</ScaleCrop>
  <HeadingPairs>
    <vt:vector size="8" baseType="variant">
      <vt:variant>
        <vt:lpstr>使用されているフォント</vt:lpstr>
      </vt:variant>
      <vt:variant>
        <vt:i4>8</vt:i4>
      </vt:variant>
      <vt:variant>
        <vt:lpstr>テーマ</vt:lpstr>
      </vt:variant>
      <vt:variant>
        <vt:i4>1</vt:i4>
      </vt:variant>
      <vt:variant>
        <vt:lpstr>埋め込まれた OLE サーバー</vt:lpstr>
      </vt:variant>
      <vt:variant>
        <vt:i4>1</vt:i4>
      </vt:variant>
      <vt:variant>
        <vt:lpstr>スライド タイトル</vt:lpstr>
      </vt:variant>
      <vt:variant>
        <vt:i4>16</vt:i4>
      </vt:variant>
    </vt:vector>
  </HeadingPairs>
  <TitlesOfParts>
    <vt:vector size="26" baseType="lpstr">
      <vt:lpstr>BIZ UDPゴシック</vt:lpstr>
      <vt:lpstr>Meiryo UI</vt:lpstr>
      <vt:lpstr>Noto Sans JP</vt:lpstr>
      <vt:lpstr>メイリオ</vt:lpstr>
      <vt:lpstr>游ゴシック</vt:lpstr>
      <vt:lpstr>游ゴシック Light</vt:lpstr>
      <vt:lpstr>Arial</vt:lpstr>
      <vt:lpstr>Century Gothic</vt:lpstr>
      <vt:lpstr>Office テーマ</vt:lpstr>
      <vt:lpstr>Worksheet</vt:lpstr>
      <vt:lpstr>THIRDWAVE Brand Notebook Roadmap  2026-2028</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2027年～2028年に必要と想定される新ラインおよび技術傾向</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笠浪 潤</dc:creator>
  <cp:lastModifiedBy>大内 実</cp:lastModifiedBy>
  <cp:revision>1</cp:revision>
  <cp:lastPrinted>2026-06-25T07:01:19Z</cp:lastPrinted>
  <dcterms:created xsi:type="dcterms:W3CDTF">2026-05-14T09:18:13Z</dcterms:created>
  <dcterms:modified xsi:type="dcterms:W3CDTF">2026-06-30T09:31:39Z</dcterms:modified>
</cp:coreProperties>
</file>