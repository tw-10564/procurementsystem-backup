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2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0.xml" ContentType="application/vnd.openxmlformats-officedocument.presentationml.slide+xml"/>
  <Override PartName="/ppt/presentation.xml" ContentType="application/vnd.openxmlformats-officedocument.presentationml.presentation.main+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16.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42.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customXml/itemProps2.xml" ContentType="application/vnd.openxmlformats-officedocument.customXmlPropertie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3"/>
  </p:sldMasterIdLst>
  <p:notesMasterIdLst>
    <p:notesMasterId r:id="rId48"/>
  </p:notesMasterIdLst>
  <p:sldIdLst>
    <p:sldId id="329" r:id="rId4"/>
    <p:sldId id="328" r:id="rId5"/>
    <p:sldId id="309" r:id="rId6"/>
    <p:sldId id="307" r:id="rId7"/>
    <p:sldId id="308" r:id="rId8"/>
    <p:sldId id="351" r:id="rId9"/>
    <p:sldId id="397" r:id="rId10"/>
    <p:sldId id="337" r:id="rId11"/>
    <p:sldId id="338" r:id="rId12"/>
    <p:sldId id="305" r:id="rId13"/>
    <p:sldId id="387" r:id="rId14"/>
    <p:sldId id="391" r:id="rId15"/>
    <p:sldId id="310" r:id="rId16"/>
    <p:sldId id="313" r:id="rId17"/>
    <p:sldId id="327" r:id="rId18"/>
    <p:sldId id="320" r:id="rId19"/>
    <p:sldId id="318" r:id="rId20"/>
    <p:sldId id="321" r:id="rId21"/>
    <p:sldId id="322" r:id="rId22"/>
    <p:sldId id="314" r:id="rId23"/>
    <p:sldId id="315" r:id="rId24"/>
    <p:sldId id="316" r:id="rId25"/>
    <p:sldId id="341" r:id="rId26"/>
    <p:sldId id="312" r:id="rId27"/>
    <p:sldId id="323" r:id="rId28"/>
    <p:sldId id="356" r:id="rId29"/>
    <p:sldId id="381" r:id="rId30"/>
    <p:sldId id="389" r:id="rId31"/>
    <p:sldId id="382" r:id="rId32"/>
    <p:sldId id="339" r:id="rId33"/>
    <p:sldId id="331" r:id="rId34"/>
    <p:sldId id="324" r:id="rId35"/>
    <p:sldId id="347" r:id="rId36"/>
    <p:sldId id="342" r:id="rId37"/>
    <p:sldId id="398" r:id="rId38"/>
    <p:sldId id="399" r:id="rId39"/>
    <p:sldId id="394" r:id="rId40"/>
    <p:sldId id="404" r:id="rId41"/>
    <p:sldId id="403" r:id="rId42"/>
    <p:sldId id="407" r:id="rId43"/>
    <p:sldId id="406" r:id="rId44"/>
    <p:sldId id="2929" r:id="rId45"/>
    <p:sldId id="384" r:id="rId46"/>
    <p:sldId id="332" r:id="rId47"/>
  </p:sldIdLst>
  <p:sldSz cx="9144000" cy="5143500" type="screen16x9"/>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宍戸 訓之" initials="宍戸" lastIdx="1" clrIdx="0">
    <p:extLst>
      <p:ext uri="{19B8F6BF-5375-455C-9EA6-DF929625EA0E}">
        <p15:presenceInfo xmlns:p15="http://schemas.microsoft.com/office/powerpoint/2012/main" userId="S::s_shishido@twave.co.jp::e373ddb8-a518-421d-9941-21da4858bd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4F81BD"/>
    <a:srgbClr val="FFFF00"/>
    <a:srgbClr val="FFFFFF"/>
    <a:srgbClr val="9BBB59"/>
    <a:srgbClr val="92D050"/>
    <a:srgbClr val="B7DEE8"/>
    <a:srgbClr val="0070C0"/>
    <a:srgbClr val="FF0000"/>
    <a:srgbClr val="8EB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4" autoAdjust="0"/>
    <p:restoredTop sz="88264" autoAdjust="0"/>
  </p:normalViewPr>
  <p:slideViewPr>
    <p:cSldViewPr showGuides="1">
      <p:cViewPr varScale="1">
        <p:scale>
          <a:sx n="125" d="100"/>
          <a:sy n="125" d="100"/>
        </p:scale>
        <p:origin x="120" y="90"/>
      </p:cViewPr>
      <p:guideLst>
        <p:guide orient="horz" pos="1620"/>
        <p:guide pos="2880"/>
      </p:guideLst>
    </p:cSldViewPr>
  </p:slideViewPr>
  <p:outlineViewPr>
    <p:cViewPr>
      <p:scale>
        <a:sx n="33" d="100"/>
        <a:sy n="33" d="100"/>
      </p:scale>
      <p:origin x="0" y="0"/>
    </p:cViewPr>
  </p:outlineViewPr>
  <p:notesTextViewPr>
    <p:cViewPr>
      <p:scale>
        <a:sx n="125" d="100"/>
        <a:sy n="125" d="100"/>
      </p:scale>
      <p:origin x="0" y="-36"/>
    </p:cViewPr>
  </p:notesTextViewPr>
  <p:sorterViewPr>
    <p:cViewPr>
      <p:scale>
        <a:sx n="100" d="100"/>
        <a:sy n="100" d="100"/>
      </p:scale>
      <p:origin x="0" y="0"/>
    </p:cViewPr>
  </p:sorterViewPr>
  <p:notesViewPr>
    <p:cSldViewPr>
      <p:cViewPr varScale="1">
        <p:scale>
          <a:sx n="77" d="100"/>
          <a:sy n="77" d="100"/>
        </p:scale>
        <p:origin x="305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customXml" Target="../customXml/item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828A89D4-3E40-4196-9624-DD60F4740532}" type="datetimeFigureOut">
              <a:rPr kumimoji="1" lang="ja-JP" altLang="en-US" smtClean="0"/>
              <a:t>2026/6/30</a:t>
            </a:fld>
            <a:endParaRPr kumimoji="1" lang="ja-JP" altLang="en-US"/>
          </a:p>
        </p:txBody>
      </p:sp>
      <p:sp>
        <p:nvSpPr>
          <p:cNvPr id="4" name="スライド イメージ プレースホルダー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DC6BBDF9-537D-40FA-9E55-F5BA437032A1}" type="slidenum">
              <a:rPr kumimoji="1" lang="ja-JP" altLang="en-US" smtClean="0"/>
              <a:t>‹#›</a:t>
            </a:fld>
            <a:endParaRPr kumimoji="1" lang="ja-JP" altLang="en-US"/>
          </a:p>
        </p:txBody>
      </p:sp>
    </p:spTree>
    <p:extLst>
      <p:ext uri="{BB962C8B-B14F-4D97-AF65-F5344CB8AC3E}">
        <p14:creationId xmlns:p14="http://schemas.microsoft.com/office/powerpoint/2010/main" val="7318928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kern="1200" dirty="0">
              <a:solidFill>
                <a:schemeClr val="tx1"/>
              </a:solidFill>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a:t>
            </a:fld>
            <a:endParaRPr kumimoji="1" lang="ja-JP" altLang="en-US"/>
          </a:p>
        </p:txBody>
      </p:sp>
    </p:spTree>
    <p:extLst>
      <p:ext uri="{BB962C8B-B14F-4D97-AF65-F5344CB8AC3E}">
        <p14:creationId xmlns:p14="http://schemas.microsoft.com/office/powerpoint/2010/main" val="3961494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kern="1200" dirty="0">
              <a:solidFill>
                <a:schemeClr val="tx1"/>
              </a:solidFill>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a:t>
            </a:fld>
            <a:endParaRPr kumimoji="1" lang="ja-JP" altLang="en-US"/>
          </a:p>
        </p:txBody>
      </p:sp>
    </p:spTree>
    <p:extLst>
      <p:ext uri="{BB962C8B-B14F-4D97-AF65-F5344CB8AC3E}">
        <p14:creationId xmlns:p14="http://schemas.microsoft.com/office/powerpoint/2010/main" val="3660855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5800X3D 6/26(</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7700X3D 7/17(</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2026/6/5</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ILU/Intel MTG</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より更新</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 GRE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の日本市場発売解禁日時は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11:00</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RX9050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 発売は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TBDQ2-Q3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dirty="0">
                <a:solidFill>
                  <a:schemeClr val="bg1"/>
                </a:solidFill>
                <a:latin typeface="Meiryo UI"/>
                <a:ea typeface="Meiryo UI"/>
                <a:cs typeface="Meiryo UI" panose="020B0604030504040204" pitchFamily="50" charset="-128"/>
              </a:rPr>
              <a:t>Raptor Lake-S Next/Raptor Lake-HX Next</a:t>
            </a:r>
            <a:r>
              <a:rPr kumimoji="1" lang="ja-JP" altLang="en-US" sz="800" b="0" dirty="0">
                <a:solidFill>
                  <a:schemeClr val="bg1"/>
                </a:solidFill>
                <a:latin typeface="Meiryo UI"/>
                <a:ea typeface="Meiryo UI"/>
                <a:cs typeface="Meiryo UI" panose="020B0604030504040204" pitchFamily="50" charset="-128"/>
              </a:rPr>
              <a:t>　</a:t>
            </a:r>
            <a:r>
              <a:rPr kumimoji="1" lang="en-US" altLang="ja-JP" sz="800" b="0" dirty="0">
                <a:solidFill>
                  <a:schemeClr val="bg1"/>
                </a:solidFill>
                <a:latin typeface="Meiryo UI"/>
                <a:ea typeface="Meiryo UI"/>
                <a:cs typeface="Meiryo UI" panose="020B0604030504040204" pitchFamily="50" charset="-128"/>
              </a:rPr>
              <a:t>2027 H1</a:t>
            </a:r>
            <a:r>
              <a:rPr kumimoji="1" lang="ja-JP" altLang="en-US" sz="800" b="0" dirty="0">
                <a:solidFill>
                  <a:schemeClr val="bg1"/>
                </a:solidFill>
                <a:latin typeface="Meiryo UI"/>
                <a:ea typeface="Meiryo UI"/>
                <a:cs typeface="Meiryo UI" panose="020B0604030504040204" pitchFamily="50" charset="-128"/>
              </a:rPr>
              <a:t>予定</a:t>
            </a:r>
            <a:endParaRPr kumimoji="1" lang="en-US" altLang="ja-JP" sz="800" b="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b="0" dirty="0">
                <a:solidFill>
                  <a:schemeClr val="tx1"/>
                </a:solidFill>
              </a:rPr>
              <a:t>Ryzen7</a:t>
            </a:r>
            <a:r>
              <a:rPr lang="ja-JP" altLang="en-US" sz="1200" b="0" dirty="0">
                <a:solidFill>
                  <a:schemeClr val="tx1"/>
                </a:solidFill>
              </a:rPr>
              <a:t> </a:t>
            </a:r>
            <a:r>
              <a:rPr lang="en-US" altLang="ja-JP" sz="1200" b="0" dirty="0">
                <a:solidFill>
                  <a:schemeClr val="tx1"/>
                </a:solidFill>
              </a:rPr>
              <a:t>5800X3D</a:t>
            </a:r>
            <a:r>
              <a:rPr lang="ja-JP" altLang="en-US" sz="1200" b="0" dirty="0">
                <a:solidFill>
                  <a:schemeClr val="tx1"/>
                </a:solidFill>
              </a:rPr>
              <a:t>追加　</a:t>
            </a:r>
            <a:r>
              <a:rPr lang="en-US" altLang="ja-JP" sz="1200" b="0" dirty="0">
                <a:solidFill>
                  <a:schemeClr val="tx1"/>
                </a:solidFill>
              </a:rPr>
              <a:t>Q2</a:t>
            </a:r>
            <a:r>
              <a:rPr lang="ja-JP" altLang="en-US" sz="1200" b="0" dirty="0">
                <a:solidFill>
                  <a:schemeClr val="tx1"/>
                </a:solidFill>
              </a:rPr>
              <a:t>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4/16 22:00(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日本時間</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9 9950X3D2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金</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 9GB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9 9950X3D2</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の解禁予定日変更→</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4/20wk</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4/22(Global)</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3/17</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中止。</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Ultra 7 270K Plus/Ultra 5 250K Plus/250KF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3/27</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 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Ultra3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AMDRyzen7 9850X3D, Ryzen AI400(Gorgon Point)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2025/12/19 RTX5000 Super 2026 H2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2025/12/2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CES</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にて</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Ryzen9 </a:t>
            </a:r>
            <a:r>
              <a:rPr kumimoji="1" lang="en-US" altLang="ja-JP" sz="7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9950X3D2</a:t>
            </a:r>
            <a:r>
              <a:rPr kumimoji="1" lang="ja-JP" altLang="en-US" sz="7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9850X3D</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Refresh-S/HX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b="0" dirty="0"/>
              <a:t>Granite Rapids</a:t>
            </a:r>
            <a:r>
              <a:rPr lang="ja-JP" altLang="en-US" b="0" dirty="0"/>
              <a:t>　解禁</a:t>
            </a:r>
            <a:r>
              <a:rPr lang="en-US" altLang="ja-JP" b="0" dirty="0"/>
              <a:t>:3/9-3-31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:1/5 3:00(PST)=1/6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 Refresh U7/U5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dirty="0">
                <a:solidFill>
                  <a:schemeClr val="bg1"/>
                </a:solidFill>
                <a:latin typeface="Meiryo UI"/>
                <a:ea typeface="Meiryo UI"/>
                <a:cs typeface="Meiryo UI" panose="020B0604030504040204" pitchFamily="50" charset="-128"/>
              </a:rPr>
              <a:t>Arrow Lake-S Refresh U9</a:t>
            </a:r>
            <a:r>
              <a:rPr kumimoji="1" lang="ja-JP" altLang="en-US" sz="800" b="0" dirty="0">
                <a:solidFill>
                  <a:schemeClr val="bg1"/>
                </a:solidFill>
                <a:latin typeface="Meiryo UI"/>
                <a:ea typeface="Meiryo UI"/>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月以降</a:t>
            </a:r>
            <a:endPar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Lake-H (12Xe/4Xe)</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:1/1-1/15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:1/16-2/13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a:t>
            </a:r>
            <a:r>
              <a:rPr kumimoji="1" lang="ja-JP" altLang="en-US" sz="8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Refresh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2/14</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3/8</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8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5/8(Consumer</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は変更なし</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 </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 PRO 9945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PRO 9745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PRO 9645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PRO 7445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9500F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7400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Q4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9/15 22:00 Global</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PRO 9000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シリーズ予定あり（</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RX9060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追記</a:t>
            </a:r>
            <a:endPar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9700F/Ryzen5 9500F</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2025/8/12 </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RTX PRO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Blackwell SFF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Editon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RTX PRO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Blackwell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情報の更新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Nova Lake </a:t>
            </a:r>
            <a:r>
              <a:rPr kumimoji="1" lang="en-US" altLang="ja-JP" sz="800" b="0" dirty="0">
                <a:solidFill>
                  <a:schemeClr val="bg1"/>
                </a:solidFill>
                <a:latin typeface="Meiryo UI"/>
                <a:ea typeface="Meiryo UI"/>
                <a:cs typeface="Meiryo UI" panose="020B0604030504040204" pitchFamily="50" charset="-128"/>
              </a:rPr>
              <a:t>2026</a:t>
            </a:r>
            <a:r>
              <a:rPr kumimoji="1" lang="ja-JP" altLang="en-US" sz="800" b="0" dirty="0">
                <a:solidFill>
                  <a:schemeClr val="bg1"/>
                </a:solidFill>
                <a:latin typeface="Meiryo UI"/>
                <a:ea typeface="Meiryo UI"/>
                <a:cs typeface="Meiryo UI" panose="020B0604030504040204" pitchFamily="50" charset="-128"/>
              </a:rPr>
              <a:t>末～</a:t>
            </a:r>
            <a:r>
              <a:rPr kumimoji="1" lang="en-US" altLang="ja-JP" sz="800" b="0" dirty="0">
                <a:solidFill>
                  <a:schemeClr val="bg1"/>
                </a:solidFill>
                <a:latin typeface="Meiryo UI"/>
                <a:ea typeface="Meiryo UI"/>
                <a:cs typeface="Meiryo UI" panose="020B0604030504040204" pitchFamily="50" charset="-128"/>
              </a:rPr>
              <a:t>2027</a:t>
            </a:r>
            <a:r>
              <a:rPr kumimoji="1" lang="ja-JP" altLang="en-US" sz="800" b="0" dirty="0">
                <a:solidFill>
                  <a:schemeClr val="bg1"/>
                </a:solidFill>
                <a:latin typeface="Meiryo UI"/>
                <a:ea typeface="Meiryo UI"/>
                <a:cs typeface="Meiryo UI" panose="020B0604030504040204" pitchFamily="50" charset="-128"/>
              </a:rPr>
              <a:t>頃</a:t>
            </a:r>
            <a:r>
              <a:rPr kumimoji="1" lang="en-US" altLang="ja-JP" sz="800" b="0" dirty="0">
                <a:solidFill>
                  <a:schemeClr val="bg1"/>
                </a:solidFill>
                <a:latin typeface="Meiryo UI"/>
                <a:ea typeface="Meiryo UI"/>
                <a:cs typeface="Meiryo UI" panose="020B0604030504040204" pitchFamily="50" charset="-128"/>
              </a:rPr>
              <a:t> ※</a:t>
            </a:r>
            <a:r>
              <a:rPr kumimoji="1" lang="ja-JP" altLang="en-US" sz="800" b="0" dirty="0">
                <a:solidFill>
                  <a:schemeClr val="bg1"/>
                </a:solidFill>
                <a:latin typeface="Meiryo UI"/>
                <a:ea typeface="Meiryo UI"/>
                <a:cs typeface="Meiryo UI" panose="020B0604030504040204" pitchFamily="50" charset="-128"/>
              </a:rPr>
              <a:t>チップセット更新</a:t>
            </a:r>
            <a:r>
              <a:rPr kumimoji="1" lang="en-US" altLang="ja-JP" sz="800" b="0" dirty="0">
                <a:solidFill>
                  <a:schemeClr val="bg1"/>
                </a:solidFill>
                <a:latin typeface="Meiryo UI"/>
                <a:ea typeface="Meiryo UI"/>
                <a:cs typeface="Meiryo UI" panose="020B0604030504040204" pitchFamily="50" charset="-128"/>
              </a:rPr>
              <a:t>/Socket</a:t>
            </a:r>
            <a:r>
              <a:rPr kumimoji="1" lang="ja-JP" altLang="en-US" sz="800" b="0" dirty="0">
                <a:solidFill>
                  <a:schemeClr val="bg1"/>
                </a:solidFill>
                <a:latin typeface="Meiryo UI"/>
                <a:ea typeface="Meiryo UI"/>
                <a:cs typeface="Meiryo UI" panose="020B0604030504040204" pitchFamily="50" charset="-128"/>
              </a:rPr>
              <a:t>更新あり。</a:t>
            </a:r>
            <a:r>
              <a:rPr kumimoji="1" lang="en-US" altLang="ja-JP" sz="800" b="0" dirty="0">
                <a:solidFill>
                  <a:schemeClr val="bg1"/>
                </a:solidFill>
                <a:latin typeface="Meiryo UI"/>
                <a:ea typeface="Meiryo UI"/>
                <a:cs typeface="Meiryo UI" panose="020B0604030504040204" pitchFamily="50" charset="-128"/>
              </a:rPr>
              <a:t>Wildcat 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dirty="0">
                <a:solidFill>
                  <a:schemeClr val="bg1"/>
                </a:solidFill>
                <a:latin typeface="Meiryo UI"/>
                <a:ea typeface="Meiryo UI"/>
                <a:cs typeface="Meiryo UI" panose="020B0604030504040204" pitchFamily="50" charset="-128"/>
              </a:rPr>
              <a:t>2026 Q2-Q3</a:t>
            </a:r>
            <a:r>
              <a:rPr kumimoji="1" lang="ja-JP" altLang="en-US" sz="800" b="0" dirty="0">
                <a:solidFill>
                  <a:schemeClr val="bg1"/>
                </a:solidFill>
                <a:latin typeface="Meiryo UI"/>
                <a:ea typeface="Meiryo UI"/>
                <a:cs typeface="Meiryo UI" panose="020B0604030504040204" pitchFamily="50" charset="-128"/>
              </a:rPr>
              <a:t>頃。</a:t>
            </a:r>
            <a:endParaRPr kumimoji="1" lang="en-US" altLang="ja-JP" sz="800" b="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2025/7/8 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Pro9000WX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7/24 22:00(Global) 7/25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nonPRO</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7/31 22:00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8/1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PRO 9000 WX</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9000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月登場の予定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nb-NO"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12</a:t>
            </a:r>
            <a:r>
              <a:rPr kumimoji="1" lang="ja-JP" altLang="nb-NO"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nb-NO"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a:t>
            </a:r>
            <a:r>
              <a:rPr kumimoji="1" lang="ja-JP" altLang="nb-NO"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nb-NO"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 </a:t>
            </a:r>
            <a:r>
              <a:rPr kumimoji="1" lang="en-US" altLang="ja-JP" sz="700" b="0" dirty="0">
                <a:solidFill>
                  <a:schemeClr val="bg1"/>
                </a:solidFill>
                <a:latin typeface="Meiryo UI"/>
                <a:ea typeface="Meiryo UI"/>
                <a:cs typeface="Meiryo UI" panose="020B0604030504040204" pitchFamily="50" charset="-128"/>
              </a:rPr>
              <a:t>Panther Lake(</a:t>
            </a:r>
            <a:r>
              <a:rPr kumimoji="1" lang="en-US" altLang="ja-JP" sz="700" b="0" dirty="0" err="1">
                <a:solidFill>
                  <a:schemeClr val="bg1"/>
                </a:solidFill>
                <a:latin typeface="Meiryo UI"/>
                <a:ea typeface="Meiryo UI"/>
                <a:cs typeface="Meiryo UI" panose="020B0604030504040204" pitchFamily="50" charset="-128"/>
              </a:rPr>
              <a:t>vPro</a:t>
            </a:r>
            <a:r>
              <a:rPr kumimoji="1" lang="en-US" altLang="ja-JP" sz="700" b="0" dirty="0">
                <a:solidFill>
                  <a:schemeClr val="bg1"/>
                </a:solidFill>
                <a:latin typeface="Meiryo UI"/>
                <a:ea typeface="Meiryo UI"/>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の反映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での情報より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PRO 9000 WX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ともに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AI PRO R9700 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RADEON RX9060XT 6/6(</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※Global</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6/5)</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RTX5050 7</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月ころ見込み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 Granite Rapids Workstation(Xeon600+W890)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 Arrow Lake-S Refresh(K SKU)</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2025/4/25 Arrow Lake-HX Refresh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 Panther Lake-H(12Xe/4Xe) 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解禁日変更</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3/12</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3/21</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シリーズ登場時期再度更新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16GB 4/M→4/16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 4/E→4/16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シリーズ登場時期更新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16GB 3/E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Q1’2026 Arrow Lake-S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月後半、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3/12</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Q870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下半期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Next Gen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GORGON POINT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も継続予定、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で調整、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それ以降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RTX5070Ti 2/20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 3/5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Arrow Lake-Hx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Window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r>
              <a:rPr kumimoji="1" lang="en-US" altLang="ja-JP" sz="800" b="0" dirty="0">
                <a:solidFill>
                  <a:schemeClr val="bg1"/>
                </a:solidFill>
                <a:latin typeface="Meiryo UI"/>
                <a:ea typeface="Meiryo UI"/>
                <a:cs typeface="Meiryo UI" panose="020B0604030504040204" pitchFamily="50" charset="-128"/>
              </a:rPr>
              <a:t>Arrow Lake-H/U</a:t>
            </a:r>
            <a:r>
              <a:rPr kumimoji="1" lang="ja-JP" altLang="en-US" sz="800" b="0" dirty="0">
                <a:solidFill>
                  <a:schemeClr val="bg1"/>
                </a:solidFill>
                <a:latin typeface="Meiryo UI"/>
                <a:ea typeface="Meiryo UI"/>
                <a:cs typeface="Meiryo UI" panose="020B0604030504040204" pitchFamily="50" charset="-128"/>
              </a:rPr>
              <a:t>解禁が</a:t>
            </a:r>
            <a:r>
              <a:rPr kumimoji="1" lang="en-US" altLang="ja-JP" sz="800" b="0" dirty="0">
                <a:solidFill>
                  <a:schemeClr val="bg1"/>
                </a:solidFill>
                <a:latin typeface="Meiryo UI"/>
                <a:ea typeface="Meiryo UI"/>
                <a:cs typeface="Meiryo UI" panose="020B0604030504040204" pitchFamily="50" charset="-128"/>
              </a:rPr>
              <a:t>2/10</a:t>
            </a:r>
            <a:r>
              <a:rPr kumimoji="1" lang="ja-JP" altLang="en-US" sz="800" b="0" dirty="0">
                <a:solidFill>
                  <a:schemeClr val="bg1"/>
                </a:solidFill>
                <a:latin typeface="Meiryo UI"/>
                <a:ea typeface="Meiryo UI"/>
                <a:cs typeface="Meiryo UI" panose="020B0604030504040204" pitchFamily="50" charset="-128"/>
              </a:rPr>
              <a:t>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RTX5090/RTX5080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全体修正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2026/4/17</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Raptor Lake-S Next/Raptor Lake-HX Next</a:t>
            </a:r>
            <a:r>
              <a:rPr kumimoji="1" lang="ja-JP" altLang="en-US" sz="1200" dirty="0">
                <a:solidFill>
                  <a:schemeClr val="bg1"/>
                </a:solidFill>
                <a:latin typeface="Meiryo UI"/>
                <a:ea typeface="Meiryo UI"/>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2027 H1</a:t>
            </a:r>
            <a:r>
              <a:rPr kumimoji="1" lang="ja-JP" altLang="en-US" sz="1200" dirty="0">
                <a:solidFill>
                  <a:schemeClr val="bg1"/>
                </a:solidFill>
                <a:latin typeface="Meiryo UI"/>
                <a:ea typeface="Meiryo UI"/>
                <a:cs typeface="Meiryo UI" panose="020B0604030504040204" pitchFamily="50" charset="-128"/>
              </a:rPr>
              <a:t>予定</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中止。</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Ultra 7 270K Plus/Ultra 5 250K Plus/250KF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Refresh-S/HX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dirty="0"/>
              <a:t>Granite Rapids</a:t>
            </a:r>
            <a:r>
              <a:rPr lang="ja-JP" altLang="en-US" dirty="0"/>
              <a:t>　解禁</a:t>
            </a:r>
            <a:r>
              <a:rPr lang="en-US" altLang="ja-JP" dirty="0"/>
              <a:t>:3/9-3-31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2025/10/10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 Refresh U7/U5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Arrow Lake-S Refresh U9</a:t>
            </a:r>
            <a:r>
              <a:rPr kumimoji="1" lang="ja-JP" altLang="en-US" sz="1200" dirty="0">
                <a:solidFill>
                  <a:schemeClr val="bg1"/>
                </a:solidFill>
                <a:latin typeface="Meiryo UI"/>
                <a:ea typeface="Meiryo UI"/>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月以降</a:t>
            </a:r>
            <a:endPar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Lake-H (12Xe/4Xe)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:1/1-1/15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:1/16-2/13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a:t>
            </a:r>
            <a:r>
              <a:rPr kumimoji="1" lang="ja-JP" altLang="en-US" sz="12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 / U7 270K Plus / U5 250K Plus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出る順番</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U5/U7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3/8</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12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5/8(Consumer</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は変更なし</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情報の更新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 Granite Rapids Workstation(Xeon600+W890)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 Arrow Lake-S Refresh(K SKU)</a:t>
            </a:r>
            <a:endParaRPr kumimoji="1" lang="en-US" altLang="ja-JP" sz="1200" b="1"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dirty="0">
                <a:solidFill>
                  <a:schemeClr val="bg1"/>
                </a:solidFill>
                <a:latin typeface="Meiryo UI"/>
                <a:ea typeface="Meiryo UI"/>
                <a:cs typeface="Meiryo UI" panose="020B0604030504040204" pitchFamily="50" charset="-128"/>
              </a:rPr>
              <a:t>Arrow Lake-S+B860/H810</a:t>
            </a:r>
            <a:r>
              <a:rPr kumimoji="1" lang="ja-JP" altLang="en-US" sz="2400" dirty="0">
                <a:solidFill>
                  <a:schemeClr val="bg1"/>
                </a:solidFill>
                <a:latin typeface="Meiryo UI"/>
                <a:ea typeface="Meiryo UI"/>
                <a:cs typeface="Meiryo UI" panose="020B0604030504040204" pitchFamily="50" charset="-128"/>
              </a:rPr>
              <a:t>　解禁日</a:t>
            </a:r>
            <a:r>
              <a:rPr kumimoji="1" lang="en-US" altLang="ja-JP" sz="2400" dirty="0">
                <a:solidFill>
                  <a:schemeClr val="bg1"/>
                </a:solidFill>
                <a:latin typeface="Meiryo UI"/>
                <a:ea typeface="Meiryo UI"/>
                <a:cs typeface="Meiryo UI" panose="020B0604030504040204" pitchFamily="50" charset="-128"/>
              </a:rPr>
              <a:t>1/13-1/17</a:t>
            </a:r>
            <a:r>
              <a:rPr kumimoji="1" lang="ja-JP" altLang="en-US" sz="2400" dirty="0">
                <a:solidFill>
                  <a:schemeClr val="bg1"/>
                </a:solidFill>
                <a:latin typeface="Meiryo UI"/>
                <a:ea typeface="Meiryo UI"/>
                <a:cs typeface="Meiryo UI" panose="020B0604030504040204" pitchFamily="50" charset="-128"/>
              </a:rPr>
              <a:t>→</a:t>
            </a:r>
            <a:r>
              <a:rPr kumimoji="1" lang="en-US" altLang="ja-JP" sz="2400" dirty="0">
                <a:solidFill>
                  <a:schemeClr val="bg1"/>
                </a:solidFill>
                <a:latin typeface="Meiryo UI"/>
                <a:ea typeface="Meiryo UI"/>
                <a:cs typeface="Meiryo UI" panose="020B0604030504040204" pitchFamily="50" charset="-128"/>
              </a:rPr>
              <a:t>1/13 23:00(</a:t>
            </a:r>
            <a:r>
              <a:rPr kumimoji="1" lang="ja-JP" altLang="en-US" sz="2400" dirty="0">
                <a:solidFill>
                  <a:schemeClr val="bg1"/>
                </a:solidFill>
                <a:latin typeface="Meiryo UI"/>
                <a:ea typeface="Meiryo UI"/>
                <a:cs typeface="Meiryo UI" panose="020B0604030504040204" pitchFamily="50" charset="-128"/>
              </a:rPr>
              <a:t>日本</a:t>
            </a:r>
            <a:r>
              <a:rPr kumimoji="1" lang="en-US" altLang="ja-JP" sz="2400" dirty="0">
                <a:solidFill>
                  <a:schemeClr val="bg1"/>
                </a:solidFill>
                <a:latin typeface="Meiryo UI"/>
                <a:ea typeface="Meiryo UI"/>
                <a:cs typeface="Meiryo UI" panose="020B0604030504040204" pitchFamily="50" charset="-128"/>
              </a:rPr>
              <a:t>) mobile</a:t>
            </a:r>
            <a:r>
              <a:rPr kumimoji="1" lang="ja-JP" altLang="en-US" sz="2400" dirty="0">
                <a:solidFill>
                  <a:schemeClr val="bg1"/>
                </a:solidFill>
                <a:latin typeface="Meiryo UI"/>
                <a:ea typeface="Meiryo UI"/>
                <a:cs typeface="Meiryo UI" panose="020B0604030504040204" pitchFamily="50" charset="-128"/>
              </a:rPr>
              <a:t>系も更新</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 Refresh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12/17(PST)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Lake-HX/H/U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1/13-2/28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10/1　</a:t>
            </a:r>
            <a:r>
              <a:rPr lang="en-US" altLang="ja-JP" sz="1200" b="0" i="0" u="none" strike="noStrike" dirty="0" err="1">
                <a:solidFill>
                  <a:srgbClr val="000000"/>
                </a:solidFill>
                <a:effectLst/>
                <a:latin typeface="メイリオ" panose="020B0604030504040204" pitchFamily="50" charset="-128"/>
              </a:rPr>
              <a:t>Intel情報</a:t>
            </a:r>
            <a:r>
              <a:rPr lang="en-US" altLang="ja-JP"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Meiryo" panose="020B0604030504040204" pitchFamily="50" charset="-128"/>
              </a:rPr>
              <a:t>Arrow Lake-S K+Z890</a:t>
            </a:r>
            <a:r>
              <a:rPr lang="ja-JP" altLang="ja-JP" sz="1200" b="0" i="0" u="none" strike="noStrike" dirty="0">
                <a:solidFill>
                  <a:srgbClr val="000000"/>
                </a:solidFill>
                <a:effectLst/>
                <a:ea typeface="Meiryo" panose="020B0604030504040204" pitchFamily="50" charset="-128"/>
              </a:rPr>
              <a:t>発表・解禁更新　発表：</a:t>
            </a:r>
            <a:r>
              <a:rPr lang="en-US" altLang="ja-JP" sz="1200" b="0" i="0" u="none" strike="noStrike" dirty="0">
                <a:solidFill>
                  <a:srgbClr val="000000"/>
                </a:solidFill>
                <a:effectLst/>
                <a:latin typeface="Meiryo" panose="020B0604030504040204" pitchFamily="50" charset="-128"/>
              </a:rPr>
              <a:t>10/10(0:00 JST) </a:t>
            </a:r>
            <a:r>
              <a:rPr lang="ja-JP" altLang="ja-JP" sz="1200" b="0" i="0" u="none" strike="noStrike" dirty="0">
                <a:solidFill>
                  <a:srgbClr val="000000"/>
                </a:solidFill>
                <a:effectLst/>
                <a:ea typeface="Meiryo" panose="020B0604030504040204" pitchFamily="50" charset="-128"/>
              </a:rPr>
              <a:t>、解禁：</a:t>
            </a:r>
            <a:r>
              <a:rPr lang="en-US" altLang="ja-JP" sz="1200" b="0" i="0" u="none" strike="noStrike" dirty="0">
                <a:solidFill>
                  <a:srgbClr val="000000"/>
                </a:solidFill>
                <a:effectLst/>
                <a:latin typeface="Meiryo" panose="020B0604030504040204" pitchFamily="50" charset="-128"/>
              </a:rPr>
              <a:t>10/25(0:00 JST) (P3-5)</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発表・解禁更新　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になるため日本は日付ずれる可能性あり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2024/8/19</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ArrowLake</a:t>
            </a:r>
            <a:r>
              <a:rPr lang="en-US" altLang="ja-JP" sz="1200" b="0" dirty="0">
                <a:latin typeface="メイリオ" panose="020B0604030504040204" pitchFamily="50" charset="-128"/>
                <a:ea typeface="メイリオ" panose="020B0604030504040204" pitchFamily="50" charset="-128"/>
              </a:rPr>
              <a:t>-S</a:t>
            </a:r>
            <a:r>
              <a:rPr lang="ja-JP" altLang="en-US" sz="1200" b="0" dirty="0">
                <a:latin typeface="メイリオ" panose="020B0604030504040204" pitchFamily="50" charset="-128"/>
                <a:ea typeface="メイリオ" panose="020B0604030504040204" pitchFamily="50" charset="-128"/>
              </a:rPr>
              <a:t>の各</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が判明したため記載</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一部の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ナンバーが判明したため追記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i9-14900KS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 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i9-14900KS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2023/12/5</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1/9</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1/9</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2023/8/30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10/16</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WW48-50</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23</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(WW40-44)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/KF</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1/B~2/M(WW1-6)</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2023/5/24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の最新資料より、</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 Refresh</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の登場時期は</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Q3End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月）頃の見込み</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10-11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月頃、</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endPar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Processor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n-ea"/>
              </a:rPr>
              <a:t>Raptor Lake-S Refresh</a:t>
            </a:r>
            <a:r>
              <a:rPr lang="ja-JP" altLang="en-US" sz="1200" dirty="0">
                <a:solidFill>
                  <a:schemeClr val="tx1"/>
                </a:solidFill>
                <a:latin typeface="+mn-ea"/>
              </a:rPr>
              <a:t>　</a:t>
            </a:r>
            <a:r>
              <a:rPr lang="en-US" altLang="ja-JP" sz="1200" dirty="0">
                <a:solidFill>
                  <a:schemeClr val="tx1"/>
                </a:solidFill>
                <a:latin typeface="+mn-ea"/>
              </a:rPr>
              <a:t>K/KF</a:t>
            </a:r>
            <a:r>
              <a:rPr lang="ja-JP" altLang="en-US" sz="1200" dirty="0">
                <a:solidFill>
                  <a:schemeClr val="tx1"/>
                </a:solidFill>
                <a:latin typeface="+mn-ea"/>
              </a:rPr>
              <a:t>：</a:t>
            </a:r>
            <a:r>
              <a:rPr lang="en-US" altLang="ja-JP" sz="1200" dirty="0">
                <a:solidFill>
                  <a:schemeClr val="tx1"/>
                </a:solidFill>
                <a:latin typeface="+mn-ea"/>
              </a:rPr>
              <a:t>Q3</a:t>
            </a:r>
            <a:r>
              <a:rPr lang="ja-JP" altLang="en-US" sz="1200" dirty="0">
                <a:solidFill>
                  <a:schemeClr val="tx1"/>
                </a:solidFill>
                <a:latin typeface="+mn-ea"/>
              </a:rPr>
              <a:t>頃　</a:t>
            </a:r>
            <a:r>
              <a:rPr lang="en-US" altLang="ja-JP" sz="1200" dirty="0" err="1">
                <a:solidFill>
                  <a:schemeClr val="tx1"/>
                </a:solidFill>
                <a:latin typeface="+mn-ea"/>
              </a:rPr>
              <a:t>nonK</a:t>
            </a:r>
            <a:r>
              <a:rPr lang="ja-JP" altLang="en-US" sz="1200" dirty="0">
                <a:solidFill>
                  <a:schemeClr val="tx1"/>
                </a:solidFill>
                <a:latin typeface="+mn-ea"/>
              </a:rPr>
              <a:t>：</a:t>
            </a:r>
            <a:r>
              <a:rPr lang="en-US" altLang="ja-JP" sz="1200" dirty="0">
                <a:solidFill>
                  <a:schemeClr val="tx1"/>
                </a:solidFill>
                <a:latin typeface="+mn-ea"/>
              </a:rPr>
              <a:t>Q1</a:t>
            </a:r>
            <a:r>
              <a:rPr lang="ja-JP" altLang="en-US" sz="1200" dirty="0">
                <a:solidFill>
                  <a:schemeClr val="tx1"/>
                </a:solidFill>
                <a:latin typeface="+mn-ea"/>
              </a:rPr>
              <a:t>’</a:t>
            </a:r>
            <a:r>
              <a:rPr lang="en-US" altLang="ja-JP" sz="1200" dirty="0">
                <a:solidFill>
                  <a:schemeClr val="tx1"/>
                </a:solidFill>
                <a:latin typeface="+mn-ea"/>
              </a:rPr>
              <a:t>24</a:t>
            </a:r>
            <a:r>
              <a:rPr lang="ja-JP" altLang="en-US" sz="1200" dirty="0">
                <a:solidFill>
                  <a:schemeClr val="tx1"/>
                </a:solidFill>
                <a:latin typeface="+mn-ea"/>
              </a:rPr>
              <a:t>頃</a:t>
            </a: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t>Sapphire Rapids Refresh </a:t>
            </a:r>
            <a:r>
              <a:rPr kumimoji="1" lang="en-US" altLang="ja-JP" sz="1200" b="0" baseline="0" dirty="0">
                <a:solidFill>
                  <a:schemeClr val="tx1"/>
                </a:solidFill>
                <a:latin typeface="+mn-lt"/>
                <a:ea typeface="+mn-ea"/>
                <a:cs typeface="+mn-cs"/>
              </a:rPr>
              <a:t>Q4End-Q1’24</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i9-13900KS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1/12(6:00PT)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SapphireRapids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64L&amp;W790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3/5-3/24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112L 4/9-4/28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下位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Core i3 12300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Pentium G7400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登場後も継続の予定。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5QMAP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lang="en-US" altLang="ja-JP" dirty="0"/>
              <a:t>Raptor Lake-S Refresh</a:t>
            </a:r>
            <a:r>
              <a:rPr lang="ja-JP" altLang="en-US" dirty="0"/>
              <a:t>追加 </a:t>
            </a:r>
            <a:r>
              <a:rPr lang="en-US" altLang="ja-JP" dirty="0"/>
              <a:t>Q3’2023</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RPL-S,H770,B760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t>Sapphire Rapids/W790</a:t>
            </a:r>
            <a:r>
              <a:rPr lang="ja-JP" altLang="en-US" sz="1200" dirty="0"/>
              <a:t>チップセット</a:t>
            </a:r>
            <a:r>
              <a:rPr lang="en-US" altLang="ja-JP" sz="1200" dirty="0"/>
              <a:t> 2/12</a:t>
            </a:r>
            <a:r>
              <a:rPr lang="ja-JP" altLang="en-US" sz="1200" dirty="0"/>
              <a:t>～</a:t>
            </a:r>
            <a:r>
              <a:rPr lang="en-US" altLang="ja-JP" sz="1200" dirty="0"/>
              <a:t>2/18</a:t>
            </a:r>
            <a:r>
              <a:rPr lang="ja-JP" altLang="en-US" sz="1200" dirty="0"/>
              <a:t>に発表　</a:t>
            </a:r>
            <a:r>
              <a:rPr lang="en-US" altLang="ja-JP" sz="1200" dirty="0"/>
              <a:t>3</a:t>
            </a:r>
            <a:r>
              <a:rPr lang="ja-JP" altLang="en-US" sz="1200" dirty="0"/>
              <a:t>月～</a:t>
            </a:r>
            <a:r>
              <a:rPr lang="en-US" altLang="ja-JP" sz="1200" dirty="0"/>
              <a:t>4</a:t>
            </a:r>
            <a:r>
              <a:rPr lang="ja-JP" altLang="en-US" sz="1200" dirty="0"/>
              <a:t>月に販売開始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Z790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24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のウィンドウが狭まったため更新。発売解禁日</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10/3-10/21</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10/17-10/21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による更新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10/3-10/21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10/3-11/18</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400" b="0" dirty="0">
                <a:latin typeface="メイリオ" panose="020B0604030504040204" pitchFamily="50" charset="-128"/>
                <a:ea typeface="メイリオ" panose="020B0604030504040204" pitchFamily="50" charset="-128"/>
              </a:rPr>
              <a:t>2022/4/8</a:t>
            </a:r>
            <a:r>
              <a:rPr lang="ja-JP" altLang="en-US" sz="2400" b="0" dirty="0">
                <a:latin typeface="メイリオ" panose="020B0604030504040204" pitchFamily="50" charset="-128"/>
                <a:ea typeface="メイリオ" panose="020B0604030504040204" pitchFamily="50" charset="-128"/>
              </a:rPr>
              <a:t>　</a:t>
            </a:r>
            <a:r>
              <a:rPr lang="en-US" altLang="ja-JP" sz="2400" b="0" dirty="0">
                <a:latin typeface="メイリオ" panose="020B0604030504040204" pitchFamily="50" charset="-128"/>
                <a:ea typeface="メイリオ" panose="020B0604030504040204" pitchFamily="50" charset="-128"/>
              </a:rPr>
              <a:t>ILU</a:t>
            </a:r>
            <a:r>
              <a:rPr lang="ja-JP" altLang="en-US" sz="2400" b="0" dirty="0">
                <a:latin typeface="メイリオ" panose="020B0604030504040204" pitchFamily="50" charset="-128"/>
                <a:ea typeface="メイリオ" panose="020B0604030504040204" pitchFamily="50" charset="-128"/>
              </a:rPr>
              <a:t>により更新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-S(non “K”)&amp;</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H770/B760</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intel Arc DG2(AIC)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:4/15-6/30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:5/15-6/30</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2022/3/22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2022/3/7</a:t>
            </a:r>
            <a:r>
              <a:rPr lang="ja-JP" altLang="en-US" sz="1200" b="0" dirty="0">
                <a:latin typeface="メイリオ" panose="020B0604030504040204" pitchFamily="50" charset="-128"/>
                <a:ea typeface="メイリオ" panose="020B0604030504040204" pitchFamily="50" charset="-128"/>
              </a:rPr>
              <a:t>　</a:t>
            </a:r>
            <a:r>
              <a:rPr lang="en-US" altLang="ja-JP" b="0" i="0" dirty="0">
                <a:solidFill>
                  <a:srgbClr val="242424"/>
                </a:solidFill>
                <a:effectLst/>
                <a:latin typeface="Segoe UI" panose="020B0502040204020203" pitchFamily="34" charset="0"/>
              </a:rPr>
              <a:t>i9-12900KS</a:t>
            </a:r>
            <a:r>
              <a:rPr lang="ja-JP" altLang="en-US" b="0" i="0" dirty="0">
                <a:solidFill>
                  <a:srgbClr val="242424"/>
                </a:solidFill>
                <a:effectLst/>
                <a:latin typeface="Segoe UI" panose="020B0502040204020203" pitchFamily="34" charset="0"/>
              </a:rPr>
              <a:t>のリリース解禁</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販売解禁日変更</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リリース解禁</a:t>
            </a:r>
            <a:r>
              <a:rPr lang="en-US" altLang="ja-JP" b="0" i="0" dirty="0">
                <a:solidFill>
                  <a:srgbClr val="242424"/>
                </a:solidFill>
                <a:effectLst/>
                <a:latin typeface="Segoe UI" panose="020B0502040204020203" pitchFamily="34" charset="0"/>
              </a:rPr>
              <a:t>】 3</a:t>
            </a:r>
            <a:r>
              <a:rPr lang="ja-JP" altLang="en-US" b="0" i="0" dirty="0">
                <a:solidFill>
                  <a:srgbClr val="242424"/>
                </a:solidFill>
                <a:effectLst/>
                <a:latin typeface="Segoe UI" panose="020B0502040204020203" pitchFamily="34" charset="0"/>
              </a:rPr>
              <a:t>月</a:t>
            </a:r>
            <a:r>
              <a:rPr lang="en-US" altLang="ja-JP" b="0" i="0" dirty="0">
                <a:solidFill>
                  <a:srgbClr val="242424"/>
                </a:solidFill>
                <a:effectLst/>
                <a:latin typeface="Segoe UI" panose="020B0502040204020203" pitchFamily="34" charset="0"/>
              </a:rPr>
              <a:t>28</a:t>
            </a:r>
            <a:r>
              <a:rPr lang="ja-JP" altLang="en-US" b="0" i="0" dirty="0">
                <a:solidFill>
                  <a:srgbClr val="242424"/>
                </a:solidFill>
                <a:effectLst/>
                <a:latin typeface="Segoe UI" panose="020B0502040204020203" pitchFamily="34" charset="0"/>
              </a:rPr>
              <a:t>日 </a:t>
            </a:r>
            <a:r>
              <a:rPr lang="en-US" altLang="ja-JP" b="0" i="0" dirty="0">
                <a:solidFill>
                  <a:srgbClr val="242424"/>
                </a:solidFill>
                <a:effectLst/>
                <a:latin typeface="Segoe UI" panose="020B0502040204020203" pitchFamily="34" charset="0"/>
              </a:rPr>
              <a:t>23:00 (</a:t>
            </a:r>
            <a:r>
              <a:rPr lang="ja-JP" altLang="en-US" b="0" i="0" dirty="0">
                <a:solidFill>
                  <a:srgbClr val="242424"/>
                </a:solidFill>
                <a:effectLst/>
                <a:latin typeface="Segoe UI" panose="020B0502040204020203" pitchFamily="34" charset="0"/>
              </a:rPr>
              <a:t>日本時間</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　</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販売解禁</a:t>
            </a:r>
            <a:r>
              <a:rPr lang="en-US" altLang="ja-JP" b="0" i="0" dirty="0">
                <a:solidFill>
                  <a:srgbClr val="242424"/>
                </a:solidFill>
                <a:effectLst/>
                <a:latin typeface="Segoe UI" panose="020B0502040204020203" pitchFamily="34" charset="0"/>
              </a:rPr>
              <a:t>】 4</a:t>
            </a:r>
            <a:r>
              <a:rPr lang="ja-JP" altLang="en-US" b="0" i="0" dirty="0">
                <a:solidFill>
                  <a:srgbClr val="242424"/>
                </a:solidFill>
                <a:effectLst/>
                <a:latin typeface="Segoe UI" panose="020B0502040204020203" pitchFamily="34" charset="0"/>
              </a:rPr>
              <a:t>月</a:t>
            </a:r>
            <a:r>
              <a:rPr lang="en-US" altLang="ja-JP" b="0" i="0" dirty="0">
                <a:solidFill>
                  <a:srgbClr val="242424"/>
                </a:solidFill>
                <a:effectLst/>
                <a:latin typeface="Segoe UI" panose="020B0502040204020203" pitchFamily="34" charset="0"/>
              </a:rPr>
              <a:t>5</a:t>
            </a:r>
            <a:r>
              <a:rPr lang="ja-JP" altLang="en-US" b="0" i="0" dirty="0">
                <a:solidFill>
                  <a:srgbClr val="242424"/>
                </a:solidFill>
                <a:effectLst/>
                <a:latin typeface="Segoe UI" panose="020B0502040204020203" pitchFamily="34" charset="0"/>
              </a:rPr>
              <a:t>日 </a:t>
            </a:r>
            <a:r>
              <a:rPr lang="en-US" altLang="ja-JP" b="0" i="0" dirty="0">
                <a:solidFill>
                  <a:srgbClr val="242424"/>
                </a:solidFill>
                <a:effectLst/>
                <a:latin typeface="Segoe UI" panose="020B0502040204020203" pitchFamily="34" charset="0"/>
              </a:rPr>
              <a:t>23:00 (</a:t>
            </a:r>
            <a:r>
              <a:rPr lang="ja-JP" altLang="en-US" b="0" i="0" dirty="0">
                <a:solidFill>
                  <a:srgbClr val="242424"/>
                </a:solidFill>
                <a:effectLst/>
                <a:latin typeface="Segoe UI" panose="020B0502040204020203" pitchFamily="34" charset="0"/>
              </a:rPr>
              <a:t>日本時間</a:t>
            </a:r>
            <a:r>
              <a:rPr lang="en-US" altLang="ja-JP" b="0" i="0" dirty="0">
                <a:solidFill>
                  <a:srgbClr val="242424"/>
                </a:solidFill>
                <a:effectLst/>
                <a:latin typeface="Segoe UI" panose="020B0502040204020203" pitchFamily="34" charset="0"/>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2022/2/7 i9-12900KS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発売日確定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3/17 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2022/1/5 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発表より</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 B660, H610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10:10PST(1/5 3:10JST)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 Lake-S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K</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無し</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&amp;</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H670/B660/H610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Alder-Lake</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2021/9/27</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　</a:t>
            </a:r>
            <a:r>
              <a:rPr lang="en-US" altLang="ja-JP" sz="1200" b="0" dirty="0">
                <a:latin typeface="メイリオ" panose="020B0604030504040204" pitchFamily="50" charset="-128"/>
                <a:ea typeface="メイリオ" panose="020B0604030504040204" pitchFamily="50" charset="-128"/>
              </a:rPr>
              <a:t>Press Embargo:10/27 9:00am(PST)[10/28 2:00(JST)]</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Release Embargo:11/4 6:00am(PST) [11/4 23:00</a:t>
            </a:r>
            <a:r>
              <a:rPr lang="en-US" altLang="ja-JP" sz="1200" b="0" dirty="0">
                <a:latin typeface="+mn-ea"/>
              </a:rPr>
              <a:t>(JST)</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 </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の発表・発売日を更新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&amp;Z690 10/15-11/19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:10/26-11/2,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:10/26-11/5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&amp;ZH670/B660/H610 1/3-2/18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の細かい日付が出てきたため反映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は前回から変更なし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&amp;Z690 10/15-11/19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&amp;ZH670/B660/H610 1/3-2/18(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の製品名が出てきたため反映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8+8: WW35’21-WW47’21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6+0: WW41’21-WW51’21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b="0" i="0" dirty="0">
                <a:effectLst/>
                <a:latin typeface="Segoe UI" panose="020B0502040204020203" pitchFamily="34" charset="0"/>
              </a:rPr>
              <a:t>ラウンチが</a:t>
            </a:r>
            <a:r>
              <a:rPr lang="en-US" altLang="ja-JP" b="0" i="0" dirty="0">
                <a:effectLst/>
                <a:latin typeface="Segoe UI" panose="020B0502040204020203" pitchFamily="34" charset="0"/>
              </a:rPr>
              <a:t>3/30</a:t>
            </a:r>
            <a:r>
              <a:rPr lang="ja-JP" altLang="en-US" b="0" i="0" dirty="0">
                <a:effectLst/>
                <a:latin typeface="Segoe UI" panose="020B0502040204020203" pitchFamily="34" charset="0"/>
              </a:rPr>
              <a:t>にずれる</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2021/2/12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3/17 1:00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プレス解禁、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3/19 1:00 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販売解禁</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Comet Lake-R(i3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Pentium)CPU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と縮まっている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Z590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H570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B560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H510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の発売日</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に大幅前倒しになる予定。</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RocketLake</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3/1-3/19</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へ前倒しに。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Lake,CometLake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アナウンス予定に修正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i9-10850K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 G5925/5905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8:00PDT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7/28 0:00JST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i9-10850K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CeleronG5925/5905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ICST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の情報から微修正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RKL-S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2021Q1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最新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Z490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の発売日を修正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日付修正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2019/3/18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CFR-RK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無し＆その他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予定だが遅くなるだろう。→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ずれ込み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無し版が出る予定。全部で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万個前後？→検査ハネら</a:t>
            </a:r>
            <a:r>
              <a:rPr kumimoji="1" lang="ja-JP" altLang="en-US"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れた</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もののリファービッシュ→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からになりそう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優先させてるフシがあるため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以下おくれるだろう。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4</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全体修正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2026/4/17</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Raptor Lake-S Next/Raptor Lake-HX Next</a:t>
            </a:r>
            <a:r>
              <a:rPr kumimoji="1" lang="ja-JP" altLang="en-US" sz="1200" dirty="0">
                <a:solidFill>
                  <a:schemeClr val="bg1"/>
                </a:solidFill>
                <a:latin typeface="Meiryo UI"/>
                <a:ea typeface="Meiryo UI"/>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2027 H1</a:t>
            </a:r>
            <a:r>
              <a:rPr kumimoji="1" lang="ja-JP" altLang="en-US" sz="1200" dirty="0">
                <a:solidFill>
                  <a:schemeClr val="bg1"/>
                </a:solidFill>
                <a:latin typeface="Meiryo UI"/>
                <a:ea typeface="Meiryo UI"/>
                <a:cs typeface="Meiryo UI" panose="020B0604030504040204" pitchFamily="50" charset="-128"/>
              </a:rPr>
              <a:t>予定</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中止。</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Ultra 7 270K Plus/Ultra 5 250K Plus/250KF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Refresh-S/HX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dirty="0"/>
              <a:t>Granite Rapids</a:t>
            </a:r>
            <a:r>
              <a:rPr lang="ja-JP" altLang="en-US" dirty="0"/>
              <a:t>　解禁</a:t>
            </a:r>
            <a:r>
              <a:rPr lang="en-US" altLang="ja-JP" dirty="0"/>
              <a:t>:3/9-3-31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2025/10/10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 Refresh U7/U5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Arrow Lake-S Refresh U9</a:t>
            </a:r>
            <a:r>
              <a:rPr kumimoji="1" lang="ja-JP" altLang="en-US" sz="1200" dirty="0">
                <a:solidFill>
                  <a:schemeClr val="bg1"/>
                </a:solidFill>
                <a:latin typeface="Meiryo UI"/>
                <a:ea typeface="Meiryo UI"/>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月以降</a:t>
            </a:r>
            <a:endPar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Lake-H (12Xe/4Xe)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:1/1-1/15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:1/16-2/13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a:t>
            </a:r>
            <a:r>
              <a:rPr kumimoji="1" lang="ja-JP" altLang="en-US" sz="12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 / U7 270K Plus / U5 250K Plus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出る順番</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U5/U7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3/8</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12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5/8(Consumer</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は変更なし</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情報の更新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Granite Rapids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 Granite Rapids Workstation(Xeon600+W890)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 Arrow Lake-S Refresh(K SKU)</a:t>
            </a:r>
            <a:endParaRPr kumimoji="1" lang="en-US" altLang="ja-JP" sz="1200" b="1"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dirty="0">
                <a:solidFill>
                  <a:schemeClr val="bg1"/>
                </a:solidFill>
                <a:latin typeface="Meiryo UI"/>
                <a:ea typeface="Meiryo UI"/>
                <a:cs typeface="Meiryo UI" panose="020B0604030504040204" pitchFamily="50" charset="-128"/>
              </a:rPr>
              <a:t>Arrow Lake-S+B860/H810</a:t>
            </a:r>
            <a:r>
              <a:rPr kumimoji="1" lang="ja-JP" altLang="en-US" sz="2400" dirty="0">
                <a:solidFill>
                  <a:schemeClr val="bg1"/>
                </a:solidFill>
                <a:latin typeface="Meiryo UI"/>
                <a:ea typeface="Meiryo UI"/>
                <a:cs typeface="Meiryo UI" panose="020B0604030504040204" pitchFamily="50" charset="-128"/>
              </a:rPr>
              <a:t>　解禁日</a:t>
            </a:r>
            <a:r>
              <a:rPr kumimoji="1" lang="en-US" altLang="ja-JP" sz="2400" dirty="0">
                <a:solidFill>
                  <a:schemeClr val="bg1"/>
                </a:solidFill>
                <a:latin typeface="Meiryo UI"/>
                <a:ea typeface="Meiryo UI"/>
                <a:cs typeface="Meiryo UI" panose="020B0604030504040204" pitchFamily="50" charset="-128"/>
              </a:rPr>
              <a:t>1/13-1/17</a:t>
            </a:r>
            <a:r>
              <a:rPr kumimoji="1" lang="ja-JP" altLang="en-US" sz="2400" dirty="0">
                <a:solidFill>
                  <a:schemeClr val="bg1"/>
                </a:solidFill>
                <a:latin typeface="Meiryo UI"/>
                <a:ea typeface="Meiryo UI"/>
                <a:cs typeface="Meiryo UI" panose="020B0604030504040204" pitchFamily="50" charset="-128"/>
              </a:rPr>
              <a:t>→</a:t>
            </a:r>
            <a:r>
              <a:rPr kumimoji="1" lang="en-US" altLang="ja-JP" sz="2400" dirty="0">
                <a:solidFill>
                  <a:schemeClr val="bg1"/>
                </a:solidFill>
                <a:latin typeface="Meiryo UI"/>
                <a:ea typeface="Meiryo UI"/>
                <a:cs typeface="Meiryo UI" panose="020B0604030504040204" pitchFamily="50" charset="-128"/>
              </a:rPr>
              <a:t>1/13 23:00(</a:t>
            </a:r>
            <a:r>
              <a:rPr kumimoji="1" lang="ja-JP" altLang="en-US" sz="2400" dirty="0">
                <a:solidFill>
                  <a:schemeClr val="bg1"/>
                </a:solidFill>
                <a:latin typeface="Meiryo UI"/>
                <a:ea typeface="Meiryo UI"/>
                <a:cs typeface="Meiryo UI" panose="020B0604030504040204" pitchFamily="50" charset="-128"/>
              </a:rPr>
              <a:t>日本</a:t>
            </a:r>
            <a:r>
              <a:rPr kumimoji="1" lang="en-US" altLang="ja-JP" sz="2400" dirty="0">
                <a:solidFill>
                  <a:schemeClr val="bg1"/>
                </a:solidFill>
                <a:latin typeface="Meiryo UI"/>
                <a:ea typeface="Meiryo UI"/>
                <a:cs typeface="Meiryo UI" panose="020B0604030504040204" pitchFamily="50" charset="-128"/>
              </a:rPr>
              <a:t>) mobile</a:t>
            </a:r>
            <a:r>
              <a:rPr kumimoji="1" lang="ja-JP" altLang="en-US" sz="2400" dirty="0">
                <a:solidFill>
                  <a:schemeClr val="bg1"/>
                </a:solidFill>
                <a:latin typeface="Meiryo UI"/>
                <a:ea typeface="Meiryo UI"/>
                <a:cs typeface="Meiryo UI" panose="020B0604030504040204" pitchFamily="50" charset="-128"/>
              </a:rPr>
              <a:t>系も更新</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 Refresh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12/17(PST)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Lake-HX/H/U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1/13-2/28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10/1　</a:t>
            </a:r>
            <a:r>
              <a:rPr lang="en-US" altLang="ja-JP" sz="1200" b="0" i="0" u="none" strike="noStrike" dirty="0" err="1">
                <a:solidFill>
                  <a:srgbClr val="000000"/>
                </a:solidFill>
                <a:effectLst/>
                <a:latin typeface="メイリオ" panose="020B0604030504040204" pitchFamily="50" charset="-128"/>
              </a:rPr>
              <a:t>Intel情報</a:t>
            </a:r>
            <a:r>
              <a:rPr lang="en-US" altLang="ja-JP"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Meiryo" panose="020B0604030504040204" pitchFamily="50" charset="-128"/>
              </a:rPr>
              <a:t>Arrow Lake-S K+Z890</a:t>
            </a:r>
            <a:r>
              <a:rPr lang="ja-JP" altLang="ja-JP" sz="1200" b="0" i="0" u="none" strike="noStrike" dirty="0">
                <a:solidFill>
                  <a:srgbClr val="000000"/>
                </a:solidFill>
                <a:effectLst/>
                <a:ea typeface="Meiryo" panose="020B0604030504040204" pitchFamily="50" charset="-128"/>
              </a:rPr>
              <a:t>発表・解禁更新　発表：</a:t>
            </a:r>
            <a:r>
              <a:rPr lang="en-US" altLang="ja-JP" sz="1200" b="0" i="0" u="none" strike="noStrike" dirty="0">
                <a:solidFill>
                  <a:srgbClr val="000000"/>
                </a:solidFill>
                <a:effectLst/>
                <a:latin typeface="Meiryo" panose="020B0604030504040204" pitchFamily="50" charset="-128"/>
              </a:rPr>
              <a:t>10/10(0:00 JST) </a:t>
            </a:r>
            <a:r>
              <a:rPr lang="ja-JP" altLang="ja-JP" sz="1200" b="0" i="0" u="none" strike="noStrike" dirty="0">
                <a:solidFill>
                  <a:srgbClr val="000000"/>
                </a:solidFill>
                <a:effectLst/>
                <a:ea typeface="Meiryo" panose="020B0604030504040204" pitchFamily="50" charset="-128"/>
              </a:rPr>
              <a:t>、解禁：</a:t>
            </a:r>
            <a:r>
              <a:rPr lang="en-US" altLang="ja-JP" sz="1200" b="0" i="0" u="none" strike="noStrike" dirty="0">
                <a:solidFill>
                  <a:srgbClr val="000000"/>
                </a:solidFill>
                <a:effectLst/>
                <a:latin typeface="Meiryo" panose="020B0604030504040204" pitchFamily="50" charset="-128"/>
              </a:rPr>
              <a:t>10/25(0:00 JST) (P3-5)</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発表・解禁更新　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になるため日本は日付ずれる可能性あり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2024/8/19</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ArrowLake</a:t>
            </a:r>
            <a:r>
              <a:rPr lang="en-US" altLang="ja-JP" sz="1200" b="0" dirty="0">
                <a:latin typeface="メイリオ" panose="020B0604030504040204" pitchFamily="50" charset="-128"/>
                <a:ea typeface="メイリオ" panose="020B0604030504040204" pitchFamily="50" charset="-128"/>
              </a:rPr>
              <a:t>-S</a:t>
            </a:r>
            <a:r>
              <a:rPr lang="ja-JP" altLang="en-US" sz="1200" b="0" dirty="0">
                <a:latin typeface="メイリオ" panose="020B0604030504040204" pitchFamily="50" charset="-128"/>
                <a:ea typeface="メイリオ" panose="020B0604030504040204" pitchFamily="50" charset="-128"/>
              </a:rPr>
              <a:t>の各</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が判明したため記載</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一部の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ナンバーが判明したため追記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i9-14900KS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 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i9-14900KS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2023/12/5</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1/9</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1/9</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2023/8/30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10/16</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WW48-50</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23</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(WW40-44)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/KF</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1/B~2/M(WW1-6)</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2023/5/24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の最新資料より、</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 Refresh</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の登場時期は</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Q3End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月）頃の見込み</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10-11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月頃、</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endPar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Processor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n-ea"/>
              </a:rPr>
              <a:t>Raptor Lake-S Refresh</a:t>
            </a:r>
            <a:r>
              <a:rPr lang="ja-JP" altLang="en-US" sz="1200" dirty="0">
                <a:solidFill>
                  <a:schemeClr val="tx1"/>
                </a:solidFill>
                <a:latin typeface="+mn-ea"/>
              </a:rPr>
              <a:t>　</a:t>
            </a:r>
            <a:r>
              <a:rPr lang="en-US" altLang="ja-JP" sz="1200" dirty="0">
                <a:solidFill>
                  <a:schemeClr val="tx1"/>
                </a:solidFill>
                <a:latin typeface="+mn-ea"/>
              </a:rPr>
              <a:t>K/KF</a:t>
            </a:r>
            <a:r>
              <a:rPr lang="ja-JP" altLang="en-US" sz="1200" dirty="0">
                <a:solidFill>
                  <a:schemeClr val="tx1"/>
                </a:solidFill>
                <a:latin typeface="+mn-ea"/>
              </a:rPr>
              <a:t>：</a:t>
            </a:r>
            <a:r>
              <a:rPr lang="en-US" altLang="ja-JP" sz="1200" dirty="0">
                <a:solidFill>
                  <a:schemeClr val="tx1"/>
                </a:solidFill>
                <a:latin typeface="+mn-ea"/>
              </a:rPr>
              <a:t>Q3</a:t>
            </a:r>
            <a:r>
              <a:rPr lang="ja-JP" altLang="en-US" sz="1200" dirty="0">
                <a:solidFill>
                  <a:schemeClr val="tx1"/>
                </a:solidFill>
                <a:latin typeface="+mn-ea"/>
              </a:rPr>
              <a:t>頃　</a:t>
            </a:r>
            <a:r>
              <a:rPr lang="en-US" altLang="ja-JP" sz="1200" dirty="0" err="1">
                <a:solidFill>
                  <a:schemeClr val="tx1"/>
                </a:solidFill>
                <a:latin typeface="+mn-ea"/>
              </a:rPr>
              <a:t>nonK</a:t>
            </a:r>
            <a:r>
              <a:rPr lang="ja-JP" altLang="en-US" sz="1200" dirty="0">
                <a:solidFill>
                  <a:schemeClr val="tx1"/>
                </a:solidFill>
                <a:latin typeface="+mn-ea"/>
              </a:rPr>
              <a:t>：</a:t>
            </a:r>
            <a:r>
              <a:rPr lang="en-US" altLang="ja-JP" sz="1200" dirty="0">
                <a:solidFill>
                  <a:schemeClr val="tx1"/>
                </a:solidFill>
                <a:latin typeface="+mn-ea"/>
              </a:rPr>
              <a:t>Q1</a:t>
            </a:r>
            <a:r>
              <a:rPr lang="ja-JP" altLang="en-US" sz="1200" dirty="0">
                <a:solidFill>
                  <a:schemeClr val="tx1"/>
                </a:solidFill>
                <a:latin typeface="+mn-ea"/>
              </a:rPr>
              <a:t>’</a:t>
            </a:r>
            <a:r>
              <a:rPr lang="en-US" altLang="ja-JP" sz="1200" dirty="0">
                <a:solidFill>
                  <a:schemeClr val="tx1"/>
                </a:solidFill>
                <a:latin typeface="+mn-ea"/>
              </a:rPr>
              <a:t>24</a:t>
            </a:r>
            <a:r>
              <a:rPr lang="ja-JP" altLang="en-US" sz="1200" dirty="0">
                <a:solidFill>
                  <a:schemeClr val="tx1"/>
                </a:solidFill>
                <a:latin typeface="+mn-ea"/>
              </a:rPr>
              <a:t>頃</a:t>
            </a: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t>Sapphire Rapids Refresh </a:t>
            </a:r>
            <a:r>
              <a:rPr kumimoji="1" lang="en-US" altLang="ja-JP" sz="1200" b="0" baseline="0" dirty="0">
                <a:solidFill>
                  <a:schemeClr val="tx1"/>
                </a:solidFill>
                <a:latin typeface="+mn-lt"/>
                <a:ea typeface="+mn-ea"/>
                <a:cs typeface="+mn-cs"/>
              </a:rPr>
              <a:t>Q4End-Q1’24</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i9-13900KS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1/12(6:00PT)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SapphireRapids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64L&amp;W790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3/5-3/24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112L 4/9-4/28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下位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Core i3 12300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Pentium G7400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登場後も継続の予定。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5QMAP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lang="en-US" altLang="ja-JP" dirty="0"/>
              <a:t>Raptor Lake-S Refresh</a:t>
            </a:r>
            <a:r>
              <a:rPr lang="ja-JP" altLang="en-US" dirty="0"/>
              <a:t>追加 </a:t>
            </a:r>
            <a:r>
              <a:rPr lang="en-US" altLang="ja-JP" dirty="0"/>
              <a:t>Q3’2023</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RPL-S,H770,B760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t>Sapphire Rapids/W790</a:t>
            </a:r>
            <a:r>
              <a:rPr lang="ja-JP" altLang="en-US" sz="1200" dirty="0"/>
              <a:t>チップセット</a:t>
            </a:r>
            <a:r>
              <a:rPr lang="en-US" altLang="ja-JP" sz="1200" dirty="0"/>
              <a:t> 2/12</a:t>
            </a:r>
            <a:r>
              <a:rPr lang="ja-JP" altLang="en-US" sz="1200" dirty="0"/>
              <a:t>～</a:t>
            </a:r>
            <a:r>
              <a:rPr lang="en-US" altLang="ja-JP" sz="1200" dirty="0"/>
              <a:t>2/18</a:t>
            </a:r>
            <a:r>
              <a:rPr lang="ja-JP" altLang="en-US" sz="1200" dirty="0"/>
              <a:t>に発表　</a:t>
            </a:r>
            <a:r>
              <a:rPr lang="en-US" altLang="ja-JP" sz="1200" dirty="0"/>
              <a:t>3</a:t>
            </a:r>
            <a:r>
              <a:rPr lang="ja-JP" altLang="en-US" sz="1200" dirty="0"/>
              <a:t>月～</a:t>
            </a:r>
            <a:r>
              <a:rPr lang="en-US" altLang="ja-JP" sz="1200" dirty="0"/>
              <a:t>4</a:t>
            </a:r>
            <a:r>
              <a:rPr lang="ja-JP" altLang="en-US" sz="1200" dirty="0"/>
              <a:t>月に販売開始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Z790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24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のウィンドウが狭まったため更新。発売解禁日</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10/3-10/21</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10/17-10/21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による更新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10/3-10/21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10/3-11/18</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400" b="0" dirty="0">
                <a:latin typeface="メイリオ" panose="020B0604030504040204" pitchFamily="50" charset="-128"/>
                <a:ea typeface="メイリオ" panose="020B0604030504040204" pitchFamily="50" charset="-128"/>
              </a:rPr>
              <a:t>2022/4/8</a:t>
            </a:r>
            <a:r>
              <a:rPr lang="ja-JP" altLang="en-US" sz="2400" b="0" dirty="0">
                <a:latin typeface="メイリオ" panose="020B0604030504040204" pitchFamily="50" charset="-128"/>
                <a:ea typeface="メイリオ" panose="020B0604030504040204" pitchFamily="50" charset="-128"/>
              </a:rPr>
              <a:t>　</a:t>
            </a:r>
            <a:r>
              <a:rPr lang="en-US" altLang="ja-JP" sz="2400" b="0" dirty="0">
                <a:latin typeface="メイリオ" panose="020B0604030504040204" pitchFamily="50" charset="-128"/>
                <a:ea typeface="メイリオ" panose="020B0604030504040204" pitchFamily="50" charset="-128"/>
              </a:rPr>
              <a:t>ILU</a:t>
            </a:r>
            <a:r>
              <a:rPr lang="ja-JP" altLang="en-US" sz="2400" b="0" dirty="0">
                <a:latin typeface="メイリオ" panose="020B0604030504040204" pitchFamily="50" charset="-128"/>
                <a:ea typeface="メイリオ" panose="020B0604030504040204" pitchFamily="50" charset="-128"/>
              </a:rPr>
              <a:t>により更新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-S(non “K”)&amp;</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H770/B760</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intel Arc DG2(AIC)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:4/15-6/30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:5/15-6/30</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2022/3/22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2022/3/7</a:t>
            </a:r>
            <a:r>
              <a:rPr lang="ja-JP" altLang="en-US" sz="1200" b="0" dirty="0">
                <a:latin typeface="メイリオ" panose="020B0604030504040204" pitchFamily="50" charset="-128"/>
                <a:ea typeface="メイリオ" panose="020B0604030504040204" pitchFamily="50" charset="-128"/>
              </a:rPr>
              <a:t>　</a:t>
            </a:r>
            <a:r>
              <a:rPr lang="en-US" altLang="ja-JP" b="0" i="0" dirty="0">
                <a:solidFill>
                  <a:srgbClr val="242424"/>
                </a:solidFill>
                <a:effectLst/>
                <a:latin typeface="Segoe UI" panose="020B0502040204020203" pitchFamily="34" charset="0"/>
              </a:rPr>
              <a:t>i9-12900KS</a:t>
            </a:r>
            <a:r>
              <a:rPr lang="ja-JP" altLang="en-US" b="0" i="0" dirty="0">
                <a:solidFill>
                  <a:srgbClr val="242424"/>
                </a:solidFill>
                <a:effectLst/>
                <a:latin typeface="Segoe UI" panose="020B0502040204020203" pitchFamily="34" charset="0"/>
              </a:rPr>
              <a:t>のリリース解禁</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販売解禁日変更</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リリース解禁</a:t>
            </a:r>
            <a:r>
              <a:rPr lang="en-US" altLang="ja-JP" b="0" i="0" dirty="0">
                <a:solidFill>
                  <a:srgbClr val="242424"/>
                </a:solidFill>
                <a:effectLst/>
                <a:latin typeface="Segoe UI" panose="020B0502040204020203" pitchFamily="34" charset="0"/>
              </a:rPr>
              <a:t>】 3</a:t>
            </a:r>
            <a:r>
              <a:rPr lang="ja-JP" altLang="en-US" b="0" i="0" dirty="0">
                <a:solidFill>
                  <a:srgbClr val="242424"/>
                </a:solidFill>
                <a:effectLst/>
                <a:latin typeface="Segoe UI" panose="020B0502040204020203" pitchFamily="34" charset="0"/>
              </a:rPr>
              <a:t>月</a:t>
            </a:r>
            <a:r>
              <a:rPr lang="en-US" altLang="ja-JP" b="0" i="0" dirty="0">
                <a:solidFill>
                  <a:srgbClr val="242424"/>
                </a:solidFill>
                <a:effectLst/>
                <a:latin typeface="Segoe UI" panose="020B0502040204020203" pitchFamily="34" charset="0"/>
              </a:rPr>
              <a:t>28</a:t>
            </a:r>
            <a:r>
              <a:rPr lang="ja-JP" altLang="en-US" b="0" i="0" dirty="0">
                <a:solidFill>
                  <a:srgbClr val="242424"/>
                </a:solidFill>
                <a:effectLst/>
                <a:latin typeface="Segoe UI" panose="020B0502040204020203" pitchFamily="34" charset="0"/>
              </a:rPr>
              <a:t>日 </a:t>
            </a:r>
            <a:r>
              <a:rPr lang="en-US" altLang="ja-JP" b="0" i="0" dirty="0">
                <a:solidFill>
                  <a:srgbClr val="242424"/>
                </a:solidFill>
                <a:effectLst/>
                <a:latin typeface="Segoe UI" panose="020B0502040204020203" pitchFamily="34" charset="0"/>
              </a:rPr>
              <a:t>23:00 (</a:t>
            </a:r>
            <a:r>
              <a:rPr lang="ja-JP" altLang="en-US" b="0" i="0" dirty="0">
                <a:solidFill>
                  <a:srgbClr val="242424"/>
                </a:solidFill>
                <a:effectLst/>
                <a:latin typeface="Segoe UI" panose="020B0502040204020203" pitchFamily="34" charset="0"/>
              </a:rPr>
              <a:t>日本時間</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　</a:t>
            </a:r>
            <a:r>
              <a:rPr lang="en-US" altLang="ja-JP" b="0" i="0" dirty="0">
                <a:solidFill>
                  <a:srgbClr val="242424"/>
                </a:solidFill>
                <a:effectLst/>
                <a:latin typeface="Segoe UI" panose="020B0502040204020203" pitchFamily="34" charset="0"/>
              </a:rPr>
              <a:t>【</a:t>
            </a:r>
            <a:r>
              <a:rPr lang="ja-JP" altLang="en-US" b="0" i="0" dirty="0">
                <a:solidFill>
                  <a:srgbClr val="242424"/>
                </a:solidFill>
                <a:effectLst/>
                <a:latin typeface="Segoe UI" panose="020B0502040204020203" pitchFamily="34" charset="0"/>
              </a:rPr>
              <a:t>販売解禁</a:t>
            </a:r>
            <a:r>
              <a:rPr lang="en-US" altLang="ja-JP" b="0" i="0" dirty="0">
                <a:solidFill>
                  <a:srgbClr val="242424"/>
                </a:solidFill>
                <a:effectLst/>
                <a:latin typeface="Segoe UI" panose="020B0502040204020203" pitchFamily="34" charset="0"/>
              </a:rPr>
              <a:t>】 4</a:t>
            </a:r>
            <a:r>
              <a:rPr lang="ja-JP" altLang="en-US" b="0" i="0" dirty="0">
                <a:solidFill>
                  <a:srgbClr val="242424"/>
                </a:solidFill>
                <a:effectLst/>
                <a:latin typeface="Segoe UI" panose="020B0502040204020203" pitchFamily="34" charset="0"/>
              </a:rPr>
              <a:t>月</a:t>
            </a:r>
            <a:r>
              <a:rPr lang="en-US" altLang="ja-JP" b="0" i="0" dirty="0">
                <a:solidFill>
                  <a:srgbClr val="242424"/>
                </a:solidFill>
                <a:effectLst/>
                <a:latin typeface="Segoe UI" panose="020B0502040204020203" pitchFamily="34" charset="0"/>
              </a:rPr>
              <a:t>5</a:t>
            </a:r>
            <a:r>
              <a:rPr lang="ja-JP" altLang="en-US" b="0" i="0" dirty="0">
                <a:solidFill>
                  <a:srgbClr val="242424"/>
                </a:solidFill>
                <a:effectLst/>
                <a:latin typeface="Segoe UI" panose="020B0502040204020203" pitchFamily="34" charset="0"/>
              </a:rPr>
              <a:t>日 </a:t>
            </a:r>
            <a:r>
              <a:rPr lang="en-US" altLang="ja-JP" b="0" i="0" dirty="0">
                <a:solidFill>
                  <a:srgbClr val="242424"/>
                </a:solidFill>
                <a:effectLst/>
                <a:latin typeface="Segoe UI" panose="020B0502040204020203" pitchFamily="34" charset="0"/>
              </a:rPr>
              <a:t>23:00 (</a:t>
            </a:r>
            <a:r>
              <a:rPr lang="ja-JP" altLang="en-US" b="0" i="0" dirty="0">
                <a:solidFill>
                  <a:srgbClr val="242424"/>
                </a:solidFill>
                <a:effectLst/>
                <a:latin typeface="Segoe UI" panose="020B0502040204020203" pitchFamily="34" charset="0"/>
              </a:rPr>
              <a:t>日本時間</a:t>
            </a:r>
            <a:r>
              <a:rPr lang="en-US" altLang="ja-JP" b="0" i="0" dirty="0">
                <a:solidFill>
                  <a:srgbClr val="242424"/>
                </a:solidFill>
                <a:effectLst/>
                <a:latin typeface="Segoe UI" panose="020B0502040204020203" pitchFamily="34" charset="0"/>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2022/2/7 i9-12900KS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発売日確定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3/17 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2022/1/5 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発表より</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intelKS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 B660, H610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10:10PST(1/5 3:10JST)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 Lake-S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K</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無し</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&amp;</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H670/B660/H610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Alder-Lake</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2021/9/27</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　</a:t>
            </a:r>
            <a:r>
              <a:rPr lang="en-US" altLang="ja-JP" sz="1200" b="0" dirty="0">
                <a:latin typeface="メイリオ" panose="020B0604030504040204" pitchFamily="50" charset="-128"/>
                <a:ea typeface="メイリオ" panose="020B0604030504040204" pitchFamily="50" charset="-128"/>
              </a:rPr>
              <a:t>Press Embargo:10/27 9:00am(PST)[10/28 2:00(JST)]</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Release Embargo:11/4 6:00am(PST) [11/4 23:00</a:t>
            </a:r>
            <a:r>
              <a:rPr lang="en-US" altLang="ja-JP" sz="1200" b="0" dirty="0">
                <a:latin typeface="+mn-ea"/>
              </a:rPr>
              <a:t>(JST)</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 </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の発表・発売日を更新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&amp;Z690 10/15-11/19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:10/26-11/2,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:10/26-11/5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&amp;ZH670/B660/H610 1/3-2/18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の細かい日付が出てきたため反映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は前回から変更なし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&amp;Z690 10/15-11/19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&amp;ZH670/B660/H610 1/3-2/18(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の製品名が出てきたため反映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8+8: WW35’21-WW47’21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6+0: WW41’21-WW51’21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b="0" i="0" dirty="0">
                <a:effectLst/>
                <a:latin typeface="Segoe UI" panose="020B0502040204020203" pitchFamily="34" charset="0"/>
              </a:rPr>
              <a:t>ラウンチが</a:t>
            </a:r>
            <a:r>
              <a:rPr lang="en-US" altLang="ja-JP" b="0" i="0" dirty="0">
                <a:effectLst/>
                <a:latin typeface="Segoe UI" panose="020B0502040204020203" pitchFamily="34" charset="0"/>
              </a:rPr>
              <a:t>3/30</a:t>
            </a:r>
            <a:r>
              <a:rPr lang="ja-JP" altLang="en-US" b="0" i="0" dirty="0">
                <a:effectLst/>
                <a:latin typeface="Segoe UI" panose="020B0502040204020203" pitchFamily="34" charset="0"/>
              </a:rPr>
              <a:t>にずれる</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2021/2/12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3/17 1:00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プレス解禁、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3/19 1:00 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販売解禁</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Comet Lake-R(i3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Pentium)CPU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と縮まっている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Z590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H570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B560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H510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の発売日</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に大幅前倒しになる予定。</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RocketLake</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3/1-3/19</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へ前倒しに。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Lake,CometLake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アナウンス予定に修正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i9-10850K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 G5925/5905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8:00PDT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7/28 0:00JST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i9-10850K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CeleronG5925/5905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ICST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の情報から微修正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RKL-S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2021Q1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最新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Z490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の発売日を修正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日付修正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2019/3/18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CFR-RK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無し＆その他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予定だが遅くなるだろう。→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ずれ込み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無し版が出る予定。全部で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万個前後？→検査ハネられたもののリファービッシュ→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からになりそう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CFL-R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優先させてるフシがあるため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以下おくれるだろう。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5</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5800X3D 6/26(</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7700X3D 7/17(</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800" dirty="0">
                <a:solidFill>
                  <a:schemeClr val="tx1"/>
                </a:solidFill>
              </a:rPr>
              <a:t>Ryzen7</a:t>
            </a:r>
            <a:r>
              <a:rPr lang="ja-JP" altLang="en-US" sz="800" dirty="0">
                <a:solidFill>
                  <a:schemeClr val="tx1"/>
                </a:solidFill>
              </a:rPr>
              <a:t> </a:t>
            </a:r>
            <a:r>
              <a:rPr lang="en-US" altLang="ja-JP" sz="800" dirty="0">
                <a:solidFill>
                  <a:schemeClr val="tx1"/>
                </a:solidFill>
              </a:rPr>
              <a:t>5800X3D</a:t>
            </a:r>
            <a:r>
              <a:rPr lang="ja-JP" altLang="en-US" sz="800" dirty="0">
                <a:solidFill>
                  <a:schemeClr val="tx1"/>
                </a:solidFill>
              </a:rPr>
              <a:t>追加　</a:t>
            </a:r>
            <a:r>
              <a:rPr lang="en-US" altLang="ja-JP" sz="800" dirty="0">
                <a:solidFill>
                  <a:schemeClr val="tx1"/>
                </a:solidFill>
              </a:rPr>
              <a:t>Q2</a:t>
            </a:r>
            <a:r>
              <a:rPr lang="ja-JP" altLang="en-US" sz="800" dirty="0">
                <a:solidFill>
                  <a:schemeClr val="tx1"/>
                </a:solidFill>
              </a:rPr>
              <a:t>予定</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9 9950X3D2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金</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2026/3/18</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9 9950X3D2</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の解禁予定日変更→</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4/20wk</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4/22(Global)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5500GT/5600GT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シリーズへ移行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GolgonPoint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nonPRO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のデスクトップはは時間かかる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9950X3D2 Q1 incoming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5600GT/5500GT 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終了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9850X3D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 PRO 9945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PRO 9745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PRO 9645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PRO 7445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9500F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7400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Q4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9/15 22:00 Global</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2025/7/8 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Pro9000WX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7/24 22:00(Global) 7/25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nonPRO</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7/31 22:00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8/1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PRO 9000 WX</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9000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月登場の予定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での情報より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PRO 9000 WX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ともに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下半期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Next Gen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GORGON POINT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も継続予定、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で調整、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それ以降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9600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月予定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5700X3D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2024/10/31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b="0" i="0" u="none" strike="noStrike" dirty="0">
                <a:solidFill>
                  <a:srgbClr val="000000"/>
                </a:solidFill>
                <a:effectLst/>
                <a:latin typeface="メイリオ" panose="020B0604030504040204" pitchFamily="50" charset="-128"/>
              </a:rPr>
              <a:t>5600XT 11/8(</a:t>
            </a:r>
            <a:r>
              <a:rPr lang="ja-JP" altLang="en-US" sz="1200" b="0" i="0" u="none" strike="noStrike" dirty="0">
                <a:solidFill>
                  <a:srgbClr val="000000"/>
                </a:solidFill>
                <a:effectLst/>
                <a:latin typeface="メイリオ" panose="020B0604030504040204" pitchFamily="50" charset="-128"/>
              </a:rPr>
              <a:t>金</a:t>
            </a:r>
            <a:r>
              <a:rPr lang="en-US" altLang="ja-JP" sz="1200" b="0" i="0" u="none" strike="noStrike" dirty="0">
                <a:solidFill>
                  <a:srgbClr val="000000"/>
                </a:solidFill>
                <a:effectLst/>
                <a:latin typeface="メイリオ" panose="020B0604030504040204" pitchFamily="50" charset="-128"/>
              </a:rPr>
              <a:t>)</a:t>
            </a:r>
            <a:r>
              <a:rPr lang="ja-JP" altLang="en-US" sz="1200" b="0" i="0" u="none" strike="noStrike" dirty="0">
                <a:solidFill>
                  <a:srgbClr val="000000"/>
                </a:solidFill>
                <a:effectLst/>
                <a:latin typeface="メイリオ" panose="020B0604030504040204" pitchFamily="50" charset="-128"/>
              </a:rPr>
              <a:t>予定、</a:t>
            </a:r>
            <a:r>
              <a:rPr lang="en-US" altLang="ja-JP" sz="1200" b="0" i="0" u="none" strike="noStrike" dirty="0">
                <a:solidFill>
                  <a:srgbClr val="000000"/>
                </a:solidFill>
                <a:effectLst/>
                <a:latin typeface="メイリオ" panose="020B0604030504040204" pitchFamily="50" charset="-128"/>
              </a:rPr>
              <a:t>9800X3D 11/15(</a:t>
            </a:r>
            <a:r>
              <a:rPr lang="ja-JP" altLang="en-US" sz="1200" b="0" i="0" u="none" strike="noStrike" dirty="0">
                <a:solidFill>
                  <a:srgbClr val="000000"/>
                </a:solidFill>
                <a:effectLst/>
                <a:latin typeface="メイリオ" panose="020B0604030504040204" pitchFamily="50" charset="-128"/>
              </a:rPr>
              <a:t>金</a:t>
            </a:r>
            <a:r>
              <a:rPr lang="en-US" altLang="ja-JP" sz="1200" b="0" i="0" u="none" strike="noStrike" dirty="0">
                <a:solidFill>
                  <a:srgbClr val="000000"/>
                </a:solidFill>
                <a:effectLst/>
                <a:latin typeface="メイリオ" panose="020B0604030504040204" pitchFamily="50" charset="-128"/>
              </a:rPr>
              <a:t>)</a:t>
            </a:r>
            <a:r>
              <a:rPr lang="ja-JP" altLang="en-US" sz="1200" b="0" i="0" u="none" strike="noStrike" dirty="0">
                <a:solidFill>
                  <a:srgbClr val="000000"/>
                </a:solidFill>
                <a:effectLst/>
                <a:latin typeface="メイリオ" panose="020B0604030504040204" pitchFamily="50" charset="-128"/>
              </a:rPr>
              <a:t>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2024/10/23</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AMD AM4SKU</a:t>
            </a:r>
            <a:r>
              <a:rPr lang="ja-JP" altLang="en-US" sz="1200" b="0" i="0" u="none" strike="noStrike" dirty="0">
                <a:solidFill>
                  <a:srgbClr val="000000"/>
                </a:solidFill>
                <a:effectLst/>
                <a:latin typeface="メイリオ" panose="020B0604030504040204" pitchFamily="50" charset="-128"/>
              </a:rPr>
              <a:t>追加分日程修正　</a:t>
            </a:r>
            <a:r>
              <a:rPr lang="en-US" altLang="ja-JP" sz="1200" b="0" i="0" u="none" strike="noStrike" dirty="0">
                <a:solidFill>
                  <a:srgbClr val="000000"/>
                </a:solidFill>
                <a:effectLst/>
                <a:latin typeface="メイリオ" panose="020B0604030504040204" pitchFamily="50" charset="-128"/>
              </a:rPr>
              <a:t>5600T/5300G</a:t>
            </a:r>
            <a:r>
              <a:rPr lang="ja-JP" altLang="en-US" sz="1200" b="0" i="0" u="none" strike="noStrike" dirty="0">
                <a:solidFill>
                  <a:srgbClr val="000000"/>
                </a:solidFill>
                <a:effectLst/>
                <a:latin typeface="メイリオ" panose="020B0604030504040204" pitchFamily="50" charset="-128"/>
              </a:rPr>
              <a:t>情報解禁：</a:t>
            </a:r>
            <a:r>
              <a:rPr lang="en-US" altLang="ja-JP" sz="1200" b="0" i="0" u="none" strike="noStrike" dirty="0">
                <a:solidFill>
                  <a:srgbClr val="000000"/>
                </a:solidFill>
                <a:effectLst/>
                <a:latin typeface="メイリオ" panose="020B0604030504040204" pitchFamily="50" charset="-128"/>
              </a:rPr>
              <a:t>10/27 22:00</a:t>
            </a:r>
            <a:r>
              <a:rPr lang="ja-JP" altLang="en-US" sz="1200" b="0" i="0" u="none" strike="noStrike" dirty="0">
                <a:solidFill>
                  <a:srgbClr val="000000"/>
                </a:solidFill>
                <a:effectLst/>
                <a:latin typeface="メイリオ" panose="020B0604030504040204" pitchFamily="50" charset="-128"/>
              </a:rPr>
              <a:t>　販売解禁：</a:t>
            </a:r>
            <a:r>
              <a:rPr lang="en-US" altLang="ja-JP" sz="1200" b="0" i="0" u="none" strike="noStrike" dirty="0">
                <a:solidFill>
                  <a:srgbClr val="000000"/>
                </a:solidFill>
                <a:effectLst/>
                <a:latin typeface="メイリオ" panose="020B0604030504040204" pitchFamily="50" charset="-128"/>
              </a:rPr>
              <a:t>10/28 11:00(Global)</a:t>
            </a:r>
            <a:r>
              <a:rPr kumimoji="1" lang="ja-JP" altLang="en-US" sz="1200" b="0" i="0" u="none" strike="noStrike" baseline="0" dirty="0">
                <a:solidFill>
                  <a:srgbClr val="000000"/>
                </a:solidFill>
                <a:effectLst/>
                <a:latin typeface="メイリオ" panose="020B0604030504040204" pitchFamily="50" charset="-128"/>
                <a:ea typeface="+mn-ea"/>
                <a:cs typeface="+mn-cs"/>
              </a:rPr>
              <a:t> 、</a:t>
            </a:r>
            <a:r>
              <a:rPr lang="en-US" altLang="ja-JP" sz="1200" b="0" i="0" u="none" strike="noStrike" dirty="0">
                <a:solidFill>
                  <a:srgbClr val="000000"/>
                </a:solidFill>
                <a:effectLst/>
                <a:latin typeface="メイリオ" panose="020B0604030504040204" pitchFamily="50" charset="-128"/>
              </a:rPr>
              <a:t>5600XT</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TBD</a:t>
            </a:r>
            <a:r>
              <a:rPr lang="ja-JP" altLang="en-US" sz="1200" b="0" i="0" u="none" strike="noStrike" dirty="0">
                <a:solidFill>
                  <a:srgbClr val="000000"/>
                </a:solidFill>
                <a:effectLst/>
                <a:latin typeface="メイリオ" panose="020B0604030504040204" pitchFamily="50" charset="-128"/>
              </a:rPr>
              <a:t>、</a:t>
            </a:r>
            <a:r>
              <a:rPr lang="en-US" altLang="ja-JP" sz="1200" b="0" i="0" u="none" strike="noStrike" dirty="0">
                <a:solidFill>
                  <a:srgbClr val="000000"/>
                </a:solidFill>
                <a:effectLst/>
                <a:latin typeface="メイリオ" panose="020B0604030504040204" pitchFamily="50" charset="-128"/>
              </a:rPr>
              <a:t>9800X3D 11/8</a:t>
            </a:r>
            <a:r>
              <a:rPr lang="ja-JP" altLang="en-US" sz="1200" b="0" i="0" u="none" strike="noStrike" dirty="0">
                <a:solidFill>
                  <a:srgbClr val="000000"/>
                </a:solidFill>
                <a:effectLst/>
                <a:latin typeface="メイリオ" panose="020B0604030504040204" pitchFamily="50" charset="-128"/>
              </a:rPr>
              <a:t>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2024/10/15</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AMD AM4SKU</a:t>
            </a:r>
            <a:r>
              <a:rPr lang="ja-JP" altLang="en-US" sz="1200" b="0" i="0" u="none" strike="noStrike" dirty="0">
                <a:solidFill>
                  <a:srgbClr val="000000"/>
                </a:solidFill>
                <a:effectLst/>
                <a:latin typeface="メイリオ" panose="020B0604030504040204" pitchFamily="50" charset="-128"/>
              </a:rPr>
              <a:t>追加　</a:t>
            </a:r>
            <a:r>
              <a:rPr lang="en-US" altLang="ja-JP" sz="1200" b="0" i="0" u="none" strike="noStrike" dirty="0">
                <a:solidFill>
                  <a:srgbClr val="000000"/>
                </a:solidFill>
                <a:effectLst/>
                <a:latin typeface="メイリオ" panose="020B0604030504040204" pitchFamily="50" charset="-128"/>
              </a:rPr>
              <a:t>5600T/5600XT/5300G</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10/27 23:00(Global)</a:t>
            </a:r>
            <a:r>
              <a:rPr lang="ja-JP" altLang="en-US" sz="1200" b="0" i="0" u="none" strike="noStrike" dirty="0">
                <a:solidFill>
                  <a:srgbClr val="000000"/>
                </a:solidFill>
                <a:effectLst/>
                <a:latin typeface="メイリオ" panose="020B0604030504040204" pitchFamily="50" charset="-128"/>
              </a:rPr>
              <a:t>、</a:t>
            </a:r>
            <a:r>
              <a:rPr lang="en-US" altLang="ja-JP" sz="1200" b="0" i="0" u="none" strike="noStrike" dirty="0">
                <a:solidFill>
                  <a:srgbClr val="000000"/>
                </a:solidFill>
                <a:effectLst/>
                <a:latin typeface="メイリオ" panose="020B0604030504040204" pitchFamily="50" charset="-128"/>
              </a:rPr>
              <a:t>R7 9800X3D 11</a:t>
            </a:r>
            <a:r>
              <a:rPr lang="ja-JP" altLang="en-US" sz="1200" b="0" i="0" u="none" strike="noStrike" dirty="0">
                <a:solidFill>
                  <a:srgbClr val="000000"/>
                </a:solidFill>
                <a:effectLst/>
                <a:latin typeface="メイリオ" panose="020B0604030504040204" pitchFamily="50" charset="-128"/>
              </a:rPr>
              <a:t>月</a:t>
            </a:r>
            <a:r>
              <a:rPr kumimoji="1" lang="ja-JP" altLang="en-US" sz="1200" b="0" i="0" u="none" strike="noStrike" baseline="0" dirty="0">
                <a:solidFill>
                  <a:srgbClr val="000000"/>
                </a:solidFill>
                <a:effectLst/>
                <a:latin typeface="メイリオ" panose="020B0604030504040204" pitchFamily="50" charset="-128"/>
                <a:ea typeface="+mn-ea"/>
                <a:cs typeface="+mn-cs"/>
              </a:rPr>
              <a:t>（年内は</a:t>
            </a:r>
            <a:r>
              <a:rPr kumimoji="1" lang="en-US" altLang="ja-JP" sz="1200" b="0" i="0" u="none" strike="noStrike" baseline="0" dirty="0">
                <a:solidFill>
                  <a:srgbClr val="000000"/>
                </a:solidFill>
                <a:effectLst/>
                <a:latin typeface="メイリオ" panose="020B0604030504040204" pitchFamily="50" charset="-128"/>
                <a:ea typeface="+mn-ea"/>
                <a:cs typeface="+mn-cs"/>
              </a:rPr>
              <a:t>9800X3D</a:t>
            </a:r>
            <a:r>
              <a:rPr kumimoji="1" lang="ja-JP" altLang="en-US" sz="1200" b="0" i="0" u="none" strike="noStrike" baseline="0" dirty="0">
                <a:solidFill>
                  <a:srgbClr val="000000"/>
                </a:solidFill>
                <a:effectLst/>
                <a:latin typeface="メイリオ" panose="020B0604030504040204" pitchFamily="50" charset="-128"/>
                <a:ea typeface="+mn-ea"/>
                <a:cs typeface="+mn-cs"/>
              </a:rPr>
              <a:t>のみ）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製品投入は各社から順次、</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9000X3D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5600T/5600XT/5300G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9950X/9900X</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日本解禁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8/23</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AM4(5000/3000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シリーズ</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年まで継続</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9700X/9600X</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日本解禁</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8/10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a:t>
            </a:r>
            <a:r>
              <a:rPr lang="ja-JP" altLang="en-US" sz="1200" b="0" dirty="0">
                <a:latin typeface="メイリオ" panose="020B0604030504040204" pitchFamily="50" charset="-128"/>
                <a:ea typeface="メイリオ" panose="020B0604030504040204" pitchFamily="50" charset="-128"/>
              </a:rPr>
              <a:t>　日本解禁</a:t>
            </a:r>
            <a:r>
              <a:rPr lang="en-US" altLang="ja-JP" sz="1200" b="0" dirty="0">
                <a:latin typeface="メイリオ" panose="020B0604030504040204" pitchFamily="50" charset="-128"/>
                <a:ea typeface="メイリオ" panose="020B0604030504040204" pitchFamily="50" charset="-128"/>
              </a:rPr>
              <a:t>8/23</a:t>
            </a:r>
            <a:r>
              <a:rPr lang="ja-JP" altLang="en-US" sz="1200" b="0" dirty="0">
                <a:latin typeface="メイリオ" panose="020B0604030504040204" pitchFamily="50" charset="-128"/>
                <a:ea typeface="メイリオ"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2024/7/30</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　</a:t>
            </a:r>
            <a:r>
              <a:rPr lang="en-US" altLang="ja-JP" sz="1200" b="0" dirty="0">
                <a:latin typeface="メイリオ" panose="020B0604030504040204" pitchFamily="50" charset="-128"/>
                <a:ea typeface="メイリオ" panose="020B0604030504040204" pitchFamily="50" charset="-128"/>
              </a:rPr>
              <a:t>9700X/9600X:Global</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8/8 22:00</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TBD(8/9</a:t>
            </a:r>
            <a:r>
              <a:rPr lang="ja-JP" altLang="en-US" sz="1200" b="0" dirty="0">
                <a:latin typeface="メイリオ" panose="020B0604030504040204" pitchFamily="50" charset="-128"/>
                <a:ea typeface="メイリオ" panose="020B0604030504040204" pitchFamily="50" charset="-128"/>
              </a:rPr>
              <a:t>予定</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9950X/9900X:8/15 22:00</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TBD(8/23</a:t>
            </a:r>
            <a:r>
              <a:rPr lang="ja-JP" altLang="en-US" sz="1200" b="0" dirty="0">
                <a:latin typeface="メイリオ" panose="020B0604030504040204" pitchFamily="50" charset="-128"/>
                <a:ea typeface="メイリオ" panose="020B0604030504040204" pitchFamily="50" charset="-128"/>
              </a:rPr>
              <a:t>頃</a:t>
            </a:r>
            <a:r>
              <a:rPr lang="en-US" altLang="ja-JP" sz="1200" b="0" dirty="0">
                <a:latin typeface="メイリオ" panose="020B0604030504040204" pitchFamily="50" charset="-128"/>
                <a:ea typeface="メイリオ"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b="0" dirty="0">
                <a:latin typeface="メイリオ" panose="020B0604030504040204" pitchFamily="50" charset="-128"/>
                <a:ea typeface="メイリオ" panose="020B0604030504040204" pitchFamily="50" charset="-128"/>
              </a:rPr>
              <a:t>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　延期　</a:t>
            </a:r>
            <a:r>
              <a:rPr lang="en-US" altLang="ja-JP" sz="1200" b="0" dirty="0">
                <a:latin typeface="メイリオ" panose="020B0604030504040204" pitchFamily="50" charset="-128"/>
                <a:ea typeface="メイリオ" panose="020B0604030504040204" pitchFamily="50" charset="-128"/>
              </a:rPr>
              <a:t>global 9700X/9600X:8/8</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9950X/9900X:8/15</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2024/6/25</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 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a:t>
            </a:r>
            <a:r>
              <a:rPr lang="en-US" altLang="ja-JP" sz="1200" b="0" dirty="0">
                <a:latin typeface="メイリオ" panose="020B0604030504040204" pitchFamily="50" charset="-128"/>
                <a:ea typeface="メイリオ" panose="020B0604030504040204" pitchFamily="50" charset="-128"/>
              </a:rPr>
              <a:t>8/2 11:00(</a:t>
            </a:r>
            <a:r>
              <a:rPr lang="ja-JP" altLang="en-US" sz="1200" b="0" dirty="0">
                <a:latin typeface="メイリオ" panose="020B0604030504040204" pitchFamily="50" charset="-128"/>
                <a:ea typeface="メイリオ" panose="020B0604030504040204" pitchFamily="50" charset="-128"/>
              </a:rPr>
              <a:t>日本</a:t>
            </a:r>
            <a:r>
              <a:rPr lang="en-US" altLang="ja-JP" sz="1200" b="0" dirty="0">
                <a:latin typeface="メイリオ" panose="020B0604030504040204" pitchFamily="50" charset="-128"/>
                <a:ea typeface="メイリオ" panose="020B0604030504040204" pitchFamily="50" charset="-128"/>
              </a:rPr>
              <a:t>) global</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7/22 22:00</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5900XT/5800XT 8/2</a:t>
            </a:r>
            <a:r>
              <a:rPr lang="ja-JP" altLang="en-US" sz="1200" b="0" dirty="0">
                <a:latin typeface="メイリオ" panose="020B0604030504040204" pitchFamily="50" charset="-128"/>
                <a:ea typeface="メイリオ" panose="020B0604030504040204" pitchFamily="50" charset="-128"/>
              </a:rPr>
              <a:t>予定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(X3D)+X870E/X870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B850/B840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5900XT/5800XT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AM5 Ryzen7-8700F/Ryzen5-8400F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オンボードグラフィックなし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5/22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 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AM5 Ryzen7-8700F/Ryzen5-8400F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オンボードグラフィックなし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5/17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AM5 Ryzen7-8700F/Ryzen5-8400F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オンボードグラフィックなし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5/17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Ryzen9-5900XT/Ryzen7-5800XT/Ryzen5-5600XT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AM5 Ryzen7-8700F/Ryzen5-8400F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オンボードグラフィックなし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Ryzen9-5950XT/5900XT/Ryzen7-5800XT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を出す予定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月中旬～）</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シリーズチップセット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RX7600XT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RX6500XT 8GB</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5600GT/5500GT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Ryzen5700X3D/5700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2023/10/20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schemeClr val="bg1"/>
                </a:solidFill>
                <a:effectLst/>
                <a:uLnTx/>
                <a:uFillTx/>
                <a:latin typeface="Meiryo UI"/>
                <a:ea typeface="Meiryo UI"/>
                <a:cs typeface="Meiryo UI" panose="020B0604030504040204" pitchFamily="50" charset="-128"/>
              </a:rPr>
              <a:t>Threadripper</a:t>
            </a:r>
            <a:r>
              <a:rPr kumimoji="1" lang="en-US" altLang="ja-JP"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(ZEN4)</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err="1">
                <a:ln>
                  <a:noFill/>
                </a:ln>
                <a:solidFill>
                  <a:schemeClr val="bg1"/>
                </a:solidFill>
                <a:effectLst/>
                <a:uLnTx/>
                <a:uFillTx/>
                <a:latin typeface="Meiryo UI"/>
                <a:ea typeface="Meiryo UI"/>
                <a:cs typeface="Meiryo UI" panose="020B0604030504040204" pitchFamily="50" charset="-128"/>
              </a:rPr>
              <a:t>Threadripper</a:t>
            </a:r>
            <a:r>
              <a:rPr kumimoji="1" lang="en-US" altLang="ja-JP"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PRO(ZEN4)</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TRX50</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11/21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2023/8/29</a:t>
            </a:r>
            <a:r>
              <a:rPr kumimoji="1" lang="ja-JP" altLang="en-US" sz="10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err="1">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(ZEN4)</a:t>
            </a:r>
            <a:r>
              <a:rPr kumimoji="1" lang="en-US" altLang="ja-JP" sz="1200" b="0" i="0" u="none" strike="noStrike" kern="1200" spc="0" baseline="0" dirty="0">
                <a:ln>
                  <a:noFill/>
                </a:ln>
                <a:solidFill>
                  <a:schemeClr val="tx1"/>
                </a:solidFill>
                <a:effectLst/>
                <a:latin typeface="Arial" panose="020B0604020202020204" pitchFamily="34" charset="0"/>
                <a:ea typeface="+mn-ea"/>
                <a:cs typeface="+mn-cs"/>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TRX50</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10/</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末</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-11</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spc="0" baseline="0" dirty="0" err="1">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 PRO(ZEN4)/WRX90</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12</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rPr>
              <a:t>Ryzen5</a:t>
            </a:r>
            <a:r>
              <a:rPr lang="ja-JP" altLang="en-US" sz="1200" dirty="0">
                <a:solidFill>
                  <a:schemeClr val="tx1"/>
                </a:solidFill>
              </a:rPr>
              <a:t> </a:t>
            </a:r>
            <a:r>
              <a:rPr lang="en-US" altLang="ja-JP" sz="1200" dirty="0">
                <a:solidFill>
                  <a:schemeClr val="tx1"/>
                </a:solidFill>
              </a:rPr>
              <a:t>7500F</a:t>
            </a:r>
            <a:r>
              <a:rPr lang="ja-JP" altLang="en-US" sz="1200" dirty="0">
                <a:solidFill>
                  <a:schemeClr val="tx1"/>
                </a:solidFill>
              </a:rPr>
              <a:t>日本国内は組み込みのみ展開、中国はリテールあり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800" dirty="0">
                <a:solidFill>
                  <a:schemeClr val="tx1"/>
                </a:solidFill>
              </a:rPr>
              <a:t>Ryzen5</a:t>
            </a:r>
            <a:r>
              <a:rPr lang="ja-JP" altLang="en-US" sz="800" dirty="0">
                <a:solidFill>
                  <a:schemeClr val="tx1"/>
                </a:solidFill>
              </a:rPr>
              <a:t> </a:t>
            </a:r>
            <a:r>
              <a:rPr lang="en-US" altLang="ja-JP" sz="800" dirty="0">
                <a:solidFill>
                  <a:schemeClr val="tx1"/>
                </a:solidFill>
              </a:rPr>
              <a:t>7500F</a:t>
            </a:r>
            <a:r>
              <a:rPr lang="ja-JP" altLang="en-US" sz="800" dirty="0">
                <a:solidFill>
                  <a:schemeClr val="tx1"/>
                </a:solidFill>
              </a:rPr>
              <a:t>日本国内投入予定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2023/4/11 </a:t>
            </a:r>
            <a:r>
              <a:rPr lang="en-US" altLang="ja-JP" sz="1200" dirty="0"/>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シリーズとそれに対応するシンチップセットが登場予定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7800X3D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7950X3D/7900X3D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7800X3D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日本未定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　一部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限定の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4300G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の開放予定あり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などの対抗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3D V-Cache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搭載版が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R9-7950X3D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R9-7900X3D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R7-7800X3D</a:t>
            </a:r>
            <a:endPar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Ryzen9-7950X3D 16C/32T TDP120W</a:t>
            </a: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Ryzen9-7900X3D 12C/24T TDP120W</a:t>
            </a: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Ryzen7-7800X3D 8C/16T TDP120W</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Ryzen 7000</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65W(R9/R7/R5) </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CES</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、解禁：</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1/10 23:00(Global)</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1/13 11:00(</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Ryzen 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65W(R9/R7/R5) </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CES (1/5-1/8)</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販売</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月上旬、</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日本解禁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11/16 19:00</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に延期、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dirty="0"/>
              <a:t>2022/8/2</a:t>
            </a:r>
            <a:r>
              <a:rPr lang="ja-JP" altLang="en-US" sz="1200" dirty="0"/>
              <a:t>　</a:t>
            </a:r>
            <a:r>
              <a:rPr lang="en-US" altLang="ja-JP" sz="1200" dirty="0"/>
              <a:t>8/12</a:t>
            </a:r>
            <a:r>
              <a:rPr lang="ja-JP" altLang="en-US" sz="1200" dirty="0"/>
              <a:t>発売　</a:t>
            </a:r>
            <a:r>
              <a:rPr lang="en-US" altLang="ja-JP" sz="1200" dirty="0"/>
              <a:t>Ryzen </a:t>
            </a:r>
            <a:r>
              <a:rPr lang="en-US" altLang="ja-JP" sz="1200" dirty="0" err="1"/>
              <a:t>Threadripper</a:t>
            </a:r>
            <a:r>
              <a:rPr lang="en-US" altLang="ja-JP" sz="1200" dirty="0"/>
              <a:t>(Chagall) 5995WX/5975WX/5965WX</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SKU/Core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構成</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シリーズの予定を仮設置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コア以下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Ryzen(R9/R7/R5?)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2022/4/27</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AM5</a:t>
            </a:r>
            <a:r>
              <a:rPr lang="ja-JP" altLang="en-US" sz="1200" b="0" dirty="0">
                <a:latin typeface="メイリオ" panose="020B0604030504040204" pitchFamily="50" charset="-128"/>
                <a:ea typeface="メイリオ" panose="020B0604030504040204" pitchFamily="50" charset="-128"/>
              </a:rPr>
              <a:t>マザーボードの追加情報　</a:t>
            </a:r>
            <a:r>
              <a:rPr lang="en-US" altLang="ja-JP" sz="1200" b="0" dirty="0">
                <a:latin typeface="メイリオ" panose="020B0604030504040204" pitchFamily="50" charset="-128"/>
                <a:ea typeface="メイリオ" panose="020B0604030504040204" pitchFamily="50" charset="-128"/>
              </a:rPr>
              <a:t>8/24</a:t>
            </a:r>
            <a:r>
              <a:rPr lang="ja-JP" altLang="en-US" sz="1200" b="0" dirty="0">
                <a:latin typeface="メイリオ" panose="020B0604030504040204" pitchFamily="50" charset="-128"/>
                <a:ea typeface="メイリオ" panose="020B0604030504040204" pitchFamily="50" charset="-128"/>
              </a:rPr>
              <a:t>頃</a:t>
            </a:r>
            <a:r>
              <a:rPr lang="en-US" altLang="ja-JP" sz="1200" b="0" dirty="0">
                <a:latin typeface="メイリオ" panose="020B0604030504040204" pitchFamily="50" charset="-128"/>
                <a:ea typeface="メイリオ" panose="020B0604030504040204" pitchFamily="50" charset="-128"/>
              </a:rPr>
              <a:t>X670</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10</a:t>
            </a:r>
            <a:r>
              <a:rPr lang="ja-JP" altLang="en-US" sz="1200" b="0" dirty="0">
                <a:latin typeface="メイリオ" panose="020B0604030504040204" pitchFamily="50" charset="-128"/>
                <a:ea typeface="メイリオ" panose="020B0604030504040204" pitchFamily="50" charset="-128"/>
              </a:rPr>
              <a:t>月末</a:t>
            </a:r>
            <a:r>
              <a:rPr lang="en-US" altLang="ja-JP" sz="1200" b="0" dirty="0">
                <a:latin typeface="メイリオ" panose="020B0604030504040204" pitchFamily="50" charset="-128"/>
                <a:ea typeface="メイリオ" panose="020B0604030504040204" pitchFamily="50" charset="-128"/>
              </a:rPr>
              <a:t>B650</a:t>
            </a:r>
            <a:r>
              <a:rPr lang="ja-JP" altLang="en-US" sz="1200" b="0" dirty="0">
                <a:latin typeface="メイリオ" panose="020B0604030504040204" pitchFamily="50" charset="-128"/>
                <a:ea typeface="メイリオ" panose="020B0604030504040204" pitchFamily="50" charset="-128"/>
              </a:rPr>
              <a:t>が登場する仮予定とのこと</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2022/3/22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をコア別に分解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2022/3/8</a:t>
            </a:r>
            <a:r>
              <a:rPr lang="ja-JP" altLang="en-US" sz="1200" b="0" dirty="0">
                <a:latin typeface="メイリオ" panose="020B0604030504040204" pitchFamily="50" charset="-128"/>
                <a:ea typeface="メイリオ" panose="020B0604030504040204" pitchFamily="50" charset="-128"/>
              </a:rPr>
              <a:t>　追加</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の</a:t>
            </a:r>
            <a:r>
              <a:rPr lang="en-US" altLang="ja-JP" sz="1200" b="0" dirty="0">
                <a:latin typeface="メイリオ" panose="020B0604030504040204" pitchFamily="50" charset="-128"/>
                <a:ea typeface="メイリオ" panose="020B0604030504040204" pitchFamily="50" charset="-128"/>
              </a:rPr>
              <a:t>Ryzen(5700X 5600 5500 4500 4100)</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4/15</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(4</a:t>
            </a:r>
            <a:r>
              <a:rPr lang="ja-JP" altLang="en-US" sz="1200" b="0" dirty="0">
                <a:latin typeface="メイリオ" panose="020B0604030504040204" pitchFamily="50" charset="-128"/>
                <a:ea typeface="メイリオ" panose="020B0604030504040204" pitchFamily="50" charset="-128"/>
              </a:rPr>
              <a:t>月中旬</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の予定。</a:t>
            </a:r>
            <a:r>
              <a:rPr lang="en-US" altLang="ja-JP" sz="1200" b="0" dirty="0">
                <a:latin typeface="メイリオ" panose="020B0604030504040204" pitchFamily="50" charset="-128"/>
                <a:ea typeface="メイリオ" panose="020B0604030504040204" pitchFamily="50" charset="-128"/>
              </a:rPr>
              <a:t>5800X3D</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4/22</a:t>
            </a:r>
            <a:r>
              <a:rPr lang="ja-JP" altLang="en-US" sz="1200" b="0" dirty="0">
                <a:latin typeface="メイリオ" panose="020B0604030504040204" pitchFamily="50" charset="-128"/>
                <a:ea typeface="メイリオ" panose="020B0604030504040204" pitchFamily="50" charset="-128"/>
              </a:rPr>
              <a:t>の予定。現行</a:t>
            </a:r>
            <a:r>
              <a:rPr lang="en-US" altLang="ja-JP" sz="1200" b="0" dirty="0">
                <a:latin typeface="メイリオ" panose="020B0604030504040204" pitchFamily="50" charset="-128"/>
                <a:ea typeface="メイリオ" panose="020B0604030504040204" pitchFamily="50" charset="-128"/>
              </a:rPr>
              <a:t>Ryzen</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AM4</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2</a:t>
            </a:r>
            <a:r>
              <a:rPr lang="ja-JP" altLang="en-US" sz="1200" b="0" dirty="0">
                <a:latin typeface="メイリオ" panose="020B0604030504040204" pitchFamily="50" charset="-128"/>
                <a:ea typeface="メイリオ" panose="020B0604030504040204" pitchFamily="50" charset="-128"/>
              </a:rPr>
              <a:t>年ほど継続の予定とのこと。</a:t>
            </a:r>
            <a:endParaRPr lang="en-US" altLang="ja-JP" sz="1200" b="0" dirty="0">
              <a:latin typeface="メイリオ" panose="020B0604030504040204" pitchFamily="50" charset="-128"/>
              <a:ea typeface="メイリオ" panose="020B0604030504040204" pitchFamily="50" charset="-128"/>
            </a:endParaRPr>
          </a:p>
          <a:p>
            <a:pPr algn="l"/>
            <a:r>
              <a:rPr lang="en-US" altLang="ja-JP" sz="1200" b="0" dirty="0">
                <a:latin typeface="メイリオ" panose="020B0604030504040204" pitchFamily="50" charset="-128"/>
                <a:ea typeface="メイリオ" panose="020B0604030504040204" pitchFamily="50" charset="-128"/>
              </a:rPr>
              <a:t>2022/3/8</a:t>
            </a:r>
            <a:r>
              <a:rPr lang="ja-JP" altLang="en-US" sz="1200" b="0" dirty="0">
                <a:latin typeface="メイリオ" panose="020B0604030504040204" pitchFamily="50" charset="-128"/>
                <a:ea typeface="メイリオ" panose="020B0604030504040204" pitchFamily="50" charset="-128"/>
              </a:rPr>
              <a:t>　現行</a:t>
            </a:r>
            <a:r>
              <a:rPr lang="en-US" altLang="ja-JP" sz="1200" b="0" dirty="0">
                <a:latin typeface="メイリオ" panose="020B0604030504040204" pitchFamily="50" charset="-128"/>
                <a:ea typeface="メイリオ" panose="020B0604030504040204" pitchFamily="50" charset="-128"/>
              </a:rPr>
              <a:t>Ryzen</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AM3</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2</a:t>
            </a:r>
            <a:r>
              <a:rPr lang="ja-JP" altLang="en-US" sz="1200" b="0" dirty="0">
                <a:latin typeface="メイリオ" panose="020B0604030504040204" pitchFamily="50" charset="-128"/>
                <a:ea typeface="メイリオ" panose="020B0604030504040204" pitchFamily="50" charset="-128"/>
              </a:rPr>
              <a:t>年ほど継続の予定とのこと。</a:t>
            </a:r>
            <a:endParaRPr lang="en-US" altLang="ja-JP" sz="1200" b="0" dirty="0">
              <a:latin typeface="メイリオ" panose="020B0604030504040204" pitchFamily="50" charset="-128"/>
              <a:ea typeface="メイリオ" panose="020B0604030504040204" pitchFamily="50" charset="-128"/>
            </a:endParaRPr>
          </a:p>
          <a:p>
            <a:pPr algn="l"/>
            <a:r>
              <a:rPr lang="en-US" altLang="ja-JP" sz="1200" b="0" dirty="0">
                <a:latin typeface="メイリオ" panose="020B0604030504040204" pitchFamily="50" charset="-128"/>
                <a:ea typeface="メイリオ" panose="020B0604030504040204" pitchFamily="50" charset="-128"/>
              </a:rPr>
              <a:t>2022/3/1</a:t>
            </a:r>
            <a:r>
              <a:rPr lang="ja-JP" altLang="en-US" sz="1200" b="0" dirty="0">
                <a:latin typeface="メイリオ" panose="020B0604030504040204" pitchFamily="50" charset="-128"/>
                <a:ea typeface="メイリオ" panose="020B0604030504040204" pitchFamily="50" charset="-128"/>
              </a:rPr>
              <a:t>　</a:t>
            </a:r>
            <a:r>
              <a:rPr lang="en-US" altLang="ja-JP" b="0" i="0" dirty="0">
                <a:effectLst/>
                <a:latin typeface="Segoe UI" panose="020B0502040204020203" pitchFamily="34" charset="0"/>
              </a:rPr>
              <a:t>Ryzen7 5800X3D</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月後半になる予定</a:t>
            </a:r>
          </a:p>
          <a:p>
            <a:pPr algn="l"/>
            <a:r>
              <a:rPr lang="ja-JP" altLang="en-US" b="0" i="0" dirty="0">
                <a:effectLst/>
                <a:latin typeface="Segoe UI" panose="020B0502040204020203" pitchFamily="34" charset="0"/>
              </a:rPr>
              <a:t>以下は新規追加</a:t>
            </a:r>
            <a:r>
              <a:rPr lang="en-US" altLang="ja-JP" b="0" i="0" dirty="0">
                <a:effectLst/>
                <a:latin typeface="Segoe UI" panose="020B0502040204020203" pitchFamily="34" charset="0"/>
              </a:rPr>
              <a:t>SKU(</a:t>
            </a:r>
            <a:r>
              <a:rPr lang="ja-JP" altLang="en-US" b="0" i="0" dirty="0">
                <a:effectLst/>
                <a:latin typeface="Segoe UI" panose="020B0502040204020203" pitchFamily="34" charset="0"/>
              </a:rPr>
              <a:t>国内展開数量</a:t>
            </a:r>
            <a:r>
              <a:rPr lang="en-US" altLang="ja-JP" b="0" i="0" dirty="0">
                <a:effectLst/>
                <a:latin typeface="Segoe UI" panose="020B0502040204020203" pitchFamily="34" charset="0"/>
              </a:rPr>
              <a:t>/</a:t>
            </a:r>
            <a:r>
              <a:rPr lang="ja-JP" altLang="en-US" b="0" i="0" dirty="0">
                <a:effectLst/>
                <a:latin typeface="Segoe UI" panose="020B0502040204020203" pitchFamily="34" charset="0"/>
              </a:rPr>
              <a:t>価格未</a:t>
            </a:r>
            <a:r>
              <a:rPr lang="en-US" altLang="ja-JP" b="0" i="0" dirty="0">
                <a:effectLst/>
                <a:latin typeface="Segoe UI" panose="020B0502040204020203" pitchFamily="34" charset="0"/>
              </a:rPr>
              <a:t>)</a:t>
            </a:r>
            <a:br>
              <a:rPr lang="en-US" altLang="ja-JP" b="0" i="0" dirty="0">
                <a:effectLst/>
                <a:latin typeface="Segoe UI" panose="020B0502040204020203" pitchFamily="34" charset="0"/>
              </a:rPr>
            </a:br>
            <a:r>
              <a:rPr lang="en-US" altLang="ja-JP" b="0" i="0" dirty="0">
                <a:effectLst/>
                <a:latin typeface="Segoe UI" panose="020B0502040204020203" pitchFamily="34" charset="0"/>
              </a:rPr>
              <a:t>Ryzen7 5700X(Zen3)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5600(Zen3)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5500(Zen3)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4600G(Zen3)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4500(Zen2)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Q1’22</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3</a:t>
            </a:r>
            <a:r>
              <a:rPr lang="ja-JP" altLang="en-US" b="0" i="0" dirty="0">
                <a:effectLst/>
                <a:latin typeface="Segoe UI" panose="020B0502040204020203" pitchFamily="34" charset="0"/>
              </a:rPr>
              <a:t>～</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a:t>
            </a:r>
          </a:p>
          <a:p>
            <a:pPr algn="l"/>
            <a:r>
              <a:rPr lang="en-US" altLang="ja-JP" b="0" i="0" dirty="0">
                <a:effectLst/>
                <a:latin typeface="Segoe UI" panose="020B0502040204020203" pitchFamily="34" charset="0"/>
              </a:rPr>
              <a:t>Ryzen3 4100(Zen2)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Q2’22</a:t>
            </a:r>
          </a:p>
          <a:p>
            <a:pPr algn="l"/>
            <a:r>
              <a:rPr lang="en-US" altLang="ja-JP" b="0" i="0" dirty="0">
                <a:effectLst/>
                <a:latin typeface="Segoe UI" panose="020B0502040204020203" pitchFamily="34" charset="0"/>
              </a:rPr>
              <a:t>ZEN4(Ryzen 7000)</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AM5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5500/4500(TBD)※Cezanne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1or2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5600※Vermeer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は検討中に引き下げ。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4100※Renoir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も予定あり。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クラスの価格になる見通しもある。これのことから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シリーズは併売継続。</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現時点では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まで継続予定（上が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あたりまで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で継続される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価格帯も大きく離れる）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5600/4500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が出る可能性あり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Ryzen7(5700X?)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Ryzen7/Ryzen5+B650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2021/1/5 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 7 5800X3D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シリーズ追記</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3D V-Cache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へ変更になる。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Ryzen5/Ryzen3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追加の仮予定あり。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Changall</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Q1-Q2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にずれ、</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Ryzen9</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の新</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頃予定</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2022Q2 ZEN4 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発売予定の追記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5xxxG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RX6600XT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の日付を追加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8/6 Ryzen7 5700G/Ryzen5 5600G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8/13 RADEON RX6600XT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 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追加予定あり、</a:t>
            </a:r>
            <a:r>
              <a:rPr lang="en-US" altLang="ja-JP" sz="1200" dirty="0"/>
              <a:t>Chagall</a:t>
            </a:r>
            <a:r>
              <a:rPr lang="ja-JP" altLang="en-US" sz="1200" dirty="0"/>
              <a:t>（‘</a:t>
            </a:r>
            <a:r>
              <a:rPr lang="en-US" altLang="ja-JP" sz="1200" dirty="0"/>
              <a:t>Ryzen </a:t>
            </a:r>
            <a:r>
              <a:rPr lang="en-US" altLang="ja-JP" sz="1200" dirty="0" err="1"/>
              <a:t>Threadripper</a:t>
            </a:r>
            <a:r>
              <a:rPr lang="ja-JP" altLang="en-US" sz="1200" dirty="0"/>
              <a:t>）登場予定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CezanneAPU</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(5700G/5600G)8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月上旬→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5xxxG(</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Cezanne</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APU</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R7 5700G? R5 5600G?</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R3 5300G?</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2021/3/30</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Ryzen5xxxG</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の見込み（</a:t>
            </a: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7-8</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8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800" b="0" baseline="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2021/2/9 </a:t>
            </a:r>
            <a:r>
              <a:rPr lang="en-US" altLang="ja-JP" sz="1200" dirty="0"/>
              <a:t>Ryzen </a:t>
            </a:r>
            <a:r>
              <a:rPr lang="en-US" altLang="ja-JP" sz="1200" dirty="0" err="1"/>
              <a:t>Threadripper</a:t>
            </a:r>
            <a:r>
              <a:rPr lang="ja-JP" altLang="en-US" sz="1200" dirty="0"/>
              <a:t>　</a:t>
            </a:r>
            <a:r>
              <a:rPr lang="en-US" altLang="ja-JP" sz="1200" dirty="0"/>
              <a:t>PRO</a:t>
            </a:r>
            <a:r>
              <a:rPr kumimoji="1" lang="en-US" altLang="ja-JP" sz="1200" b="0" baseline="0" dirty="0">
                <a:solidFill>
                  <a:schemeClr val="tx1"/>
                </a:solidFill>
                <a:latin typeface="+mn-lt"/>
                <a:ea typeface="+mn-ea"/>
                <a:cs typeface="+mn-cs"/>
              </a:rPr>
              <a:t> 3/5</a:t>
            </a:r>
            <a:r>
              <a:rPr kumimoji="1" lang="ja-JP" altLang="en-US" sz="1200" b="0" baseline="0" dirty="0">
                <a:solidFill>
                  <a:schemeClr val="tx1"/>
                </a:solidFill>
                <a:latin typeface="+mn-lt"/>
                <a:ea typeface="+mn-ea"/>
                <a:cs typeface="+mn-cs"/>
              </a:rPr>
              <a:t>解禁</a:t>
            </a:r>
            <a:endParaRPr kumimoji="1" lang="en-US" altLang="ja-JP" sz="1200" b="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年登場の予定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11/6 19:00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販売開始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が判明したため追記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 5950X/5900X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5800X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5600X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Q1’21 Ryzen5 5500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5300X&amp; Ryzen7 5700G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Ryzen9 3900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2020/9/23</a:t>
            </a:r>
            <a:r>
              <a:rPr kumimoji="1" lang="ja-JP" altLang="en-US"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　</a:t>
            </a:r>
            <a:r>
              <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Zen3</a:t>
            </a:r>
            <a:r>
              <a:rPr kumimoji="1" lang="ja-JP" altLang="en-US"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a:t>
            </a:r>
            <a:r>
              <a:rPr kumimoji="1" lang="en-US" altLang="ja-JP" sz="1200" b="0" dirty="0">
                <a:solidFill>
                  <a:schemeClr val="tx1"/>
                </a:solidFill>
                <a:latin typeface="HGｺﾞｼｯｸE" panose="020B0909000000000000" pitchFamily="49" charset="-128"/>
                <a:ea typeface="HGｺﾞｼｯｸE" panose="020B0909000000000000" pitchFamily="49" charset="-128"/>
              </a:rPr>
              <a:t>Vermeer</a:t>
            </a:r>
            <a:r>
              <a:rPr kumimoji="1" lang="ja-JP" altLang="en-US" sz="1200" b="0" dirty="0">
                <a:solidFill>
                  <a:schemeClr val="tx1"/>
                </a:solidFill>
                <a:latin typeface="HGｺﾞｼｯｸE" panose="020B0909000000000000" pitchFamily="49" charset="-128"/>
                <a:ea typeface="HGｺﾞｼｯｸE" panose="020B0909000000000000" pitchFamily="49" charset="-128"/>
              </a:rPr>
              <a:t>）</a:t>
            </a:r>
            <a:r>
              <a:rPr kumimoji="1" lang="en-US" altLang="ja-JP" sz="1200" b="0" dirty="0">
                <a:solidFill>
                  <a:schemeClr val="tx1"/>
                </a:solidFill>
                <a:latin typeface="HGｺﾞｼｯｸE" panose="020B0909000000000000" pitchFamily="49" charset="-128"/>
                <a:ea typeface="HGｺﾞｼｯｸE" panose="020B0909000000000000" pitchFamily="49" charset="-128"/>
              </a:rPr>
              <a:t>10/8</a:t>
            </a:r>
            <a:r>
              <a:rPr kumimoji="1" lang="ja-JP" altLang="en-US" sz="1200" b="0" dirty="0">
                <a:solidFill>
                  <a:schemeClr val="tx1"/>
                </a:solidFill>
                <a:latin typeface="HGｺﾞｼｯｸE" panose="020B0909000000000000" pitchFamily="49" charset="-128"/>
                <a:ea typeface="HGｺﾞｼｯｸE" panose="020B0909000000000000" pitchFamily="49" charset="-128"/>
              </a:rPr>
              <a:t>発表・発売日未定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の代替として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3900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月中に変更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4thGen(Zen3)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微修正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R9/R7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R5 21Q1 R3 21Q3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へずらし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3800XT/3900XT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はクーラーなし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暫定日本・サンプル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月上旬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名称変更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日本・サンプル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月中旬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発売時期修正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6</a:t>
            </a:fld>
            <a:endParaRPr kumimoji="1" lang="ja-JP" altLang="en-US"/>
          </a:p>
        </p:txBody>
      </p:sp>
    </p:spTree>
    <p:extLst>
      <p:ext uri="{BB962C8B-B14F-4D97-AF65-F5344CB8AC3E}">
        <p14:creationId xmlns:p14="http://schemas.microsoft.com/office/powerpoint/2010/main" val="2770707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製品投入は各社から順次、</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9000X3D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5600T/5600XT/5300G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(X3D)+X870E/X870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B850/B840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5900XT/5800XT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Ryzen7-8700F/Ryzen5-8400F(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オンボードグラフィックなし版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Ryzen9-5950XT/5900XT/Ryzen7-5800XT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を出す予定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月中旬～）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Ryzen9000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シリーズチップセット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2023/10/20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schemeClr val="bg1"/>
                </a:solidFill>
                <a:effectLst/>
                <a:uLnTx/>
                <a:uFillTx/>
                <a:latin typeface="Meiryo UI"/>
                <a:ea typeface="Meiryo UI"/>
                <a:cs typeface="Meiryo UI" panose="020B0604030504040204" pitchFamily="50" charset="-128"/>
              </a:rPr>
              <a:t>Threadripper</a:t>
            </a:r>
            <a:r>
              <a:rPr kumimoji="1" lang="en-US" altLang="ja-JP"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(ZEN4)</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err="1">
                <a:ln>
                  <a:noFill/>
                </a:ln>
                <a:solidFill>
                  <a:schemeClr val="bg1"/>
                </a:solidFill>
                <a:effectLst/>
                <a:uLnTx/>
                <a:uFillTx/>
                <a:latin typeface="Meiryo UI"/>
                <a:ea typeface="Meiryo UI"/>
                <a:cs typeface="Meiryo UI" panose="020B0604030504040204" pitchFamily="50" charset="-128"/>
              </a:rPr>
              <a:t>Threadripper</a:t>
            </a:r>
            <a:r>
              <a:rPr kumimoji="1" lang="en-US" altLang="ja-JP"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PRO(ZEN4)</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TRX50</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11/21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2023/8/29</a:t>
            </a:r>
            <a:r>
              <a:rPr kumimoji="1" lang="ja-JP" altLang="en-US" sz="10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err="1">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(ZEN4)</a:t>
            </a:r>
            <a:r>
              <a:rPr kumimoji="1" lang="en-US" altLang="ja-JP" sz="1200" b="0" i="0" u="none" strike="noStrike" kern="1200" spc="0" baseline="0" dirty="0">
                <a:ln>
                  <a:noFill/>
                </a:ln>
                <a:solidFill>
                  <a:schemeClr val="tx1"/>
                </a:solidFill>
                <a:effectLst/>
                <a:latin typeface="Arial" panose="020B0604020202020204" pitchFamily="34" charset="0"/>
                <a:ea typeface="+mn-ea"/>
                <a:cs typeface="+mn-cs"/>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TRX50</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10/</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末</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-11</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spc="0" baseline="0" dirty="0" err="1">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 PRO(ZEN4)/WRX90</a:t>
            </a:r>
            <a:r>
              <a:rPr kumimoji="1" lang="ja-JP" altLang="en-US"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12</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ja-JP" sz="1200" b="0" i="0" u="none" strike="noStrike" kern="1200" spc="0" baseline="0" dirty="0">
                <a:ln>
                  <a:noFill/>
                </a:ln>
                <a:solidFill>
                  <a:srgbClr val="FFFFFF"/>
                </a:solidFill>
                <a:effectLst/>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2023/4/11 </a:t>
            </a:r>
            <a:r>
              <a:rPr lang="en-US" altLang="ja-JP" sz="1200" dirty="0"/>
              <a:t>Threadripper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シリーズとそれに対応するシンチップセットが登場予定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チップセット</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へ情報更新あり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ただし、遅れる可能性あり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B650LowCost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Ryzen 7000</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65W(R9/R7/R5) </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CES</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、解禁：</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1/10 23:00(Global)</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1/13 11:00(</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Ryzen 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65W(R9/R7/R5) </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CES (1/5-1/8)</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販売</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月上旬、</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日本解禁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11/16 19:00</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に延期、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シリーズの予定を仮設置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コア以下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Ryzen(R9/R7/R5?)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2022/3/22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lang="en-US" altLang="ja-JP" sz="1200" b="0" dirty="0">
                <a:latin typeface="メイリオ" panose="020B0604030504040204" pitchFamily="50" charset="-128"/>
                <a:ea typeface="メイリオ" panose="020B0604030504040204" pitchFamily="50" charset="-128"/>
              </a:rPr>
              <a:t>2022/3/1</a:t>
            </a:r>
            <a:r>
              <a:rPr lang="ja-JP" altLang="en-US" sz="1200" b="0" dirty="0">
                <a:latin typeface="メイリオ" panose="020B0604030504040204" pitchFamily="50" charset="-128"/>
                <a:ea typeface="メイリオ" panose="020B0604030504040204" pitchFamily="50" charset="-128"/>
              </a:rPr>
              <a:t>　</a:t>
            </a:r>
            <a:r>
              <a:rPr lang="en-US" altLang="ja-JP" b="0" i="0" dirty="0">
                <a:effectLst/>
                <a:latin typeface="Segoe UI" panose="020B0502040204020203" pitchFamily="34" charset="0"/>
              </a:rPr>
              <a:t>Ryzen7 5800X3D</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月後半になる予定</a:t>
            </a:r>
          </a:p>
          <a:p>
            <a:pPr algn="l"/>
            <a:r>
              <a:rPr lang="ja-JP" altLang="en-US" b="0" i="0" dirty="0">
                <a:effectLst/>
                <a:latin typeface="Segoe UI" panose="020B0502040204020203" pitchFamily="34" charset="0"/>
              </a:rPr>
              <a:t>以下は新規追加</a:t>
            </a:r>
            <a:r>
              <a:rPr lang="en-US" altLang="ja-JP" b="0" i="0" dirty="0">
                <a:effectLst/>
                <a:latin typeface="Segoe UI" panose="020B0502040204020203" pitchFamily="34" charset="0"/>
              </a:rPr>
              <a:t>SKU(</a:t>
            </a:r>
            <a:r>
              <a:rPr lang="ja-JP" altLang="en-US" b="0" i="0" dirty="0">
                <a:effectLst/>
                <a:latin typeface="Segoe UI" panose="020B0502040204020203" pitchFamily="34" charset="0"/>
              </a:rPr>
              <a:t>国内展開数量</a:t>
            </a:r>
            <a:r>
              <a:rPr lang="en-US" altLang="ja-JP" b="0" i="0" dirty="0">
                <a:effectLst/>
                <a:latin typeface="Segoe UI" panose="020B0502040204020203" pitchFamily="34" charset="0"/>
              </a:rPr>
              <a:t>/</a:t>
            </a:r>
            <a:r>
              <a:rPr lang="ja-JP" altLang="en-US" b="0" i="0" dirty="0">
                <a:effectLst/>
                <a:latin typeface="Segoe UI" panose="020B0502040204020203" pitchFamily="34" charset="0"/>
              </a:rPr>
              <a:t>価格未</a:t>
            </a:r>
            <a:r>
              <a:rPr lang="en-US" altLang="ja-JP" b="0" i="0" dirty="0">
                <a:effectLst/>
                <a:latin typeface="Segoe UI" panose="020B0502040204020203" pitchFamily="34" charset="0"/>
              </a:rPr>
              <a:t>)</a:t>
            </a:r>
            <a:br>
              <a:rPr lang="en-US" altLang="ja-JP" b="0" i="0" dirty="0">
                <a:effectLst/>
                <a:latin typeface="Segoe UI" panose="020B0502040204020203" pitchFamily="34" charset="0"/>
              </a:rPr>
            </a:br>
            <a:r>
              <a:rPr lang="en-US" altLang="ja-JP" b="0" i="0" dirty="0">
                <a:effectLst/>
                <a:latin typeface="Segoe UI" panose="020B0502040204020203" pitchFamily="34" charset="0"/>
              </a:rPr>
              <a:t>Ryzen7 5700X(Zen3)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5600(Zen3)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5500(Zen3)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4600G(Zen3)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4500(Zen2)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Q1’22</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3</a:t>
            </a:r>
            <a:r>
              <a:rPr lang="ja-JP" altLang="en-US" b="0" i="0" dirty="0">
                <a:effectLst/>
                <a:latin typeface="Segoe UI" panose="020B0502040204020203" pitchFamily="34" charset="0"/>
              </a:rPr>
              <a:t>～</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a:t>
            </a:r>
          </a:p>
          <a:p>
            <a:pPr algn="l"/>
            <a:r>
              <a:rPr lang="en-US" altLang="ja-JP" b="0" i="0" dirty="0">
                <a:effectLst/>
                <a:latin typeface="Segoe UI" panose="020B0502040204020203" pitchFamily="34" charset="0"/>
              </a:rPr>
              <a:t>Ryzen3 4100(Zen2)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Q2’22</a:t>
            </a:r>
          </a:p>
          <a:p>
            <a:pPr algn="l"/>
            <a:r>
              <a:rPr lang="en-US" altLang="ja-JP" b="0" i="0" dirty="0">
                <a:effectLst/>
                <a:latin typeface="Segoe UI" panose="020B0502040204020203" pitchFamily="34" charset="0"/>
              </a:rPr>
              <a:t>ZEN4(Ryzen 7000)</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AM5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現時点では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まで継続予定（上が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あたりまで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で継続される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価格帯も大きく離れる）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5600/4500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が出る可能性あり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Ryzen7(5700X?)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Ryzen7/Ryzen5+B650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ThreadRipper</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Changall</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Q1-Q2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にずれ、</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Ryzen9</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の新</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頃予定</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2022Q2 ZEN4 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発売予定の追記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年登場の予定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2019/11/05</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7</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Refresh</a:t>
            </a:r>
            <a:r>
              <a:rPr kumimoji="1" lang="ja-JP" altLang="en-US" sz="12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2026/4/17</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Raptor Lake-S Next/Raptor Lake-HX Next</a:t>
            </a:r>
            <a:r>
              <a:rPr kumimoji="1" lang="ja-JP" altLang="en-US" sz="1200" dirty="0">
                <a:solidFill>
                  <a:schemeClr val="bg1"/>
                </a:solidFill>
                <a:latin typeface="Meiryo UI"/>
                <a:ea typeface="Meiryo UI"/>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2027 H1</a:t>
            </a:r>
            <a:r>
              <a:rPr kumimoji="1" lang="ja-JP" altLang="en-US" sz="1200" dirty="0">
                <a:solidFill>
                  <a:schemeClr val="bg1"/>
                </a:solidFill>
                <a:latin typeface="Meiryo UI"/>
                <a:ea typeface="Meiryo UI"/>
                <a:cs typeface="Meiryo UI" panose="020B0604030504040204" pitchFamily="50" charset="-128"/>
              </a:rPr>
              <a:t>予定</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4/16 22:00(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日本時間</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t>Wildcat Lake</a:t>
            </a:r>
            <a:r>
              <a:rPr lang="ja-JP" altLang="en-US" sz="1200" dirty="0"/>
              <a:t>　発表・解禁 </a:t>
            </a:r>
            <a:r>
              <a:rPr lang="en-US" altLang="ja-JP" sz="1200" dirty="0"/>
              <a:t>4</a:t>
            </a:r>
            <a:r>
              <a:rPr lang="ja-JP" altLang="en-US" sz="1200" dirty="0"/>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Refresh-S/HX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dirty="0"/>
              <a:t>Granite Rapids</a:t>
            </a:r>
            <a:r>
              <a:rPr lang="ja-JP" altLang="en-US" dirty="0"/>
              <a:t>　解禁</a:t>
            </a:r>
            <a:r>
              <a:rPr lang="en-US" altLang="ja-JP" dirty="0"/>
              <a:t>:3/9-3-31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2025/10/10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 Refresh U7/U5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24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Arrow Lake-S Refresh U9</a:t>
            </a:r>
            <a:r>
              <a:rPr kumimoji="1" lang="ja-JP" altLang="en-US" sz="1200" dirty="0">
                <a:solidFill>
                  <a:schemeClr val="bg1"/>
                </a:solidFill>
                <a:latin typeface="Meiryo UI"/>
                <a:ea typeface="Meiryo UI"/>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月以降</a:t>
            </a:r>
            <a:endPar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Lake-H (12Xe/4Xe)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:1/1-1/15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:1/16-2/13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a:t>
            </a:r>
            <a:r>
              <a:rPr kumimoji="1" lang="ja-JP" altLang="en-US" sz="1200" b="0" i="0" u="none" strike="noStrike" kern="1200" cap="none" spc="0" normalizeH="0" baseline="0" noProof="0" dirty="0">
                <a:ln>
                  <a:noFill/>
                </a:ln>
                <a:solidFill>
                  <a:sysClr val="windowText" lastClr="000000"/>
                </a:solidFill>
                <a:effectLst/>
                <a:uLnTx/>
                <a:uFillTx/>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Lake/Wildcat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it-IT"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Core Ultra Processors Series 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になる旨追記、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it-IT"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Series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endParaRPr kumimoji="1" lang="it-IT"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3/8</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12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5/8(Consumer</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は変更なし</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2025/5/9 </a:t>
            </a:r>
            <a:r>
              <a:rPr lang="en-US" altLang="ja-JP" sz="1200" dirty="0"/>
              <a:t>Arrow Lake-HX</a:t>
            </a:r>
            <a:r>
              <a:rPr lang="ja-JP" altLang="en-US" sz="1200" dirty="0"/>
              <a:t>→</a:t>
            </a:r>
            <a:r>
              <a:rPr lang="en-US" altLang="ja-JP" sz="1200" dirty="0"/>
              <a:t>Arrow Lake-HX Refresh</a:t>
            </a:r>
            <a:r>
              <a:rPr lang="ja-JP" altLang="en-US" sz="1200" dirty="0"/>
              <a:t>、</a:t>
            </a:r>
            <a:r>
              <a:rPr lang="en-US" altLang="ja-JP" sz="1200" dirty="0"/>
              <a:t>Arrow Lake-H</a:t>
            </a:r>
            <a:r>
              <a:rPr lang="ja-JP" altLang="en-US" sz="1200" dirty="0"/>
              <a:t>→</a:t>
            </a:r>
            <a:r>
              <a:rPr lang="en-US" altLang="ja-JP" sz="1200" dirty="0"/>
              <a:t>Panther Lake-H</a:t>
            </a:r>
            <a:r>
              <a:rPr lang="ja-JP" altLang="en-US" sz="1200" dirty="0"/>
              <a:t>、</a:t>
            </a:r>
            <a:r>
              <a:rPr lang="en-US" altLang="ja-JP" sz="1200" dirty="0"/>
              <a:t>Arrow Lake-U</a:t>
            </a:r>
            <a:r>
              <a:rPr lang="ja-JP" altLang="en-US" sz="1200" dirty="0"/>
              <a:t>→</a:t>
            </a:r>
            <a:r>
              <a:rPr lang="en-US" altLang="ja-JP" sz="1200" dirty="0"/>
              <a:t>Panther Lake-H</a:t>
            </a:r>
            <a:r>
              <a:rPr lang="ja-JP" altLang="en-US" sz="1200" dirty="0"/>
              <a:t>、</a:t>
            </a:r>
            <a:r>
              <a:rPr lang="en-US" altLang="ja-JP" sz="1200" dirty="0"/>
              <a:t>Lunar Lake</a:t>
            </a:r>
            <a:r>
              <a:rPr lang="ja-JP" altLang="en-US" sz="1200" dirty="0"/>
              <a:t>→</a:t>
            </a:r>
            <a:r>
              <a:rPr lang="en-US" altLang="ja-JP" sz="1200" dirty="0"/>
              <a:t>Panther Lake-H</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 Panther Lake-H 2025/Q4</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Arrow Lake-Hx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Window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r>
              <a:rPr kumimoji="1" lang="en-US" altLang="ja-JP" sz="800" dirty="0">
                <a:solidFill>
                  <a:schemeClr val="bg1"/>
                </a:solidFill>
                <a:latin typeface="Meiryo UI"/>
                <a:ea typeface="Meiryo UI"/>
                <a:cs typeface="Meiryo UI" panose="020B0604030504040204" pitchFamily="50" charset="-128"/>
              </a:rPr>
              <a:t>Arrow Lake-H/U</a:t>
            </a:r>
            <a:r>
              <a:rPr kumimoji="1" lang="ja-JP" altLang="en-US" sz="800" dirty="0">
                <a:solidFill>
                  <a:schemeClr val="bg1"/>
                </a:solidFill>
                <a:latin typeface="Meiryo UI"/>
                <a:ea typeface="Meiryo UI"/>
                <a:cs typeface="Meiryo UI" panose="020B0604030504040204" pitchFamily="50" charset="-128"/>
              </a:rPr>
              <a:t>解禁が</a:t>
            </a:r>
            <a:r>
              <a:rPr kumimoji="1" lang="en-US" altLang="ja-JP" sz="800" dirty="0">
                <a:solidFill>
                  <a:schemeClr val="bg1"/>
                </a:solidFill>
                <a:latin typeface="Meiryo UI"/>
                <a:ea typeface="Meiryo UI"/>
                <a:cs typeface="Meiryo UI" panose="020B0604030504040204" pitchFamily="50" charset="-128"/>
              </a:rPr>
              <a:t>2/10</a:t>
            </a:r>
            <a:r>
              <a:rPr kumimoji="1" lang="ja-JP" altLang="en-US" sz="800" dirty="0">
                <a:solidFill>
                  <a:schemeClr val="bg1"/>
                </a:solidFill>
                <a:latin typeface="Meiryo UI"/>
                <a:ea typeface="Meiryo UI"/>
                <a:cs typeface="Meiryo UI" panose="020B0604030504040204" pitchFamily="50" charset="-128"/>
              </a:rPr>
              <a:t>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Arrow Lake-S+B860/H810</a:t>
            </a:r>
            <a:r>
              <a:rPr kumimoji="1" lang="ja-JP" altLang="en-US" sz="1200" dirty="0">
                <a:solidFill>
                  <a:schemeClr val="bg1"/>
                </a:solidFill>
                <a:latin typeface="Meiryo UI"/>
                <a:ea typeface="Meiryo UI"/>
                <a:cs typeface="Meiryo UI" panose="020B0604030504040204" pitchFamily="50" charset="-128"/>
              </a:rPr>
              <a:t>　解禁日</a:t>
            </a:r>
            <a:r>
              <a:rPr kumimoji="1" lang="en-US" altLang="ja-JP" sz="1200" dirty="0">
                <a:solidFill>
                  <a:schemeClr val="bg1"/>
                </a:solidFill>
                <a:latin typeface="Meiryo UI"/>
                <a:ea typeface="Meiryo UI"/>
                <a:cs typeface="Meiryo UI" panose="020B0604030504040204" pitchFamily="50" charset="-128"/>
              </a:rPr>
              <a:t>1/13-1/17</a:t>
            </a:r>
            <a:r>
              <a:rPr kumimoji="1" lang="ja-JP" altLang="en-US" sz="1200" dirty="0">
                <a:solidFill>
                  <a:schemeClr val="bg1"/>
                </a:solidFill>
                <a:latin typeface="Meiryo UI"/>
                <a:ea typeface="Meiryo UI"/>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1/13 23:00(</a:t>
            </a:r>
            <a:r>
              <a:rPr kumimoji="1" lang="ja-JP" altLang="en-US" sz="1200" dirty="0">
                <a:solidFill>
                  <a:schemeClr val="bg1"/>
                </a:solidFill>
                <a:latin typeface="Meiryo UI"/>
                <a:ea typeface="Meiryo UI"/>
                <a:cs typeface="Meiryo UI" panose="020B0604030504040204" pitchFamily="50" charset="-128"/>
              </a:rPr>
              <a:t>日本</a:t>
            </a:r>
            <a:r>
              <a:rPr kumimoji="1" lang="en-US" altLang="ja-JP" sz="1200" dirty="0">
                <a:solidFill>
                  <a:schemeClr val="bg1"/>
                </a:solidFill>
                <a:latin typeface="Meiryo UI"/>
                <a:ea typeface="Meiryo UI"/>
                <a:cs typeface="Meiryo UI" panose="020B0604030504040204" pitchFamily="50" charset="-128"/>
              </a:rPr>
              <a:t>) mobile</a:t>
            </a:r>
            <a:r>
              <a:rPr kumimoji="1" lang="ja-JP" altLang="en-US" sz="1200" dirty="0">
                <a:solidFill>
                  <a:schemeClr val="bg1"/>
                </a:solidFill>
                <a:latin typeface="Meiryo UI"/>
                <a:ea typeface="Meiryo UI"/>
                <a:cs typeface="Meiryo UI" panose="020B0604030504040204" pitchFamily="50" charset="-128"/>
              </a:rPr>
              <a:t>系も更新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 Refresh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12/17(PST)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Lake-HX/H/U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1/13-2/28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が判明したため追記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2024/4/2</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RPL </a:t>
            </a:r>
            <a:r>
              <a:rPr lang="en-US" altLang="ja-JP" sz="1200" b="0" dirty="0" err="1">
                <a:latin typeface="メイリオ" panose="020B0604030504040204" pitchFamily="50" charset="-128"/>
                <a:ea typeface="メイリオ" panose="020B0604030504040204" pitchFamily="50" charset="-128"/>
              </a:rPr>
              <a:t>Refresh,LNL</a:t>
            </a:r>
            <a:r>
              <a:rPr lang="ja-JP" altLang="en-US" sz="1200" b="0" dirty="0">
                <a:latin typeface="メイリオ" panose="020B0604030504040204" pitchFamily="50" charset="-128"/>
                <a:ea typeface="メイリオ" panose="020B0604030504040204" pitchFamily="50" charset="-128"/>
              </a:rPr>
              <a:t>の</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型番出始めたため、モバイルの</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を整理</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Meteor Lake-H Ultra9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の型番とコア構成を追加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Meteor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2023/8/30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10/16</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WW48-50</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の型番とコア構成追加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月頃、</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モバイル系の情報を更新</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RPL-HX/H/P/U,ADL-N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-HX/X 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 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 3/1-3/15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ADL-N 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スケジュール更新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、発売</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:1/5</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Meteor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のコア構成を追記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Lake-HX/H/PX/P/U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の最大コア数・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を記載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は市場にはほぼ出回らない。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は出ない。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RPL-HX/PX/H/P/U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:12/15-1/5(Target: CES’23)/RPL-HX/PX/H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:12/15 -1/21/RPL-P/U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2022/2/28</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Q4</a:t>
            </a:r>
            <a:r>
              <a:rPr lang="ja-JP" altLang="en-US" sz="1200" b="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22</a:t>
            </a:r>
            <a:r>
              <a:rPr lang="ja-JP" altLang="en-US" sz="1200" b="0" dirty="0">
                <a:latin typeface="Meiryo UI" panose="020B0604030504040204" pitchFamily="50" charset="-128"/>
                <a:ea typeface="Meiryo UI" panose="020B0604030504040204" pitchFamily="50" charset="-128"/>
                <a:cs typeface="Meiryo UI" panose="020B0604030504040204" pitchFamily="50" charset="-128"/>
              </a:rPr>
              <a:t>以降の予定</a:t>
            </a:r>
            <a:r>
              <a:rPr lang="ja-JP" altLang="en-US"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nl-NL"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RPL-HX/PX/H/P/U</a:t>
            </a:r>
            <a:r>
              <a:rPr lang="ja-JP" altLang="en-US"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nl-NL"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ADL-N</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 10:10PST(1/5 3:10JST),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 12:01PST(2/2 5:10JST)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Lake-P/U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:2/27-3/31→2/23-2/28,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:3/13-4/15→3/13-4/7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資料よりモバイル系</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を記載</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 Lake-S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K</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無し</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&amp;</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H670/B660/H610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Alder-Lake</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のスケジュールアップデート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lang="en-US" altLang="ja-JP" sz="1200" b="0" dirty="0">
                <a:latin typeface="メイリオ" panose="020B0604030504040204" pitchFamily="50" charset="-128"/>
                <a:ea typeface="メイリオ" panose="020B0604030504040204" pitchFamily="50" charset="-128"/>
              </a:rPr>
              <a:t>2021/9/1</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a:t>
            </a:r>
            <a:r>
              <a:rPr lang="en-US" altLang="ja-JP" sz="1200" b="0" dirty="0">
                <a:latin typeface="メイリオ" panose="020B0604030504040204" pitchFamily="50" charset="-128"/>
                <a:ea typeface="メイリオ" panose="020B0604030504040204" pitchFamily="50" charset="-128"/>
              </a:rPr>
              <a:t>P28-29</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32-33</a:t>
            </a:r>
            <a:r>
              <a:rPr lang="ja-JP" altLang="en-US" sz="1200" b="0" dirty="0">
                <a:latin typeface="メイリオ" panose="020B0604030504040204" pitchFamily="50" charset="-128"/>
                <a:ea typeface="メイリオ" panose="020B0604030504040204" pitchFamily="50" charset="-128"/>
              </a:rPr>
              <a:t>）</a:t>
            </a:r>
          </a:p>
          <a:p>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付き</a:t>
            </a:r>
            <a:r>
              <a:rPr lang="en-US" altLang="ja-JP" sz="1200" b="0" dirty="0">
                <a:latin typeface="メイリオ" panose="020B0604030504040204" pitchFamily="50" charset="-128"/>
                <a:ea typeface="メイリオ" panose="020B0604030504040204" pitchFamily="50" charset="-128"/>
              </a:rPr>
              <a:t>&amp;Z690 10/15-11/19→</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:10/26-11/2,</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:10/26-11/5</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無し</a:t>
            </a:r>
            <a:r>
              <a:rPr lang="en-US" altLang="ja-JP" sz="1200" b="0" dirty="0">
                <a:latin typeface="メイリオ" panose="020B0604030504040204" pitchFamily="50" charset="-128"/>
                <a:ea typeface="メイリオ" panose="020B0604030504040204" pitchFamily="50" charset="-128"/>
              </a:rPr>
              <a:t>&amp;ZH670/B660/H610 1/3-2/18→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:1/3-1/10,</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:1/3-1/17</a:t>
            </a: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:1/1-1/31,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:2/27-3/31,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:3/13-4/15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資料より更新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名など</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r>
              <a:rPr lang="en-US" altLang="ja-JP" sz="1200" b="0" dirty="0">
                <a:latin typeface="メイリオ" panose="020B0604030504040204" pitchFamily="50" charset="-128"/>
                <a:ea typeface="メイリオ" panose="020B0604030504040204" pitchFamily="50" charset="-128"/>
              </a:rPr>
              <a:t>2021/7/28</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-H/P/U</a:t>
            </a:r>
            <a:r>
              <a:rPr lang="ja-JP" altLang="en-US" sz="1200" b="0" dirty="0">
                <a:latin typeface="メイリオ" panose="020B0604030504040204" pitchFamily="50" charset="-128"/>
                <a:ea typeface="メイリオ" panose="020B0604030504040204" pitchFamily="50" charset="-128"/>
              </a:rPr>
              <a:t>の細かい日付が出てきたため反映</a:t>
            </a:r>
            <a:endParaRPr lang="en-US" altLang="ja-JP" sz="1200" b="0" dirty="0">
              <a:latin typeface="メイリオ" panose="020B0604030504040204" pitchFamily="50" charset="-128"/>
              <a:ea typeface="メイリオ" panose="020B0604030504040204" pitchFamily="50" charset="-128"/>
            </a:endParaRP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2021/6/18</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ADL-S-BGA</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ADL-P</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2021/5/28</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TigerLake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 5/25</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5/31</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TigerLake-H35 R 5/25</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WW26</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に変更</a:t>
            </a:r>
            <a:endPar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2021/5/7</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TigerLake-UP3 </a:t>
            </a:r>
            <a:r>
              <a:rPr lang="en-US" altLang="ja-JP" sz="4400" dirty="0"/>
              <a:t>Refresh</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-H35 </a:t>
            </a:r>
            <a:r>
              <a:rPr lang="en-US" altLang="ja-JP" sz="4400" dirty="0"/>
              <a:t>Refresh</a:t>
            </a:r>
            <a:r>
              <a:rPr lang="ja-JP" altLang="en-US" sz="4400" dirty="0"/>
              <a:t>の発売日</a:t>
            </a:r>
            <a:r>
              <a:rPr lang="en-US" altLang="ja-JP" sz="4400" dirty="0"/>
              <a:t>5/25</a:t>
            </a:r>
            <a:r>
              <a:rPr lang="ja-JP" altLang="en-US" sz="4400" dirty="0"/>
              <a:t>に</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2021/4/13</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TigerLake-H45</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5/17</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2021/3/23</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H45</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WW20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r>
              <a:rPr kumimoji="1" lang="en-US" altLang="ja-JP" sz="44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H35</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Refresh</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WW22-WW24(WW20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2021/2/24</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TigerLake-H45</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発売日　</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WW20-23</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WW18-20</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へ前倒し（発表）</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WW20-23</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（販売解禁）</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ターゲット</a:t>
            </a:r>
            <a:r>
              <a:rPr kumimoji="1" lang="en-US" altLang="ja-JP"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5/11</a:t>
            </a:r>
            <a:r>
              <a:rPr kumimoji="1" lang="ja-JP" altLang="en-US" sz="2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Big&amp;Small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Core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SBGA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は低消費電力、</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SBGA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のハイパワー。</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Big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コア部分のみ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t>Comet Lake-H</a:t>
            </a:r>
            <a:r>
              <a:rPr lang="ja-JP" altLang="en-US" sz="1200" dirty="0"/>
              <a:t>　</a:t>
            </a:r>
            <a:r>
              <a:rPr lang="en-US" altLang="ja-JP" sz="1200" dirty="0">
                <a:solidFill>
                  <a:schemeClr val="tx1"/>
                </a:solidFill>
                <a:latin typeface="メイリオ" panose="020B0604030504040204" pitchFamily="50" charset="-128"/>
                <a:ea typeface="メイリオ" panose="020B0604030504040204" pitchFamily="50" charset="-128"/>
              </a:rPr>
              <a:t>i5-10500H</a:t>
            </a:r>
            <a:r>
              <a:rPr lang="ja-JP" altLang="en-US" sz="1200" dirty="0">
                <a:solidFill>
                  <a:schemeClr val="tx1"/>
                </a:solidFill>
                <a:latin typeface="メイリオ" panose="020B0604030504040204" pitchFamily="50" charset="-128"/>
                <a:ea typeface="メイリオ" panose="020B0604030504040204" pitchFamily="50" charset="-128"/>
              </a:rPr>
              <a:t>が追加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2020/9/23</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GL-HU35</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発売予定日変更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WW47-WW02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WW1-WW6</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H35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i7-10870H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8</a:t>
            </a:fld>
            <a:endParaRPr kumimoji="1" lang="ja-JP" altLang="en-US"/>
          </a:p>
        </p:txBody>
      </p:sp>
    </p:spTree>
    <p:extLst>
      <p:ext uri="{BB962C8B-B14F-4D97-AF65-F5344CB8AC3E}">
        <p14:creationId xmlns:p14="http://schemas.microsoft.com/office/powerpoint/2010/main" val="3117395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4/16 22:00(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日本時間</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2026/3/12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WildcatLake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Refresh-S/HX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8:00(JST)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dirty="0"/>
              <a:t>Granite Rapids</a:t>
            </a:r>
            <a:r>
              <a:rPr lang="ja-JP" altLang="en-US" dirty="0"/>
              <a:t>　解禁</a:t>
            </a:r>
            <a:r>
              <a:rPr lang="en-US" altLang="ja-JP" dirty="0"/>
              <a:t>:3/9-3-31</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Lake/Wildcat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it-IT"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Core Ultra Processors Series 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になる旨追記、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it-IT"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Series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Granite Rapids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2/14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3/8</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12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:3/16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5/8(Consumer</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は変更なし</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Lake-HX Refresh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:3</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Panther Lake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2025/5/9 </a:t>
            </a:r>
            <a:r>
              <a:rPr lang="en-US" altLang="ja-JP" sz="1200" dirty="0"/>
              <a:t>Arrow Lake-HX</a:t>
            </a:r>
            <a:r>
              <a:rPr lang="ja-JP" altLang="en-US" sz="1200" dirty="0"/>
              <a:t>→</a:t>
            </a:r>
            <a:r>
              <a:rPr lang="en-US" altLang="ja-JP" sz="1200" dirty="0"/>
              <a:t>Arrow Lake-HX Refresh</a:t>
            </a:r>
            <a:r>
              <a:rPr lang="ja-JP" altLang="en-US" sz="1200" dirty="0"/>
              <a:t>、</a:t>
            </a:r>
            <a:r>
              <a:rPr lang="en-US" altLang="ja-JP" sz="1200" dirty="0"/>
              <a:t>Arrow Lake-H</a:t>
            </a:r>
            <a:r>
              <a:rPr lang="ja-JP" altLang="en-US" sz="1200" dirty="0"/>
              <a:t>→</a:t>
            </a:r>
            <a:r>
              <a:rPr lang="en-US" altLang="ja-JP" sz="1200" dirty="0"/>
              <a:t>Panther Lake-H</a:t>
            </a:r>
            <a:r>
              <a:rPr lang="ja-JP" altLang="en-US" sz="1200" dirty="0"/>
              <a:t>、</a:t>
            </a:r>
            <a:r>
              <a:rPr lang="en-US" altLang="ja-JP" sz="1200" dirty="0"/>
              <a:t>Arrow Lake-U</a:t>
            </a:r>
            <a:r>
              <a:rPr lang="ja-JP" altLang="en-US" sz="1200" dirty="0"/>
              <a:t>→</a:t>
            </a:r>
            <a:r>
              <a:rPr lang="en-US" altLang="ja-JP" sz="1200" dirty="0"/>
              <a:t>Panther Lake-H</a:t>
            </a:r>
            <a:r>
              <a:rPr lang="ja-JP" altLang="en-US" sz="1200" dirty="0"/>
              <a:t>、</a:t>
            </a:r>
            <a:r>
              <a:rPr lang="en-US" altLang="ja-JP" sz="1200" dirty="0"/>
              <a:t>Lunar Lake</a:t>
            </a:r>
            <a:r>
              <a:rPr lang="ja-JP" altLang="en-US" sz="1200" dirty="0"/>
              <a:t>→</a:t>
            </a:r>
            <a:r>
              <a:rPr lang="en-US" altLang="ja-JP" sz="1200" dirty="0"/>
              <a:t>Panther Lake-H</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Arrow Lake-Hx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Window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r>
              <a:rPr kumimoji="1" lang="en-US" altLang="ja-JP" sz="800" dirty="0">
                <a:solidFill>
                  <a:schemeClr val="bg1"/>
                </a:solidFill>
                <a:latin typeface="Meiryo UI"/>
                <a:ea typeface="Meiryo UI"/>
                <a:cs typeface="Meiryo UI" panose="020B0604030504040204" pitchFamily="50" charset="-128"/>
              </a:rPr>
              <a:t>Arrow Lake-H/U</a:t>
            </a:r>
            <a:r>
              <a:rPr kumimoji="1" lang="ja-JP" altLang="en-US" sz="800" dirty="0">
                <a:solidFill>
                  <a:schemeClr val="bg1"/>
                </a:solidFill>
                <a:latin typeface="Meiryo UI"/>
                <a:ea typeface="Meiryo UI"/>
                <a:cs typeface="Meiryo UI" panose="020B0604030504040204" pitchFamily="50" charset="-128"/>
              </a:rPr>
              <a:t>解禁が</a:t>
            </a:r>
            <a:r>
              <a:rPr kumimoji="1" lang="en-US" altLang="ja-JP" sz="800" dirty="0">
                <a:solidFill>
                  <a:schemeClr val="bg1"/>
                </a:solidFill>
                <a:latin typeface="Meiryo UI"/>
                <a:ea typeface="Meiryo UI"/>
                <a:cs typeface="Meiryo UI" panose="020B0604030504040204" pitchFamily="50" charset="-128"/>
              </a:rPr>
              <a:t>2/10</a:t>
            </a:r>
            <a:r>
              <a:rPr kumimoji="1" lang="ja-JP" altLang="en-US" sz="800" dirty="0">
                <a:solidFill>
                  <a:schemeClr val="bg1"/>
                </a:solidFill>
                <a:latin typeface="Meiryo UI"/>
                <a:ea typeface="Meiryo UI"/>
                <a:cs typeface="Meiryo UI" panose="020B0604030504040204" pitchFamily="50" charset="-128"/>
              </a:rPr>
              <a:t>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Arrow Lake-S+B860/H810</a:t>
            </a:r>
            <a:r>
              <a:rPr kumimoji="1" lang="ja-JP" altLang="en-US" sz="1200" dirty="0">
                <a:solidFill>
                  <a:schemeClr val="bg1"/>
                </a:solidFill>
                <a:latin typeface="Meiryo UI"/>
                <a:ea typeface="Meiryo UI"/>
                <a:cs typeface="Meiryo UI" panose="020B0604030504040204" pitchFamily="50" charset="-128"/>
              </a:rPr>
              <a:t>　解禁日</a:t>
            </a:r>
            <a:r>
              <a:rPr kumimoji="1" lang="en-US" altLang="ja-JP" sz="1200" dirty="0">
                <a:solidFill>
                  <a:schemeClr val="bg1"/>
                </a:solidFill>
                <a:latin typeface="Meiryo UI"/>
                <a:ea typeface="Meiryo UI"/>
                <a:cs typeface="Meiryo UI" panose="020B0604030504040204" pitchFamily="50" charset="-128"/>
              </a:rPr>
              <a:t>1/13-1/17</a:t>
            </a:r>
            <a:r>
              <a:rPr kumimoji="1" lang="ja-JP" altLang="en-US" sz="1200" dirty="0">
                <a:solidFill>
                  <a:schemeClr val="bg1"/>
                </a:solidFill>
                <a:latin typeface="Meiryo UI"/>
                <a:ea typeface="Meiryo UI"/>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1/13 23:00(</a:t>
            </a:r>
            <a:r>
              <a:rPr kumimoji="1" lang="ja-JP" altLang="en-US" sz="1200" dirty="0">
                <a:solidFill>
                  <a:schemeClr val="bg1"/>
                </a:solidFill>
                <a:latin typeface="Meiryo UI"/>
                <a:ea typeface="Meiryo UI"/>
                <a:cs typeface="Meiryo UI" panose="020B0604030504040204" pitchFamily="50" charset="-128"/>
              </a:rPr>
              <a:t>日本</a:t>
            </a:r>
            <a:r>
              <a:rPr kumimoji="1" lang="en-US" altLang="ja-JP" sz="1200" dirty="0">
                <a:solidFill>
                  <a:schemeClr val="bg1"/>
                </a:solidFill>
                <a:latin typeface="Meiryo UI"/>
                <a:ea typeface="Meiryo UI"/>
                <a:cs typeface="Meiryo UI" panose="020B0604030504040204" pitchFamily="50" charset="-128"/>
              </a:rPr>
              <a:t>) mobile</a:t>
            </a:r>
            <a:r>
              <a:rPr kumimoji="1" lang="ja-JP" altLang="en-US" sz="1200" dirty="0">
                <a:solidFill>
                  <a:schemeClr val="bg1"/>
                </a:solidFill>
                <a:latin typeface="Meiryo UI"/>
                <a:ea typeface="Meiryo UI"/>
                <a:cs typeface="Meiryo UI" panose="020B0604030504040204" pitchFamily="50" charset="-128"/>
              </a:rPr>
              <a:t>系も更新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 Refresh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12/17(PST)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Lake-HX/H/U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 23:00(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1/13-2/28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が判明したため追記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情報から更新</a:t>
            </a:r>
            <a:r>
              <a:rPr lang="en-US" altLang="ja-JP" sz="1200" dirty="0">
                <a:solidFill>
                  <a:schemeClr val="bg1"/>
                </a:solidFill>
                <a:latin typeface="Meiryo UI"/>
                <a:ea typeface="Meiryo UI"/>
                <a:cs typeface="Meiryo UI" panose="020B0604030504040204" pitchFamily="50" charset="-128"/>
              </a:rPr>
              <a:t>Q1’25</a:t>
            </a:r>
            <a:r>
              <a:rPr kumimoji="1" lang="en-US" altLang="ja-JP" sz="1200" dirty="0">
                <a:solidFill>
                  <a:schemeClr val="bg1"/>
                </a:solidFill>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Lake-U/H Refresh</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 Twin Lake-N</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前回より後ろ倒し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9950X/9900X</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日本解禁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8/23</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LunarLake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 9:00(PT) 9/4 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2024/4/2</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RPL </a:t>
            </a:r>
            <a:r>
              <a:rPr lang="en-US" altLang="ja-JP" sz="1200" b="0" dirty="0" err="1">
                <a:latin typeface="メイリオ" panose="020B0604030504040204" pitchFamily="50" charset="-128"/>
                <a:ea typeface="メイリオ" panose="020B0604030504040204" pitchFamily="50" charset="-128"/>
              </a:rPr>
              <a:t>Refresh,LNL</a:t>
            </a:r>
            <a:r>
              <a:rPr lang="ja-JP" altLang="en-US" sz="1200" b="0" dirty="0">
                <a:latin typeface="メイリオ" panose="020B0604030504040204" pitchFamily="50" charset="-128"/>
                <a:ea typeface="メイリオ" panose="020B0604030504040204" pitchFamily="50" charset="-128"/>
              </a:rPr>
              <a:t>の</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型番出始めたため、モバイルの</a:t>
            </a:r>
            <a:r>
              <a:rPr lang="en-US" altLang="ja-JP" sz="1200" b="0" dirty="0">
                <a:latin typeface="メイリオ" panose="020B0604030504040204" pitchFamily="50" charset="-128"/>
                <a:ea typeface="メイリオ" panose="020B0604030504040204" pitchFamily="50" charset="-128"/>
              </a:rPr>
              <a:t>SKU</a:t>
            </a:r>
            <a:r>
              <a:rPr lang="ja-JP" altLang="en-US" sz="1200" b="0" dirty="0">
                <a:latin typeface="メイリオ" panose="020B0604030504040204" pitchFamily="50" charset="-128"/>
                <a:ea typeface="メイリオ" panose="020B0604030504040204" pitchFamily="50" charset="-128"/>
              </a:rPr>
              <a:t>を整理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Meteor Lake-U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の型番とコア構成を追加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2023/8/30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10/16</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WW48-50</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23</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月頃、</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モバイル系の情報を更新</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Lake-H/U</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RPL-HX/H/P/U,ADL-N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-HX/X 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 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 3/1-3/15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ADL-N 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スケジュール更新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、発売</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:1/29(P)</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3/1-3/15(U)</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Meteor 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シリーズを追加、</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Alder Lake N</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追加発表発売</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:11/13-12/17</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のコア構成を追記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Lake-HX/H/PX/P/U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の最大コア数・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を記載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は市場にはほぼ出回らない。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は出ない。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RPL-HX/PX/H/P/U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:12/15-1/5(Target: CES’23)/RPL-HX/PX/H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:12/15 -1/21/RPL-P/U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lang="en-US" altLang="ja-JP" sz="1200" b="0" dirty="0">
                <a:latin typeface="メイリオ" panose="020B0604030504040204" pitchFamily="50" charset="-128"/>
                <a:ea typeface="メイリオ" panose="020B0604030504040204" pitchFamily="50" charset="-128"/>
              </a:rPr>
              <a:t>2022/2/28</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Q4</a:t>
            </a:r>
            <a:r>
              <a:rPr lang="ja-JP" altLang="en-US" sz="1200" b="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b="0" dirty="0">
                <a:latin typeface="Meiryo UI" panose="020B0604030504040204" pitchFamily="50" charset="-128"/>
                <a:ea typeface="Meiryo UI" panose="020B0604030504040204" pitchFamily="50" charset="-128"/>
                <a:cs typeface="Meiryo UI" panose="020B0604030504040204" pitchFamily="50" charset="-128"/>
              </a:rPr>
              <a:t>22</a:t>
            </a:r>
            <a:r>
              <a:rPr lang="ja-JP" altLang="en-US" sz="1200" b="0" dirty="0">
                <a:latin typeface="Meiryo UI" panose="020B0604030504040204" pitchFamily="50" charset="-128"/>
                <a:ea typeface="Meiryo UI" panose="020B0604030504040204" pitchFamily="50" charset="-128"/>
                <a:cs typeface="Meiryo UI" panose="020B0604030504040204" pitchFamily="50" charset="-128"/>
              </a:rPr>
              <a:t>以降の予定</a:t>
            </a:r>
            <a:r>
              <a:rPr lang="ja-JP" altLang="en-US"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nl-NL"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RPL-HX/PX/H/P/U</a:t>
            </a:r>
            <a:r>
              <a:rPr lang="ja-JP" altLang="en-US"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nl-NL"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ADL-N</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2022/1/4</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ILU</a:t>
            </a:r>
            <a:r>
              <a:rPr lang="ja-JP" altLang="en-US" sz="1200" b="0" dirty="0">
                <a:latin typeface="メイリオ" panose="020B0604030504040204" pitchFamily="50" charset="-128"/>
                <a:ea typeface="メイリオ" panose="020B0604030504040204" pitchFamily="50" charset="-128"/>
              </a:rPr>
              <a:t>より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発表</a:t>
            </a:r>
            <a:r>
              <a:rPr lang="en-US" altLang="ja-JP" sz="1200" b="0" dirty="0">
                <a:latin typeface="メイリオ" panose="020B0604030504040204" pitchFamily="50" charset="-128"/>
                <a:ea typeface="メイリオ" panose="020B0604030504040204" pitchFamily="50" charset="-128"/>
              </a:rPr>
              <a:t>2/23</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3/20-3/31</a:t>
            </a:r>
            <a:r>
              <a:rPr lang="ja-JP" altLang="en-US" sz="1200" b="0" dirty="0">
                <a:latin typeface="メイリオ" panose="020B0604030504040204" pitchFamily="50" charset="-128"/>
                <a:ea typeface="メイリオ" panose="020B0604030504040204" pitchFamily="50" charset="-128"/>
              </a:rPr>
              <a:t>に更新</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Lake-H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 10:10PST(1/5 3:10JST),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 12:01PST(2/2 5:10JST)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Lake-P/U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:2/27-3/31→2/23-2/28,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:3/13-4/15→3/13-4/7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資料よりモバイル系</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を記載</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lang="en-US" altLang="ja-JP" sz="1200" b="0" dirty="0">
                <a:latin typeface="メイリオ" panose="020B0604030504040204" pitchFamily="50" charset="-128"/>
                <a:ea typeface="メイリオ" panose="020B0604030504040204" pitchFamily="50" charset="-128"/>
              </a:rPr>
              <a:t>2021/9/1</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a:t>
            </a:r>
            <a:r>
              <a:rPr lang="en-US" altLang="ja-JP" sz="1200" b="0" dirty="0">
                <a:latin typeface="メイリオ" panose="020B0604030504040204" pitchFamily="50" charset="-128"/>
                <a:ea typeface="メイリオ" panose="020B0604030504040204" pitchFamily="50" charset="-128"/>
              </a:rPr>
              <a:t>P28-29</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32-33</a:t>
            </a:r>
            <a:r>
              <a:rPr lang="ja-JP" altLang="en-US" sz="1200" b="0" dirty="0">
                <a:latin typeface="メイリオ" panose="020B0604030504040204" pitchFamily="50" charset="-128"/>
                <a:ea typeface="メイリオ" panose="020B0604030504040204" pitchFamily="50" charset="-128"/>
              </a:rPr>
              <a:t>）</a:t>
            </a:r>
          </a:p>
          <a:p>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付き</a:t>
            </a:r>
            <a:r>
              <a:rPr lang="en-US" altLang="ja-JP" sz="1200" b="0" dirty="0">
                <a:latin typeface="メイリオ" panose="020B0604030504040204" pitchFamily="50" charset="-128"/>
                <a:ea typeface="メイリオ" panose="020B0604030504040204" pitchFamily="50" charset="-128"/>
              </a:rPr>
              <a:t>&amp;Z690 10/15-11/19→</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:10/26-11/2,</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:10/26-11/5</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無し</a:t>
            </a:r>
            <a:r>
              <a:rPr lang="en-US" altLang="ja-JP" sz="1200" b="0" dirty="0">
                <a:latin typeface="メイリオ" panose="020B0604030504040204" pitchFamily="50" charset="-128"/>
                <a:ea typeface="メイリオ" panose="020B0604030504040204" pitchFamily="50" charset="-128"/>
              </a:rPr>
              <a:t>&amp;ZH670/B660/H610 1/3-2/18→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:1/3-1/10,</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:1/3-1/17</a:t>
            </a: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:1/1-1/31,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:2/27-3/31,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:3/13-4/15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資料より更新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名など</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r>
              <a:rPr lang="en-US" altLang="ja-JP" sz="1200" b="0" dirty="0">
                <a:latin typeface="メイリオ" panose="020B0604030504040204" pitchFamily="50" charset="-128"/>
                <a:ea typeface="メイリオ" panose="020B0604030504040204" pitchFamily="50" charset="-128"/>
              </a:rPr>
              <a:t>2021/7/28</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-H/P/U</a:t>
            </a:r>
            <a:r>
              <a:rPr lang="ja-JP" altLang="en-US" sz="1200" b="0" dirty="0">
                <a:latin typeface="メイリオ" panose="020B0604030504040204" pitchFamily="50" charset="-128"/>
                <a:ea typeface="メイリオ" panose="020B0604030504040204" pitchFamily="50" charset="-128"/>
              </a:rPr>
              <a:t>の細かい日付が出てきたため反映</a:t>
            </a:r>
            <a:endParaRPr lang="en-US" altLang="ja-JP" sz="1200" b="0" dirty="0">
              <a:latin typeface="メイリオ" panose="020B0604030504040204" pitchFamily="50" charset="-128"/>
              <a:ea typeface="メイリオ" panose="020B0604030504040204" pitchFamily="50" charset="-128"/>
            </a:endParaRP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2021/6/18</a:t>
            </a:r>
            <a:r>
              <a:rPr kumimoji="1" lang="ja-JP" altLang="en-US"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a:t>
            </a: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ADL-S-BGA</a:t>
            </a:r>
            <a:r>
              <a:rPr kumimoji="1" lang="ja-JP" altLang="en-US"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ADL-P</a:t>
            </a:r>
            <a:r>
              <a:rPr kumimoji="1" lang="ja-JP" altLang="en-US"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2021/5/28</a:t>
            </a:r>
            <a:r>
              <a:rPr kumimoji="1" lang="ja-JP" altLang="en-US" sz="96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7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TigerLake</a:t>
            </a:r>
            <a:r>
              <a:rPr kumimoji="1" lang="en-US" altLang="ja-JP"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 5/25</a:t>
            </a:r>
            <a:r>
              <a:rPr kumimoji="1" lang="ja-JP" altLang="en-US"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5/31</a:t>
            </a:r>
            <a:r>
              <a:rPr kumimoji="1" lang="ja-JP" altLang="en-US"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TigerLake-H35 R 5/25</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WW26</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に変更</a:t>
            </a:r>
            <a:endParaRPr kumimoji="1" lang="en-US" altLang="ja-JP"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TigerLake-UP3 </a:t>
            </a:r>
            <a:r>
              <a:rPr lang="en-US" altLang="ja-JP" dirty="0"/>
              <a:t>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-H35 </a:t>
            </a:r>
            <a:r>
              <a:rPr lang="en-US" altLang="ja-JP" dirty="0"/>
              <a:t>Refresh</a:t>
            </a:r>
            <a:r>
              <a:rPr lang="ja-JP" altLang="en-US" dirty="0"/>
              <a:t>の発売日</a:t>
            </a:r>
            <a:r>
              <a:rPr lang="en-US" altLang="ja-JP" dirty="0"/>
              <a:t>5/25</a:t>
            </a:r>
            <a:r>
              <a:rPr lang="ja-JP" altLang="en-US" dirty="0"/>
              <a:t>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TigerLake-UP3 </a:t>
            </a:r>
            <a:r>
              <a:rPr lang="en-US" altLang="ja-JP" dirty="0"/>
              <a:t>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-H35 </a:t>
            </a:r>
            <a:r>
              <a:rPr lang="en-US" altLang="ja-JP" dirty="0"/>
              <a:t>Refresh</a:t>
            </a:r>
            <a:r>
              <a:rPr lang="ja-JP" altLang="en-US" dirty="0"/>
              <a:t>の発売日は</a:t>
            </a:r>
            <a:r>
              <a:rPr lang="en-US" altLang="ja-JP" dirty="0"/>
              <a:t>WW22-WW24</a:t>
            </a:r>
            <a:r>
              <a:rPr lang="ja-JP" altLang="en-US" dirty="0"/>
              <a:t>→</a:t>
            </a:r>
            <a:r>
              <a:rPr lang="en-US" altLang="ja-JP" dirty="0"/>
              <a:t>WW22-WW23</a:t>
            </a:r>
            <a:r>
              <a:rPr lang="ja-JP" altLang="en-US" dirty="0"/>
              <a:t>に縮まった。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UP3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WW22-WW24(WW20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SBGA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は低消費電力、</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SBGA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のハイパワー</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TigerLakeUP4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2020/6/16 TGL-U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9</a:t>
            </a:fld>
            <a:endParaRPr kumimoji="1" lang="ja-JP" altLang="en-US"/>
          </a:p>
        </p:txBody>
      </p:sp>
    </p:spTree>
    <p:extLst>
      <p:ext uri="{BB962C8B-B14F-4D97-AF65-F5344CB8AC3E}">
        <p14:creationId xmlns:p14="http://schemas.microsoft.com/office/powerpoint/2010/main" val="1005507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 9GB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生産再開予定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2025/12/19 RTX5000 Super 2026 H2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RTX5000 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シリーズ後ろ倒しになりそうとのことで一旦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2025/8/12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RTX PRO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Blackwell SFF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Editon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RTX PRO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Blackwell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での情報より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 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月ころ見込み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 Nvidia 5060Ti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の表記を修正</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シリーズ登場時期再度更新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16GB 4/M→4/16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 4/E→4/16</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シリーズ登場時期更新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16GB 3/E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月後半、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RTX5070Ti 2/20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 3/5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RTX5090/RTX5080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2024/11/8</a:t>
            </a:r>
            <a:r>
              <a:rPr lang="ja-JP" altLang="en-US" sz="1200" b="0" i="0" u="none" strike="noStrike" dirty="0">
                <a:solidFill>
                  <a:srgbClr val="000000"/>
                </a:solidFill>
                <a:effectLst/>
                <a:latin typeface="メイリオ" panose="020B0604030504040204" pitchFamily="50" charset="-128"/>
              </a:rPr>
              <a:t>　各ベンダーからの情報を元に</a:t>
            </a:r>
            <a:r>
              <a:rPr lang="en-US" altLang="ja-JP" sz="1200" b="0" i="0" u="none" strike="noStrike" dirty="0">
                <a:solidFill>
                  <a:srgbClr val="000000"/>
                </a:solidFill>
                <a:effectLst/>
                <a:latin typeface="メイリオ" panose="020B0604030504040204" pitchFamily="50" charset="-128"/>
              </a:rPr>
              <a:t>NVIDIA RTX5000Series</a:t>
            </a:r>
            <a:r>
              <a:rPr lang="ja-JP" altLang="en-US" sz="1200" b="0" i="0" u="none" strike="noStrike" dirty="0">
                <a:solidFill>
                  <a:srgbClr val="000000"/>
                </a:solidFill>
                <a:effectLst/>
                <a:latin typeface="メイリオ" panose="020B0604030504040204" pitchFamily="50" charset="-128"/>
              </a:rPr>
              <a:t>に</a:t>
            </a:r>
            <a:r>
              <a:rPr lang="en-US" altLang="ja-JP" sz="1200" b="0" i="0" u="none" strike="noStrike" dirty="0">
                <a:solidFill>
                  <a:srgbClr val="000000"/>
                </a:solidFill>
                <a:effectLst/>
                <a:latin typeface="メイリオ" panose="020B0604030504040204" pitchFamily="50" charset="-128"/>
              </a:rPr>
              <a:t>5070Ti</a:t>
            </a:r>
            <a:r>
              <a:rPr lang="ja-JP" altLang="en-US" sz="1200" b="0" i="0" u="none" strike="noStrike" dirty="0">
                <a:solidFill>
                  <a:srgbClr val="000000"/>
                </a:solidFill>
                <a:effectLst/>
                <a:latin typeface="メイリオ" panose="020B0604030504040204" pitchFamily="50" charset="-128"/>
              </a:rPr>
              <a:t>と</a:t>
            </a:r>
            <a:r>
              <a:rPr lang="en-US" altLang="ja-JP" sz="1200" b="0" i="0" u="none" strike="noStrike" dirty="0">
                <a:solidFill>
                  <a:srgbClr val="000000"/>
                </a:solidFill>
                <a:effectLst/>
                <a:latin typeface="メイリオ" panose="020B0604030504040204" pitchFamily="50" charset="-128"/>
              </a:rPr>
              <a:t>5060Ti</a:t>
            </a:r>
            <a:r>
              <a:rPr lang="ja-JP" altLang="en-US" sz="1200" b="0" i="0" u="none" strike="noStrike" dirty="0">
                <a:solidFill>
                  <a:srgbClr val="000000"/>
                </a:solidFill>
                <a:effectLst/>
                <a:latin typeface="メイリオ"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2024/10/18</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NVIDIA RTX5000Series</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CES</a:t>
            </a:r>
            <a:r>
              <a:rPr lang="ja-JP" altLang="en-US" sz="1200" b="0" i="0" u="none" strike="noStrike" dirty="0">
                <a:solidFill>
                  <a:srgbClr val="000000"/>
                </a:solidFill>
                <a:effectLst/>
                <a:latin typeface="メイリオ" panose="020B0604030504040204" pitchFamily="50" charset="-128"/>
              </a:rPr>
              <a:t>発表見込み　</a:t>
            </a:r>
            <a:r>
              <a:rPr lang="en-US" altLang="ja-JP" sz="1200" b="0" i="0" u="none" strike="noStrike" dirty="0">
                <a:solidFill>
                  <a:srgbClr val="000000"/>
                </a:solidFill>
                <a:effectLst/>
                <a:latin typeface="メイリオ" panose="020B0604030504040204" pitchFamily="50" charset="-128"/>
              </a:rPr>
              <a:t>5080/5090/5070</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RX7600XT 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2023/12/14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 Super</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シリーズの発売予定を追記</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RTX4070Super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1/17</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RTX4070Ti 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1/24</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RTX4080Super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1/31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(RTX3050 6GB</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はその後</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RTX4080Super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RTX4070TiSuper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RTX4060Ti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月の発売予定。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仕入先情報により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RTX4060Ti/4060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の解禁時期を追記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 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 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GeForce RTX4070 4/13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情報により仮追加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月ころ、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 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月以降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2022/12/7</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GTX16/RTX2060</a:t>
            </a:r>
            <a:r>
              <a:rPr lang="ja-JP" altLang="en-US" sz="1200" b="0" dirty="0">
                <a:latin typeface="メイリオ" panose="020B0604030504040204" pitchFamily="50" charset="-128"/>
                <a:ea typeface="メイリオ" panose="020B0604030504040204" pitchFamily="50" charset="-128"/>
              </a:rPr>
              <a:t>は生産終了</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各メーカー在庫限り</a:t>
            </a:r>
            <a:r>
              <a:rPr lang="en-US" altLang="ja-JP" sz="1200" b="0" dirty="0">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2022/11/10</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RTX4070Ti</a:t>
            </a:r>
            <a:r>
              <a:rPr lang="ja-JP" altLang="en-US" sz="1200" b="0" dirty="0">
                <a:latin typeface="メイリオ" panose="020B0604030504040204" pitchFamily="50" charset="-128"/>
                <a:ea typeface="メイリオ" panose="020B0604030504040204" pitchFamily="50" charset="-128"/>
              </a:rPr>
              <a:t>を追加 </a:t>
            </a:r>
            <a:r>
              <a:rPr lang="en-US" altLang="ja-JP" sz="1200" b="0" dirty="0">
                <a:latin typeface="メイリオ" panose="020B0604030504040204" pitchFamily="50" charset="-128"/>
                <a:ea typeface="メイリオ" panose="020B0604030504040204" pitchFamily="50" charset="-128"/>
              </a:rPr>
              <a:t>1/5</a:t>
            </a:r>
            <a:r>
              <a:rPr lang="ja-JP" altLang="en-US" sz="1200" b="0" dirty="0">
                <a:latin typeface="メイリオ" panose="020B0604030504040204" pitchFamily="50" charset="-128"/>
                <a:ea typeface="メイリオ" panose="020B0604030504040204" pitchFamily="50" charset="-128"/>
              </a:rPr>
              <a:t>解禁</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2022/10/21</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RTX4080 12GB</a:t>
            </a:r>
            <a:r>
              <a:rPr lang="ja-JP" altLang="en-US" sz="1200" b="0" dirty="0">
                <a:latin typeface="メイリオ" panose="020B0604030504040204" pitchFamily="50" charset="-128"/>
                <a:ea typeface="メイリオ" panose="020B0604030504040204" pitchFamily="50" charset="-128"/>
              </a:rPr>
              <a:t>を削除、</a:t>
            </a:r>
            <a:r>
              <a:rPr lang="en-US" altLang="ja-JP" sz="1200" b="0" dirty="0">
                <a:latin typeface="メイリオ" panose="020B0604030504040204" pitchFamily="50" charset="-128"/>
                <a:ea typeface="メイリオ" panose="020B0604030504040204" pitchFamily="50" charset="-128"/>
              </a:rPr>
              <a:t>RTX4070</a:t>
            </a:r>
            <a:r>
              <a:rPr lang="ja-JP" altLang="en-US" sz="1200" b="0" dirty="0">
                <a:latin typeface="メイリオ" panose="020B0604030504040204" pitchFamily="50" charset="-128"/>
                <a:ea typeface="メイリオ" panose="020B0604030504040204" pitchFamily="50" charset="-128"/>
              </a:rPr>
              <a:t>を仮入れ</a:t>
            </a:r>
            <a:r>
              <a:rPr lang="en-US" altLang="ja-JP" sz="1200" b="0" dirty="0">
                <a:latin typeface="メイリオ" panose="020B0604030504040204" pitchFamily="50" charset="-128"/>
                <a:ea typeface="メイリオ" panose="020B0604030504040204" pitchFamily="50" charset="-128"/>
              </a:rPr>
              <a:t>(Q1</a:t>
            </a:r>
            <a:r>
              <a:rPr lang="ja-JP" altLang="en-US" sz="1200" b="0" dirty="0">
                <a:latin typeface="メイリオ" panose="020B0604030504040204" pitchFamily="50" charset="-128"/>
                <a:ea typeface="メイリオ" panose="020B0604030504040204" pitchFamily="50" charset="-128"/>
              </a:rPr>
              <a:t>頃？</a:t>
            </a:r>
            <a:r>
              <a:rPr lang="en-US" altLang="ja-JP" sz="1200" b="0" dirty="0">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10/12:RTX4090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RTX4080:16GB/RTX4080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RTX3070Ti(GA102)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RTX3060Ti(G6X)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RTX3050(GA107)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RTX3090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9/E-10/F</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RTX3080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10/E-11/M</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RTX3070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11/M-12/F</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3060/3050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2023</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年後半見込み、</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3060Ti</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以下は</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1H</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まで継続予定（在庫あるため）</a:t>
            </a:r>
            <a:endPar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rtl="0" eaLnBrk="1" fontAlgn="auto" latinLnBrk="0" hangingPunct="1">
              <a:spcBef>
                <a:spcPts val="0"/>
              </a:spcBef>
              <a:spcAft>
                <a:spcPts val="0"/>
              </a:spcAft>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RTX3090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Q3/E</a:t>
            </a:r>
            <a:r>
              <a:rPr lang="ja-JP" altLang="en-US" sz="1200" b="0" dirty="0">
                <a:latin typeface="メイリオ" panose="020B0604030504040204" pitchFamily="50" charset="-128"/>
                <a:ea typeface="メイリオ"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RTX3080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Q4/F</a:t>
            </a:r>
            <a:r>
              <a:rPr lang="ja-JP" altLang="en-US" sz="1200" b="0" dirty="0">
                <a:latin typeface="メイリオ" panose="020B0604030504040204" pitchFamily="50" charset="-128"/>
                <a:ea typeface="メイリオ"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RTX3070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Q4/M</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2022/5/23 GTX1630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2022/3/4</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RTX3090Ti</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3/29</a:t>
            </a:r>
            <a:r>
              <a:rPr lang="ja-JP" altLang="en-US" sz="1200" b="0" dirty="0">
                <a:latin typeface="メイリオ" panose="020B0604030504040204" pitchFamily="50" charset="-128"/>
                <a:ea typeface="メイリオ" panose="020B0604030504040204" pitchFamily="50" charset="-128"/>
              </a:rPr>
              <a:t>発売</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b="0" i="0" dirty="0">
                <a:effectLst/>
                <a:latin typeface="Tahoma" panose="020B0604030504040204" pitchFamily="34" charset="0"/>
              </a:rPr>
              <a:t>RTX3070Ti 16GB</a:t>
            </a:r>
            <a:r>
              <a:rPr lang="ja-JP" altLang="en-US" b="0" i="0" dirty="0">
                <a:effectLst/>
                <a:latin typeface="Tahoma" panose="020B0604030504040204" pitchFamily="34" charset="0"/>
              </a:rPr>
              <a:t>春節明け</a:t>
            </a:r>
            <a:r>
              <a:rPr lang="en-US" altLang="ja-JP" b="0" i="0" dirty="0">
                <a:effectLst/>
                <a:latin typeface="Tahoma" panose="020B0604030504040204" pitchFamily="34" charset="0"/>
              </a:rPr>
              <a:t>(2</a:t>
            </a:r>
            <a:r>
              <a:rPr lang="ja-JP" altLang="en-US" b="0" i="0" dirty="0">
                <a:effectLst/>
                <a:latin typeface="Tahoma" panose="020B0604030504040204" pitchFamily="34" charset="0"/>
              </a:rPr>
              <a:t>月以降</a:t>
            </a:r>
            <a:r>
              <a:rPr lang="en-US" altLang="ja-JP" b="0" i="0" dirty="0">
                <a:effectLst/>
                <a:latin typeface="Tahoma" panose="020B0604030504040204" pitchFamily="34" charset="0"/>
              </a:rPr>
              <a:t>)</a:t>
            </a:r>
            <a:r>
              <a:rPr lang="ja-JP" altLang="en-US" b="0" i="0" dirty="0">
                <a:effectLst/>
                <a:latin typeface="Tahoma" panose="020B0604030504040204" pitchFamily="34" charset="0"/>
              </a:rPr>
              <a:t>に延期の連絡有り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　</a:t>
            </a:r>
            <a:r>
              <a:rPr lang="en-US" altLang="ja-JP" b="0" i="0" dirty="0">
                <a:solidFill>
                  <a:srgbClr val="242424"/>
                </a:solidFill>
                <a:effectLst/>
                <a:latin typeface="Segoe UI" panose="020B0502040204020203" pitchFamily="34" charset="0"/>
              </a:rPr>
              <a:t>RTX3090Ti 1/13</a:t>
            </a:r>
            <a:r>
              <a:rPr lang="ja-JP" altLang="en-US" b="0" i="0" dirty="0">
                <a:solidFill>
                  <a:srgbClr val="242424"/>
                </a:solidFill>
                <a:effectLst/>
                <a:latin typeface="Segoe UI" panose="020B0502040204020203" pitchFamily="34" charset="0"/>
              </a:rPr>
              <a:t>発表 </a:t>
            </a:r>
            <a:r>
              <a:rPr lang="en-US" altLang="ja-JP" b="0" i="0" dirty="0">
                <a:solidFill>
                  <a:srgbClr val="242424"/>
                </a:solidFill>
                <a:effectLst/>
                <a:latin typeface="Segoe UI" panose="020B0502040204020203" pitchFamily="34" charset="0"/>
              </a:rPr>
              <a:t>1/27</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RTX3080 12GB 12/17</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1/11</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RTX3070Ti 16GB 12/17</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1/11</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RTX3050 1/13</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1/27</a:t>
            </a:r>
            <a:r>
              <a:rPr lang="ja-JP" altLang="en-US" b="0" i="0" dirty="0">
                <a:solidFill>
                  <a:srgbClr val="242424"/>
                </a:solidFill>
                <a:effectLst/>
                <a:latin typeface="Segoe UI" panose="020B0502040204020203" pitchFamily="34" charset="0"/>
              </a:rPr>
              <a:t>発売</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Palit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RTX3090S/</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Palit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RTX2060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追加。</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からの情報で</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RTX3090Super(</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Ti</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RTX3080 12GB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RTX3070 16GB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新チップ板、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RTX3090/3080/3070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新チップ版の予定を追加　再製造となった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予定を現状に合わせ更新。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2/26 2:00JST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 RTX3060 12GB 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　他もずれる可能性あり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ZOTAC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RTX3060 12GB</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1/28</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2</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月前半、</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RTX3080Ti 2</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月後半、</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RTX3060 6G</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RTX306012G/6G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サプライはとても悪い、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割程度サプライ比。</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RTX3060Ti 11/17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 20GB RTX3070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対抗？キャンセル？確認中）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2020/10/9</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ZOTAC</a:t>
            </a:r>
            <a:r>
              <a:rPr lang="ja-JP" altLang="en-US" sz="1200" b="0" dirty="0">
                <a:latin typeface="メイリオ" panose="020B0604030504040204" pitchFamily="50" charset="-128"/>
                <a:ea typeface="メイリオ" panose="020B0604030504040204" pitchFamily="50" charset="-128"/>
              </a:rPr>
              <a:t>のロードマップより予定を更新</a:t>
            </a:r>
            <a:r>
              <a:rPr lang="en-US" altLang="ja-JP" sz="1200" b="0" dirty="0">
                <a:latin typeface="メイリオ" panose="020B0604030504040204" pitchFamily="50" charset="-128"/>
                <a:ea typeface="メイリオ" panose="020B0604030504040204" pitchFamily="50" charset="-128"/>
              </a:rPr>
              <a:t>RTX3060Ti 11</a:t>
            </a:r>
            <a:r>
              <a:rPr lang="ja-JP" altLang="en-US" sz="1200" b="0" dirty="0">
                <a:latin typeface="メイリオ" panose="020B0604030504040204" pitchFamily="50" charset="-128"/>
                <a:ea typeface="メイリオ" panose="020B0604030504040204" pitchFamily="50" charset="-128"/>
              </a:rPr>
              <a:t>月、</a:t>
            </a:r>
            <a:r>
              <a:rPr lang="en-US" altLang="ja-JP" sz="1200" b="0" dirty="0">
                <a:latin typeface="メイリオ" panose="020B0604030504040204" pitchFamily="50" charset="-128"/>
                <a:ea typeface="メイリオ" panose="020B0604030504040204" pitchFamily="50" charset="-128"/>
              </a:rPr>
              <a:t>RTX3060 1</a:t>
            </a:r>
            <a:r>
              <a:rPr lang="ja-JP" altLang="en-US" sz="1200" b="0" dirty="0">
                <a:latin typeface="メイリオ" panose="020B0604030504040204" pitchFamily="50" charset="-128"/>
                <a:ea typeface="メイリオ" panose="020B0604030504040204" pitchFamily="50" charset="-128"/>
              </a:rPr>
              <a:t>月</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2020/8/25</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発売予定日</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2020/8/19</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ZOTAC</a:t>
            </a:r>
            <a:r>
              <a:rPr lang="ja-JP" altLang="en-US" sz="1200" b="0" dirty="0">
                <a:latin typeface="メイリオ" panose="020B0604030504040204" pitchFamily="50" charset="-128"/>
                <a:ea typeface="メイリオ" panose="020B0604030504040204" pitchFamily="50" charset="-128"/>
              </a:rPr>
              <a:t>ロードマップから</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a:t>
            </a:r>
            <a:r>
              <a:rPr lang="en-US" altLang="ja-JP" sz="1200" b="0" dirty="0">
                <a:latin typeface="メイリオ" panose="020B0604030504040204" pitchFamily="50" charset="-128"/>
                <a:ea typeface="メイリオ" panose="020B0604030504040204" pitchFamily="50" charset="-128"/>
              </a:rPr>
              <a:t>GTX</a:t>
            </a:r>
            <a:r>
              <a:rPr lang="ja-JP" altLang="en-US" sz="1200" b="0" dirty="0">
                <a:latin typeface="メイリオ" panose="020B0604030504040204" pitchFamily="50" charset="-128"/>
                <a:ea typeface="メイリオ" panose="020B0604030504040204" pitchFamily="50" charset="-128"/>
              </a:rPr>
              <a:t>シリーズ？</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2020/7/31</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a:t>
            </a:r>
            <a:r>
              <a:rPr lang="en-US" altLang="ja-JP" sz="1200" b="0" dirty="0">
                <a:latin typeface="メイリオ" panose="020B0604030504040204" pitchFamily="50" charset="-128"/>
                <a:ea typeface="メイリオ" panose="020B0604030504040204" pitchFamily="50" charset="-128"/>
              </a:rPr>
              <a:t>SKU</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RTX2080Ti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月）変更修正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微調整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以降以下のようになる見込み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から上位派生）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から下位派生）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から下位派生）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1650Ti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1650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1030</a:t>
            </a:r>
          </a:p>
          <a:p>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2018/1/24</a:t>
            </a:r>
          </a:p>
          <a:p>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移行の流れ</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1550Ti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1050Ti</a:t>
            </a:r>
          </a:p>
          <a:p>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実質値上げ</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GTX1160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RTX2060/GTX1160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のラインになる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10</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 GRE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の日本市場発売解禁日時は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11:00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RX9050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 発売は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TBDQ2-Q3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RX9070GRE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中国市場ではリリース済みの製品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RX9060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製品ライフサイクル調整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RX9060XT 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RX9060XT 16GB/8GB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の表記を調整し、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へ移動</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RX9070XT/9070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1/17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Intel Arc Battle</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ｍ</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age</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12/3</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12/13 B580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1/16</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B570</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資料共有から継続予定と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RDNA4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の登場予定更新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ターゲット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6000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しない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してもベンダー在庫あるためなくなることはない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RX7900GRE </a:t>
            </a:r>
            <a:r>
              <a:rPr lang="en-US" altLang="ja-JP" dirty="0"/>
              <a:t>2/27</a:t>
            </a:r>
            <a:r>
              <a:rPr lang="ja-JP" altLang="en-US" dirty="0"/>
              <a:t>解禁</a:t>
            </a:r>
            <a:r>
              <a:rPr lang="en-US" altLang="ja-JP" dirty="0"/>
              <a:t>(Global)</a:t>
            </a:r>
            <a:r>
              <a:rPr lang="ja-JP" altLang="en-US" dirty="0"/>
              <a:t>　</a:t>
            </a:r>
            <a:r>
              <a:rPr lang="en-US" altLang="ja-JP" dirty="0"/>
              <a:t>3/1 11:00</a:t>
            </a:r>
            <a:r>
              <a:rPr lang="ja-JP" altLang="en-US" dirty="0"/>
              <a:t>解禁</a:t>
            </a:r>
            <a:r>
              <a:rPr lang="en-US" altLang="ja-JP" dirty="0"/>
              <a:t>(</a:t>
            </a:r>
            <a:r>
              <a:rPr lang="ja-JP" altLang="en-US" dirty="0"/>
              <a:t>日本</a:t>
            </a:r>
            <a:r>
              <a:rPr lang="en-US" altLang="ja-JP" dirty="0"/>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RX7900GRE 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展開予定を追加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すでに中国にて販売されているものを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展開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Q1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RX7600XT 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解禁</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RX7600XT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RX6500XT 8GB</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Arc A580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RX7700XT/RX7800XT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グローバル発売日、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日本の発売日</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資料より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7700XT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7800XT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Navi31XL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RX7900(</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China,Korea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Navi32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RX7700 9/5(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グローバル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RTX4060Ti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月の発売予定。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s-E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5/25 22:00(Global)</a:t>
            </a:r>
            <a:r>
              <a:rPr lang="ja-JP" altLang="es-E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s-E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5/26 11:00(</a:t>
            </a:r>
            <a:r>
              <a:rPr lang="ja-JP" altLang="es-E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日本</a:t>
            </a:r>
            <a:r>
              <a:rPr lang="es-E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 RX7600</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ミドルレンジ</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Q2</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情報により更新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Ryzen 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65W(R9/R7/R5) </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CES (1/5-1/8)</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販売</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月上旬、</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RADEON7000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シリーズ　日本解禁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11/16 19:00</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RADEON7xxx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シリーズ発表に伴い更新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RX7900XTX(TDP355W)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RX7900XT(TDP300W)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12/13</a:t>
            </a:r>
          </a:p>
          <a:p>
            <a:pPr algn="l"/>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IntelArc</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A310 A550(orA580)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以外は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解禁済みに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Arc A770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A750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A310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機種予定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TDP(TBP)350W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TDP(TBP)300W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のもの。リファレンスは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287mm/276.4mm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2.5Slot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、補助電源は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8pin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シリーズ後ろ倒し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SKUs 1, 2, 7 [Arc 7(A770/A750), Arc 3(A310)]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10/1-10/31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 3 [Arc 5(A550)]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10/15-11/30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の情報・販売解禁日変更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9/29</a:t>
            </a:r>
          </a:p>
          <a:p>
            <a:pPr marL="0" marR="0" indent="0" algn="l" rtl="0" eaLnBrk="1" fontAlgn="auto" latinLnBrk="0" hangingPunct="1">
              <a:spcBef>
                <a:spcPts val="0"/>
              </a:spcBef>
              <a:spcAft>
                <a:spcPts val="0"/>
              </a:spcAft>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中国は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A380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のみ先行販売解禁済み。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は発表及び解禁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7/1-8/31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8/1-8/31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rtl="0" eaLnBrk="1" fontAlgn="auto" latinLnBrk="0" hangingPunct="1">
              <a:spcBef>
                <a:spcPts val="0"/>
              </a:spcBef>
              <a:spcAft>
                <a:spcPts val="0"/>
              </a:spcAft>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2022/6/8 </a:t>
            </a:r>
            <a:r>
              <a:rPr lang="ja-JP" altLang="en-US" sz="1200" b="0" dirty="0">
                <a:latin typeface="メイリオ" panose="020B0604030504040204" pitchFamily="50" charset="-128"/>
                <a:ea typeface="メイリオ" panose="020B0604030504040204" pitchFamily="50" charset="-128"/>
              </a:rPr>
              <a:t>　</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rPr>
              <a:t>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11</a:t>
            </a:fld>
            <a:endParaRPr kumimoji="1" lang="ja-JP" altLang="en-US"/>
          </a:p>
        </p:txBody>
      </p:sp>
    </p:spTree>
    <p:extLst>
      <p:ext uri="{BB962C8B-B14F-4D97-AF65-F5344CB8AC3E}">
        <p14:creationId xmlns:p14="http://schemas.microsoft.com/office/powerpoint/2010/main" val="1088638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2025/6/26 Wi-Fi7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Realtek RTL8922A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AMD(MediaTek)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製品の追加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RZ738(MT7927)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RZ717(MT7925)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日本国内解禁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BE200/BE202/BE201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の最高速度追記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IntelWiFi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ページ作成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12</a:t>
            </a:fld>
            <a:endParaRPr kumimoji="1" lang="ja-JP" altLang="en-US"/>
          </a:p>
        </p:txBody>
      </p:sp>
    </p:spTree>
    <p:extLst>
      <p:ext uri="{BB962C8B-B14F-4D97-AF65-F5344CB8AC3E}">
        <p14:creationId xmlns:p14="http://schemas.microsoft.com/office/powerpoint/2010/main" val="482145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850(5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GX7100(5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5100(5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短命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Optimus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GX 7150(Q4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SA510 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のブランド名変更。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Black/Blue →Optimus GX PRO/GX/-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Crucial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ブランド終了とのことで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月時点で区切り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月末まで出荷はするそう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Crucial T710(Gen5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SiliconMotion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SM2508)/P510(Gen5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E31T)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MTG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製品登場時期と終了時期を追加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14000MB/s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クラスが続々でてきているため上下を付けるために分割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2025/3/27</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SAMSUNG 9100 PRO</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E29T Gen4x4 DRAM-L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E27T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後継にあたる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2500(QLC 2400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SAMSUNG BM9C1(QLC SAMSUNG</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初</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QLC)</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Seaview Harbor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削除</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2500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(Gen4x4 QLC Sequential Read 7000MB/s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Nexstrage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G Series LE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(Gen4x4 TLC DRAM Less)</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Crucial T705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(Gen5x4 Sequential Read 14,000MB/s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Seagate FireCuda530R</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追加（</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NAND</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不足による変更</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Micron</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err="1">
                <a:latin typeface="Meiryo UI" panose="020B0604030504040204" pitchFamily="50" charset="-128"/>
                <a:ea typeface="Meiryo UI" panose="020B0604030504040204" pitchFamily="50" charset="-128"/>
                <a:cs typeface="Meiryo UI" panose="020B0604030504040204" pitchFamily="50" charset="-128"/>
              </a:rPr>
              <a:t>BiCs</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2024/2/1 SAMSUNG 990EVO</a:t>
            </a:r>
            <a:r>
              <a:rPr kumimoji="1" lang="ja-JP" altLang="en-US" sz="1200" b="0" baseline="0" dirty="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　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2023/11/24 Crucial T500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3500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P42Plus(</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FairviewHarbor</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月頃から展開、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P41Plus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併売、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Seaview Harbor</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670p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CFD Realtek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 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を準備中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SN580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が前倒しで登場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出荷継続するが徐々に取れなくなるとのこと。</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は年内終了、後継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t>
            </a:r>
            <a:r>
              <a:rPr lang="en-US" altLang="ja-JP" dirty="0"/>
              <a:t>airview Harbor</a:t>
            </a:r>
            <a:r>
              <a:rPr lang="ja-JP" altLang="en-US" dirty="0"/>
              <a:t>　</a:t>
            </a:r>
            <a:r>
              <a:rPr lang="en-US" altLang="ja-JP" dirty="0"/>
              <a:t>Q3-Q4</a:t>
            </a:r>
            <a:r>
              <a:rPr lang="ja-JP" altLang="en-US" dirty="0"/>
              <a:t>辺りに投入（</a:t>
            </a:r>
            <a:r>
              <a:rPr lang="en-US" altLang="ja-JP" dirty="0"/>
              <a:t>P41Plus</a:t>
            </a:r>
            <a:r>
              <a:rPr lang="ja-JP" altLang="en-US" dirty="0"/>
              <a:t>の後継）、</a:t>
            </a:r>
            <a:r>
              <a:rPr lang="en-US" altLang="ja-JP" dirty="0"/>
              <a:t>P41Plus</a:t>
            </a:r>
            <a:r>
              <a:rPr lang="ja-JP" altLang="en-US" dirty="0"/>
              <a:t>は</a:t>
            </a:r>
            <a:r>
              <a:rPr lang="en-US" altLang="ja-JP" dirty="0"/>
              <a:t>2024 Q1-Q2</a:t>
            </a:r>
            <a:r>
              <a:rPr lang="ja-JP" altLang="en-US" dirty="0"/>
              <a:t>あたりにラストオーダー、</a:t>
            </a:r>
            <a:r>
              <a:rPr lang="en-US" altLang="ja-JP" dirty="0"/>
              <a:t>670p 2023 Q3</a:t>
            </a:r>
            <a:r>
              <a:rPr lang="ja-JP" altLang="en-US" dirty="0"/>
              <a:t>にラストオーダー以後流通う在庫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Hynix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PC801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PC811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を開発しているが、ローンチするかは決まっていない。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PCB011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を来年予定。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BC901(Gen4 DRAM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Less)256G/512G/1TB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をオープンして勧めているところ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FairviewHarbor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速度別整理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err="1">
                <a:latin typeface="Meiryo UI" panose="020B0604030504040204" pitchFamily="50" charset="-128"/>
                <a:ea typeface="Meiryo UI" panose="020B0604030504040204" pitchFamily="50" charset="-128"/>
                <a:cs typeface="Meiryo UI" panose="020B0604030504040204" pitchFamily="50" charset="-128"/>
              </a:rPr>
              <a:t>Nextorage</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SSD</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Solidigm</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Intel+Hynix</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の新会社</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の型番を追加</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Seagate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FireCuda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高耐久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の情報を追記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530:Gen4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E18 7000MB/s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520(</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Refresh</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E16 5000MB/s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540:Gen5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E26(Gen5)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現状に書き換え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SN550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SN750/SN750SE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SN770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Blue(SATA)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Blue(SATA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latin typeface="Meiryo UI" panose="020B0604030504040204" pitchFamily="50" charset="-128"/>
                <a:ea typeface="Meiryo UI" panose="020B0604030504040204" pitchFamily="50" charset="-128"/>
                <a:cs typeface="Meiryo UI" panose="020B0604030504040204" pitchFamily="50" charset="-128"/>
              </a:rPr>
              <a:t>Cruicial</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P5 Plus </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追加（</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micron 3400 S </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の</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Crucial</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ブランド）</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E19T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E21T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2020/2/19</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SAMSUNG 980</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Gen3x4</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対応品を追加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Black SN850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SANSUNG 980PRO</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ケミックとの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MTG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にて得た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関連の情報を追加。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など。</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660pEOL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延長</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670p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開始少し後ろ倒し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Q4‘20→Q4‘20Mid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665p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20EOL</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13</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kern="1200" dirty="0">
              <a:solidFill>
                <a:schemeClr val="tx1"/>
              </a:solidFill>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14</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15</a:t>
            </a:fld>
            <a:endParaRPr kumimoji="1" lang="ja-JP" altLang="en-US"/>
          </a:p>
        </p:txBody>
      </p:sp>
    </p:spTree>
    <p:extLst>
      <p:ext uri="{BB962C8B-B14F-4D97-AF65-F5344CB8AC3E}">
        <p14:creationId xmlns:p14="http://schemas.microsoft.com/office/powerpoint/2010/main" val="2460038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rPr>
              <a:t>KIOXIA EXCERIA BASIC</a:t>
            </a:r>
            <a:r>
              <a:rPr kumimoji="1" lang="ja-JP" altLang="en-US" sz="1200" dirty="0">
                <a:solidFill>
                  <a:schemeClr val="bg1"/>
                </a:solidFill>
                <a:latin typeface="Meiryo UI" panose="020B0604030504040204" pitchFamily="50" charset="-128"/>
                <a:ea typeface="Meiryo UI" panose="020B0604030504040204" pitchFamily="50" charset="-128"/>
              </a:rPr>
              <a:t>を</a:t>
            </a:r>
            <a:r>
              <a:rPr kumimoji="1" lang="en-US" altLang="ja-JP" sz="1200" dirty="0">
                <a:solidFill>
                  <a:schemeClr val="bg1"/>
                </a:solidFill>
                <a:latin typeface="Meiryo UI" panose="020B0604030504040204" pitchFamily="50" charset="-128"/>
                <a:ea typeface="Meiryo UI" panose="020B0604030504040204" pitchFamily="50" charset="-128"/>
              </a:rPr>
              <a:t>Gen4</a:t>
            </a:r>
            <a:r>
              <a:rPr kumimoji="1" lang="ja-JP" altLang="en-US" sz="1200" dirty="0">
                <a:solidFill>
                  <a:schemeClr val="bg1"/>
                </a:solidFill>
                <a:latin typeface="Meiryo UI" panose="020B0604030504040204" pitchFamily="50" charset="-128"/>
                <a:ea typeface="Meiryo UI" panose="020B0604030504040204" pitchFamily="50" charset="-128"/>
              </a:rPr>
              <a:t>汎用</a:t>
            </a:r>
            <a:r>
              <a:rPr kumimoji="1" lang="en-US" altLang="ja-JP" sz="1200" dirty="0">
                <a:solidFill>
                  <a:schemeClr val="bg1"/>
                </a:solidFill>
                <a:latin typeface="Meiryo UI" panose="020B0604030504040204" pitchFamily="50" charset="-128"/>
                <a:ea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rPr>
              <a:t>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850(5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GX7100(5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5100(5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短命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Optimus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GX 7150(Q4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SA510 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のブランド名変更。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Black/Blue →Optimus GX PRO/GX/-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2025/12/15 Crucial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ブランド終了とのことで、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SN8100 or SAMSUNG 9100 Pro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へ移行</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2025/10/27 Micron 2500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2600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標準モデルの設定があるため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Lineup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上に追加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現状に合わせ更新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新たに汎用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2024/8/16</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Micron 2500(QLC 2400</a:t>
            </a:r>
            <a:r>
              <a:rPr lang="ja-JP" altLang="en-US" sz="1200" b="0" dirty="0">
                <a:latin typeface="メイリオ" panose="020B0604030504040204" pitchFamily="50" charset="-128"/>
                <a:ea typeface="メイリオ" panose="020B0604030504040204" pitchFamily="50" charset="-128"/>
              </a:rPr>
              <a:t>後継</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SAMSUNG BM9C1(QLC SAMSUNG</a:t>
            </a:r>
            <a:r>
              <a:rPr lang="ja-JP" altLang="en-US" sz="1200" b="0" dirty="0">
                <a:latin typeface="メイリオ" panose="020B0604030504040204" pitchFamily="50" charset="-128"/>
                <a:ea typeface="メイリオ" panose="020B0604030504040204" pitchFamily="50" charset="-128"/>
              </a:rPr>
              <a:t>初</a:t>
            </a:r>
            <a:r>
              <a:rPr lang="en-US" altLang="ja-JP" sz="1200" b="0" dirty="0">
                <a:latin typeface="メイリオ" panose="020B0604030504040204" pitchFamily="50" charset="-128"/>
                <a:ea typeface="メイリオ" panose="020B0604030504040204" pitchFamily="50" charset="-128"/>
              </a:rPr>
              <a:t>QLC)</a:t>
            </a:r>
            <a:r>
              <a:rPr lang="ja-JP" altLang="en-US" sz="1200" b="0" dirty="0">
                <a:latin typeface="メイリオ" panose="020B0604030504040204" pitchFamily="50" charset="-128"/>
                <a:ea typeface="メイリオ" panose="020B0604030504040204" pitchFamily="50" charset="-128"/>
              </a:rPr>
              <a:t>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削除</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販売しない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SAMSUNG PM9C1a</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PhisonE27T/E19T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HynixBC901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再度準備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ページ内容を標準採用（汎用品扱い）のみに変更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16</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850(5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GX7100(5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5100(5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短命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Optimus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GX 7150(Q4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SA510 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のブランド名変更。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Black/Blue →Optimus GX PRO/GX/-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2025/12/15 Crucial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ブランド終了とのことで、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SN8100 or SAMSUNG 9100 Pro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へ移行</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2.5”SSD</a:t>
            </a:r>
            <a:r>
              <a:rPr lang="ja-JP" altLang="en-US" sz="1200" dirty="0">
                <a:solidFill>
                  <a:schemeClr val="tx1"/>
                </a:solidFill>
                <a:latin typeface="Meiryo UI" panose="020B0604030504040204" pitchFamily="50" charset="-128"/>
                <a:ea typeface="Meiryo UI" panose="020B0604030504040204" pitchFamily="50" charset="-128"/>
              </a:rPr>
              <a:t>は取り扱い終了予定だったが、</a:t>
            </a:r>
            <a:r>
              <a:rPr lang="en-US" altLang="ja-JP" sz="1200" dirty="0">
                <a:solidFill>
                  <a:schemeClr val="tx1"/>
                </a:solidFill>
                <a:latin typeface="Meiryo UI" panose="020B0604030504040204" pitchFamily="50" charset="-128"/>
                <a:ea typeface="Meiryo UI" panose="020B0604030504040204" pitchFamily="50" charset="-128"/>
              </a:rPr>
              <a:t>2.5”HDD</a:t>
            </a:r>
            <a:r>
              <a:rPr lang="ja-JP" altLang="en-US" sz="1200" dirty="0">
                <a:solidFill>
                  <a:schemeClr val="tx1"/>
                </a:solidFill>
                <a:latin typeface="Meiryo UI" panose="020B0604030504040204" pitchFamily="50" charset="-128"/>
                <a:ea typeface="Meiryo UI" panose="020B0604030504040204" pitchFamily="50" charset="-128"/>
              </a:rPr>
              <a:t>が取れなくなってきているため</a:t>
            </a:r>
            <a:r>
              <a:rPr lang="en-US" altLang="ja-JP" sz="1200" dirty="0">
                <a:solidFill>
                  <a:schemeClr val="tx1"/>
                </a:solidFill>
                <a:latin typeface="Meiryo UI" panose="020B0604030504040204" pitchFamily="50" charset="-128"/>
                <a:ea typeface="Meiryo UI" panose="020B0604030504040204" pitchFamily="50" charset="-128"/>
              </a:rPr>
              <a:t>SSD</a:t>
            </a:r>
            <a:r>
              <a:rPr lang="ja-JP" altLang="en-US" sz="1200" dirty="0">
                <a:solidFill>
                  <a:schemeClr val="tx1"/>
                </a:solidFill>
                <a:latin typeface="Meiryo UI" panose="020B0604030504040204" pitchFamily="50" charset="-128"/>
                <a:ea typeface="Meiryo UI" panose="020B0604030504040204" pitchFamily="50" charset="-128"/>
              </a:rPr>
              <a:t>の方は</a:t>
            </a:r>
            <a:r>
              <a:rPr lang="en-US" altLang="ja-JP" sz="1200" dirty="0">
                <a:solidFill>
                  <a:schemeClr val="tx1"/>
                </a:solidFill>
                <a:latin typeface="Meiryo UI" panose="020B0604030504040204" pitchFamily="50" charset="-128"/>
                <a:ea typeface="Meiryo UI" panose="020B0604030504040204" pitchFamily="50" charset="-128"/>
              </a:rPr>
              <a:t>TBD</a:t>
            </a:r>
            <a:r>
              <a:rPr lang="ja-JP" altLang="en-US" sz="1200" dirty="0">
                <a:solidFill>
                  <a:schemeClr val="tx1"/>
                </a:solidFill>
                <a:latin typeface="Meiryo UI" panose="020B0604030504040204" pitchFamily="50" charset="-128"/>
                <a:ea typeface="Meiryo UI" panose="020B0604030504040204" pitchFamily="50" charset="-128"/>
              </a:rPr>
              <a:t>へ変更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2.5” SSD</a:t>
            </a:r>
            <a:r>
              <a:rPr kumimoji="1" lang="ja-JP" altLang="en-US" sz="1200" dirty="0">
                <a:solidFill>
                  <a:schemeClr val="tx1"/>
                </a:solidFill>
                <a:latin typeface="Meiryo UI" panose="020B0604030504040204" pitchFamily="50" charset="-128"/>
                <a:ea typeface="Meiryo UI" panose="020B0604030504040204" pitchFamily="50" charset="-128"/>
              </a:rPr>
              <a:t>取り扱い終了予定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SMSUNG 9100 PRO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系を仮追加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現状に合わせ更新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lang="en-US" altLang="ja-JP" sz="1200" dirty="0" err="1">
                <a:latin typeface="Meiryo UI" panose="020B0604030504040204" pitchFamily="50" charset="-128"/>
                <a:ea typeface="Meiryo UI" panose="020B0604030504040204" pitchFamily="50" charset="-128"/>
              </a:rPr>
              <a:t>Nextorage</a:t>
            </a:r>
            <a:r>
              <a:rPr lang="en-US" altLang="ja-JP" sz="1200" dirty="0">
                <a:latin typeface="Meiryo UI" panose="020B0604030504040204" pitchFamily="50" charset="-128"/>
                <a:ea typeface="Meiryo UI" panose="020B0604030504040204" pitchFamily="50" charset="-128"/>
              </a:rPr>
              <a:t> G Gen4 8TB</a:t>
            </a:r>
            <a:r>
              <a:rPr lang="ja-JP" altLang="en-US" sz="1200" dirty="0">
                <a:latin typeface="Meiryo UI" panose="020B0604030504040204" pitchFamily="50" charset="-128"/>
                <a:ea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2024/8/16</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Micron 2500(QLC/Micron2400</a:t>
            </a:r>
            <a:r>
              <a:rPr lang="ja-JP" altLang="en-US" sz="1200" b="0" dirty="0">
                <a:latin typeface="メイリオ" panose="020B0604030504040204" pitchFamily="50" charset="-128"/>
                <a:ea typeface="メイリオ" panose="020B0604030504040204" pitchFamily="50" charset="-128"/>
              </a:rPr>
              <a:t>後継</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SAMSUNG BM9C1(QLC/SAMSUNG</a:t>
            </a:r>
            <a:r>
              <a:rPr lang="ja-JP" altLang="en-US" sz="1200" b="0" dirty="0">
                <a:latin typeface="メイリオ" panose="020B0604030504040204" pitchFamily="50" charset="-128"/>
                <a:ea typeface="メイリオ" panose="020B0604030504040204" pitchFamily="50" charset="-128"/>
              </a:rPr>
              <a:t>初</a:t>
            </a:r>
            <a:r>
              <a:rPr lang="en-US" altLang="ja-JP" sz="1200" b="0" dirty="0">
                <a:latin typeface="メイリオ" panose="020B0604030504040204" pitchFamily="50" charset="-128"/>
                <a:ea typeface="メイリオ" panose="020B0604030504040204" pitchFamily="50" charset="-128"/>
              </a:rPr>
              <a:t>QLC)</a:t>
            </a:r>
            <a:r>
              <a:rPr lang="ja-JP" altLang="en-US" sz="1200" b="0" dirty="0">
                <a:latin typeface="メイリオ" panose="020B0604030504040204" pitchFamily="50" charset="-128"/>
                <a:ea typeface="メイリオ" panose="020B0604030504040204" pitchFamily="50" charset="-128"/>
              </a:rPr>
              <a:t>を追加</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削除</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販売しない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SAMSUNG PM9C1a</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PhisonE27T/E19T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HynixBC901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再度準備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SAMSUNG 990PRO FW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修正版が出たため改めて投入検証、仮予定に追加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を汎用候補からカスタム品として投入に変更、時期調整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rPr>
              <a:t>SAMSUNG PM9A1a </a:t>
            </a:r>
            <a:r>
              <a:rPr lang="ja-JP" altLang="en-US" sz="1200" dirty="0">
                <a:latin typeface="Meiryo UI" panose="020B0604030504040204" pitchFamily="50" charset="-128"/>
                <a:ea typeface="Meiryo UI" panose="020B0604030504040204" pitchFamily="50" charset="-128"/>
              </a:rPr>
              <a:t>を仮追加（組込向け型番</a:t>
            </a:r>
            <a:r>
              <a:rPr lang="en-US" altLang="ja-JP" sz="1200" dirty="0">
                <a:latin typeface="Meiryo UI" panose="020B0604030504040204" pitchFamily="50" charset="-128"/>
                <a:ea typeface="Meiryo UI" panose="020B0604030504040204" pitchFamily="50" charset="-128"/>
              </a:rPr>
              <a:t>980PRO</a:t>
            </a:r>
            <a:r>
              <a:rPr lang="ja-JP" altLang="en-US" sz="1200" dirty="0">
                <a:latin typeface="Meiryo UI" panose="020B0604030504040204" pitchFamily="50" charset="-128"/>
                <a:ea typeface="Meiryo UI" panose="020B0604030504040204" pitchFamily="50" charset="-128"/>
              </a:rPr>
              <a:t>相当）</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Crucial T500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(P5Plus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、汎用候補として</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SAMSUNG PM9A1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(P41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の実質後継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は年内終了、後継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a:t>
            </a:r>
            <a:r>
              <a:rPr lang="ja-JP" altLang="en-US" dirty="0"/>
              <a:t>、</a:t>
            </a:r>
            <a:r>
              <a:rPr lang="en-US" altLang="ja-JP" dirty="0"/>
              <a:t>P41Plus</a:t>
            </a:r>
            <a:r>
              <a:rPr lang="ja-JP" altLang="en-US" dirty="0"/>
              <a:t>は</a:t>
            </a:r>
            <a:r>
              <a:rPr lang="en-US" altLang="ja-JP" dirty="0"/>
              <a:t>2024 Q1-Q2</a:t>
            </a:r>
            <a:r>
              <a:rPr lang="ja-JP" altLang="en-US" dirty="0"/>
              <a:t>あたりにラストオーダー、</a:t>
            </a:r>
            <a:r>
              <a:rPr lang="en-US" altLang="ja-JP" dirty="0"/>
              <a:t>670p 2023 Q3</a:t>
            </a:r>
            <a:r>
              <a:rPr lang="ja-JP" altLang="en-US" dirty="0"/>
              <a:t>にラストオーダー以後流通う在庫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YMTC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は一旦キャンセル</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17</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 PRO 850(5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GX7100(5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zh-CN"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Optimus 5100(5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短命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Optimus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GX 7150(Q4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SA510 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zh-CN"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Sandisk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のブランド名変更。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Black/Blue →Optimus GX PRO/GX/-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2025/10/27 Micron 2500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2600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標準モデルの設定があるため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Lineup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上に追加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現状に合わせ更新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新たに汎用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P41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終息へ、</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削除</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販売しない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SAMSUNG PM9C1a</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PhisonE27T/E19T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HynixBC901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再度準備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Crucial T500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(P5Plus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、汎用候補として</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Phison</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E18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SAMSUNG PM9A1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2023/10/3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仮</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Solidigm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P42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(P41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の実質後継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Gen3 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として扱っている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670p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は共に年内終了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SN580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670p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の後継は無し。市場の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もなくなりつつあり本格的に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移行になる。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YMTC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は一旦キャンセル</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速度別整理、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Hynix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追加、情報整理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を一部修正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SN550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Blue SN570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 3400S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投入、</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SN770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も視野に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E18</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EOL</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につき、後継品</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詳細不明</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一部モデルの標準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化により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使用量増加（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化は需給価格状況による）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構成見直し。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M.2SATA 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目処で終了→</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NVMe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ｎ</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　カスタマイズも低容量帯は終わらせていく。</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18</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2.5”HDD</a:t>
            </a:r>
            <a:r>
              <a:rPr lang="ja-JP" altLang="en-US" sz="1200" dirty="0">
                <a:solidFill>
                  <a:schemeClr val="tx1"/>
                </a:solidFill>
                <a:latin typeface="Meiryo UI" panose="020B0604030504040204" pitchFamily="50" charset="-128"/>
                <a:ea typeface="Meiryo UI" panose="020B0604030504040204" pitchFamily="50" charset="-128"/>
              </a:rPr>
              <a:t>が取れなくなってきているため継続</a:t>
            </a:r>
            <a:r>
              <a:rPr lang="en-US" altLang="ja-JP" sz="1200" dirty="0">
                <a:solidFill>
                  <a:schemeClr val="tx1"/>
                </a:solidFill>
                <a:latin typeface="Meiryo UI" panose="020B0604030504040204" pitchFamily="50" charset="-128"/>
                <a:ea typeface="Meiryo UI" panose="020B0604030504040204" pitchFamily="50" charset="-128"/>
              </a:rPr>
              <a:t>TBD</a:t>
            </a:r>
            <a:r>
              <a:rPr lang="ja-JP" altLang="en-US" sz="1200" dirty="0">
                <a:solidFill>
                  <a:schemeClr val="tx1"/>
                </a:solidFill>
                <a:latin typeface="Meiryo UI" panose="020B0604030504040204" pitchFamily="50" charset="-128"/>
                <a:ea typeface="Meiryo UI" panose="020B0604030504040204" pitchFamily="50" charset="-128"/>
              </a:rPr>
              <a:t>へ変更　</a:t>
            </a:r>
            <a:r>
              <a:rPr lang="en-US" altLang="ja-JP" sz="1200" dirty="0">
                <a:solidFill>
                  <a:schemeClr val="tx1"/>
                </a:solidFill>
                <a:latin typeface="Meiryo UI" panose="020B0604030504040204" pitchFamily="50" charset="-128"/>
                <a:ea typeface="Meiryo UI" panose="020B0604030504040204" pitchFamily="50" charset="-128"/>
              </a:rPr>
              <a:t>2.5”</a:t>
            </a:r>
            <a:r>
              <a:rPr lang="ja-JP" altLang="en-US" sz="1200" dirty="0">
                <a:solidFill>
                  <a:schemeClr val="tx1"/>
                </a:solidFill>
                <a:latin typeface="Meiryo UI" panose="020B0604030504040204" pitchFamily="50" charset="-128"/>
                <a:ea typeface="Meiryo UI" panose="020B0604030504040204" pitchFamily="50" charset="-128"/>
              </a:rPr>
              <a:t>は</a:t>
            </a:r>
            <a:r>
              <a:rPr lang="en-US" altLang="ja-JP" sz="1200" dirty="0">
                <a:solidFill>
                  <a:schemeClr val="tx1"/>
                </a:solidFill>
                <a:latin typeface="Meiryo UI" panose="020B0604030504040204" pitchFamily="50" charset="-128"/>
                <a:ea typeface="Meiryo UI" panose="020B0604030504040204" pitchFamily="50" charset="-128"/>
              </a:rPr>
              <a:t>SSD</a:t>
            </a:r>
            <a:r>
              <a:rPr lang="ja-JP" altLang="en-US" sz="1200" dirty="0">
                <a:solidFill>
                  <a:schemeClr val="tx1"/>
                </a:solidFill>
                <a:latin typeface="Meiryo UI" panose="020B0604030504040204" pitchFamily="50" charset="-128"/>
                <a:ea typeface="Meiryo UI" panose="020B0604030504040204" pitchFamily="50" charset="-128"/>
              </a:rPr>
              <a:t>を残す方向で変更調整中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取り扱い終了へ→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へ集約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Red Plus 4TB/8TB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仮予定としてカスタマイズ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に大容量品を追加（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10TB/12TB/14TB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次期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要件の中にブートデバイスとして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SSD/eMMC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のみ可との条件が出てきている。（未決定）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4TB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型番変更あり（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SMR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へ）。マイニング需要により大容量</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が品薄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が影響。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2020/4/15 CMR/SMR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についてコメント記載</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抜けていたため追加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19</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2.5”HDD</a:t>
            </a:r>
            <a:r>
              <a:rPr lang="ja-JP" altLang="en-US" sz="1200" dirty="0">
                <a:solidFill>
                  <a:schemeClr val="tx1"/>
                </a:solidFill>
                <a:latin typeface="Meiryo UI" panose="020B0604030504040204" pitchFamily="50" charset="-128"/>
                <a:ea typeface="Meiryo UI" panose="020B0604030504040204" pitchFamily="50" charset="-128"/>
              </a:rPr>
              <a:t>が取れなくなってきているため継続</a:t>
            </a:r>
            <a:r>
              <a:rPr lang="en-US" altLang="ja-JP" sz="1200" dirty="0">
                <a:solidFill>
                  <a:schemeClr val="tx1"/>
                </a:solidFill>
                <a:latin typeface="Meiryo UI" panose="020B0604030504040204" pitchFamily="50" charset="-128"/>
                <a:ea typeface="Meiryo UI" panose="020B0604030504040204" pitchFamily="50" charset="-128"/>
              </a:rPr>
              <a:t>TBD</a:t>
            </a:r>
            <a:r>
              <a:rPr lang="ja-JP" altLang="en-US" sz="1200" dirty="0">
                <a:solidFill>
                  <a:schemeClr val="tx1"/>
                </a:solidFill>
                <a:latin typeface="Meiryo UI" panose="020B0604030504040204" pitchFamily="50" charset="-128"/>
                <a:ea typeface="Meiryo UI" panose="020B0604030504040204" pitchFamily="50" charset="-128"/>
              </a:rPr>
              <a:t>へ変更　</a:t>
            </a:r>
            <a:r>
              <a:rPr lang="en-US" altLang="ja-JP" sz="1200" dirty="0">
                <a:solidFill>
                  <a:schemeClr val="tx1"/>
                </a:solidFill>
                <a:latin typeface="Meiryo UI" panose="020B0604030504040204" pitchFamily="50" charset="-128"/>
                <a:ea typeface="Meiryo UI" panose="020B0604030504040204" pitchFamily="50" charset="-128"/>
              </a:rPr>
              <a:t>2.5”</a:t>
            </a:r>
            <a:r>
              <a:rPr lang="ja-JP" altLang="en-US" sz="1200" dirty="0">
                <a:solidFill>
                  <a:schemeClr val="tx1"/>
                </a:solidFill>
                <a:latin typeface="Meiryo UI" panose="020B0604030504040204" pitchFamily="50" charset="-128"/>
                <a:ea typeface="Meiryo UI" panose="020B0604030504040204" pitchFamily="50" charset="-128"/>
              </a:rPr>
              <a:t>は</a:t>
            </a:r>
            <a:r>
              <a:rPr lang="en-US" altLang="ja-JP" sz="1200" dirty="0">
                <a:solidFill>
                  <a:schemeClr val="tx1"/>
                </a:solidFill>
                <a:latin typeface="Meiryo UI" panose="020B0604030504040204" pitchFamily="50" charset="-128"/>
                <a:ea typeface="Meiryo UI" panose="020B0604030504040204" pitchFamily="50" charset="-128"/>
              </a:rPr>
              <a:t>SSD</a:t>
            </a:r>
            <a:r>
              <a:rPr lang="ja-JP" altLang="en-US" sz="1200" dirty="0">
                <a:solidFill>
                  <a:schemeClr val="tx1"/>
                </a:solidFill>
                <a:latin typeface="Meiryo UI" panose="020B0604030504040204" pitchFamily="50" charset="-128"/>
                <a:ea typeface="Meiryo UI" panose="020B0604030504040204" pitchFamily="50" charset="-128"/>
              </a:rPr>
              <a:t>を残す方向で変更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取り扱い終了へ→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へ集約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WD Red Plus 4TB/8TB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3.5"HDD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仮予定としてカスタマイズ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に大容量品を追加（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10TB/12TB/14TB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次期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要件の中にブートデバイスとして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HDD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SSD/eMMC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のみ可との条件が出てきている。（未決定）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3TB/6TB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の所要量減少を前倒し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抜けていたため追加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20</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メモリ　供給悪く投入時期不明瞭になっているため予定後ろ倒し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(DDR5-5600 or 6400)</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在庫状況で終了調整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 RDIMM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シリーズ取り扱い終了予定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も同じく終了予定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仮予定として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DDR5-6400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16GB/32GB/64GB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を記載、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DDR5-5600 24GB/48GB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を削除</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内容更新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AMDEXPO/XMP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メモリの種類を現状に合わせ微修正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を分解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のみ対応のため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使用数増加の見込み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ただし現行品と併売になる可能性が高い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は供給限られているが徐々に多くなる見込み（現状</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での採用はあるが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以下での採用はわずか）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デスク用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年内は</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のみ先行となるため一部使用の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マザー用として投入する予定。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シリーズマザーはしばらく</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のみ対応が出回る予定となり、本格的な使用は来年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　在庫調整段階に入っています。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の情報追加。供給量に合わせて対応</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が変わる予定（</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の初回は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対応のものが多く出回る見込み）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デスク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DDR4-3200/PC4-25600 32GB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Sanmax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」を追加。カスタマイズ品として継続の予定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にかけて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へ切り替えていく</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の可能性を追記→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ほぼ確定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（現状は）</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deskmini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32GB SODIMM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の検証予定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が入荷。</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への切り換えタイミングの模索中。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準備次第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を終了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を使用予定なしに変更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使用終了予定のため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は保留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21</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在庫状況で終了調整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 RDIMM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シリーズ取り扱い終了予定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も同じく終了予定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シフトの見込みラインずらし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化見込みライン追加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内容更新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2023/5/23 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へ以降予定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2022/9/16 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への移行予想追記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のみ対応のため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使用数増加の見込み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ただし現行品と併売になる可能性が高い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は供給限られているが徐々に多くなる見込み（現状</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での採用はあるが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以下での採用はわずか）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所要量修正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の終息と、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の販売タイミングの追加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デスク用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年内は</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のみ先行となるため一部使用の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マザー用として投入する予定。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シリーズマザーはしばらく</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のみ対応が出回る予定となり、本格的な使用は来年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DDR5-4800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からスタートになる予定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にかけて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へ切り替えていく</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へ移行の可能性を追記→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ほぼ確定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状況修正　急速に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への移行が進む見込みを想定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32GB</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を削除</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を使用予定なしに変更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標準終了へ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対応が限定的なため所要量変更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2019/10/2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の販売後ろ倒しと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PC4-2933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対応及び</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対応見込を反映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3200 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ライン追加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22</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細かい更新のみ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新ノート予定出てきたため投入予定時期追記と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Volume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GALLERIA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購買へシフトするためメモリ・</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SSD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使用数増加見込み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raytrek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L6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ベアで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を使用</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所要量修正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の終息と、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ADL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の販売タイミングの追加、ベア</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増加で所要は減少傾向</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ベアの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購買が増えているためノートメモリ所要量は減少</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DDR5-4800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からスタートになる予定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にかけて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DDR4-2666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へ切り替えていく（ベアの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購買か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購買により所要量は変化する）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へ移行の可能性を追記→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ほぼ確定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DDR4-3200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準備次第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終了を前倒し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23</a:t>
            </a:fld>
            <a:endParaRPr kumimoji="1" lang="ja-JP" altLang="en-US"/>
          </a:p>
        </p:txBody>
      </p:sp>
    </p:spTree>
    <p:extLst>
      <p:ext uri="{BB962C8B-B14F-4D97-AF65-F5344CB8AC3E}">
        <p14:creationId xmlns:p14="http://schemas.microsoft.com/office/powerpoint/2010/main" val="2002493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SFX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製造元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CWT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の他製品問題を受け、</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電源を投入予定→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TBD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内容整理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汎用として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FKI(LITEON)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製品を検討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シリーズに合わせて更新（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の標準利用など）</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電源の仮投入予定を追加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認証取得製品を展開しているが、</a:t>
            </a:r>
            <a:r>
              <a:rPr lang="en-US" altLang="ja-JP" sz="1200" b="0" dirty="0" err="1">
                <a:latin typeface="メイリオ" panose="020B0604030504040204" pitchFamily="50" charset="-128"/>
                <a:ea typeface="メイリオ" panose="020B0604030504040204" pitchFamily="50" charset="-128"/>
              </a:rPr>
              <a:t>Cybenetics</a:t>
            </a:r>
            <a:r>
              <a:rPr lang="en-US" altLang="ja-JP" sz="1200" b="0" dirty="0">
                <a:latin typeface="メイリオ" panose="020B0604030504040204" pitchFamily="50" charset="-128"/>
                <a:ea typeface="メイリオ" panose="020B0604030504040204" pitchFamily="50" charset="-128"/>
              </a:rPr>
              <a:t> ETA</a:t>
            </a:r>
            <a:r>
              <a:rPr lang="ja-JP" altLang="en-US" sz="1200" b="0" dirty="0">
                <a:latin typeface="メイリオ" panose="020B0604030504040204" pitchFamily="50" charset="-128"/>
                <a:ea typeface="メイリオ" panose="020B0604030504040204" pitchFamily="50" charset="-128"/>
              </a:rPr>
              <a:t>認証が増えてきており、また、</a:t>
            </a:r>
            <a:r>
              <a:rPr lang="en-US" altLang="ja-JP" sz="1200" b="0" dirty="0" err="1">
                <a:latin typeface="メイリオ" panose="020B0604030504040204" pitchFamily="50" charset="-128"/>
                <a:ea typeface="メイリオ" panose="020B0604030504040204" pitchFamily="50" charset="-128"/>
              </a:rPr>
              <a:t>Cybenetics</a:t>
            </a:r>
            <a:r>
              <a:rPr lang="en-US" altLang="ja-JP" sz="1200" b="0" dirty="0">
                <a:latin typeface="メイリオ" panose="020B0604030504040204" pitchFamily="50" charset="-128"/>
                <a:ea typeface="メイリオ" panose="020B0604030504040204" pitchFamily="50" charset="-128"/>
              </a:rPr>
              <a:t> ETA</a:t>
            </a:r>
            <a:r>
              <a:rPr lang="ja-JP" altLang="en-US" sz="1200" b="0" dirty="0">
                <a:latin typeface="メイリオ" panose="020B0604030504040204" pitchFamily="50" charset="-128"/>
                <a:ea typeface="メイリオ" panose="020B0604030504040204" pitchFamily="50" charset="-128"/>
              </a:rPr>
              <a:t>認証のみで展開すると発表している電源メーカーもあるため倣ってカスタム品ｋら投入準備を進める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カスタム用電源仮追加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Seasonic</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PX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ATX3.x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ATX3.x</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カスタム電源追加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CORSAIR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Rme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次世代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合わせで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12VHPWR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を備える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以上の電源の検討開始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※DLT/ENH/ACL(</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Acbel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3090Ti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モデル用に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超電源を標準品に仮追加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RTX3090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登場で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クラスが必要になる可能性が高い。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TFX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Delta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SilverStone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不足による供給不安定対策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Enhance 1000W/1200W 80+Platinum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は検証完了、投入は年明け</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Acbel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850W Gold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を仮設定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大容量電源開発後ろ倒し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1000W/1200W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2020/9/29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RTX30x0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合わせの国内手配カスタム系電源の検証は一旦完了。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20’Q4-21’Q2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にかけての新製品情報待ち</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現行予定に修正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の国内品調達など</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未投入製品のステータス追加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カスタマイズに</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SilverStone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P750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メーカー修正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カスタマイズ電源を修正、オウルテック（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FSP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プラチナシリーズ、オウルテック（</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Seasonic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）ゴールド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プラチナの型番変更を追加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G700 OWL CML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対応になるため復活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AS2-700</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2019/10/18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コメント追記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550W</a:t>
            </a:r>
            <a:r>
              <a:rPr kumimoji="1" lang="ja-JP" altLang="en-US"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切り替え追加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コメント追加更新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24</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SFX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2026/2/26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標準使用の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帯は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ATX2.x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ATX3.x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へ切り替え完了済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2026/1/27 1300W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を標準に追加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ThreadsRipper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モデル用として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G750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ATX2.x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ATX3.x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への移行は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中に完了見通し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残修理交換分</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内容整理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汎用として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FKI(LITEON)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製品を検討</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シリーズに合わせて再度更新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シリーズに合わせて更新（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の標準利用など）</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次世代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合わせで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12VHPWR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を備える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以上の電源の検討開始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※DLT/ENH/ACL(</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Acbel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3090Ti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モデル用に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超電源を標準品に仮追加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RTX3090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登場で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1000W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クラスが必要になる可能性が高い。</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TFX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電源に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Delta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SilverStone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不足による供給不安定対策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システム消費電力</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補助電源の必要な</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増のため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主にオンボード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補助電源付きローエンド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を再調整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供給次第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Acbel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850W Gold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を仮設定　システム消費電力</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補助電源の必要な</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増のため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の使用量減少見込み。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の順次登場により使用する電源容量がより上位に移行する想定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現行予定に修正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注釈追加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メーカー修正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の仕様の確定を受けて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TFX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の切替を検討を反映（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12V</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補助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4pin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8pin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2019/10/18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コメント追記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550W</a:t>
            </a:r>
            <a:r>
              <a:rPr kumimoji="1" lang="ja-JP" altLang="en-US"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450W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切り替え追加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2019/10/2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の販売後ろ倒しを反映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ENH</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P750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G750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SLS+ENH</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SLS+DLT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SLS+ACL+DLT+α</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SLS+ACL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SLS+ACL+α</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HEG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B450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HEG+ACL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12V1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系統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4+4pin</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コメント追加更新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25</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内容整理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 PCIe Wi-Fi7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10GLAN(V2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及び</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V3),LR-LINK 10GLAN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PCIe Wi-Fi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を追加。在庫多重化のため。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WiFi7+Bluetooth5.4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BE200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BE202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6Ghz</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帯は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に日本で認可されました。ルーターは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月中に順次販売開始されます。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PCIE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MediaTek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製品の予定を追加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28nm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製造の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AX203(Wi-Fi6 80MHz)</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(MediaTek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より案内）</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https://www.amd.com/en/press-releases/2021-11-18-amd-and-mediatek-develop-amd-rz600-series-wi-fi-6e-modules-to-enhance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AX201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V-M.2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AX211(WiFi6E)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AX411(WiFi6E)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AX204(WiFi6)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b="0" dirty="0">
                <a:solidFill>
                  <a:srgbClr val="FF0000"/>
                </a:solidFill>
                <a:latin typeface="メイリオ" panose="020B0604030504040204" pitchFamily="50" charset="-128"/>
                <a:ea typeface="メイリオ" panose="020B0604030504040204" pitchFamily="50" charset="-128"/>
              </a:rPr>
              <a:t>28nm</a:t>
            </a:r>
            <a:r>
              <a:rPr lang="ja-JP" altLang="en-US" sz="1200" b="0" dirty="0">
                <a:solidFill>
                  <a:srgbClr val="FF0000"/>
                </a:solidFill>
                <a:latin typeface="メイリオ" panose="020B0604030504040204" pitchFamily="50" charset="-128"/>
                <a:ea typeface="メイリオ" panose="020B0604030504040204" pitchFamily="50" charset="-128"/>
              </a:rPr>
              <a:t>逼迫に付き新プロセスルール</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MediaTek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製チップ搭載品の予定は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にずれ込んでいる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MediaTek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製チップ搭載品の予定を追加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現状</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のみになる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AX210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の予定を前倒し（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AX200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供給悪化による）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kit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Intel Wi-Fi 6E AX210 </a:t>
            </a:r>
            <a:r>
              <a:rPr lang="ja-JP" altLang="en-US" dirty="0"/>
              <a:t>を追加</a:t>
            </a:r>
            <a:r>
              <a:rPr lang="en-US" altLang="ja-JP" dirty="0"/>
              <a:t>(6GHz</a:t>
            </a:r>
            <a:r>
              <a:rPr lang="ja-JP" altLang="en-US" dirty="0"/>
              <a:t>帯は現在国使用不可</a:t>
            </a:r>
            <a:r>
              <a:rPr lang="en-US" altLang="ja-JP" dirty="0"/>
              <a:t>)</a:t>
            </a:r>
            <a:r>
              <a:rPr lang="ja-JP" altLang="en-US" dirty="0"/>
              <a:t>　採用予定の</a:t>
            </a:r>
            <a:r>
              <a:rPr lang="en-US" altLang="ja-JP" dirty="0"/>
              <a:t>intel500</a:t>
            </a:r>
            <a:r>
              <a:rPr lang="ja-JP" altLang="en-US" dirty="0"/>
              <a:t>シリーズ</a:t>
            </a:r>
            <a:r>
              <a:rPr lang="en-US" altLang="ja-JP" dirty="0"/>
              <a:t>MB</a:t>
            </a:r>
            <a:r>
              <a:rPr lang="ja-JP" altLang="en-US" dirty="0"/>
              <a:t>は</a:t>
            </a:r>
            <a:r>
              <a:rPr lang="en-US" altLang="ja-JP" dirty="0"/>
              <a:t>Z590</a:t>
            </a:r>
            <a:r>
              <a:rPr lang="ja-JP" altLang="en-US" dirty="0"/>
              <a:t>，</a:t>
            </a:r>
            <a:r>
              <a:rPr lang="en-US" altLang="ja-JP" dirty="0"/>
              <a:t>H570</a:t>
            </a:r>
            <a:r>
              <a:rPr lang="ja-JP" altLang="en-US" dirty="0"/>
              <a:t>，</a:t>
            </a:r>
            <a:r>
              <a:rPr lang="en-US" altLang="ja-JP" dirty="0"/>
              <a:t>B560</a:t>
            </a:r>
            <a:r>
              <a:rPr lang="ja-JP" altLang="en-US" dirty="0"/>
              <a:t>，</a:t>
            </a:r>
            <a:r>
              <a:rPr lang="en-US" altLang="ja-JP" dirty="0"/>
              <a:t>H510</a:t>
            </a:r>
            <a:r>
              <a:rPr lang="ja-JP" altLang="en-US" dirty="0"/>
              <a:t>は</a:t>
            </a:r>
            <a:r>
              <a:rPr lang="en-US" altLang="ja-JP" dirty="0" err="1"/>
              <a:t>KeyE</a:t>
            </a:r>
            <a:r>
              <a:rPr lang="ja-JP" altLang="en-US" dirty="0"/>
              <a:t>搭載予定。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検証完了に付き、ランニングチェンジへの準備。</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26</a:t>
            </a:fld>
            <a:endParaRPr kumimoji="1" lang="ja-JP" altLang="en-US"/>
          </a:p>
        </p:txBody>
      </p:sp>
    </p:spTree>
    <p:extLst>
      <p:ext uri="{BB962C8B-B14F-4D97-AF65-F5344CB8AC3E}">
        <p14:creationId xmlns:p14="http://schemas.microsoft.com/office/powerpoint/2010/main" val="794285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Fluence DA240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DA240 V2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へ切替予定を追加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水冷ラインナップ修正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360mm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カスタム用を拡充予定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ラインナップ修正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EKWB ,FLU F3R120 ARGB WH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(GE/GEM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ケース背面用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液晶付き水冷</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(240mm)BTO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 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へ移動</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 E360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の問題を受けて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LS520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L240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 DA240 ARGB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2024/4/26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836S-M1A(TR4</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用</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2024/2/26 </a:t>
            </a:r>
            <a:r>
              <a:rPr lang="en-US" altLang="ja-JP" sz="1200" dirty="0" err="1">
                <a:latin typeface="Meiryo UI" panose="020B0604030504040204" pitchFamily="50" charset="-128"/>
                <a:ea typeface="Meiryo UI" panose="020B0604030504040204" pitchFamily="50" charset="-128"/>
                <a:cs typeface="Meiryo UI" panose="020B0604030504040204" pitchFamily="50" charset="-128"/>
              </a:rPr>
              <a:t>DeepCool</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MYSTIQUE</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240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LS320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424S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412S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2023/9/13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対応品の検討を追加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ハイエンド水冷</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(BTO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EKWEB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等も検討</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類のページの内容更新、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は水冷と空冷でページを分割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無限・大手裏剣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後継機種開発遅延のため、代替提案品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ProArtist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Jonsbo</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一辺倒にならないように</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製品を準備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(AK400/AK500)</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へ世代交代の予定を入手したため追記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後継品情報追加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月頃に登場予定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無限・虎徹・手裏剣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DPC LS520</a:t>
            </a:r>
            <a:r>
              <a:rPr lang="ja-JP" altLang="en-US" dirty="0"/>
              <a:t>を仮追加</a:t>
            </a:r>
            <a:r>
              <a:rPr lang="en-US" altLang="ja-JP" dirty="0"/>
              <a:t>(ARGB</a:t>
            </a:r>
            <a:r>
              <a:rPr lang="ja-JP" altLang="en-US" dirty="0"/>
              <a:t>対応製品</a:t>
            </a:r>
            <a:r>
              <a:rPr lang="en-US" altLang="ja-JP" dirty="0"/>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DPC CASTLE240EX/360EX</a:t>
            </a:r>
            <a:r>
              <a:rPr lang="ja-JP" altLang="en-US" dirty="0"/>
              <a:t>、</a:t>
            </a:r>
            <a:r>
              <a:rPr lang="en-US" altLang="ja-JP" dirty="0"/>
              <a:t>FLU GI-CL240</a:t>
            </a:r>
            <a:r>
              <a:rPr lang="ja-JP" altLang="en-US" dirty="0"/>
              <a:t>を仮追加</a:t>
            </a:r>
            <a:r>
              <a:rPr lang="en-US" altLang="ja-JP" dirty="0"/>
              <a:t>(ARGB</a:t>
            </a:r>
            <a:r>
              <a:rPr lang="ja-JP" altLang="en-US" dirty="0"/>
              <a:t>対応製品</a:t>
            </a:r>
            <a:r>
              <a:rPr lang="en-US" altLang="ja-JP" dirty="0"/>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DEEPCOOL/FLUENCE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両対応版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スリム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対応）を検証・採用状況に合わせ予定を修正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虎徹代替品・超天</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大手裏剣代替品・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用製品を海外品で検討中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SCCT-1000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対応繋ぎ　ミニタワー用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製品の新型番を追記　無限：</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SCMG-5200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SCKTT-2100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SCBSK-3100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機種とも</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対応マウンタへ変更、無限と虎徹は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の回転数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UP 1200rpm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1500rpm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240mm/360mm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の表を更新</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240mm/280mm/360mm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対応の改良着手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27</a:t>
            </a:fld>
            <a:endParaRPr kumimoji="1" lang="ja-JP" altLang="en-US"/>
          </a:p>
        </p:txBody>
      </p:sp>
    </p:spTree>
    <p:extLst>
      <p:ext uri="{BB962C8B-B14F-4D97-AF65-F5344CB8AC3E}">
        <p14:creationId xmlns:p14="http://schemas.microsoft.com/office/powerpoint/2010/main" val="168598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 RT500 TC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仮追加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から切り替え予定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投入開始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2025/10/24 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用トップフローを仮追加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主に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後継は虎徹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リリース日は未定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 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月頃登場予定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対応トップフロータイプの検討を追加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無限相当品を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 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へ移動</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FLU RC400-67</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を採用に変更、</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F3R120 </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nonARGB</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/ARGB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のホワイト投入検討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Jonsbo</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HX6200D</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EOL</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FLU RC400-67</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を採用予定に変更、</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FKI FA9-2600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が高価なため代替として</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FKE9-2600C/S</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を検討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標準使用品のセカンドソースと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の検証を完了順次入荷の予定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GAMMAXX400/</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Fuluence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NX4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 FKE4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TW-003/</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Fuluence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R95S-I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 FA9-2600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GAMMAXX400/</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Fuluence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NX4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代替品として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FKI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製品を検討・検証</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の問題を受けて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AK400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FLU/CMS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TW-003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 R95S-I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2024/2/26 </a:t>
            </a:r>
            <a:r>
              <a:rPr lang="en-US" altLang="ja-JP" sz="1200" dirty="0" err="1">
                <a:latin typeface="Meiryo UI" panose="020B0604030504040204" pitchFamily="50" charset="-128"/>
                <a:ea typeface="Meiryo UI" panose="020B0604030504040204" pitchFamily="50" charset="-128"/>
                <a:cs typeface="Meiryo UI" panose="020B0604030504040204" pitchFamily="50" charset="-128"/>
              </a:rPr>
              <a:t>DeepCool</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 ASSASIN 4S</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開発予定品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DeepCool</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AG-300-TW</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を追加と整理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開発予定品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(Noctua </a:t>
            </a:r>
            <a:r>
              <a:rPr lang="en-US" altLang="ja-JP" dirty="0"/>
              <a:t>NH-U12S </a:t>
            </a:r>
            <a:r>
              <a:rPr lang="en-US" altLang="ja-JP" dirty="0" err="1"/>
              <a:t>REDUX,Fluence</a:t>
            </a:r>
            <a:r>
              <a:rPr lang="en-US" altLang="ja-JP" dirty="0"/>
              <a:t> R400</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を追加と整理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2023/9/8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開発予定品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(AK400 ARGB,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トップフロー</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を追加と整理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クーラーを開発打診中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ProArtist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開発品仮称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覇者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微調整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AK500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一旦キャンセル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類のページの内容更新、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は水冷と空冷でページを分割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2022/12/26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無限・大手裏剣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後継機種開発遅延のため、代替提案品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ProArtist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Jonsbo</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一辺倒にならないように</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製品を準備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(AK400/AK500)</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へ世代交代の予定を入手したため追記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後継品情報追加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月頃に登場予定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無限・虎徹・手裏剣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DPC LS520</a:t>
            </a:r>
            <a:r>
              <a:rPr lang="ja-JP" altLang="en-US" dirty="0"/>
              <a:t>を仮追加</a:t>
            </a:r>
            <a:r>
              <a:rPr lang="en-US" altLang="ja-JP" dirty="0"/>
              <a:t>(ARGB</a:t>
            </a:r>
            <a:r>
              <a:rPr lang="ja-JP" altLang="en-US" dirty="0"/>
              <a:t>対応製品</a:t>
            </a:r>
            <a:r>
              <a:rPr lang="en-US" altLang="ja-JP" dirty="0"/>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DPC CASTLE240EX/360EX</a:t>
            </a:r>
            <a:r>
              <a:rPr lang="ja-JP" altLang="en-US" dirty="0"/>
              <a:t>、</a:t>
            </a:r>
            <a:r>
              <a:rPr lang="en-US" altLang="ja-JP" dirty="0"/>
              <a:t>FLU GI-CL240</a:t>
            </a:r>
            <a:r>
              <a:rPr lang="ja-JP" altLang="en-US" dirty="0"/>
              <a:t>を仮追加</a:t>
            </a:r>
            <a:r>
              <a:rPr lang="en-US" altLang="ja-JP" dirty="0"/>
              <a:t>(ARGB</a:t>
            </a:r>
            <a:r>
              <a:rPr lang="ja-JP" altLang="en-US" dirty="0"/>
              <a:t>対応製品</a:t>
            </a:r>
            <a:r>
              <a:rPr lang="en-US" altLang="ja-JP" dirty="0"/>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DEEPCOOL/FLUENCE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両対応版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スリム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対応）を検証・採用状況に合わせ予定を修正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虎徹代替品・超天</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大手裏剣代替品・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用製品を海外品で検討中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SCCT-1000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対応繋ぎ　ミニタワー用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製品の新型番を追記　無限：</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SCMG-5200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、虎徹：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SCKTT-2100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、大手裏剣：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SCBSK-3100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機種とも</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対応マウンタへ変更、無限と虎徹は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の回転数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UP 1200rpm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1500rpm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240mm/360mm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の表を更新</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240mm/280mm/360mm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LGA1700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対応の改良着手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28</a:t>
            </a:fld>
            <a:endParaRPr kumimoji="1" lang="ja-JP" altLang="en-US"/>
          </a:p>
        </p:txBody>
      </p:sp>
    </p:spTree>
    <p:extLst>
      <p:ext uri="{BB962C8B-B14F-4D97-AF65-F5344CB8AC3E}">
        <p14:creationId xmlns:p14="http://schemas.microsoft.com/office/powerpoint/2010/main" val="3802029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Noctua NF-A12x25 G2,Noctua NF-A9 PWM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Crux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投入に合わせ時期調整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ライナップ修正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F3R120ARGB WH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(GE/GEM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ケース背面用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FLU RC400-67</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を採用に変更、</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F3R120 </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nonARGB</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/ARGB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のホワイト投入検討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 F5R120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F3R120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へ置き換え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の問題を受けて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SOLLERON/</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SilverStone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VISTA 140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FC120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WanderSnail</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/FLU F5 R120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高耐久高信頼</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Noctua/SANYO 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の型番追加（検証済み品）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2023/9/22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主に法人顧客ターゲット </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高耐久</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高信頼</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2023/9/20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CF124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のステータス変更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にて開発中の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14cmARGBFAN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の名称と回転数記載</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CF124-14025</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2000rpm</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類のページの内容更新、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は水冷と空冷でページを分割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2022/4/27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検証完了状況と入荷状況を鑑みて微修正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(14cmFAN/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12cmFAN)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を海外品へ置換えへ</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製品は不足時代替品として継続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14cm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高速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12cm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置き換え品を海外品で検討中</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Arctic(Scythe) 14cmFAN P14(Scythe 14cmFAN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代替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F140WH(280mm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水冷兼用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Scythe 12cm 2400rpm(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670LS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 14cm(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水冷兼用</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Asetek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680LS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等用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DEEPCOOL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14cm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29</a:t>
            </a:fld>
            <a:endParaRPr kumimoji="1" lang="ja-JP" altLang="en-US"/>
          </a:p>
        </p:txBody>
      </p:sp>
    </p:spTree>
    <p:extLst>
      <p:ext uri="{BB962C8B-B14F-4D97-AF65-F5344CB8AC3E}">
        <p14:creationId xmlns:p14="http://schemas.microsoft.com/office/powerpoint/2010/main" val="4326844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kern="1200" dirty="0">
              <a:solidFill>
                <a:schemeClr val="tx1"/>
              </a:solidFill>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30</a:t>
            </a:fld>
            <a:endParaRPr kumimoji="1" lang="ja-JP" altLang="en-US"/>
          </a:p>
        </p:txBody>
      </p:sp>
    </p:spTree>
    <p:extLst>
      <p:ext uri="{BB962C8B-B14F-4D97-AF65-F5344CB8AC3E}">
        <p14:creationId xmlns:p14="http://schemas.microsoft.com/office/powerpoint/2010/main" val="14168150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中止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Core Ultra 245KF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を採用追加予定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U9 290K Plus / U7 270K Plus / U5 250K Plus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Arrow Lake-S+B860/H810</a:t>
            </a:r>
            <a:r>
              <a:rPr kumimoji="1" lang="ja-JP" altLang="en-US" sz="1200" dirty="0">
                <a:solidFill>
                  <a:schemeClr val="bg1"/>
                </a:solidFill>
                <a:latin typeface="Meiryo UI"/>
                <a:ea typeface="Meiryo UI"/>
                <a:cs typeface="Meiryo UI" panose="020B0604030504040204" pitchFamily="50" charset="-128"/>
              </a:rPr>
              <a:t>　解禁日</a:t>
            </a:r>
            <a:r>
              <a:rPr kumimoji="1" lang="en-US" altLang="ja-JP" sz="1200" dirty="0">
                <a:solidFill>
                  <a:schemeClr val="bg1"/>
                </a:solidFill>
                <a:latin typeface="Meiryo UI"/>
                <a:ea typeface="Meiryo UI"/>
                <a:cs typeface="Meiryo UI" panose="020B0604030504040204" pitchFamily="50" charset="-128"/>
              </a:rPr>
              <a:t>1/13-1/17</a:t>
            </a:r>
            <a:r>
              <a:rPr kumimoji="1" lang="ja-JP" altLang="en-US" sz="1200" dirty="0">
                <a:solidFill>
                  <a:schemeClr val="bg1"/>
                </a:solidFill>
                <a:latin typeface="Meiryo UI"/>
                <a:ea typeface="Meiryo UI"/>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1/13 23:00(</a:t>
            </a:r>
            <a:r>
              <a:rPr kumimoji="1" lang="ja-JP" altLang="en-US" sz="1200" dirty="0">
                <a:solidFill>
                  <a:schemeClr val="bg1"/>
                </a:solidFill>
                <a:latin typeface="Meiryo UI"/>
                <a:ea typeface="Meiryo UI"/>
                <a:cs typeface="Meiryo UI" panose="020B0604030504040204" pitchFamily="50" charset="-128"/>
              </a:rPr>
              <a:t>日本</a:t>
            </a:r>
            <a:r>
              <a:rPr kumimoji="1" lang="en-US" altLang="ja-JP" sz="1200" dirty="0">
                <a:solidFill>
                  <a:schemeClr val="bg1"/>
                </a:solidFill>
                <a:latin typeface="Meiryo UI"/>
                <a:ea typeface="Meiryo UI"/>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1/13-17</a:t>
            </a:r>
            <a:endParaRPr kumimoji="1" lang="en-US" altLang="ja-JP" sz="1200" b="1"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情報から</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発表・解禁更新　発表：</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時刻</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TBD)</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PT</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になるため日本は日付ずれる可能性あり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 Refresh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リリース・解禁：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-HX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リリース：</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WW08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2023/8/30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10/16</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-HX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 Refresh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Jan’24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WW08’24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Meteor Lake-H</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リリース・解禁：</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WW48-50</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23</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 Refresh K/KF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(WW40-44)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 Refresh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nonK</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/KF</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1/B~2/M(WW1-6)(P3-4)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の最新資料より、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 Lake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の登場時期は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Q3End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月）頃の見込み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2023/4/27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K/KF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10-11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月頃、</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 Refresh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nonK</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Q1 2024</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頃</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Processor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latin typeface="+mn-ea"/>
              </a:rPr>
              <a:t>Raptor Lake-S Refresh</a:t>
            </a:r>
            <a:r>
              <a:rPr lang="ja-JP" altLang="en-US" sz="1200" dirty="0">
                <a:solidFill>
                  <a:schemeClr val="tx1"/>
                </a:solidFill>
                <a:latin typeface="+mn-ea"/>
              </a:rPr>
              <a:t>　</a:t>
            </a:r>
            <a:r>
              <a:rPr lang="en-US" altLang="ja-JP" sz="1200" dirty="0">
                <a:solidFill>
                  <a:schemeClr val="tx1"/>
                </a:solidFill>
                <a:latin typeface="+mn-ea"/>
              </a:rPr>
              <a:t>K/KF</a:t>
            </a:r>
            <a:r>
              <a:rPr lang="ja-JP" altLang="en-US" sz="1200" dirty="0">
                <a:solidFill>
                  <a:schemeClr val="tx1"/>
                </a:solidFill>
                <a:latin typeface="+mn-ea"/>
              </a:rPr>
              <a:t>：</a:t>
            </a:r>
            <a:r>
              <a:rPr lang="en-US" altLang="ja-JP" sz="1200" dirty="0">
                <a:solidFill>
                  <a:schemeClr val="tx1"/>
                </a:solidFill>
                <a:latin typeface="+mn-ea"/>
              </a:rPr>
              <a:t>Q3</a:t>
            </a:r>
            <a:r>
              <a:rPr lang="ja-JP" altLang="en-US" sz="1200" dirty="0">
                <a:solidFill>
                  <a:schemeClr val="tx1"/>
                </a:solidFill>
                <a:latin typeface="+mn-ea"/>
              </a:rPr>
              <a:t>頃　</a:t>
            </a:r>
            <a:r>
              <a:rPr lang="en-US" altLang="ja-JP" sz="1200" dirty="0" err="1">
                <a:solidFill>
                  <a:schemeClr val="tx1"/>
                </a:solidFill>
                <a:latin typeface="+mn-ea"/>
              </a:rPr>
              <a:t>nonK</a:t>
            </a:r>
            <a:r>
              <a:rPr lang="ja-JP" altLang="en-US" sz="1200" dirty="0">
                <a:solidFill>
                  <a:schemeClr val="tx1"/>
                </a:solidFill>
                <a:latin typeface="+mn-ea"/>
              </a:rPr>
              <a:t>：</a:t>
            </a:r>
            <a:r>
              <a:rPr lang="en-US" altLang="ja-JP" sz="1200" dirty="0">
                <a:solidFill>
                  <a:schemeClr val="tx1"/>
                </a:solidFill>
                <a:latin typeface="+mn-ea"/>
              </a:rPr>
              <a:t>Q1</a:t>
            </a:r>
            <a:r>
              <a:rPr lang="ja-JP" altLang="en-US" sz="1200" dirty="0">
                <a:solidFill>
                  <a:schemeClr val="tx1"/>
                </a:solidFill>
                <a:latin typeface="+mn-ea"/>
              </a:rPr>
              <a:t>’</a:t>
            </a:r>
            <a:r>
              <a:rPr lang="en-US" altLang="ja-JP" sz="1200" dirty="0">
                <a:solidFill>
                  <a:schemeClr val="tx1"/>
                </a:solidFill>
                <a:latin typeface="+mn-ea"/>
              </a:rPr>
              <a:t>24</a:t>
            </a:r>
            <a:r>
              <a:rPr lang="ja-JP" altLang="en-US" sz="1200" dirty="0">
                <a:solidFill>
                  <a:schemeClr val="tx1"/>
                </a:solidFill>
                <a:latin typeface="+mn-ea"/>
              </a:rPr>
              <a:t>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dirty="0"/>
              <a:t>Raptor Lake-S Refresh</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時期微修正、</a:t>
            </a:r>
            <a:r>
              <a:rPr lang="en-US" altLang="ja-JP" sz="1200" dirty="0"/>
              <a:t>Sapphire Rapids Refresh</a:t>
            </a:r>
            <a:r>
              <a:rPr lang="ja-JP" altLang="en-US" sz="1200" dirty="0"/>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5QMAP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lang="en-US" altLang="ja-JP" dirty="0"/>
              <a:t>Raptor Lake-S Refresh</a:t>
            </a:r>
            <a:r>
              <a:rPr lang="ja-JP" altLang="en-US" dirty="0"/>
              <a:t>追加 </a:t>
            </a:r>
            <a:r>
              <a:rPr lang="en-US" altLang="ja-JP" dirty="0"/>
              <a:t>Q3’2023</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RPL-S,H770,B760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Z790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に更新</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2022/7/19</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7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のウィンドウが狭まったため更新。発売解禁日</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10/3-10/21</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10/17-10/21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2022/5/9</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7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による更新　</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10/3-10/21</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a:t>
            </a:r>
            <a:r>
              <a:rPr kumimoji="1" lang="ja-JP" altLang="en-US"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7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10/3-11/18</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4400" b="0" dirty="0">
                <a:latin typeface="メイリオ" panose="020B0604030504040204" pitchFamily="50" charset="-128"/>
                <a:ea typeface="メイリオ" panose="020B0604030504040204" pitchFamily="50" charset="-128"/>
              </a:rPr>
              <a:t>2022/4/8</a:t>
            </a:r>
            <a:r>
              <a:rPr lang="ja-JP" altLang="en-US" sz="4400" b="0" dirty="0">
                <a:latin typeface="メイリオ" panose="020B0604030504040204" pitchFamily="50" charset="-128"/>
                <a:ea typeface="メイリオ" panose="020B0604030504040204" pitchFamily="50" charset="-128"/>
              </a:rPr>
              <a:t>　</a:t>
            </a:r>
            <a:r>
              <a:rPr lang="en-US" altLang="ja-JP" sz="4400" b="0" dirty="0">
                <a:latin typeface="メイリオ" panose="020B0604030504040204" pitchFamily="50" charset="-128"/>
                <a:ea typeface="メイリオ" panose="020B0604030504040204" pitchFamily="50" charset="-128"/>
              </a:rPr>
              <a:t>ILU</a:t>
            </a:r>
            <a:r>
              <a:rPr lang="ja-JP" altLang="en-US" sz="4400" b="0" dirty="0">
                <a:latin typeface="メイリオ" panose="020B0604030504040204" pitchFamily="50" charset="-128"/>
                <a:ea typeface="メイリオ" panose="020B0604030504040204" pitchFamily="50" charset="-128"/>
              </a:rPr>
              <a:t>により更新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 9/26-10/21</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-S(non “K”)&amp;</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H770/B760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 9/26-10/21</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intel Arc DG2(AIC)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:4/15-6/30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:5/15-6/30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400" b="0" dirty="0">
                <a:latin typeface="メイリオ" panose="020B0604030504040204" pitchFamily="50" charset="-128"/>
                <a:ea typeface="メイリオ" panose="020B0604030504040204" pitchFamily="50" charset="-128"/>
              </a:rPr>
              <a:t>2020/3/7</a:t>
            </a:r>
            <a:r>
              <a:rPr lang="ja-JP" altLang="en-US" sz="2400" b="0" dirty="0">
                <a:latin typeface="メイリオ" panose="020B0604030504040204" pitchFamily="50" charset="-128"/>
                <a:ea typeface="メイリオ" panose="020B0604030504040204" pitchFamily="50" charset="-128"/>
              </a:rPr>
              <a:t>　</a:t>
            </a:r>
            <a:r>
              <a:rPr lang="ja-JP" altLang="en-US" sz="2400" b="0" i="0" dirty="0">
                <a:solidFill>
                  <a:srgbClr val="242424"/>
                </a:solidFill>
                <a:effectLst/>
                <a:latin typeface="Segoe UI" panose="020B0502040204020203" pitchFamily="34" charset="0"/>
              </a:rPr>
              <a:t>■</a:t>
            </a:r>
            <a:r>
              <a:rPr lang="en-US" altLang="ja-JP" sz="2400" b="0" i="0" dirty="0">
                <a:solidFill>
                  <a:srgbClr val="242424"/>
                </a:solidFill>
                <a:effectLst/>
                <a:latin typeface="Segoe UI" panose="020B0502040204020203" pitchFamily="34" charset="0"/>
              </a:rPr>
              <a:t>i9-12900KS</a:t>
            </a:r>
            <a:r>
              <a:rPr lang="ja-JP" altLang="en-US" sz="2400" b="0" i="0" dirty="0">
                <a:solidFill>
                  <a:srgbClr val="242424"/>
                </a:solidFill>
                <a:effectLst/>
                <a:latin typeface="Segoe UI" panose="020B0502040204020203" pitchFamily="34" charset="0"/>
              </a:rPr>
              <a:t>のリリース解禁</a:t>
            </a:r>
            <a:r>
              <a:rPr lang="en-US" altLang="ja-JP" sz="2400" b="0" i="0" dirty="0">
                <a:solidFill>
                  <a:srgbClr val="242424"/>
                </a:solidFill>
                <a:effectLst/>
                <a:latin typeface="Segoe UI" panose="020B0502040204020203" pitchFamily="34" charset="0"/>
              </a:rPr>
              <a:t>/</a:t>
            </a:r>
            <a:r>
              <a:rPr lang="ja-JP" altLang="en-US" sz="2400" b="0" i="0" dirty="0">
                <a:solidFill>
                  <a:srgbClr val="242424"/>
                </a:solidFill>
                <a:effectLst/>
                <a:latin typeface="Segoe UI" panose="020B0502040204020203" pitchFamily="34" charset="0"/>
              </a:rPr>
              <a:t>販売解禁日変更</a:t>
            </a:r>
            <a:r>
              <a:rPr lang="en-US" altLang="ja-JP" sz="2400" b="0" i="0" dirty="0">
                <a:solidFill>
                  <a:srgbClr val="242424"/>
                </a:solidFill>
                <a:effectLst/>
                <a:latin typeface="Segoe UI" panose="020B0502040204020203" pitchFamily="34" charset="0"/>
              </a:rPr>
              <a:t>【</a:t>
            </a:r>
            <a:r>
              <a:rPr lang="ja-JP" altLang="en-US" sz="2400" b="0" i="0" dirty="0">
                <a:solidFill>
                  <a:srgbClr val="242424"/>
                </a:solidFill>
                <a:effectLst/>
                <a:latin typeface="Segoe UI" panose="020B0502040204020203" pitchFamily="34" charset="0"/>
              </a:rPr>
              <a:t>リリース解禁</a:t>
            </a:r>
            <a:r>
              <a:rPr lang="en-US" altLang="ja-JP" sz="2400" b="0" i="0" dirty="0">
                <a:solidFill>
                  <a:srgbClr val="242424"/>
                </a:solidFill>
                <a:effectLst/>
                <a:latin typeface="Segoe UI" panose="020B0502040204020203" pitchFamily="34" charset="0"/>
              </a:rPr>
              <a:t>】 3</a:t>
            </a:r>
            <a:r>
              <a:rPr lang="ja-JP" altLang="en-US" sz="2400" b="0" i="0" dirty="0">
                <a:solidFill>
                  <a:srgbClr val="242424"/>
                </a:solidFill>
                <a:effectLst/>
                <a:latin typeface="Segoe UI" panose="020B0502040204020203" pitchFamily="34" charset="0"/>
              </a:rPr>
              <a:t>月</a:t>
            </a:r>
            <a:r>
              <a:rPr lang="en-US" altLang="ja-JP" sz="2400" b="0" i="0" dirty="0">
                <a:solidFill>
                  <a:srgbClr val="242424"/>
                </a:solidFill>
                <a:effectLst/>
                <a:latin typeface="Segoe UI" panose="020B0502040204020203" pitchFamily="34" charset="0"/>
              </a:rPr>
              <a:t>28</a:t>
            </a:r>
            <a:r>
              <a:rPr lang="ja-JP" altLang="en-US" sz="2400" b="0" i="0" dirty="0">
                <a:solidFill>
                  <a:srgbClr val="242424"/>
                </a:solidFill>
                <a:effectLst/>
                <a:latin typeface="Segoe UI" panose="020B0502040204020203" pitchFamily="34" charset="0"/>
              </a:rPr>
              <a:t>日 </a:t>
            </a:r>
            <a:r>
              <a:rPr lang="en-US" altLang="ja-JP" sz="2400" b="0" i="0" dirty="0">
                <a:solidFill>
                  <a:srgbClr val="242424"/>
                </a:solidFill>
                <a:effectLst/>
                <a:latin typeface="Segoe UI" panose="020B0502040204020203" pitchFamily="34" charset="0"/>
              </a:rPr>
              <a:t>23:00 (</a:t>
            </a:r>
            <a:r>
              <a:rPr lang="ja-JP" altLang="en-US" sz="2400" b="0" i="0" dirty="0">
                <a:solidFill>
                  <a:srgbClr val="242424"/>
                </a:solidFill>
                <a:effectLst/>
                <a:latin typeface="Segoe UI" panose="020B0502040204020203" pitchFamily="34" charset="0"/>
              </a:rPr>
              <a:t>日本時間</a:t>
            </a:r>
            <a:r>
              <a:rPr lang="en-US" altLang="ja-JP" sz="2400" b="0" i="0" dirty="0">
                <a:solidFill>
                  <a:srgbClr val="242424"/>
                </a:solidFill>
                <a:effectLst/>
                <a:latin typeface="Segoe UI" panose="020B0502040204020203" pitchFamily="34" charset="0"/>
              </a:rPr>
              <a:t>)</a:t>
            </a:r>
            <a:r>
              <a:rPr lang="ja-JP" altLang="en-US" sz="2400" b="0" i="0" dirty="0">
                <a:solidFill>
                  <a:srgbClr val="242424"/>
                </a:solidFill>
                <a:effectLst/>
                <a:latin typeface="Segoe UI" panose="020B0502040204020203" pitchFamily="34" charset="0"/>
              </a:rPr>
              <a:t>　</a:t>
            </a:r>
            <a:r>
              <a:rPr lang="en-US" altLang="ja-JP" sz="2400" b="0" i="0" dirty="0">
                <a:solidFill>
                  <a:srgbClr val="242424"/>
                </a:solidFill>
                <a:effectLst/>
                <a:latin typeface="Segoe UI" panose="020B0502040204020203" pitchFamily="34" charset="0"/>
              </a:rPr>
              <a:t>【</a:t>
            </a:r>
            <a:r>
              <a:rPr lang="ja-JP" altLang="en-US" sz="2400" b="0" i="0" dirty="0">
                <a:solidFill>
                  <a:srgbClr val="242424"/>
                </a:solidFill>
                <a:effectLst/>
                <a:latin typeface="Segoe UI" panose="020B0502040204020203" pitchFamily="34" charset="0"/>
              </a:rPr>
              <a:t>販売解禁</a:t>
            </a:r>
            <a:r>
              <a:rPr lang="en-US" altLang="ja-JP" sz="2400" b="0" i="0" dirty="0">
                <a:solidFill>
                  <a:srgbClr val="242424"/>
                </a:solidFill>
                <a:effectLst/>
                <a:latin typeface="Segoe UI" panose="020B0502040204020203" pitchFamily="34" charset="0"/>
              </a:rPr>
              <a:t>】 4</a:t>
            </a:r>
            <a:r>
              <a:rPr lang="ja-JP" altLang="en-US" sz="2400" b="0" i="0" dirty="0">
                <a:solidFill>
                  <a:srgbClr val="242424"/>
                </a:solidFill>
                <a:effectLst/>
                <a:latin typeface="Segoe UI" panose="020B0502040204020203" pitchFamily="34" charset="0"/>
              </a:rPr>
              <a:t>月</a:t>
            </a:r>
            <a:r>
              <a:rPr lang="en-US" altLang="ja-JP" sz="2400" b="0" i="0" dirty="0">
                <a:solidFill>
                  <a:srgbClr val="242424"/>
                </a:solidFill>
                <a:effectLst/>
                <a:latin typeface="Segoe UI" panose="020B0502040204020203" pitchFamily="34" charset="0"/>
              </a:rPr>
              <a:t>5</a:t>
            </a:r>
            <a:r>
              <a:rPr lang="ja-JP" altLang="en-US" sz="2400" b="0" i="0" dirty="0">
                <a:solidFill>
                  <a:srgbClr val="242424"/>
                </a:solidFill>
                <a:effectLst/>
                <a:latin typeface="Segoe UI" panose="020B0502040204020203" pitchFamily="34" charset="0"/>
              </a:rPr>
              <a:t>日 </a:t>
            </a:r>
            <a:r>
              <a:rPr lang="en-US" altLang="ja-JP" sz="2400" b="0" i="0" dirty="0">
                <a:solidFill>
                  <a:srgbClr val="242424"/>
                </a:solidFill>
                <a:effectLst/>
                <a:latin typeface="Segoe UI" panose="020B0502040204020203" pitchFamily="34" charset="0"/>
              </a:rPr>
              <a:t>23:00 (</a:t>
            </a:r>
            <a:r>
              <a:rPr lang="ja-JP" altLang="en-US" sz="2400" b="0" i="0" dirty="0">
                <a:solidFill>
                  <a:srgbClr val="242424"/>
                </a:solidFill>
                <a:effectLst/>
                <a:latin typeface="Segoe UI" panose="020B0502040204020203" pitchFamily="34" charset="0"/>
              </a:rPr>
              <a:t>日本時間</a:t>
            </a:r>
            <a:r>
              <a:rPr lang="en-US" altLang="ja-JP" sz="2400" b="0" i="0" dirty="0">
                <a:solidFill>
                  <a:srgbClr val="242424"/>
                </a:solidFill>
                <a:effectLst/>
                <a:latin typeface="Segoe UI" panose="020B0502040204020203" pitchFamily="34" charset="0"/>
              </a:rPr>
              <a:t>)</a:t>
            </a:r>
            <a:endParaRPr lang="en-US" altLang="ja-JP" sz="24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2022/2/7 i9-12900KS</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発売日確定</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3/17 23</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00(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日本時間</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Lake-S(K</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以外</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 B660, H610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10:10PST(1/5 3:10JST)</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RaptorLake</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のコア構成を追記</a:t>
            </a:r>
            <a:b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 Lake-S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K</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無し</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&amp;</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H670/B660/H610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に更新</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a:t>
            </a:r>
            <a:r>
              <a:rPr lang="en-US" altLang="ja-JP" sz="1200" b="0" dirty="0">
                <a:latin typeface="メイリオ" panose="020B0604030504040204" pitchFamily="50" charset="-128"/>
                <a:ea typeface="メイリオ" panose="020B0604030504040204" pitchFamily="50" charset="-128"/>
              </a:rPr>
              <a:t>9/27</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　</a:t>
            </a:r>
            <a:r>
              <a:rPr lang="en-US" altLang="ja-JP" sz="1200" b="0" dirty="0">
                <a:latin typeface="メイリオ" panose="020B0604030504040204" pitchFamily="50" charset="-128"/>
                <a:ea typeface="メイリオ" panose="020B0604030504040204" pitchFamily="50" charset="-128"/>
              </a:rPr>
              <a:t>Press Embargo:10/27 9:00am(PST)[10/28 2:00(JST)]</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Release Embargo:11/4 6:00am(PST) [11/4 23:00</a:t>
            </a:r>
            <a:r>
              <a:rPr lang="de-DE"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(JST)</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lang="en-US" altLang="ja-JP" sz="1200" b="0" dirty="0">
                <a:latin typeface="メイリオ" panose="020B0604030504040204" pitchFamily="50" charset="-128"/>
                <a:ea typeface="メイリオ" panose="020B0604030504040204" pitchFamily="50" charset="-128"/>
              </a:rPr>
              <a:t>2021/9/1</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a:t>
            </a:r>
            <a:r>
              <a:rPr lang="en-US" altLang="ja-JP" sz="1200" b="0" dirty="0">
                <a:latin typeface="メイリオ" panose="020B0604030504040204" pitchFamily="50" charset="-128"/>
                <a:ea typeface="メイリオ" panose="020B0604030504040204" pitchFamily="50" charset="-128"/>
              </a:rPr>
              <a:t>P28-29</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32-33</a:t>
            </a:r>
            <a:r>
              <a:rPr lang="ja-JP" altLang="en-US" sz="1200" b="0" dirty="0">
                <a:latin typeface="メイリオ" panose="020B0604030504040204" pitchFamily="50" charset="-128"/>
                <a:ea typeface="メイリオ" panose="020B0604030504040204" pitchFamily="50" charset="-128"/>
              </a:rPr>
              <a:t>）</a:t>
            </a:r>
          </a:p>
          <a:p>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付き</a:t>
            </a:r>
            <a:r>
              <a:rPr lang="en-US" altLang="ja-JP" sz="1200" b="0" dirty="0">
                <a:latin typeface="メイリオ" panose="020B0604030504040204" pitchFamily="50" charset="-128"/>
                <a:ea typeface="メイリオ" panose="020B0604030504040204" pitchFamily="50" charset="-128"/>
              </a:rPr>
              <a:t>&amp;Z690 10/15-11/19→</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:10/26-11/2,</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:10/26-11/5</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無し</a:t>
            </a:r>
            <a:r>
              <a:rPr lang="en-US" altLang="ja-JP" sz="1200" b="0" dirty="0">
                <a:latin typeface="メイリオ" panose="020B0604030504040204" pitchFamily="50" charset="-128"/>
                <a:ea typeface="メイリオ" panose="020B0604030504040204" pitchFamily="50" charset="-128"/>
              </a:rPr>
              <a:t>&amp;ZH670/B660/H610 1/3-2/18→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:1/3-1/10,</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:1/3-1/17</a:t>
            </a: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:1/1-1/31,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:2/27-3/31,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:3/13-4/15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のコア構成を追記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の製品名が出てきたため反映、予定も反映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情報により修正　年内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文言修正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b="0" i="0" dirty="0">
                <a:effectLst/>
                <a:latin typeface="Segoe UI" panose="020B0502040204020203" pitchFamily="34" charset="0"/>
              </a:rPr>
              <a:t>ラウンチが</a:t>
            </a:r>
            <a:r>
              <a:rPr lang="en-US" altLang="ja-JP" b="0" i="0" dirty="0">
                <a:effectLst/>
                <a:latin typeface="Segoe UI" panose="020B0502040204020203" pitchFamily="34" charset="0"/>
              </a:rPr>
              <a:t>3/30</a:t>
            </a:r>
            <a:r>
              <a:rPr lang="ja-JP" altLang="en-US" b="0" i="0" dirty="0">
                <a:effectLst/>
                <a:latin typeface="Segoe UI" panose="020B0502040204020203" pitchFamily="34" charset="0"/>
              </a:rPr>
              <a:t>にずれる</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2021/2/12</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RockerLake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CommetLake</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 </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Reflesh</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3/17 1:00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プレス解禁、</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3/19 1:00 JST</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販売解禁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Comet Lake-R(i3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Pentium)CPU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と縮まっている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400s		500s	PVT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量産</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PRIME H410M-A	H510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PRIME B460M-AJ	B560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PRIME H470-PLUS	H570	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PRIME Z490-P	Z590	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品は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Z590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H570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B560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H510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の発売日</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に大幅前倒しになる予定。</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RocketLake</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3/1-3/19</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へ前倒しに。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前回情報より後ろが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ヶ月縮まっています。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Lake,CometLake</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の型番を追記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詳細更新・コメント追記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2020/7/21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状況修正　発売日</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Celeron G5905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i9-10850K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最新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Z490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の発売日を修正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31</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MSI B860I EDGE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で進行</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マザーボード追加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Z890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追加検討中</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AriesM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GeminiM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 B860M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Livemixer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2024/12/9</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a:ea typeface="Meiryo UI"/>
                <a:cs typeface="Meiryo UI" panose="020B0604030504040204" pitchFamily="50" charset="-128"/>
              </a:rPr>
              <a:t>Arrow Lake-S+B860/H810</a:t>
            </a:r>
            <a:r>
              <a:rPr kumimoji="1" lang="ja-JP" altLang="en-US" sz="1200" dirty="0">
                <a:solidFill>
                  <a:schemeClr val="bg1"/>
                </a:solidFill>
                <a:latin typeface="Meiryo UI"/>
                <a:ea typeface="Meiryo UI"/>
                <a:cs typeface="Meiryo UI" panose="020B0604030504040204" pitchFamily="50" charset="-128"/>
              </a:rPr>
              <a:t>　解禁日</a:t>
            </a:r>
            <a:r>
              <a:rPr kumimoji="1" lang="en-US" altLang="ja-JP" sz="1200" dirty="0">
                <a:solidFill>
                  <a:schemeClr val="bg1"/>
                </a:solidFill>
                <a:latin typeface="Meiryo UI"/>
                <a:ea typeface="Meiryo UI"/>
                <a:cs typeface="Meiryo UI" panose="020B0604030504040204" pitchFamily="50" charset="-128"/>
              </a:rPr>
              <a:t>1/13-1/17</a:t>
            </a:r>
            <a:r>
              <a:rPr kumimoji="1" lang="ja-JP" altLang="en-US" sz="1200" dirty="0">
                <a:solidFill>
                  <a:schemeClr val="bg1"/>
                </a:solidFill>
                <a:latin typeface="Meiryo UI"/>
                <a:ea typeface="Meiryo UI"/>
                <a:cs typeface="Meiryo UI" panose="020B0604030504040204" pitchFamily="50" charset="-128"/>
              </a:rPr>
              <a:t>→</a:t>
            </a:r>
            <a:r>
              <a:rPr kumimoji="1" lang="en-US" altLang="ja-JP" sz="1200" dirty="0">
                <a:solidFill>
                  <a:schemeClr val="bg1"/>
                </a:solidFill>
                <a:latin typeface="Meiryo UI"/>
                <a:ea typeface="Meiryo UI"/>
                <a:cs typeface="Meiryo UI" panose="020B0604030504040204" pitchFamily="50" charset="-128"/>
              </a:rPr>
              <a:t>1/13 23:00(</a:t>
            </a:r>
            <a:r>
              <a:rPr kumimoji="1" lang="ja-JP" altLang="en-US" sz="1200" dirty="0">
                <a:solidFill>
                  <a:schemeClr val="bg1"/>
                </a:solidFill>
                <a:latin typeface="Meiryo UI"/>
                <a:ea typeface="Meiryo UI"/>
                <a:cs typeface="Meiryo UI" panose="020B0604030504040204" pitchFamily="50" charset="-128"/>
              </a:rPr>
              <a:t>日本</a:t>
            </a:r>
            <a:r>
              <a:rPr kumimoji="1" lang="en-US" altLang="ja-JP" sz="1200" dirty="0">
                <a:solidFill>
                  <a:schemeClr val="bg1"/>
                </a:solidFill>
                <a:latin typeface="Meiryo UI"/>
                <a:ea typeface="Meiryo UI"/>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Arrow Lake-S+B860/H810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1/13-17</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2024/10/24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採用決定した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B860MB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B860 TW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B860M-N</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b="0" dirty="0">
                <a:latin typeface="メイリオ" panose="020B0604030504040204" pitchFamily="50" charset="-128"/>
                <a:ea typeface="メイリオ" panose="020B0604030504040204" pitchFamily="50" charset="-128"/>
              </a:rPr>
              <a:t>ASRock B760-TW WH</a:t>
            </a:r>
            <a:r>
              <a:rPr lang="ja-JP" altLang="en-US" sz="1200" b="0" dirty="0">
                <a:latin typeface="メイリオ" panose="020B0604030504040204" pitchFamily="50" charset="-128"/>
                <a:ea typeface="メイリオ"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B760M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2024/5/15</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SaphireRapids-112L/64L  Refresh</a:t>
            </a:r>
            <a:r>
              <a:rPr kumimoji="1" lang="ja-JP" altLang="en-US" sz="12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　発表・解禁：</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8/25-8/31</a:t>
            </a:r>
            <a:r>
              <a:rPr kumimoji="1" lang="ja-JP" altLang="en-US" sz="2400" b="0" i="0" u="none" strike="noStrike" kern="1200" cap="none" spc="0" normalizeH="0" baseline="0" noProof="0" dirty="0">
                <a:ln>
                  <a:noFill/>
                </a:ln>
                <a:solidFill>
                  <a:schemeClr val="bg1"/>
                </a:solidFill>
                <a:effectLst/>
                <a:uLnTx/>
                <a:uFillTx/>
                <a:latin typeface="Meiryo UI"/>
                <a:ea typeface="Meiryo UI"/>
                <a:cs typeface="Meiryo UI" panose="020B0604030504040204" pitchFamily="50" charset="-128"/>
              </a:rPr>
              <a:t>予定</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K+Z890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10</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月、</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Arrow Lake-S nonK+B860/H810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1/1-1/21</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W880/Q870</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Q2</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25</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Lunar Lake </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r>
              <a:rPr kumimoji="1" lang="en-US" altLang="ja-JP"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9/1-24</a:t>
            </a:r>
            <a:r>
              <a:rPr kumimoji="1" lang="ja-JP" altLang="en-US" sz="12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Raptor Lake-H Refresh</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r>
              <a:rPr kumimoji="1" lang="en-US" altLang="ja-JP"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Q1’25</a:t>
            </a:r>
            <a:r>
              <a:rPr kumimoji="1" lang="ja-JP" altLang="en-US" sz="8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予定　にそれぞれ更新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2022/11/9</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に基づき更新。</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RPL-S,H770,B760</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の発表日を</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 6:00(PT)23:00(JST)</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、販売解禁日は</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同日</a:t>
            </a:r>
            <a:endPar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2022/7/19</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4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のウィンドウが狭まったため更新。発売解禁日</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10/3-10/21</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10/17-10/21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2022/5/9</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ILU</a:t>
            </a:r>
            <a:r>
              <a:rPr kumimoji="1" lang="ja-JP" altLang="en-US" sz="4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による更新　</a:t>
            </a:r>
            <a:r>
              <a:rPr kumimoji="1" lang="en-US" altLang="ja-JP" sz="24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発表：</a:t>
            </a:r>
            <a:r>
              <a:rPr kumimoji="1" lang="en-US" altLang="ja-JP"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9/27-9/28(Intel Inovation’22)</a:t>
            </a:r>
            <a:r>
              <a:rPr kumimoji="1" lang="ja-JP" altLang="en-US" sz="4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10/3-11/18</a:t>
            </a:r>
            <a:r>
              <a:rPr kumimoji="1" lang="ja-JP" altLang="en-US"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2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400" b="0" dirty="0">
                <a:latin typeface="メイリオ" panose="020B0604030504040204" pitchFamily="50" charset="-128"/>
                <a:ea typeface="メイリオ" panose="020B0604030504040204" pitchFamily="50" charset="-128"/>
              </a:rPr>
              <a:t>2022/4/8</a:t>
            </a:r>
            <a:r>
              <a:rPr lang="ja-JP" altLang="en-US" sz="2400" b="0" dirty="0">
                <a:latin typeface="メイリオ" panose="020B0604030504040204" pitchFamily="50" charset="-128"/>
                <a:ea typeface="メイリオ" panose="020B0604030504040204" pitchFamily="50" charset="-128"/>
              </a:rPr>
              <a:t>　</a:t>
            </a:r>
            <a:r>
              <a:rPr lang="en-US" altLang="ja-JP" sz="2400" b="0" dirty="0">
                <a:latin typeface="メイリオ" panose="020B0604030504040204" pitchFamily="50" charset="-128"/>
                <a:ea typeface="メイリオ" panose="020B0604030504040204" pitchFamily="50" charset="-128"/>
              </a:rPr>
              <a:t>ILU</a:t>
            </a:r>
            <a:r>
              <a:rPr lang="ja-JP" altLang="en-US" sz="2400" b="0" dirty="0">
                <a:latin typeface="メイリオ" panose="020B0604030504040204" pitchFamily="50" charset="-128"/>
                <a:ea typeface="メイリオ" panose="020B0604030504040204" pitchFamily="50" charset="-128"/>
              </a:rPr>
              <a:t>により更新 </a:t>
            </a:r>
            <a:r>
              <a:rPr kumimoji="1" lang="en-US" altLang="ja-JP" sz="12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-S(“K””KF”)&amp;Z790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kern="1200" cap="none" spc="0" normalizeH="0" baseline="0" noProof="0" dirty="0" err="1">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RaptorLake</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-S(non “K”)&amp;</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H770/B760</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Sapphire Rapids-64L/112L 9/26-10/21</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intel Arc DG2(AIC) </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:4/15-6/30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:5/15-6/30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2022/3/28 H610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にリスクヘッジ用として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H610M-HDV</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ILU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Lake-S(K</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以外</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)+H670, B660, H610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の発表発売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10:10PST(1/5 3:10JST)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 Lake-S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K</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無し</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&amp;</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H670/B660/H610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発売</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2/1</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Alder-Lake</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に更新</a:t>
            </a:r>
            <a:endPar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a:t>
            </a:r>
            <a:r>
              <a:rPr lang="en-US" altLang="ja-JP" sz="1200" b="0" dirty="0">
                <a:latin typeface="メイリオ" panose="020B0604030504040204" pitchFamily="50" charset="-128"/>
                <a:ea typeface="メイリオ" panose="020B0604030504040204" pitchFamily="50" charset="-128"/>
              </a:rPr>
              <a:t>9/27</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　</a:t>
            </a:r>
            <a:r>
              <a:rPr lang="en-US" altLang="ja-JP" sz="1200" b="0" dirty="0">
                <a:latin typeface="メイリオ" panose="020B0604030504040204" pitchFamily="50" charset="-128"/>
                <a:ea typeface="メイリオ" panose="020B0604030504040204" pitchFamily="50" charset="-128"/>
              </a:rPr>
              <a:t>Press Embargo:10/27 9:00am(PST)[10/28 2:00(JST)]</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Release Embargo:11/4 6:00am(PST) [11/4 23:00</a:t>
            </a:r>
            <a:r>
              <a:rPr lang="de-DE" altLang="ja-JP" sz="1200" b="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(JST)</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 </a:t>
            </a:r>
            <a:endParaRPr lang="en-US" altLang="ja-JP" sz="1200" b="0" dirty="0">
              <a:latin typeface="メイリオ" panose="020B0604030504040204" pitchFamily="50" charset="-128"/>
              <a:ea typeface="メイリオ" panose="020B0604030504040204" pitchFamily="50" charset="-128"/>
            </a:endParaRPr>
          </a:p>
          <a:p>
            <a:r>
              <a:rPr lang="en-US" altLang="ja-JP" sz="1200" b="0" dirty="0">
                <a:latin typeface="メイリオ" panose="020B0604030504040204" pitchFamily="50" charset="-128"/>
                <a:ea typeface="メイリオ" panose="020B0604030504040204" pitchFamily="50" charset="-128"/>
              </a:rPr>
              <a:t>2021/9/1</a:t>
            </a:r>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ja-JP" altLang="en-US" sz="1200" b="0" dirty="0">
                <a:latin typeface="メイリオ" panose="020B0604030504040204" pitchFamily="50" charset="-128"/>
                <a:ea typeface="メイリオ" panose="020B0604030504040204" pitchFamily="50" charset="-128"/>
              </a:rPr>
              <a:t>の発表・発売日を更新（</a:t>
            </a:r>
            <a:r>
              <a:rPr lang="en-US" altLang="ja-JP" sz="1200" b="0" dirty="0">
                <a:latin typeface="メイリオ" panose="020B0604030504040204" pitchFamily="50" charset="-128"/>
                <a:ea typeface="メイリオ" panose="020B0604030504040204" pitchFamily="50" charset="-128"/>
              </a:rPr>
              <a:t>P28-29</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32-33</a:t>
            </a:r>
            <a:r>
              <a:rPr lang="ja-JP" altLang="en-US" sz="1200" b="0" dirty="0">
                <a:latin typeface="メイリオ" panose="020B0604030504040204" pitchFamily="50" charset="-128"/>
                <a:ea typeface="メイリオ" panose="020B0604030504040204" pitchFamily="50" charset="-128"/>
              </a:rPr>
              <a:t>）</a:t>
            </a:r>
          </a:p>
          <a:p>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付き</a:t>
            </a:r>
            <a:r>
              <a:rPr lang="en-US" altLang="ja-JP" sz="1200" b="0" dirty="0">
                <a:latin typeface="メイリオ" panose="020B0604030504040204" pitchFamily="50" charset="-128"/>
                <a:ea typeface="メイリオ" panose="020B0604030504040204" pitchFamily="50" charset="-128"/>
              </a:rPr>
              <a:t>&amp;Z690 10/15-11/19→</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:10/26-11/2,</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:10/26-11/5</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K</a:t>
            </a:r>
            <a:r>
              <a:rPr lang="ja-JP" altLang="en-US" sz="1200" b="0" dirty="0">
                <a:latin typeface="メイリオ" panose="020B0604030504040204" pitchFamily="50" charset="-128"/>
                <a:ea typeface="メイリオ" panose="020B0604030504040204" pitchFamily="50" charset="-128"/>
              </a:rPr>
              <a:t>無し</a:t>
            </a:r>
            <a:r>
              <a:rPr lang="en-US" altLang="ja-JP" sz="1200" b="0" dirty="0">
                <a:latin typeface="メイリオ" panose="020B0604030504040204" pitchFamily="50" charset="-128"/>
                <a:ea typeface="メイリオ" panose="020B0604030504040204" pitchFamily="50" charset="-128"/>
              </a:rPr>
              <a:t>&amp;ZH670/B660/H610 1/3-2/18→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:1/3-1/10,</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:1/3-1/17</a:t>
            </a:r>
          </a:p>
          <a:p>
            <a:r>
              <a:rPr lang="ja-JP" altLang="en-US" sz="1200" b="0" dirty="0">
                <a:latin typeface="メイリオ" panose="020B0604030504040204" pitchFamily="50" charset="-128"/>
                <a:ea typeface="メイリオ" panose="020B0604030504040204" pitchFamily="50" charset="-128"/>
              </a:rPr>
              <a:t>　　　　　　　</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-H</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:1/1-1/31,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:2/1-2/28</a:t>
            </a:r>
            <a:r>
              <a:rPr lang="ja-JP" altLang="en-US" sz="1200" b="0" dirty="0">
                <a:latin typeface="メイリオ" panose="020B0604030504040204" pitchFamily="50" charset="-128"/>
                <a:ea typeface="メイリオ" panose="020B0604030504040204" pitchFamily="50" charset="-128"/>
              </a:rPr>
              <a:t>、</a:t>
            </a:r>
            <a:r>
              <a:rPr lang="en-US" altLang="ja-JP" sz="1200" b="0" dirty="0" err="1">
                <a:latin typeface="メイリオ" panose="020B0604030504040204" pitchFamily="50" charset="-128"/>
                <a:ea typeface="メイリオ" panose="020B0604030504040204" pitchFamily="50" charset="-128"/>
              </a:rPr>
              <a:t>AlderLake</a:t>
            </a:r>
            <a:r>
              <a:rPr lang="en-US" altLang="ja-JP" sz="1200" b="0" dirty="0">
                <a:latin typeface="メイリオ" panose="020B0604030504040204" pitchFamily="50" charset="-128"/>
                <a:ea typeface="メイリオ" panose="020B0604030504040204" pitchFamily="50" charset="-128"/>
              </a:rPr>
              <a:t>-P/U</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3/1-4/15→</a:t>
            </a:r>
            <a:r>
              <a:rPr lang="ja-JP" altLang="en-US" sz="1200" b="0" dirty="0">
                <a:latin typeface="メイリオ" panose="020B0604030504040204" pitchFamily="50" charset="-128"/>
                <a:ea typeface="メイリオ" panose="020B0604030504040204" pitchFamily="50" charset="-128"/>
              </a:rPr>
              <a:t>発表</a:t>
            </a:r>
            <a:r>
              <a:rPr lang="en-US" altLang="ja-JP" sz="1200" b="0" dirty="0">
                <a:latin typeface="メイリオ" panose="020B0604030504040204" pitchFamily="50" charset="-128"/>
                <a:ea typeface="メイリオ" panose="020B0604030504040204" pitchFamily="50" charset="-128"/>
              </a:rPr>
              <a:t>:2/27-3/31,</a:t>
            </a:r>
            <a:r>
              <a:rPr lang="ja-JP" altLang="en-US" sz="1200" b="0" dirty="0">
                <a:latin typeface="メイリオ" panose="020B0604030504040204" pitchFamily="50" charset="-128"/>
                <a:ea typeface="メイリオ" panose="020B0604030504040204" pitchFamily="50" charset="-128"/>
              </a:rPr>
              <a:t>発売</a:t>
            </a:r>
            <a:r>
              <a:rPr lang="en-US" altLang="ja-JP" sz="1200" b="0" dirty="0">
                <a:latin typeface="メイリオ" panose="020B0604030504040204" pitchFamily="50" charset="-128"/>
                <a:ea typeface="メイリオ" panose="020B0604030504040204" pitchFamily="50" charset="-128"/>
              </a:rPr>
              <a:t>:3/13-4/15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2021/8/30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候補</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の名称追加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の製品名が出てきたため反映、予定も反映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文言修正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 モデル追加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現状に合わせ修正（ガレリア現行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に修正・消滅</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などの整理）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RocketLakeCPU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2020/12/17</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Z590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H570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B560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H510</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の発売日</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1/11</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に大幅前倒しになる予定。</a:t>
            </a:r>
            <a:r>
              <a:rPr kumimoji="1"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RocketLake</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3/1-3/19</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へ前倒しに。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前回情報より後ろが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ヶ月縮まっています。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Rocket Lake,CometLake-R,Z590/H570/B560/H510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3/15-5/14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H470ITX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ガレリア</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シリーズ凍結のため、検証保留。→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B360ITX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再調達で在庫調整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H470M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B460M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からの情報受けて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CML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日付修正（後ろ倒し）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MTG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持って更新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32</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5800X3D 6/26(</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7700X3D 7/17(</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9 9950X3D2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)23:00(Global)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金</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2026/3/18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9 9950X3D2</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の解禁予定日変更→</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4/20wk</a:t>
            </a:r>
            <a:r>
              <a:rPr kumimoji="1" lang="ja-JP" altLang="en-US"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4/22(Global)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3400G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再投入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5600G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5300G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　</a:t>
            </a:r>
            <a:r>
              <a:rPr lang="ja-JP" altLang="en-US" sz="1200" b="0" dirty="0">
                <a:latin typeface="メイリオ" panose="020B0604030504040204" pitchFamily="50" charset="-128"/>
                <a:ea typeface="メイリオ" panose="020B0604030504040204" pitchFamily="50" charset="-128"/>
              </a:rPr>
              <a:t>最廉価ラインとして</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2025/10/8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5500GT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をラインナップに追加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在庫状況で終了調整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シリーズ取り扱い終了予定を追記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4300G EOL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不採用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採用へ変更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9600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採用へ</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下半期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Next Gen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も継続予定、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9950X3D/9900X3D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で調整、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それ以降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2024/10/15</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AMD AM4SKU</a:t>
            </a:r>
            <a:r>
              <a:rPr lang="ja-JP" altLang="en-US" sz="1200" b="0" i="0" u="none" strike="noStrike" dirty="0">
                <a:solidFill>
                  <a:srgbClr val="000000"/>
                </a:solidFill>
                <a:effectLst/>
                <a:latin typeface="メイリオ" panose="020B0604030504040204" pitchFamily="50" charset="-128"/>
              </a:rPr>
              <a:t>追加　</a:t>
            </a:r>
            <a:r>
              <a:rPr lang="en-US" altLang="ja-JP" sz="1200" b="0" i="0" u="none" strike="noStrike" dirty="0">
                <a:solidFill>
                  <a:srgbClr val="000000"/>
                </a:solidFill>
                <a:effectLst/>
                <a:latin typeface="メイリオ" panose="020B0604030504040204" pitchFamily="50" charset="-128"/>
              </a:rPr>
              <a:t>5600T/5600XT/5300G</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10/27 23:00(Global)</a:t>
            </a:r>
            <a:r>
              <a:rPr lang="ja-JP" altLang="en-US" sz="1200" b="0" i="0" u="none" strike="noStrike" dirty="0">
                <a:solidFill>
                  <a:srgbClr val="000000"/>
                </a:solidFill>
                <a:effectLst/>
                <a:latin typeface="メイリオ" panose="020B0604030504040204" pitchFamily="50" charset="-128"/>
              </a:rPr>
              <a:t>、</a:t>
            </a:r>
            <a:r>
              <a:rPr lang="en-US" altLang="ja-JP" sz="1200" b="0" i="0" u="none" strike="noStrike" dirty="0">
                <a:solidFill>
                  <a:srgbClr val="000000"/>
                </a:solidFill>
                <a:effectLst/>
                <a:latin typeface="メイリオ" panose="020B0604030504040204" pitchFamily="50" charset="-128"/>
              </a:rPr>
              <a:t>R7 9800X3D 11</a:t>
            </a:r>
            <a:r>
              <a:rPr lang="ja-JP" altLang="en-US" sz="1200" b="0" i="0" u="none" strike="noStrike" dirty="0">
                <a:solidFill>
                  <a:srgbClr val="000000"/>
                </a:solidFill>
                <a:effectLst/>
                <a:latin typeface="メイリオ" panose="020B0604030504040204" pitchFamily="50" charset="-128"/>
              </a:rPr>
              <a:t>月</a:t>
            </a:r>
            <a:r>
              <a:rPr kumimoji="1" lang="ja-JP" altLang="en-US" sz="1200" b="0" i="0" u="none" strike="noStrike" baseline="0" dirty="0">
                <a:solidFill>
                  <a:srgbClr val="000000"/>
                </a:solidFill>
                <a:effectLst/>
                <a:latin typeface="メイリオ" panose="020B0604030504040204" pitchFamily="50" charset="-128"/>
                <a:ea typeface="+mn-ea"/>
                <a:cs typeface="+mn-cs"/>
              </a:rPr>
              <a:t>（年内は</a:t>
            </a:r>
            <a:r>
              <a:rPr kumimoji="1" lang="en-US" altLang="ja-JP" sz="1200" b="0" i="0" u="none" strike="noStrike" baseline="0" dirty="0">
                <a:solidFill>
                  <a:srgbClr val="000000"/>
                </a:solidFill>
                <a:effectLst/>
                <a:latin typeface="メイリオ" panose="020B0604030504040204" pitchFamily="50" charset="-128"/>
                <a:ea typeface="+mn-ea"/>
                <a:cs typeface="+mn-cs"/>
              </a:rPr>
              <a:t>9800X3D</a:t>
            </a:r>
            <a:r>
              <a:rPr kumimoji="1" lang="ja-JP" altLang="en-US" sz="1200" b="0" i="0" u="none" strike="noStrike" baseline="0" dirty="0">
                <a:solidFill>
                  <a:srgbClr val="000000"/>
                </a:solidFill>
                <a:effectLst/>
                <a:latin typeface="メイリオ" panose="020B0604030504040204" pitchFamily="50" charset="-128"/>
                <a:ea typeface="+mn-ea"/>
                <a:cs typeface="+mn-cs"/>
              </a:rPr>
              <a:t>のみ）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9000X3D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9950X/9900X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2024/8/2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9700X/9600X</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日本解禁</a:t>
            </a:r>
            <a:r>
              <a:rPr kumimoji="1" lang="en-US" altLang="ja-JP"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8/10</a:t>
            </a:r>
            <a:r>
              <a:rPr kumimoji="1" lang="ja-JP" altLang="en-US" sz="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a:t>
            </a:r>
            <a:r>
              <a:rPr lang="ja-JP" altLang="en-US" sz="1200" b="0" dirty="0">
                <a:latin typeface="メイリオ" panose="020B0604030504040204" pitchFamily="50" charset="-128"/>
                <a:ea typeface="メイリオ" panose="020B0604030504040204" pitchFamily="50" charset="-128"/>
              </a:rPr>
              <a:t>　日本解禁</a:t>
            </a:r>
            <a:r>
              <a:rPr lang="en-US" altLang="ja-JP" sz="1200" b="0" dirty="0">
                <a:latin typeface="メイリオ" panose="020B0604030504040204" pitchFamily="50" charset="-128"/>
                <a:ea typeface="メイリオ" panose="020B0604030504040204" pitchFamily="50" charset="-128"/>
              </a:rPr>
              <a:t>8/23</a:t>
            </a:r>
            <a:r>
              <a:rPr lang="ja-JP" altLang="en-US" sz="1200" b="0" dirty="0">
                <a:latin typeface="メイリオ" panose="020B0604030504040204" pitchFamily="50" charset="-128"/>
                <a:ea typeface="メイリオ"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2024/7/30</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　</a:t>
            </a:r>
            <a:r>
              <a:rPr lang="en-US" altLang="ja-JP" sz="1200" b="0" dirty="0">
                <a:latin typeface="メイリオ" panose="020B0604030504040204" pitchFamily="50" charset="-128"/>
                <a:ea typeface="メイリオ" panose="020B0604030504040204" pitchFamily="50" charset="-128"/>
              </a:rPr>
              <a:t>9700X/9600X:Global</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8/8 22:00</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TBD(8/9</a:t>
            </a:r>
            <a:r>
              <a:rPr lang="ja-JP" altLang="en-US" sz="1200" b="0" dirty="0">
                <a:latin typeface="メイリオ" panose="020B0604030504040204" pitchFamily="50" charset="-128"/>
                <a:ea typeface="メイリオ" panose="020B0604030504040204" pitchFamily="50" charset="-128"/>
              </a:rPr>
              <a:t>予定</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9950X/9900X:8/15 22:00</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TBD(8/23</a:t>
            </a:r>
            <a:r>
              <a:rPr lang="ja-JP" altLang="en-US" sz="1200" b="0" dirty="0">
                <a:latin typeface="メイリオ" panose="020B0604030504040204" pitchFamily="50" charset="-128"/>
                <a:ea typeface="メイリオ" panose="020B0604030504040204" pitchFamily="50" charset="-128"/>
              </a:rPr>
              <a:t>頃</a:t>
            </a:r>
            <a:r>
              <a:rPr lang="en-US" altLang="ja-JP" sz="1200" b="0" dirty="0">
                <a:latin typeface="メイリオ" panose="020B0604030504040204" pitchFamily="50" charset="-128"/>
                <a:ea typeface="メイリオ"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2024/7/25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b="0" dirty="0">
                <a:latin typeface="メイリオ" panose="020B0604030504040204" pitchFamily="50" charset="-128"/>
                <a:ea typeface="メイリオ" panose="020B0604030504040204" pitchFamily="50" charset="-128"/>
              </a:rPr>
              <a:t>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　延期　</a:t>
            </a:r>
            <a:r>
              <a:rPr lang="en-US" altLang="ja-JP" sz="1200" b="0" dirty="0">
                <a:latin typeface="メイリオ" panose="020B0604030504040204" pitchFamily="50" charset="-128"/>
                <a:ea typeface="メイリオ" panose="020B0604030504040204" pitchFamily="50" charset="-128"/>
              </a:rPr>
              <a:t>global 9700X/9600X:8/8</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9950X/9900X:8/15</a:t>
            </a:r>
            <a:r>
              <a:rPr lang="ja-JP" altLang="en-US" sz="1200" b="0" dirty="0">
                <a:latin typeface="メイリオ" panose="020B0604030504040204" pitchFamily="50" charset="-128"/>
                <a:ea typeface="メイリオ" panose="020B0604030504040204" pitchFamily="50" charset="-128"/>
              </a:rPr>
              <a:t>　日本</a:t>
            </a:r>
            <a:r>
              <a:rPr lang="en-US" altLang="ja-JP" sz="1200" b="0" dirty="0">
                <a:latin typeface="メイリオ" panose="020B0604030504040204" pitchFamily="50" charset="-128"/>
                <a:ea typeface="メイリオ" panose="020B0604030504040204" pitchFamily="50" charset="-128"/>
              </a:rPr>
              <a:t>TBD</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2024/6/25</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 Ryzen9000</a:t>
            </a:r>
            <a:r>
              <a:rPr lang="ja-JP" altLang="en-US" sz="1200" b="0" dirty="0">
                <a:latin typeface="メイリオ" panose="020B0604030504040204" pitchFamily="50" charset="-128"/>
                <a:ea typeface="メイリオ" panose="020B0604030504040204" pitchFamily="50" charset="-128"/>
              </a:rPr>
              <a:t>シリーズ</a:t>
            </a:r>
            <a:r>
              <a:rPr lang="en-US" altLang="ja-JP" sz="1200" b="0" dirty="0">
                <a:latin typeface="メイリオ" panose="020B0604030504040204" pitchFamily="50" charset="-128"/>
                <a:ea typeface="メイリオ" panose="020B0604030504040204" pitchFamily="50" charset="-128"/>
              </a:rPr>
              <a:t>(nonX3D)</a:t>
            </a:r>
            <a:r>
              <a:rPr lang="ja-JP" altLang="en-US" sz="1200" b="0" dirty="0">
                <a:latin typeface="メイリオ" panose="020B0604030504040204" pitchFamily="50" charset="-128"/>
                <a:ea typeface="メイリオ" panose="020B0604030504040204" pitchFamily="50" charset="-128"/>
              </a:rPr>
              <a:t>解禁</a:t>
            </a:r>
            <a:r>
              <a:rPr lang="en-US" altLang="ja-JP" sz="1200" b="0" dirty="0">
                <a:latin typeface="メイリオ" panose="020B0604030504040204" pitchFamily="50" charset="-128"/>
                <a:ea typeface="メイリオ" panose="020B0604030504040204" pitchFamily="50" charset="-128"/>
              </a:rPr>
              <a:t>8/2 11:00(</a:t>
            </a:r>
            <a:r>
              <a:rPr lang="ja-JP" altLang="en-US" sz="1200" b="0" dirty="0">
                <a:latin typeface="メイリオ" panose="020B0604030504040204" pitchFamily="50" charset="-128"/>
                <a:ea typeface="メイリオ" panose="020B0604030504040204" pitchFamily="50" charset="-128"/>
              </a:rPr>
              <a:t>日本</a:t>
            </a:r>
            <a:r>
              <a:rPr lang="en-US" altLang="ja-JP" sz="1200" b="0" dirty="0">
                <a:latin typeface="メイリオ" panose="020B0604030504040204" pitchFamily="50" charset="-128"/>
                <a:ea typeface="メイリオ" panose="020B0604030504040204" pitchFamily="50" charset="-128"/>
              </a:rPr>
              <a:t>) global</a:t>
            </a:r>
            <a:r>
              <a:rPr lang="ja-JP" altLang="en-US" sz="1200" b="0" dirty="0">
                <a:latin typeface="メイリオ" panose="020B0604030504040204" pitchFamily="50" charset="-128"/>
                <a:ea typeface="メイリオ" panose="020B0604030504040204" pitchFamily="50" charset="-128"/>
              </a:rPr>
              <a:t>は</a:t>
            </a:r>
            <a:r>
              <a:rPr lang="en-US" altLang="ja-JP" sz="1200" b="0" dirty="0">
                <a:latin typeface="メイリオ" panose="020B0604030504040204" pitchFamily="50" charset="-128"/>
                <a:ea typeface="メイリオ" panose="020B0604030504040204" pitchFamily="50" charset="-128"/>
              </a:rPr>
              <a:t>7/22 22:00</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5900XT/5800XT 8/2</a:t>
            </a:r>
            <a:r>
              <a:rPr lang="ja-JP" altLang="en-US" sz="1200" b="0" dirty="0">
                <a:latin typeface="メイリオ" panose="020B0604030504040204" pitchFamily="50" charset="-128"/>
                <a:ea typeface="メイリオ" panose="020B0604030504040204" pitchFamily="50" charset="-128"/>
              </a:rPr>
              <a:t>予定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(X3D)+X870E/X870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B850/B840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シリーズチップセット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の初回採用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非採用分の整理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5700X3D/5700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8000G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シリーズ仮追加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2023/6/30</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sz="1200" dirty="0">
                <a:solidFill>
                  <a:schemeClr val="tx1"/>
                </a:solidFill>
              </a:rPr>
              <a:t>Ryzen5</a:t>
            </a:r>
            <a:r>
              <a:rPr lang="ja-JP" altLang="en-US" sz="1200" dirty="0">
                <a:solidFill>
                  <a:schemeClr val="tx1"/>
                </a:solidFill>
              </a:rPr>
              <a:t> </a:t>
            </a:r>
            <a:r>
              <a:rPr lang="en-US" altLang="ja-JP" sz="1200" dirty="0">
                <a:solidFill>
                  <a:schemeClr val="tx1"/>
                </a:solidFill>
              </a:rPr>
              <a:t>7500F</a:t>
            </a:r>
            <a:r>
              <a:rPr lang="ja-JP" altLang="en-US" sz="1200" dirty="0">
                <a:solidFill>
                  <a:schemeClr val="tx1"/>
                </a:solidFill>
              </a:rPr>
              <a:t>日本国内投入予定</a:t>
            </a:r>
            <a:endPar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チップセット</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へ情報更新あり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ただし、遅れる可能性あり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B650LowCost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一部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限定の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4300G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の開放予定あり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などの対抗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3D V-Cache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搭載版が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R9-7950X3D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R9-7900X3D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R7-7800X3D</a:t>
            </a:r>
            <a:endPar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Ryzen9-7950X3D 16C/32T TDP120W</a:t>
            </a: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Ryzen9-7900X3D 12C/24T TDP120W</a:t>
            </a:r>
          </a:p>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Ryzen7-7800X3D 8C/16T TDP120W</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Ryzen7xxxX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に延期、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2022/7/12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SKU/Core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構成</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/TDP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付き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無し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3/8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5700X(Zen3)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5600(Zen3)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5500(Zen3)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 4500(Zen2)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4/15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（日本の発売日・時間）</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 5800X3D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4/22 11:00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（日本の発売日・時間）</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lang="en-US" altLang="ja-JP" sz="1200" b="0" dirty="0">
                <a:latin typeface="メイリオ" panose="020B0604030504040204" pitchFamily="50" charset="-128"/>
                <a:ea typeface="メイリオ" panose="020B0604030504040204" pitchFamily="50" charset="-128"/>
              </a:rPr>
              <a:t>2022/3/1</a:t>
            </a:r>
            <a:r>
              <a:rPr lang="ja-JP" altLang="en-US" sz="1200" b="0" dirty="0">
                <a:latin typeface="メイリオ" panose="020B0604030504040204" pitchFamily="50" charset="-128"/>
                <a:ea typeface="メイリオ" panose="020B0604030504040204" pitchFamily="50" charset="-128"/>
              </a:rPr>
              <a:t>　</a:t>
            </a:r>
            <a:r>
              <a:rPr lang="en-US" altLang="ja-JP" b="0" i="0" dirty="0">
                <a:effectLst/>
                <a:latin typeface="Segoe UI" panose="020B0502040204020203" pitchFamily="34" charset="0"/>
              </a:rPr>
              <a:t>Ryzen7 5800X3D</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月後半になる予定</a:t>
            </a:r>
          </a:p>
          <a:p>
            <a:pPr algn="l"/>
            <a:r>
              <a:rPr lang="ja-JP" altLang="en-US" b="0" i="0" dirty="0">
                <a:effectLst/>
                <a:latin typeface="Segoe UI" panose="020B0502040204020203" pitchFamily="34" charset="0"/>
              </a:rPr>
              <a:t>以下は新規追加</a:t>
            </a:r>
            <a:r>
              <a:rPr lang="en-US" altLang="ja-JP" b="0" i="0" dirty="0">
                <a:effectLst/>
                <a:latin typeface="Segoe UI" panose="020B0502040204020203" pitchFamily="34" charset="0"/>
              </a:rPr>
              <a:t>SKU(</a:t>
            </a:r>
            <a:r>
              <a:rPr lang="ja-JP" altLang="en-US" b="0" i="0" dirty="0">
                <a:effectLst/>
                <a:latin typeface="Segoe UI" panose="020B0502040204020203" pitchFamily="34" charset="0"/>
              </a:rPr>
              <a:t>国内展開数量</a:t>
            </a:r>
            <a:r>
              <a:rPr lang="en-US" altLang="ja-JP" b="0" i="0" dirty="0">
                <a:effectLst/>
                <a:latin typeface="Segoe UI" panose="020B0502040204020203" pitchFamily="34" charset="0"/>
              </a:rPr>
              <a:t>/</a:t>
            </a:r>
            <a:r>
              <a:rPr lang="ja-JP" altLang="en-US" b="0" i="0" dirty="0">
                <a:effectLst/>
                <a:latin typeface="Segoe UI" panose="020B0502040204020203" pitchFamily="34" charset="0"/>
              </a:rPr>
              <a:t>価格未</a:t>
            </a:r>
            <a:r>
              <a:rPr lang="en-US" altLang="ja-JP" b="0" i="0" dirty="0">
                <a:effectLst/>
                <a:latin typeface="Segoe UI" panose="020B0502040204020203" pitchFamily="34" charset="0"/>
              </a:rPr>
              <a:t>)</a:t>
            </a:r>
            <a:br>
              <a:rPr lang="en-US" altLang="ja-JP" b="0" i="0" dirty="0">
                <a:effectLst/>
                <a:latin typeface="Segoe UI" panose="020B0502040204020203" pitchFamily="34" charset="0"/>
              </a:rPr>
            </a:br>
            <a:r>
              <a:rPr lang="en-US" altLang="ja-JP" b="0" i="0" dirty="0">
                <a:effectLst/>
                <a:latin typeface="Segoe UI" panose="020B0502040204020203" pitchFamily="34" charset="0"/>
              </a:rPr>
              <a:t>Ryzen7 5700X(Zen3)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5600(Zen3)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5500(Zen3)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4600G(Zen3)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4500(Zen2)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Q1’22</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3</a:t>
            </a:r>
            <a:r>
              <a:rPr lang="ja-JP" altLang="en-US" b="0" i="0" dirty="0">
                <a:effectLst/>
                <a:latin typeface="Segoe UI" panose="020B0502040204020203" pitchFamily="34" charset="0"/>
              </a:rPr>
              <a:t>～</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a:t>
            </a:r>
          </a:p>
          <a:p>
            <a:pPr algn="l"/>
            <a:r>
              <a:rPr lang="en-US" altLang="ja-JP" b="0" i="0" dirty="0">
                <a:effectLst/>
                <a:latin typeface="Segoe UI" panose="020B0502040204020203" pitchFamily="34" charset="0"/>
              </a:rPr>
              <a:t>Ryzen3 4100(Zen2)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Q2’22</a:t>
            </a:r>
          </a:p>
          <a:p>
            <a:pPr algn="l"/>
            <a:r>
              <a:rPr lang="en-US" altLang="ja-JP" b="0" i="0" dirty="0">
                <a:effectLst/>
                <a:latin typeface="Segoe UI" panose="020B0502040204020203" pitchFamily="34" charset="0"/>
              </a:rPr>
              <a:t>ZEN4(Ryzen 7000)</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AM5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5500/4500(TBD)※Cezanne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1or2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5600※Vermeer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は検討中に引き下げ。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4100※Renoir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も予定あり。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クラスの価格になる見通しもある。これのことから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シリーズは併売継続。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現時点では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まで継続予定（上が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あたりまで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で継続される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価格帯も大きく離れる）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5600/4500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が出る可能性あり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Ryzen7(5700X?)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Ryzen7/Ryzen5+B650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2021/1/5 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 7 5800X3D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シリーズ追記</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へ変更、</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が追加の予定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発表内容待ち</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5xxxG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の日付を追加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8/6 Ryzen7 5700G/Ryzen5 5600G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CezanneAPU</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(5700G/5600G)8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月上旬→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5xxx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シリーズの供給不足もあり現行の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シリーズの供給は少なくとも</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 2021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くらいまでは継続される。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R7-5700G/R5-5600G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を追加。発売日は未定。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※R5-5500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R3-5300X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も発売日未定。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※R9-5900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R7-5800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R5-5600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向けに出荷という噂有りだが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は否定。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2020/9/23</a:t>
            </a:r>
            <a:r>
              <a:rPr kumimoji="1" lang="ja-JP" altLang="en-US"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　</a:t>
            </a:r>
            <a:r>
              <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Zen3</a:t>
            </a:r>
            <a:r>
              <a:rPr kumimoji="1" lang="ja-JP" altLang="en-US"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rPr>
              <a:t>（</a:t>
            </a:r>
            <a:r>
              <a:rPr kumimoji="1" lang="en-US" altLang="ja-JP" sz="1200" b="0" dirty="0">
                <a:solidFill>
                  <a:schemeClr val="tx1"/>
                </a:solidFill>
                <a:latin typeface="HGｺﾞｼｯｸE" panose="020B0909000000000000" pitchFamily="49" charset="-128"/>
                <a:ea typeface="HGｺﾞｼｯｸE" panose="020B0909000000000000" pitchFamily="49" charset="-128"/>
              </a:rPr>
              <a:t>Vermeer</a:t>
            </a:r>
            <a:r>
              <a:rPr kumimoji="1" lang="ja-JP" altLang="en-US" sz="1200" b="0" dirty="0">
                <a:solidFill>
                  <a:schemeClr val="tx1"/>
                </a:solidFill>
                <a:latin typeface="HGｺﾞｼｯｸE" panose="020B0909000000000000" pitchFamily="49" charset="-128"/>
                <a:ea typeface="HGｺﾞｼｯｸE" panose="020B0909000000000000" pitchFamily="49" charset="-128"/>
              </a:rPr>
              <a:t>）</a:t>
            </a:r>
            <a:r>
              <a:rPr kumimoji="1" lang="en-US" altLang="ja-JP" sz="1200" b="0" dirty="0">
                <a:solidFill>
                  <a:schemeClr val="tx1"/>
                </a:solidFill>
                <a:latin typeface="HGｺﾞｼｯｸE" panose="020B0909000000000000" pitchFamily="49" charset="-128"/>
                <a:ea typeface="HGｺﾞｼｯｸE" panose="020B0909000000000000" pitchFamily="49" charset="-128"/>
              </a:rPr>
              <a:t>10/8</a:t>
            </a:r>
            <a:r>
              <a:rPr kumimoji="1" lang="ja-JP" altLang="en-US" sz="1200" b="0" dirty="0">
                <a:solidFill>
                  <a:schemeClr val="tx1"/>
                </a:solidFill>
                <a:latin typeface="HGｺﾞｼｯｸE" panose="020B0909000000000000" pitchFamily="49" charset="-128"/>
                <a:ea typeface="HGｺﾞｼｯｸE" panose="020B0909000000000000" pitchFamily="49" charset="-128"/>
              </a:rPr>
              <a:t>発表・発売日未定</a:t>
            </a:r>
            <a:endParaRPr kumimoji="1" lang="en-US" altLang="ja-JP" sz="1200" b="0" baseline="0" dirty="0">
              <a:solidFill>
                <a:sysClr val="windowText" lastClr="000000"/>
              </a:solidFill>
              <a:latin typeface="HGｺﾞｼｯｸE" panose="020B0909000000000000" pitchFamily="49" charset="-128"/>
              <a:ea typeface="HGｺﾞｼｯｸE" panose="020B0909000000000000" pitchFamily="49"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CPU SKU</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詳細更新・コメント追記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4thGen(Zen3)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微修正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R9/R7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20Q4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R5 21Q1 R3 21Q3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へずらし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PRO-G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月下旬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2019/9/18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33</a:t>
            </a:fld>
            <a:endParaRPr kumimoji="1" lang="ja-JP" altLang="en-US"/>
          </a:p>
        </p:txBody>
      </p:sp>
    </p:spTree>
    <p:extLst>
      <p:ext uri="{BB962C8B-B14F-4D97-AF65-F5344CB8AC3E}">
        <p14:creationId xmlns:p14="http://schemas.microsoft.com/office/powerpoint/2010/main" val="2450436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MiniITX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 TUF B850-I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NEO</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で確定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2025/9/2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在庫状況で終了調整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2025/8/15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シリーズ取り扱い終了予定を追記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MicroATX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追加検討中</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AriesM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GeminiM</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B850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Livemixer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2024/12/20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終息に伴い　それぞれ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へ切替予定　現行チップセットの供給は可能なため、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以降ランニングチェンジ</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X870E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の投入予定を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月末以降に修正、</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の投入予定を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Q1End~Q2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2024/9/24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X870E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の投入予定を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初に修正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X870E PG Nova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WiFi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を投入</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(nonX3D)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(X3D)+X870E/X870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B850/B840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Q1’25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2024/6/18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ASRock B550M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2024/3/15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Ryzen9000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シリーズチップセット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チップセット</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へ情報更新あり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ただし、遅れる可能性あり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 B650LowCost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Computex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一部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OEM</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限定の</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4300G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の開放予定あり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i3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などの対抗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AMD</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Ryzen7xxxX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65W</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23’Q1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に延期、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は変わらず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X670E/X670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lang="en-US" altLang="ja-JP" sz="1200" b="0" dirty="0">
                <a:latin typeface="メイリオ" panose="020B0604030504040204" pitchFamily="50" charset="-128"/>
                <a:ea typeface="メイリオ" panose="020B0604030504040204" pitchFamily="50" charset="-128"/>
              </a:rPr>
              <a:t>2022/3/1</a:t>
            </a:r>
            <a:r>
              <a:rPr lang="ja-JP" altLang="en-US" sz="1200" b="0" dirty="0">
                <a:latin typeface="メイリオ" panose="020B0604030504040204" pitchFamily="50" charset="-128"/>
                <a:ea typeface="メイリオ" panose="020B0604030504040204" pitchFamily="50" charset="-128"/>
              </a:rPr>
              <a:t>　</a:t>
            </a:r>
            <a:r>
              <a:rPr lang="en-US" altLang="ja-JP" b="0" i="0" dirty="0">
                <a:effectLst/>
                <a:latin typeface="Segoe UI" panose="020B0502040204020203" pitchFamily="34" charset="0"/>
              </a:rPr>
              <a:t>Ryzen7 5800X3D</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月後半になる予定</a:t>
            </a:r>
          </a:p>
          <a:p>
            <a:pPr algn="l"/>
            <a:r>
              <a:rPr lang="ja-JP" altLang="en-US" b="0" i="0" dirty="0">
                <a:effectLst/>
                <a:latin typeface="Segoe UI" panose="020B0502040204020203" pitchFamily="34" charset="0"/>
              </a:rPr>
              <a:t>以下は新規追加</a:t>
            </a:r>
            <a:r>
              <a:rPr lang="en-US" altLang="ja-JP" b="0" i="0" dirty="0">
                <a:effectLst/>
                <a:latin typeface="Segoe UI" panose="020B0502040204020203" pitchFamily="34" charset="0"/>
              </a:rPr>
              <a:t>SKU(</a:t>
            </a:r>
            <a:r>
              <a:rPr lang="ja-JP" altLang="en-US" b="0" i="0" dirty="0">
                <a:effectLst/>
                <a:latin typeface="Segoe UI" panose="020B0502040204020203" pitchFamily="34" charset="0"/>
              </a:rPr>
              <a:t>国内展開数量</a:t>
            </a:r>
            <a:r>
              <a:rPr lang="en-US" altLang="ja-JP" b="0" i="0" dirty="0">
                <a:effectLst/>
                <a:latin typeface="Segoe UI" panose="020B0502040204020203" pitchFamily="34" charset="0"/>
              </a:rPr>
              <a:t>/</a:t>
            </a:r>
            <a:r>
              <a:rPr lang="ja-JP" altLang="en-US" b="0" i="0" dirty="0">
                <a:effectLst/>
                <a:latin typeface="Segoe UI" panose="020B0502040204020203" pitchFamily="34" charset="0"/>
              </a:rPr>
              <a:t>価格未</a:t>
            </a:r>
            <a:r>
              <a:rPr lang="en-US" altLang="ja-JP" b="0" i="0" dirty="0">
                <a:effectLst/>
                <a:latin typeface="Segoe UI" panose="020B0502040204020203" pitchFamily="34" charset="0"/>
              </a:rPr>
              <a:t>)</a:t>
            </a:r>
            <a:br>
              <a:rPr lang="en-US" altLang="ja-JP" b="0" i="0" dirty="0">
                <a:effectLst/>
                <a:latin typeface="Segoe UI" panose="020B0502040204020203" pitchFamily="34" charset="0"/>
              </a:rPr>
            </a:br>
            <a:r>
              <a:rPr lang="en-US" altLang="ja-JP" b="0" i="0" dirty="0">
                <a:effectLst/>
                <a:latin typeface="Segoe UI" panose="020B0502040204020203" pitchFamily="34" charset="0"/>
              </a:rPr>
              <a:t>Ryzen7 5700X(Zen3)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5600(Zen3)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5500(Zen3)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4600G(Zen3)</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Ryzen5 4500(Zen2)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Q1’22</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3</a:t>
            </a:r>
            <a:r>
              <a:rPr lang="ja-JP" altLang="en-US" b="0" i="0" dirty="0">
                <a:effectLst/>
                <a:latin typeface="Segoe UI" panose="020B0502040204020203" pitchFamily="34" charset="0"/>
              </a:rPr>
              <a:t>～</a:t>
            </a:r>
            <a:r>
              <a:rPr lang="en-US" altLang="ja-JP" b="0" i="0" dirty="0">
                <a:effectLst/>
                <a:latin typeface="Segoe UI" panose="020B0502040204020203" pitchFamily="34" charset="0"/>
              </a:rPr>
              <a:t>4</a:t>
            </a:r>
            <a:r>
              <a:rPr lang="ja-JP" altLang="en-US" b="0" i="0" dirty="0">
                <a:effectLst/>
                <a:latin typeface="Segoe UI" panose="020B0502040204020203" pitchFamily="34" charset="0"/>
              </a:rPr>
              <a:t>月</a:t>
            </a:r>
          </a:p>
          <a:p>
            <a:pPr algn="l"/>
            <a:r>
              <a:rPr lang="en-US" altLang="ja-JP" b="0" i="0" dirty="0">
                <a:effectLst/>
                <a:latin typeface="Segoe UI" panose="020B0502040204020203" pitchFamily="34" charset="0"/>
              </a:rPr>
              <a:t>Ryzen3 4100(Zen2)</a:t>
            </a:r>
            <a:r>
              <a:rPr lang="ja-JP" altLang="en-US" b="0" i="0" dirty="0">
                <a:effectLst/>
                <a:latin typeface="Segoe UI" panose="020B0502040204020203" pitchFamily="34" charset="0"/>
              </a:rPr>
              <a:t>　発売：</a:t>
            </a:r>
            <a:r>
              <a:rPr lang="en-US" altLang="ja-JP" b="0" i="0" dirty="0">
                <a:effectLst/>
                <a:latin typeface="Segoe UI" panose="020B0502040204020203" pitchFamily="34" charset="0"/>
              </a:rPr>
              <a:t>Q2’22</a:t>
            </a:r>
          </a:p>
          <a:p>
            <a:pPr algn="l"/>
            <a:r>
              <a:rPr lang="en-US" altLang="ja-JP" b="0" i="0" dirty="0">
                <a:effectLst/>
                <a:latin typeface="Segoe UI" panose="020B0502040204020203" pitchFamily="34" charset="0"/>
              </a:rPr>
              <a:t>ZEN4(Ryzen 7000)</a:t>
            </a:r>
            <a:r>
              <a:rPr lang="ja-JP" altLang="en-US" b="0" i="0" dirty="0">
                <a:effectLst/>
                <a:latin typeface="Segoe UI" panose="020B0502040204020203" pitchFamily="34" charset="0"/>
              </a:rPr>
              <a:t>　</a:t>
            </a:r>
            <a:r>
              <a:rPr lang="en-US" altLang="ja-JP" b="0" i="0" dirty="0">
                <a:effectLst/>
                <a:latin typeface="Segoe UI" panose="020B0502040204020203" pitchFamily="34" charset="0"/>
              </a:rPr>
              <a:t>AM5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5500/4500(TBD)※Cezanne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1or2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日本投入予定。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Ryzon5 5600※Vermeer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は検討中に引き下げ。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Ryzen3 4100※Renoir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も予定あり。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Z690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クラスの価格になる見通しもある。これのことから</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+AM4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シリーズは併売継続。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現時点では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まで継続予定（上が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シリーズ、下が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あたりまで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で継続される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X570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A520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DDR5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価格帯も大きく離れる）</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5600/4500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が出る可能性あり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Ryzen7(5700X?)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出る可能性あり</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Ryzen9+X670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Ryzen7/Ryzen5+B650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年初</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2021/7/26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Ryzen 5xxxG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の日付を追加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8/6 Ryzen7 5700G/Ryzen5 5600G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ZEN4/AM5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2021/6/23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nl-NL"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Alder Lake-S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の製品名が出てきたため反映、予定も反映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Vermeer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11/6 19:00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販売開始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2020/8/27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表記修正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頃発売に。（日本のみ）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2020/4/10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頃発売に。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B550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月下旬に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2020/2/19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整理</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2019/11/05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初</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34</a:t>
            </a:fld>
            <a:endParaRPr kumimoji="1" lang="ja-JP" altLang="en-US"/>
          </a:p>
        </p:txBody>
      </p:sp>
    </p:spTree>
    <p:extLst>
      <p:ext uri="{BB962C8B-B14F-4D97-AF65-F5344CB8AC3E}">
        <p14:creationId xmlns:p14="http://schemas.microsoft.com/office/powerpoint/2010/main" val="3452690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2026/5/22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 9GB,RTX3060,RX9070GRE,RX9050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2026/1/22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生産再開予定</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RX550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在庫終了により取り扱い終了へ、安価</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LP</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対応品として</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Arc A310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検討</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状況更新</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月末</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RX9060XT 16GB/8GB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2025Q2</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2025/3/27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RTX5000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シリーズ登場時期再度更新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16GB 4/M→4/16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RTX5060Ti 8GB 4/E→4/16</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a:t>
            </a:r>
            <a:r>
              <a:rPr lang="en-US" altLang="ja-JP" sz="1200" b="0" dirty="0">
                <a:latin typeface="メイリオ" panose="020B0604030504040204" pitchFamily="50" charset="-128"/>
                <a:ea typeface="メイリオ" panose="020B0604030504040204" pitchFamily="50" charset="-128"/>
              </a:rPr>
              <a:t>3/19</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NVIDIA RTX5000</a:t>
            </a:r>
            <a:r>
              <a:rPr lang="ja-JP" altLang="en-US" sz="1200" b="0" dirty="0">
                <a:latin typeface="メイリオ" panose="020B0604030504040204" pitchFamily="50" charset="-128"/>
                <a:ea typeface="メイリオ" panose="020B0604030504040204" pitchFamily="50" charset="-128"/>
              </a:rPr>
              <a:t>シリーズ登場時期更新　</a:t>
            </a:r>
            <a:r>
              <a:rPr lang="en-US" altLang="ja-JP" sz="1200" b="0" dirty="0">
                <a:latin typeface="メイリオ" panose="020B0604030504040204" pitchFamily="50" charset="-128"/>
                <a:ea typeface="メイリオ" panose="020B0604030504040204" pitchFamily="50" charset="-128"/>
              </a:rPr>
              <a:t>RTX5060Ti 16GB 3/E→4/M</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RTX5060Ti 8GB 4</a:t>
            </a:r>
            <a:r>
              <a:rPr lang="ja-JP" altLang="en-US" sz="1200" b="0" dirty="0">
                <a:latin typeface="メイリオ" panose="020B0604030504040204" pitchFamily="50" charset="-128"/>
                <a:ea typeface="メイリオ" panose="020B0604030504040204" pitchFamily="50" charset="-128"/>
              </a:rPr>
              <a:t>月→</a:t>
            </a:r>
            <a:r>
              <a:rPr lang="en-US" altLang="ja-JP" sz="1200" b="0" dirty="0">
                <a:latin typeface="メイリオ" panose="020B0604030504040204" pitchFamily="50" charset="-128"/>
                <a:ea typeface="メイリオ" panose="020B0604030504040204" pitchFamily="50" charset="-128"/>
              </a:rPr>
              <a:t>4/E</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RTX5060 4</a:t>
            </a:r>
            <a:r>
              <a:rPr lang="ja-JP" altLang="en-US" sz="1200" b="0" dirty="0">
                <a:latin typeface="メイリオ" panose="020B0604030504040204" pitchFamily="50" charset="-128"/>
                <a:ea typeface="メイリオ" panose="020B0604030504040204" pitchFamily="50" charset="-128"/>
              </a:rPr>
              <a:t>月→</a:t>
            </a:r>
            <a:r>
              <a:rPr lang="en-US" altLang="ja-JP" sz="1200" b="0" dirty="0">
                <a:latin typeface="メイリオ" panose="020B0604030504040204" pitchFamily="50" charset="-128"/>
                <a:ea typeface="メイリオ" panose="020B0604030504040204" pitchFamily="50" charset="-128"/>
              </a:rPr>
              <a:t>TBD</a:t>
            </a:r>
            <a:r>
              <a:rPr lang="ja-JP" altLang="en-US" sz="1200" b="0" dirty="0">
                <a:latin typeface="メイリオ" panose="020B0604030504040204" pitchFamily="50" charset="-128"/>
                <a:ea typeface="メイリオ" panose="020B0604030504040204" pitchFamily="50" charset="-128"/>
              </a:rPr>
              <a:t>、</a:t>
            </a:r>
            <a:r>
              <a:rPr lang="en-US" altLang="ja-JP" sz="1200" b="0" dirty="0">
                <a:latin typeface="メイリオ" panose="020B0604030504040204" pitchFamily="50" charset="-128"/>
                <a:ea typeface="メイリオ" panose="020B0604030504040204" pitchFamily="50" charset="-128"/>
              </a:rPr>
              <a:t>RTX5050 TBD</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2025/2/18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RTX5070Ti 2/20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RTX5070 3/5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RX7090XT/7090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の登場時期を</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RTX5090/RTX5080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(Global)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Intel Arc B580/B570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2024/11/8</a:t>
            </a:r>
            <a:r>
              <a:rPr lang="ja-JP" altLang="en-US" sz="1200" b="0" dirty="0">
                <a:latin typeface="メイリオ" panose="020B0604030504040204" pitchFamily="50" charset="-128"/>
                <a:ea typeface="メイリオ" panose="020B0604030504040204" pitchFamily="50" charset="-128"/>
              </a:rPr>
              <a:t>　各ベンダーからの情報を元に</a:t>
            </a:r>
            <a:r>
              <a:rPr lang="en-US" altLang="ja-JP" sz="1200" b="0" dirty="0">
                <a:latin typeface="メイリオ" panose="020B0604030504040204" pitchFamily="50" charset="-128"/>
                <a:ea typeface="メイリオ" panose="020B0604030504040204" pitchFamily="50" charset="-128"/>
              </a:rPr>
              <a:t>NVIDIA RTX5000Series</a:t>
            </a:r>
            <a:r>
              <a:rPr lang="ja-JP" altLang="en-US" sz="1200" b="0" dirty="0">
                <a:latin typeface="メイリオ" panose="020B0604030504040204" pitchFamily="50" charset="-128"/>
                <a:ea typeface="メイリオ" panose="020B0604030504040204" pitchFamily="50" charset="-128"/>
              </a:rPr>
              <a:t>に</a:t>
            </a:r>
            <a:r>
              <a:rPr lang="en-US" altLang="ja-JP" sz="1200" b="0" dirty="0">
                <a:latin typeface="メイリオ" panose="020B0604030504040204" pitchFamily="50" charset="-128"/>
                <a:ea typeface="メイリオ" panose="020B0604030504040204" pitchFamily="50" charset="-128"/>
              </a:rPr>
              <a:t>5070Ti</a:t>
            </a:r>
            <a:r>
              <a:rPr lang="ja-JP" altLang="en-US" sz="1200" b="0" dirty="0">
                <a:latin typeface="メイリオ" panose="020B0604030504040204" pitchFamily="50" charset="-128"/>
                <a:ea typeface="メイリオ" panose="020B0604030504040204" pitchFamily="50" charset="-128"/>
              </a:rPr>
              <a:t>と</a:t>
            </a:r>
            <a:r>
              <a:rPr lang="en-US" altLang="ja-JP" sz="1200" b="0" dirty="0">
                <a:latin typeface="メイリオ" panose="020B0604030504040204" pitchFamily="50" charset="-128"/>
                <a:ea typeface="メイリオ" panose="020B0604030504040204" pitchFamily="50" charset="-128"/>
              </a:rPr>
              <a:t>5060Ti</a:t>
            </a:r>
            <a:r>
              <a:rPr lang="ja-JP" altLang="en-US" sz="1200" b="0" dirty="0">
                <a:latin typeface="メイリオ" panose="020B0604030504040204" pitchFamily="50" charset="-128"/>
                <a:ea typeface="メイリオ" panose="020B0604030504040204" pitchFamily="50" charset="-128"/>
              </a:rPr>
              <a:t>を追加</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メイリオ" panose="020B0604030504040204" pitchFamily="50" charset="-128"/>
              </a:rPr>
              <a:t>2024/10/18</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NVIDIA RTX5000Series</a:t>
            </a:r>
            <a:r>
              <a:rPr lang="ja-JP" altLang="en-US" sz="1200" b="0" i="0" u="none" strike="noStrike" dirty="0">
                <a:solidFill>
                  <a:srgbClr val="000000"/>
                </a:solidFill>
                <a:effectLst/>
                <a:latin typeface="メイリオ" panose="020B0604030504040204" pitchFamily="50" charset="-128"/>
              </a:rPr>
              <a:t>　</a:t>
            </a:r>
            <a:r>
              <a:rPr lang="en-US" altLang="ja-JP" sz="1200" b="0" i="0" u="none" strike="noStrike" dirty="0">
                <a:solidFill>
                  <a:srgbClr val="000000"/>
                </a:solidFill>
                <a:effectLst/>
                <a:latin typeface="メイリオ" panose="020B0604030504040204" pitchFamily="50" charset="-128"/>
              </a:rPr>
              <a:t>CES</a:t>
            </a:r>
            <a:r>
              <a:rPr lang="ja-JP" altLang="en-US" sz="1200" b="0" i="0" u="none" strike="noStrike" dirty="0">
                <a:solidFill>
                  <a:srgbClr val="000000"/>
                </a:solidFill>
                <a:effectLst/>
                <a:latin typeface="メイリオ" panose="020B0604030504040204" pitchFamily="50" charset="-128"/>
              </a:rPr>
              <a:t>発表見込み　</a:t>
            </a:r>
            <a:r>
              <a:rPr lang="en-US" altLang="ja-JP" sz="1200" b="0" i="0" u="none" strike="noStrike" dirty="0">
                <a:solidFill>
                  <a:srgbClr val="000000"/>
                </a:solidFill>
                <a:effectLst/>
                <a:latin typeface="メイリオ" panose="020B0604030504040204" pitchFamily="50" charset="-128"/>
              </a:rPr>
              <a:t>5080/5090/5070</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2024/1/12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RX7600XT 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2023/12/14</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 Super</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シリーズの発売予定を追記</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RTX4070Super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1/17</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RTX4070Ti 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1/24</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RTX4080Super</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1/31</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(RTX3050 6GB</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はその後</a:t>
            </a:r>
            <a: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2023/11/10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RTX4080Super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RTX4070TiSuper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仮追加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2023/5/19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RTX4060Ti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月の発売予定。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 RX7600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（日本）</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仕入先情報により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RTX4060Ti/4060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の解禁時期を追記</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RTX4060Ti 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 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2023/3/13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 GeForce RTX4070 4/13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解禁</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ASUS</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情報により仮追加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RTX4070 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月ころ、</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RTX4060 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月以降</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2022/12/7</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GTX16/RTX2060</a:t>
            </a:r>
            <a:r>
              <a:rPr lang="ja-JP" altLang="en-US" sz="1200" b="0" dirty="0">
                <a:latin typeface="メイリオ" panose="020B0604030504040204" pitchFamily="50" charset="-128"/>
                <a:ea typeface="メイリオ" panose="020B0604030504040204" pitchFamily="50" charset="-128"/>
              </a:rPr>
              <a:t>は生産終了</a:t>
            </a:r>
            <a:r>
              <a:rPr lang="en-US" altLang="ja-JP" sz="1200" b="0" dirty="0">
                <a:latin typeface="メイリオ" panose="020B0604030504040204" pitchFamily="50" charset="-128"/>
                <a:ea typeface="メイリオ" panose="020B0604030504040204" pitchFamily="50" charset="-128"/>
              </a:rPr>
              <a:t>(</a:t>
            </a:r>
            <a:r>
              <a:rPr lang="ja-JP" altLang="en-US" sz="1200" b="0" dirty="0">
                <a:latin typeface="メイリオ" panose="020B0604030504040204" pitchFamily="50" charset="-128"/>
                <a:ea typeface="メイリオ" panose="020B0604030504040204" pitchFamily="50" charset="-128"/>
              </a:rPr>
              <a:t>各メーカー在庫限り</a:t>
            </a:r>
            <a:r>
              <a:rPr lang="en-US" altLang="ja-JP" sz="1200" b="0" dirty="0">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2022/11/10</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RTX4070Ti</a:t>
            </a:r>
            <a:r>
              <a:rPr lang="ja-JP" altLang="en-US" sz="1200" b="0" dirty="0">
                <a:latin typeface="メイリオ" panose="020B0604030504040204" pitchFamily="50" charset="-128"/>
                <a:ea typeface="メイリオ" panose="020B0604030504040204" pitchFamily="50" charset="-128"/>
              </a:rPr>
              <a:t>を追加 </a:t>
            </a:r>
            <a:r>
              <a:rPr lang="en-US" altLang="ja-JP" sz="1200" b="0" dirty="0">
                <a:latin typeface="メイリオ" panose="020B0604030504040204" pitchFamily="50" charset="-128"/>
                <a:ea typeface="メイリオ" panose="020B0604030504040204" pitchFamily="50" charset="-128"/>
              </a:rPr>
              <a:t>1/5</a:t>
            </a:r>
            <a:r>
              <a:rPr lang="ja-JP" altLang="en-US" sz="1200" b="0" dirty="0">
                <a:latin typeface="メイリオ" panose="020B0604030504040204" pitchFamily="50" charset="-128"/>
                <a:ea typeface="メイリオ" panose="020B0604030504040204" pitchFamily="50" charset="-128"/>
              </a:rPr>
              <a:t>解禁</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2022/10/21</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RTX4080 12GB</a:t>
            </a:r>
            <a:r>
              <a:rPr lang="ja-JP" altLang="en-US" sz="1200" b="0" dirty="0">
                <a:latin typeface="メイリオ" panose="020B0604030504040204" pitchFamily="50" charset="-128"/>
                <a:ea typeface="メイリオ" panose="020B0604030504040204" pitchFamily="50" charset="-128"/>
              </a:rPr>
              <a:t>を削除、</a:t>
            </a:r>
            <a:r>
              <a:rPr lang="en-US" altLang="ja-JP" sz="1200" b="0" dirty="0">
                <a:latin typeface="メイリオ" panose="020B0604030504040204" pitchFamily="50" charset="-128"/>
                <a:ea typeface="メイリオ" panose="020B0604030504040204" pitchFamily="50" charset="-128"/>
              </a:rPr>
              <a:t>RTX4070</a:t>
            </a:r>
            <a:r>
              <a:rPr lang="ja-JP" altLang="en-US" sz="1200" b="0" dirty="0">
                <a:latin typeface="メイリオ" panose="020B0604030504040204" pitchFamily="50" charset="-128"/>
                <a:ea typeface="メイリオ" panose="020B0604030504040204" pitchFamily="50" charset="-128"/>
              </a:rPr>
              <a:t>を仮入れ</a:t>
            </a:r>
            <a:r>
              <a:rPr lang="en-US" altLang="ja-JP" sz="1200" b="0" dirty="0">
                <a:latin typeface="メイリオ" panose="020B0604030504040204" pitchFamily="50" charset="-128"/>
                <a:ea typeface="メイリオ" panose="020B0604030504040204" pitchFamily="50" charset="-128"/>
              </a:rPr>
              <a:t>(Q1</a:t>
            </a:r>
            <a:r>
              <a:rPr lang="ja-JP" altLang="en-US" sz="1200" b="0" dirty="0">
                <a:latin typeface="メイリオ" panose="020B0604030504040204" pitchFamily="50" charset="-128"/>
                <a:ea typeface="メイリオ" panose="020B0604030504040204" pitchFamily="50" charset="-128"/>
              </a:rPr>
              <a:t>頃？</a:t>
            </a:r>
            <a:r>
              <a:rPr lang="en-US" altLang="ja-JP" sz="1200" b="0" dirty="0">
                <a:latin typeface="メイリオ" panose="020B0604030504040204" pitchFamily="50" charset="-128"/>
                <a:ea typeface="メイリオ"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発表により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10/12:RTX4090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RTX4080:16GB/RTX4080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2022/9/12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情報より追加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RTX4090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RTX4080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RTX3070Ti(GA102)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RTX3060Ti(G6X)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 8GB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RTX3050(GA107)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2022/6/22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RTX3090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9/E-10/F</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RTX3080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10/E-11/M</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RTX3070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11/M-12/F</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3060/3050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2023</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年後半見込み、</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3060Ti</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以下は</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1H</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まで継続予定（在庫あるため）</a:t>
            </a:r>
            <a:endPar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rtl="0" eaLnBrk="1" fontAlgn="auto" latinLnBrk="0" hangingPunct="1">
              <a:spcBef>
                <a:spcPts val="0"/>
              </a:spcBef>
              <a:spcAft>
                <a:spcPts val="0"/>
              </a:spcAft>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RTX3090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Q3/E</a:t>
            </a:r>
            <a:r>
              <a:rPr lang="ja-JP" altLang="en-US" sz="1200" b="0" dirty="0">
                <a:latin typeface="メイリオ" panose="020B0604030504040204" pitchFamily="50" charset="-128"/>
                <a:ea typeface="メイリオ"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RTX3080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Q4/F</a:t>
            </a:r>
            <a:r>
              <a:rPr lang="ja-JP" altLang="en-US" sz="1200" b="0" dirty="0">
                <a:latin typeface="メイリオ" panose="020B0604030504040204" pitchFamily="50" charset="-128"/>
                <a:ea typeface="メイリオ" panose="020B0604030504040204" pitchFamily="50" charset="-128"/>
              </a:rPr>
              <a:t>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RTX3070</a:t>
            </a:r>
            <a:r>
              <a:rPr kumimoji="1" lang="ja-JP" altLang="en-US"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後継 </a:t>
            </a:r>
            <a:r>
              <a:rPr kumimoji="1" lang="en-US" altLang="ja-JP" sz="1200" b="0" i="0" u="none" strike="noStrike" kern="1200" spc="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Q4/M</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2022/5/23 GTX1630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2022/3/23 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2022/3/4</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RTX3090Ti</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3/29</a:t>
            </a:r>
            <a:r>
              <a:rPr lang="ja-JP" altLang="en-US" sz="1200" b="0" dirty="0">
                <a:latin typeface="メイリオ" panose="020B0604030504040204" pitchFamily="50" charset="-128"/>
                <a:ea typeface="メイリオ" panose="020B0604030504040204" pitchFamily="50" charset="-128"/>
              </a:rPr>
              <a:t>発売</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lang="en-US" altLang="ja-JP" b="0" i="0" dirty="0">
                <a:effectLst/>
                <a:latin typeface="Tahoma" panose="020B0604030504040204" pitchFamily="34" charset="0"/>
              </a:rPr>
              <a:t>RTX3070Ti 16GB</a:t>
            </a:r>
            <a:r>
              <a:rPr lang="ja-JP" altLang="en-US" b="0" i="0" dirty="0">
                <a:effectLst/>
                <a:latin typeface="Tahoma" panose="020B0604030504040204" pitchFamily="34" charset="0"/>
              </a:rPr>
              <a:t>春節明け</a:t>
            </a:r>
            <a:r>
              <a:rPr lang="en-US" altLang="ja-JP" b="0" i="0" dirty="0">
                <a:effectLst/>
                <a:latin typeface="Tahoma" panose="020B0604030504040204" pitchFamily="34" charset="0"/>
              </a:rPr>
              <a:t>(2</a:t>
            </a:r>
            <a:r>
              <a:rPr lang="ja-JP" altLang="en-US" b="0" i="0" dirty="0">
                <a:effectLst/>
                <a:latin typeface="Tahoma" panose="020B0604030504040204" pitchFamily="34" charset="0"/>
              </a:rPr>
              <a:t>月以降</a:t>
            </a:r>
            <a:r>
              <a:rPr lang="en-US" altLang="ja-JP" b="0" i="0" dirty="0">
                <a:effectLst/>
                <a:latin typeface="Tahoma" panose="020B0604030504040204" pitchFamily="34" charset="0"/>
              </a:rPr>
              <a:t>)</a:t>
            </a:r>
            <a:r>
              <a:rPr lang="ja-JP" altLang="en-US" b="0" i="0" dirty="0">
                <a:effectLst/>
                <a:latin typeface="Tahoma" panose="020B0604030504040204" pitchFamily="34" charset="0"/>
              </a:rPr>
              <a:t>に延期の連絡有り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　</a:t>
            </a:r>
            <a:r>
              <a:rPr lang="en-US" altLang="ja-JP" b="0" i="0" dirty="0">
                <a:solidFill>
                  <a:srgbClr val="242424"/>
                </a:solidFill>
                <a:effectLst/>
                <a:latin typeface="Segoe UI" panose="020B0502040204020203" pitchFamily="34" charset="0"/>
              </a:rPr>
              <a:t>RTX3090Ti 1/13</a:t>
            </a:r>
            <a:r>
              <a:rPr lang="ja-JP" altLang="en-US" b="0" i="0" dirty="0">
                <a:solidFill>
                  <a:srgbClr val="242424"/>
                </a:solidFill>
                <a:effectLst/>
                <a:latin typeface="Segoe UI" panose="020B0502040204020203" pitchFamily="34" charset="0"/>
              </a:rPr>
              <a:t>発表 </a:t>
            </a:r>
            <a:r>
              <a:rPr lang="en-US" altLang="ja-JP" b="0" i="0" dirty="0">
                <a:solidFill>
                  <a:srgbClr val="242424"/>
                </a:solidFill>
                <a:effectLst/>
                <a:latin typeface="Segoe UI" panose="020B0502040204020203" pitchFamily="34" charset="0"/>
              </a:rPr>
              <a:t>1/27</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RTX3080 12GB 12/17</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1/11</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RTX3070Ti 16GB 12/17</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1/11</a:t>
            </a:r>
            <a:r>
              <a:rPr lang="ja-JP" altLang="en-US" b="0" i="0" dirty="0">
                <a:solidFill>
                  <a:srgbClr val="242424"/>
                </a:solidFill>
                <a:effectLst/>
                <a:latin typeface="Segoe UI" panose="020B0502040204020203" pitchFamily="34" charset="0"/>
              </a:rPr>
              <a:t>発売、</a:t>
            </a:r>
            <a:r>
              <a:rPr lang="en-US" altLang="ja-JP" b="0" i="0" dirty="0">
                <a:solidFill>
                  <a:srgbClr val="242424"/>
                </a:solidFill>
                <a:effectLst/>
                <a:latin typeface="Segoe UI" panose="020B0502040204020203" pitchFamily="34" charset="0"/>
              </a:rPr>
              <a:t>RTX3050 1/13</a:t>
            </a:r>
            <a:r>
              <a:rPr lang="ja-JP" altLang="en-US" b="0" i="0" dirty="0">
                <a:solidFill>
                  <a:srgbClr val="242424"/>
                </a:solidFill>
                <a:effectLst/>
                <a:latin typeface="Segoe UI" panose="020B0502040204020203" pitchFamily="34" charset="0"/>
              </a:rPr>
              <a:t>発表</a:t>
            </a:r>
            <a:r>
              <a:rPr lang="en-US" altLang="ja-JP" b="0" i="0" dirty="0">
                <a:solidFill>
                  <a:srgbClr val="242424"/>
                </a:solidFill>
                <a:effectLst/>
                <a:latin typeface="Segoe UI" panose="020B0502040204020203" pitchFamily="34" charset="0"/>
              </a:rPr>
              <a:t>1/27</a:t>
            </a:r>
            <a:r>
              <a:rPr lang="ja-JP" altLang="en-US" b="0" i="0" dirty="0">
                <a:solidFill>
                  <a:srgbClr val="242424"/>
                </a:solidFill>
                <a:effectLst/>
                <a:latin typeface="Segoe UI" panose="020B0502040204020203" pitchFamily="34" charset="0"/>
              </a:rPr>
              <a:t>発売</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Palit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RTX3090S/</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Palit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の情報を追加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2021/10/28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からの情報で</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RTX2060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追加。</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からの情報で</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RTX3090Super(</a:t>
            </a:r>
            <a:r>
              <a:rPr lang="en-US" altLang="ja-JP" sz="12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Ti</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RTX3080 12GB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RTX3070 16GB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2021/9/27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2021/5/14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発表</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2021/4/20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新チップ板、</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RTX3090/3080/3070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新チップ版の予定を追加　再製造となった</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RTX3070Ti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月頃</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2021/3/11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ずらし・状況反映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2021/1/28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VGA</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予定を現状に合わせ更新。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 12GB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2/26 2:00JST</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2021/1/12 RTX3060 12GB 1/18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2/E</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へ後ろ倒し　他もずれる可能性あり</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2020/12/25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になる予定。（</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ZOTAC</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情報）</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2020/12/18</a:t>
            </a:r>
            <a:r>
              <a:rPr kumimoji="1" lang="ja-JP" altLang="en-US" sz="24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RTX3060 12GB</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1/28</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2</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月前半、</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RTX3080Ti 2</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月後半、</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RTX3060 6G</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2020/11/19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月に</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RTX306012G/6G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サプライはとても悪い、</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は</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12G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8</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割、</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が</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割程度サプライ比。</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2020/10/15</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RTX3060Ti 11/17</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発売</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2020/10/12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RTX3080 20GB RTX3070 16GB</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RADEON</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対抗？キャンセル？確認中）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2020/10/9</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ZOTAC</a:t>
            </a:r>
            <a:r>
              <a:rPr lang="ja-JP" altLang="en-US" sz="1200" b="0" dirty="0">
                <a:latin typeface="メイリオ" panose="020B0604030504040204" pitchFamily="50" charset="-128"/>
                <a:ea typeface="メイリオ" panose="020B0604030504040204" pitchFamily="50" charset="-128"/>
              </a:rPr>
              <a:t>のロードマップより予定を更新</a:t>
            </a:r>
            <a:r>
              <a:rPr lang="en-US" altLang="ja-JP" sz="1200" b="0" dirty="0">
                <a:latin typeface="メイリオ" panose="020B0604030504040204" pitchFamily="50" charset="-128"/>
                <a:ea typeface="メイリオ" panose="020B0604030504040204" pitchFamily="50" charset="-128"/>
              </a:rPr>
              <a:t>RTX3060Ti 11</a:t>
            </a:r>
            <a:r>
              <a:rPr lang="ja-JP" altLang="en-US" sz="1200" b="0" dirty="0">
                <a:latin typeface="メイリオ" panose="020B0604030504040204" pitchFamily="50" charset="-128"/>
                <a:ea typeface="メイリオ" panose="020B0604030504040204" pitchFamily="50" charset="-128"/>
              </a:rPr>
              <a:t>月、</a:t>
            </a:r>
            <a:r>
              <a:rPr lang="en-US" altLang="ja-JP" sz="1200" b="0" dirty="0">
                <a:latin typeface="メイリオ" panose="020B0604030504040204" pitchFamily="50" charset="-128"/>
                <a:ea typeface="メイリオ" panose="020B0604030504040204" pitchFamily="50" charset="-128"/>
              </a:rPr>
              <a:t>RTX3060 1</a:t>
            </a:r>
            <a:r>
              <a:rPr lang="ja-JP" altLang="en-US" sz="1200" b="0" dirty="0">
                <a:latin typeface="メイリオ" panose="020B0604030504040204" pitchFamily="50" charset="-128"/>
                <a:ea typeface="メイリオ" panose="020B0604030504040204" pitchFamily="50" charset="-128"/>
              </a:rPr>
              <a:t>月</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2020/8/25</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発売予定日</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2020/8/19</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ZOTAC</a:t>
            </a:r>
            <a:r>
              <a:rPr lang="ja-JP" altLang="en-US" sz="1200" b="0" dirty="0">
                <a:latin typeface="メイリオ" panose="020B0604030504040204" pitchFamily="50" charset="-128"/>
                <a:ea typeface="メイリオ" panose="020B0604030504040204" pitchFamily="50" charset="-128"/>
              </a:rPr>
              <a:t>ロードマップから</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a:t>
            </a:r>
            <a:r>
              <a:rPr lang="en-US" altLang="ja-JP" sz="1200" b="0" dirty="0">
                <a:latin typeface="メイリオ" panose="020B0604030504040204" pitchFamily="50" charset="-128"/>
                <a:ea typeface="メイリオ" panose="020B0604030504040204" pitchFamily="50" charset="-128"/>
              </a:rPr>
              <a:t>GTX</a:t>
            </a:r>
            <a:r>
              <a:rPr lang="ja-JP" altLang="en-US" sz="1200" b="0" dirty="0">
                <a:latin typeface="メイリオ" panose="020B0604030504040204" pitchFamily="50" charset="-128"/>
                <a:ea typeface="メイリオ" panose="020B0604030504040204" pitchFamily="50" charset="-128"/>
              </a:rPr>
              <a:t>シリーズ？</a:t>
            </a:r>
            <a:endParaRPr lang="en-US" altLang="ja-JP" sz="1200" b="0"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メイリオ" panose="020B0604030504040204" pitchFamily="50" charset="-128"/>
                <a:ea typeface="メイリオ" panose="020B0604030504040204" pitchFamily="50" charset="-128"/>
              </a:rPr>
              <a:t>2020/7/31</a:t>
            </a:r>
            <a:r>
              <a:rPr lang="ja-JP" altLang="en-US" sz="1200" b="0" dirty="0">
                <a:latin typeface="メイリオ" panose="020B0604030504040204" pitchFamily="50" charset="-128"/>
                <a:ea typeface="メイリオ" panose="020B0604030504040204" pitchFamily="50" charset="-128"/>
              </a:rPr>
              <a:t>　</a:t>
            </a:r>
            <a:r>
              <a:rPr lang="en-US" altLang="ja-JP" sz="1200" b="0" dirty="0">
                <a:latin typeface="メイリオ" panose="020B0604030504040204" pitchFamily="50" charset="-128"/>
                <a:ea typeface="メイリオ" panose="020B0604030504040204" pitchFamily="50" charset="-128"/>
              </a:rPr>
              <a:t>NVIDIA </a:t>
            </a:r>
            <a:r>
              <a:rPr lang="ja-JP" altLang="en-US" sz="1200" b="0" dirty="0">
                <a:latin typeface="メイリオ" panose="020B0604030504040204" pitchFamily="50" charset="-128"/>
                <a:ea typeface="メイリオ" panose="020B0604030504040204" pitchFamily="50" charset="-128"/>
              </a:rPr>
              <a:t>新</a:t>
            </a:r>
            <a:r>
              <a:rPr lang="en-US" altLang="ja-JP" sz="1200" b="0" dirty="0">
                <a:latin typeface="メイリオ" panose="020B0604030504040204" pitchFamily="50" charset="-128"/>
                <a:ea typeface="メイリオ" panose="020B0604030504040204" pitchFamily="50" charset="-128"/>
              </a:rPr>
              <a:t>GPU</a:t>
            </a:r>
            <a:r>
              <a:rPr lang="ja-JP" altLang="en-US" sz="1200" b="0" dirty="0">
                <a:latin typeface="メイリオ" panose="020B0604030504040204" pitchFamily="50" charset="-128"/>
                <a:ea typeface="メイリオ" panose="020B0604030504040204" pitchFamily="50" charset="-128"/>
              </a:rPr>
              <a:t>の情報更新　</a:t>
            </a:r>
            <a:r>
              <a:rPr lang="en-US" altLang="ja-JP" sz="1200" b="0" dirty="0">
                <a:latin typeface="メイリオ" panose="020B0604030504040204" pitchFamily="50" charset="-128"/>
                <a:ea typeface="メイリオ" panose="020B0604030504040204" pitchFamily="50" charset="-128"/>
              </a:rPr>
              <a:t>SKU</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2020/6/19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2020/5/23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err="1">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nVIDIA</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RTX2080Ti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後継（</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月）変更修正</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2020/3/9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2019/11/14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2019/8/16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微調整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2019/6/12</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以降以下のようになる見込み</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から上位派生）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2080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から下位派生）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2060Super</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以上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未満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2070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から下位派生）</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1650Ti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1650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1030</a:t>
            </a:r>
          </a:p>
          <a:p>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2019/5/9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Q</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ずらし</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2018/1/24</a:t>
            </a:r>
          </a:p>
          <a:p>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移行の流れ</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6G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1060Ti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3G</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1660</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1050Ti</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1550Ti</a:t>
            </a: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EOL</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1050Ti</a:t>
            </a:r>
          </a:p>
          <a:p>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実質値上げ</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2018/12/21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GTX1160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RTX2060/GTX1160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のラインになる</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35</a:t>
            </a:fld>
            <a:endParaRPr kumimoji="1" lang="ja-JP" altLang="en-US"/>
          </a:p>
        </p:txBody>
      </p:sp>
    </p:spTree>
    <p:extLst>
      <p:ext uri="{BB962C8B-B14F-4D97-AF65-F5344CB8AC3E}">
        <p14:creationId xmlns:p14="http://schemas.microsoft.com/office/powerpoint/2010/main" val="39622768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2025/7/3 </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新ケースの名称追記</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2025/6/26</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新ケース調整</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2025/6/10</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新ケース後ろ倒し</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9/19</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頃</a:t>
            </a:r>
            <a:b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b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2025/4/23</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新ケース名称</a:t>
            </a: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(Gemini/Aries/Crux)</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を追加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2025/1/31</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ケースページ追加</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36</a:t>
            </a:fld>
            <a:endParaRPr kumimoji="1" lang="ja-JP" altLang="en-US"/>
          </a:p>
        </p:txBody>
      </p:sp>
    </p:spTree>
    <p:extLst>
      <p:ext uri="{BB962C8B-B14F-4D97-AF65-F5344CB8AC3E}">
        <p14:creationId xmlns:p14="http://schemas.microsoft.com/office/powerpoint/2010/main" val="4191940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2023/7/14</a:t>
            </a: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　作成　以後週次更新中</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37</a:t>
            </a:fld>
            <a:endParaRPr kumimoji="1" lang="ja-JP" altLang="en-US"/>
          </a:p>
        </p:txBody>
      </p:sp>
    </p:spTree>
    <p:extLst>
      <p:ext uri="{BB962C8B-B14F-4D97-AF65-F5344CB8AC3E}">
        <p14:creationId xmlns:p14="http://schemas.microsoft.com/office/powerpoint/2010/main" val="7612578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38</a:t>
            </a:fld>
            <a:endParaRPr kumimoji="1" lang="ja-JP" altLang="en-US"/>
          </a:p>
        </p:txBody>
      </p:sp>
    </p:spTree>
    <p:extLst>
      <p:ext uri="{BB962C8B-B14F-4D97-AF65-F5344CB8AC3E}">
        <p14:creationId xmlns:p14="http://schemas.microsoft.com/office/powerpoint/2010/main" val="27645440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39</a:t>
            </a:fld>
            <a:endParaRPr kumimoji="1" lang="ja-JP" altLang="en-US"/>
          </a:p>
        </p:txBody>
      </p:sp>
    </p:spTree>
    <p:extLst>
      <p:ext uri="{BB962C8B-B14F-4D97-AF65-F5344CB8AC3E}">
        <p14:creationId xmlns:p14="http://schemas.microsoft.com/office/powerpoint/2010/main" val="34261301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40</a:t>
            </a:fld>
            <a:endParaRPr kumimoji="1" lang="ja-JP" altLang="en-US"/>
          </a:p>
        </p:txBody>
      </p:sp>
    </p:spTree>
    <p:extLst>
      <p:ext uri="{BB962C8B-B14F-4D97-AF65-F5344CB8AC3E}">
        <p14:creationId xmlns:p14="http://schemas.microsoft.com/office/powerpoint/2010/main" val="2235491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41</a:t>
            </a:fld>
            <a:endParaRPr kumimoji="1" lang="ja-JP" altLang="en-US"/>
          </a:p>
        </p:txBody>
      </p:sp>
    </p:spTree>
    <p:extLst>
      <p:ext uri="{BB962C8B-B14F-4D97-AF65-F5344CB8AC3E}">
        <p14:creationId xmlns:p14="http://schemas.microsoft.com/office/powerpoint/2010/main" val="5138197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a:t>
            </a:r>
            <a:r>
              <a:rPr lang="en-US" altLang="ja-JP"/>
              <a:t>2025/3/21</a:t>
            </a:r>
            <a:r>
              <a:rPr lang="ja-JP" altLang="en-US"/>
              <a:t>＞</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ケース毎に使うサポート金具まとめページ</a:t>
            </a:r>
            <a:endParaRPr lang="en-US" altLang="ja-JP"/>
          </a:p>
        </p:txBody>
      </p:sp>
      <p:sp>
        <p:nvSpPr>
          <p:cNvPr id="4" name="スライド番号プレースホルダー 3"/>
          <p:cNvSpPr>
            <a:spLocks noGrp="1"/>
          </p:cNvSpPr>
          <p:nvPr>
            <p:ph type="sldNum" sz="quarter" idx="5"/>
          </p:nvPr>
        </p:nvSpPr>
        <p:spPr/>
        <p:txBody>
          <a:bodyPr/>
          <a:lstStyle/>
          <a:p>
            <a:fld id="{D8DB311A-DA27-4310-97A2-3E2DB02DC2E8}" type="slidenum">
              <a:rPr kumimoji="1" lang="ja-JP" altLang="en-US" smtClean="0"/>
              <a:t>42</a:t>
            </a:fld>
            <a:endParaRPr kumimoji="1" lang="ja-JP" altLang="en-US"/>
          </a:p>
        </p:txBody>
      </p:sp>
    </p:spTree>
    <p:extLst>
      <p:ext uri="{BB962C8B-B14F-4D97-AF65-F5344CB8AC3E}">
        <p14:creationId xmlns:p14="http://schemas.microsoft.com/office/powerpoint/2010/main" val="36485541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rPr>
              <a:t>作業メモ</a:t>
            </a:r>
            <a:endParaRPr kumimoji="1" lang="en-US" altLang="ja-JP" sz="1200" b="0" baseline="0" dirty="0">
              <a:solidFill>
                <a:sysClr val="windowText" lastClr="000000"/>
              </a:solidFill>
              <a:latin typeface="HGPｺﾞｼｯｸE" panose="020B0900000000000000" pitchFamily="50" charset="-128"/>
              <a:ea typeface="HGPｺﾞｼｯｸE" panose="020B0900000000000000" pitchFamily="50" charset="-128"/>
              <a:cs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43</a:t>
            </a:fld>
            <a:endParaRPr kumimoji="1" lang="ja-JP" altLang="en-US"/>
          </a:p>
        </p:txBody>
      </p:sp>
    </p:spTree>
    <p:extLst>
      <p:ext uri="{BB962C8B-B14F-4D97-AF65-F5344CB8AC3E}">
        <p14:creationId xmlns:p14="http://schemas.microsoft.com/office/powerpoint/2010/main" val="41937220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4400" dirty="0"/>
              <a:t>更新内容・その他詳細</a:t>
            </a:r>
          </a:p>
          <a:p>
            <a:r>
              <a:rPr lang="ja-JP" altLang="en-US" sz="4400" dirty="0"/>
              <a:t> </a:t>
            </a:r>
          </a:p>
          <a:p>
            <a:r>
              <a:rPr lang="en-US" altLang="ja-JP" sz="4400" dirty="0"/>
              <a:t>CPU/MB</a:t>
            </a:r>
          </a:p>
          <a:p>
            <a:r>
              <a:rPr lang="ja-JP" altLang="en-US" sz="4400" dirty="0"/>
              <a:t>・</a:t>
            </a:r>
            <a:r>
              <a:rPr lang="en-US" altLang="ja-JP" sz="4400" dirty="0"/>
              <a:t>intel</a:t>
            </a:r>
          </a:p>
          <a:p>
            <a:r>
              <a:rPr lang="ja-JP" altLang="en-US" sz="4400" dirty="0"/>
              <a:t>　</a:t>
            </a:r>
            <a:r>
              <a:rPr lang="en-US" altLang="ja-JP" sz="4400" dirty="0"/>
              <a:t>[</a:t>
            </a:r>
            <a:r>
              <a:rPr lang="ja-JP" altLang="en-US" sz="4400" dirty="0"/>
              <a:t>デスク系</a:t>
            </a:r>
            <a:r>
              <a:rPr lang="en-US" altLang="ja-JP" sz="4400" dirty="0"/>
              <a:t>](P3-4,8-9,31,39)</a:t>
            </a:r>
          </a:p>
          <a:p>
            <a:r>
              <a:rPr lang="en-US" altLang="ja-JP" sz="4400" dirty="0"/>
              <a:t>Nova Lake-S(</a:t>
            </a:r>
            <a:r>
              <a:rPr lang="ja-JP" altLang="en-US" sz="4400" dirty="0"/>
              <a:t>シリーズ</a:t>
            </a:r>
            <a:r>
              <a:rPr lang="en-US" altLang="ja-JP" sz="4400" dirty="0"/>
              <a:t>4)</a:t>
            </a:r>
            <a:r>
              <a:rPr lang="ja-JP" altLang="en-US" sz="4400" dirty="0"/>
              <a:t>　</a:t>
            </a:r>
            <a:r>
              <a:rPr lang="en-US" altLang="ja-JP" sz="4400" dirty="0"/>
              <a:t>28C DS/Z990</a:t>
            </a:r>
            <a:r>
              <a:rPr lang="ja-JP" altLang="en-US" sz="4400" dirty="0"/>
              <a:t>　発表</a:t>
            </a:r>
            <a:r>
              <a:rPr lang="en-US" altLang="ja-JP" sz="4400" dirty="0"/>
              <a:t>: Q1'2027</a:t>
            </a:r>
            <a:r>
              <a:rPr lang="ja-JP" altLang="en-US" sz="4400" dirty="0"/>
              <a:t>　解禁</a:t>
            </a:r>
            <a:r>
              <a:rPr lang="en-US" altLang="ja-JP" sz="4400" dirty="0"/>
              <a:t>: Q1'2027</a:t>
            </a:r>
          </a:p>
          <a:p>
            <a:r>
              <a:rPr lang="en-US" altLang="ja-JP" sz="4400" dirty="0"/>
              <a:t>Nova Lake-S(</a:t>
            </a:r>
            <a:r>
              <a:rPr lang="ja-JP" altLang="en-US" sz="4400" dirty="0"/>
              <a:t>シリーズ</a:t>
            </a:r>
            <a:r>
              <a:rPr lang="en-US" altLang="ja-JP" sz="4400" dirty="0"/>
              <a:t>4)</a:t>
            </a:r>
            <a:r>
              <a:rPr lang="ja-JP" altLang="en-US" sz="4400" dirty="0"/>
              <a:t>　</a:t>
            </a:r>
            <a:r>
              <a:rPr lang="en-US" altLang="ja-JP" sz="4400" dirty="0"/>
              <a:t>28C K</a:t>
            </a:r>
            <a:r>
              <a:rPr lang="ja-JP" altLang="en-US" sz="4400" dirty="0"/>
              <a:t>　発表</a:t>
            </a:r>
            <a:r>
              <a:rPr lang="en-US" altLang="ja-JP" sz="4400" dirty="0"/>
              <a:t>: Q1'2027</a:t>
            </a:r>
            <a:r>
              <a:rPr lang="ja-JP" altLang="en-US" sz="4400" dirty="0"/>
              <a:t>　解禁</a:t>
            </a:r>
            <a:r>
              <a:rPr lang="en-US" altLang="ja-JP" sz="4400" dirty="0"/>
              <a:t>: Q2'2027</a:t>
            </a:r>
          </a:p>
          <a:p>
            <a:r>
              <a:rPr lang="en-US" altLang="ja-JP" sz="4400" dirty="0"/>
              <a:t>Nova Lake-S(</a:t>
            </a:r>
            <a:r>
              <a:rPr lang="ja-JP" altLang="en-US" sz="4400" dirty="0"/>
              <a:t>シリーズ</a:t>
            </a:r>
            <a:r>
              <a:rPr lang="en-US" altLang="ja-JP" sz="4400" dirty="0"/>
              <a:t>4)</a:t>
            </a:r>
            <a:r>
              <a:rPr lang="ja-JP" altLang="en-US" sz="4400" dirty="0"/>
              <a:t>　</a:t>
            </a:r>
            <a:r>
              <a:rPr lang="en-US" altLang="ja-JP" sz="4400" dirty="0"/>
              <a:t>16C&amp;8C/Z970/B960</a:t>
            </a:r>
            <a:r>
              <a:rPr lang="ja-JP" altLang="en-US" sz="4400" dirty="0"/>
              <a:t>　発表</a:t>
            </a:r>
            <a:r>
              <a:rPr lang="en-US" altLang="ja-JP" sz="4400" dirty="0"/>
              <a:t>: Q1'2027</a:t>
            </a:r>
            <a:r>
              <a:rPr lang="ja-JP" altLang="en-US" sz="4400" dirty="0"/>
              <a:t>　解禁</a:t>
            </a:r>
            <a:r>
              <a:rPr lang="en-US" altLang="ja-JP" sz="4400" dirty="0"/>
              <a:t>: Q2'2027</a:t>
            </a:r>
          </a:p>
          <a:p>
            <a:r>
              <a:rPr lang="en-US" altLang="ja-JP" sz="4400" dirty="0"/>
              <a:t>Nova Lake-S(</a:t>
            </a:r>
            <a:r>
              <a:rPr lang="ja-JP" altLang="en-US" sz="4400" dirty="0"/>
              <a:t>シリーズ</a:t>
            </a:r>
            <a:r>
              <a:rPr lang="en-US" altLang="ja-JP" sz="4400" dirty="0"/>
              <a:t>4)</a:t>
            </a:r>
            <a:r>
              <a:rPr lang="ja-JP" altLang="en-US" sz="4400" dirty="0"/>
              <a:t>　</a:t>
            </a:r>
            <a:r>
              <a:rPr lang="en-US" altLang="ja-JP" sz="4400" dirty="0"/>
              <a:t>52C DS</a:t>
            </a:r>
            <a:r>
              <a:rPr lang="ja-JP" altLang="en-US" sz="4400" dirty="0"/>
              <a:t>　発表・解禁</a:t>
            </a:r>
            <a:r>
              <a:rPr lang="en-US" altLang="ja-JP" sz="4400" dirty="0"/>
              <a:t>: 2027</a:t>
            </a:r>
            <a:r>
              <a:rPr lang="ja-JP" altLang="en-US" sz="4400" dirty="0"/>
              <a:t>年</a:t>
            </a:r>
            <a:r>
              <a:rPr lang="en-US" altLang="ja-JP" sz="4400" dirty="0"/>
              <a:t>5</a:t>
            </a:r>
            <a:r>
              <a:rPr lang="ja-JP" altLang="en-US" sz="4400" dirty="0"/>
              <a:t>月～</a:t>
            </a:r>
            <a:r>
              <a:rPr lang="en-US" altLang="ja-JP" sz="4400" dirty="0"/>
              <a:t>9</a:t>
            </a:r>
            <a:r>
              <a:rPr lang="ja-JP" altLang="en-US" sz="4400" dirty="0"/>
              <a:t>月</a:t>
            </a:r>
          </a:p>
          <a:p>
            <a:r>
              <a:rPr lang="en-US" altLang="ja-JP" sz="4400" dirty="0"/>
              <a:t>Raptor Lake-S(Raptor Lake Next)</a:t>
            </a:r>
            <a:r>
              <a:rPr lang="ja-JP" altLang="en-US" sz="4400" dirty="0"/>
              <a:t>　発表</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　解禁</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a:t>
            </a:r>
          </a:p>
          <a:p>
            <a:r>
              <a:rPr lang="ja-JP" altLang="en-US" sz="4400" dirty="0"/>
              <a:t>　</a:t>
            </a:r>
            <a:r>
              <a:rPr lang="en-US" altLang="ja-JP" sz="4400" dirty="0"/>
              <a:t>[</a:t>
            </a:r>
            <a:r>
              <a:rPr lang="ja-JP" altLang="en-US" sz="4400" dirty="0"/>
              <a:t>モバイル系</a:t>
            </a:r>
            <a:r>
              <a:rPr lang="en-US" altLang="ja-JP" sz="4400" dirty="0"/>
              <a:t>](P3,8-9)</a:t>
            </a:r>
          </a:p>
          <a:p>
            <a:r>
              <a:rPr lang="en-US" altLang="ja-JP" sz="4400" dirty="0"/>
              <a:t>Nova Lake-H16C/8C(</a:t>
            </a:r>
            <a:r>
              <a:rPr lang="ja-JP" altLang="en-US" sz="4400" dirty="0"/>
              <a:t>コンシューマー</a:t>
            </a:r>
            <a:r>
              <a:rPr lang="en-US" altLang="ja-JP" sz="4400" dirty="0"/>
              <a:t>)</a:t>
            </a:r>
            <a:r>
              <a:rPr lang="ja-JP" altLang="en-US" sz="4400" dirty="0"/>
              <a:t>　発表</a:t>
            </a:r>
            <a:r>
              <a:rPr lang="en-US" altLang="ja-JP" sz="4400" dirty="0"/>
              <a:t>: 2027</a:t>
            </a:r>
            <a:r>
              <a:rPr lang="ja-JP" altLang="en-US" sz="4400" dirty="0"/>
              <a:t>年</a:t>
            </a:r>
            <a:r>
              <a:rPr lang="en-US" altLang="ja-JP" sz="4400" dirty="0"/>
              <a:t>2</a:t>
            </a:r>
            <a:r>
              <a:rPr lang="ja-JP" altLang="en-US" sz="4400" dirty="0"/>
              <a:t>月～</a:t>
            </a:r>
            <a:r>
              <a:rPr lang="en-US" altLang="ja-JP" sz="4400" dirty="0"/>
              <a:t>4</a:t>
            </a:r>
            <a:r>
              <a:rPr lang="ja-JP" altLang="en-US" sz="4400" dirty="0"/>
              <a:t>月　解禁</a:t>
            </a:r>
            <a:r>
              <a:rPr lang="en-US" altLang="ja-JP" sz="4400" dirty="0"/>
              <a:t>: 2027</a:t>
            </a:r>
            <a:r>
              <a:rPr lang="ja-JP" altLang="en-US" sz="4400" dirty="0"/>
              <a:t>年</a:t>
            </a:r>
            <a:r>
              <a:rPr lang="en-US" altLang="ja-JP" sz="4400" dirty="0"/>
              <a:t>2</a:t>
            </a:r>
            <a:r>
              <a:rPr lang="ja-JP" altLang="en-US" sz="4400" dirty="0"/>
              <a:t>月～</a:t>
            </a:r>
            <a:r>
              <a:rPr lang="en-US" altLang="ja-JP" sz="4400" dirty="0"/>
              <a:t>4</a:t>
            </a:r>
            <a:r>
              <a:rPr lang="ja-JP" altLang="en-US" sz="4400" dirty="0"/>
              <a:t>月</a:t>
            </a:r>
          </a:p>
          <a:p>
            <a:r>
              <a:rPr lang="en-US" altLang="ja-JP" sz="4400" dirty="0"/>
              <a:t>Nova Lake-HX(</a:t>
            </a:r>
            <a:r>
              <a:rPr lang="ja-JP" altLang="en-US" sz="4400" dirty="0"/>
              <a:t>コンシューマー</a:t>
            </a:r>
            <a:r>
              <a:rPr lang="en-US" altLang="ja-JP" sz="4400" dirty="0"/>
              <a:t>)</a:t>
            </a:r>
            <a:r>
              <a:rPr lang="ja-JP" altLang="en-US" sz="4400" dirty="0"/>
              <a:t>　発表</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　解禁</a:t>
            </a:r>
            <a:r>
              <a:rPr lang="en-US" altLang="ja-JP" sz="4400" dirty="0"/>
              <a:t>: 2027</a:t>
            </a:r>
            <a:r>
              <a:rPr lang="ja-JP" altLang="en-US" sz="4400" dirty="0"/>
              <a:t>年</a:t>
            </a:r>
            <a:r>
              <a:rPr lang="en-US" altLang="ja-JP" sz="4400" dirty="0"/>
              <a:t>3</a:t>
            </a:r>
            <a:r>
              <a:rPr lang="ja-JP" altLang="en-US" sz="4400" dirty="0"/>
              <a:t>月～</a:t>
            </a:r>
            <a:r>
              <a:rPr lang="en-US" altLang="ja-JP" sz="4400" dirty="0"/>
              <a:t>6</a:t>
            </a:r>
            <a:r>
              <a:rPr lang="ja-JP" altLang="en-US" sz="4400" dirty="0"/>
              <a:t>月</a:t>
            </a:r>
          </a:p>
          <a:p>
            <a:r>
              <a:rPr lang="en-US" altLang="ja-JP" sz="4400" dirty="0"/>
              <a:t>Nova Lake-H16C 12Xe(</a:t>
            </a:r>
            <a:r>
              <a:rPr lang="ja-JP" altLang="en-US" sz="4400" dirty="0"/>
              <a:t>コンシューマー</a:t>
            </a:r>
            <a:r>
              <a:rPr lang="en-US" altLang="ja-JP" sz="4400" dirty="0"/>
              <a:t>)</a:t>
            </a:r>
            <a:r>
              <a:rPr lang="ja-JP" altLang="en-US" sz="4400" dirty="0"/>
              <a:t>　発表</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　解禁</a:t>
            </a:r>
            <a:r>
              <a:rPr lang="en-US" altLang="ja-JP" sz="4400" dirty="0"/>
              <a:t>: 2027</a:t>
            </a:r>
            <a:r>
              <a:rPr lang="ja-JP" altLang="en-US" sz="4400" dirty="0"/>
              <a:t>年</a:t>
            </a:r>
            <a:r>
              <a:rPr lang="en-US" altLang="ja-JP" sz="4400" dirty="0"/>
              <a:t>5</a:t>
            </a:r>
            <a:r>
              <a:rPr lang="ja-JP" altLang="en-US" sz="4400" dirty="0"/>
              <a:t>月～</a:t>
            </a:r>
            <a:r>
              <a:rPr lang="en-US" altLang="ja-JP" sz="4400" dirty="0"/>
              <a:t>6</a:t>
            </a:r>
            <a:r>
              <a:rPr lang="ja-JP" altLang="en-US" sz="4400" dirty="0"/>
              <a:t>月</a:t>
            </a:r>
          </a:p>
          <a:p>
            <a:r>
              <a:rPr lang="en-US" altLang="ja-JP" sz="4400" dirty="0"/>
              <a:t>Raptor Lake HX(Raptor Lake Next)</a:t>
            </a:r>
            <a:r>
              <a:rPr lang="ja-JP" altLang="en-US" sz="4400" dirty="0"/>
              <a:t>　発表</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　解禁</a:t>
            </a:r>
            <a:r>
              <a:rPr lang="en-US" altLang="ja-JP" sz="4400" dirty="0"/>
              <a:t>: 2027</a:t>
            </a:r>
            <a:r>
              <a:rPr lang="ja-JP" altLang="en-US" sz="4400" dirty="0"/>
              <a:t>年</a:t>
            </a:r>
            <a:r>
              <a:rPr lang="en-US" altLang="ja-JP" sz="4400" dirty="0"/>
              <a:t>3</a:t>
            </a:r>
            <a:r>
              <a:rPr lang="ja-JP" altLang="en-US" sz="4400" dirty="0"/>
              <a:t>月～</a:t>
            </a:r>
            <a:r>
              <a:rPr lang="en-US" altLang="ja-JP" sz="4400" dirty="0"/>
              <a:t>5</a:t>
            </a:r>
            <a:r>
              <a:rPr lang="ja-JP" altLang="en-US" sz="4400" dirty="0"/>
              <a:t>月</a:t>
            </a:r>
          </a:p>
          <a:p>
            <a:r>
              <a:rPr lang="en-US" altLang="ja-JP" sz="4400" dirty="0"/>
              <a:t>Wildcat Lake Refresh(</a:t>
            </a:r>
            <a:r>
              <a:rPr lang="ja-JP" altLang="en-US" sz="4400" dirty="0"/>
              <a:t>コンシューマー</a:t>
            </a:r>
            <a:r>
              <a:rPr lang="en-US" altLang="ja-JP" sz="4400" dirty="0"/>
              <a:t>)</a:t>
            </a:r>
            <a:r>
              <a:rPr lang="ja-JP" altLang="en-US" sz="4400" dirty="0"/>
              <a:t>　発表</a:t>
            </a:r>
            <a:r>
              <a:rPr lang="en-US" altLang="ja-JP" sz="4400" dirty="0"/>
              <a:t>: 2027</a:t>
            </a:r>
            <a:r>
              <a:rPr lang="ja-JP" altLang="en-US" sz="4400" dirty="0"/>
              <a:t>年</a:t>
            </a:r>
            <a:r>
              <a:rPr lang="en-US" altLang="ja-JP" sz="4400" dirty="0"/>
              <a:t>2</a:t>
            </a:r>
            <a:r>
              <a:rPr lang="ja-JP" altLang="en-US" sz="4400" dirty="0"/>
              <a:t>月～</a:t>
            </a:r>
            <a:r>
              <a:rPr lang="en-US" altLang="ja-JP" sz="4400" dirty="0"/>
              <a:t>6</a:t>
            </a:r>
            <a:r>
              <a:rPr lang="ja-JP" altLang="en-US" sz="4400" dirty="0"/>
              <a:t>月　解禁</a:t>
            </a:r>
            <a:r>
              <a:rPr lang="en-US" altLang="ja-JP" sz="4400" dirty="0"/>
              <a:t>: 2027</a:t>
            </a:r>
            <a:r>
              <a:rPr lang="ja-JP" altLang="en-US" sz="4400" dirty="0"/>
              <a:t>年</a:t>
            </a:r>
            <a:r>
              <a:rPr lang="en-US" altLang="ja-JP" sz="4400" dirty="0"/>
              <a:t>4</a:t>
            </a:r>
            <a:r>
              <a:rPr lang="ja-JP" altLang="en-US" sz="4400" dirty="0"/>
              <a:t>月～</a:t>
            </a:r>
            <a:r>
              <a:rPr lang="en-US" altLang="ja-JP" sz="4400" dirty="0"/>
              <a:t>6</a:t>
            </a:r>
            <a:r>
              <a:rPr lang="ja-JP" altLang="en-US" sz="4400" dirty="0"/>
              <a:t>月</a:t>
            </a:r>
          </a:p>
          <a:p>
            <a:r>
              <a:rPr lang="en-US" altLang="ja-JP" sz="4400" dirty="0"/>
              <a:t>Wildcat Lake Refresh(</a:t>
            </a:r>
            <a:r>
              <a:rPr lang="ja-JP" altLang="en-US" sz="4400" dirty="0"/>
              <a:t>コマーシャル</a:t>
            </a:r>
            <a:r>
              <a:rPr lang="en-US" altLang="ja-JP" sz="4400" dirty="0"/>
              <a:t>)</a:t>
            </a:r>
            <a:r>
              <a:rPr lang="ja-JP" altLang="en-US" sz="4400" dirty="0"/>
              <a:t>　発表</a:t>
            </a:r>
            <a:r>
              <a:rPr lang="en-US" altLang="ja-JP" sz="4400" dirty="0"/>
              <a:t>: 2027</a:t>
            </a:r>
            <a:r>
              <a:rPr lang="ja-JP" altLang="en-US" sz="4400" dirty="0"/>
              <a:t>年</a:t>
            </a:r>
            <a:r>
              <a:rPr lang="en-US" altLang="ja-JP" sz="4400" dirty="0"/>
              <a:t>2</a:t>
            </a:r>
            <a:r>
              <a:rPr lang="ja-JP" altLang="en-US" sz="4400" dirty="0"/>
              <a:t>月～</a:t>
            </a:r>
            <a:r>
              <a:rPr lang="en-US" altLang="ja-JP" sz="4400" dirty="0"/>
              <a:t>6</a:t>
            </a:r>
            <a:r>
              <a:rPr lang="ja-JP" altLang="en-US" sz="4400" dirty="0"/>
              <a:t>月　解禁</a:t>
            </a:r>
            <a:r>
              <a:rPr lang="en-US" altLang="ja-JP" sz="4400" dirty="0"/>
              <a:t>: 2027</a:t>
            </a:r>
            <a:r>
              <a:rPr lang="ja-JP" altLang="en-US" sz="4400" dirty="0"/>
              <a:t>年</a:t>
            </a:r>
            <a:r>
              <a:rPr lang="en-US" altLang="ja-JP" sz="4400" dirty="0"/>
              <a:t>5</a:t>
            </a:r>
            <a:r>
              <a:rPr lang="ja-JP" altLang="en-US" sz="4400" dirty="0"/>
              <a:t>月～</a:t>
            </a:r>
            <a:r>
              <a:rPr lang="en-US" altLang="ja-JP" sz="4400" dirty="0"/>
              <a:t>7</a:t>
            </a:r>
            <a:r>
              <a:rPr lang="ja-JP" altLang="en-US" sz="4400" dirty="0"/>
              <a:t>月</a:t>
            </a:r>
          </a:p>
          <a:p>
            <a:endParaRPr lang="ja-JP" altLang="en-US" sz="4400" dirty="0"/>
          </a:p>
          <a:p>
            <a:r>
              <a:rPr lang="en-US" altLang="ja-JP" sz="4400" dirty="0"/>
              <a:t>※TW</a:t>
            </a:r>
            <a:r>
              <a:rPr lang="ja-JP" altLang="en-US" sz="4400" dirty="0"/>
              <a:t>内</a:t>
            </a:r>
          </a:p>
          <a:p>
            <a:r>
              <a:rPr lang="en-US" altLang="ja-JP" sz="4400" dirty="0"/>
              <a:t>SFF</a:t>
            </a:r>
            <a:r>
              <a:rPr lang="ja-JP" altLang="en-US" sz="4400" dirty="0"/>
              <a:t>ケース用</a:t>
            </a:r>
            <a:r>
              <a:rPr lang="en-US" altLang="ja-JP" sz="4400" dirty="0" err="1"/>
              <a:t>MiniITX</a:t>
            </a:r>
            <a:r>
              <a:rPr lang="en-US" altLang="ja-JP" sz="4400" dirty="0"/>
              <a:t> MB</a:t>
            </a:r>
            <a:r>
              <a:rPr lang="ja-JP" altLang="en-US" sz="4400" dirty="0"/>
              <a:t>は</a:t>
            </a:r>
            <a:r>
              <a:rPr lang="en-US" altLang="ja-JP" sz="4400" dirty="0"/>
              <a:t>MSI B860I EDGE TI WIFI</a:t>
            </a:r>
            <a:r>
              <a:rPr lang="ja-JP" altLang="en-US" sz="4400" dirty="0"/>
              <a:t>で進行</a:t>
            </a:r>
            <a:r>
              <a:rPr lang="en-US" altLang="ja-JP" sz="4400" dirty="0"/>
              <a:t>(P32)</a:t>
            </a:r>
          </a:p>
          <a:p>
            <a:r>
              <a:rPr lang="en-US" altLang="ja-JP" sz="4400" dirty="0"/>
              <a:t> </a:t>
            </a:r>
          </a:p>
          <a:p>
            <a:r>
              <a:rPr lang="ja-JP" altLang="en-US" sz="4400" dirty="0"/>
              <a:t>・</a:t>
            </a:r>
            <a:r>
              <a:rPr lang="en-US" altLang="ja-JP" sz="4400" dirty="0"/>
              <a:t>AMD(P3,6,33)</a:t>
            </a:r>
          </a:p>
          <a:p>
            <a:r>
              <a:rPr lang="en-US" altLang="ja-JP" sz="4400" dirty="0"/>
              <a:t>Ryzen7 7700X3D</a:t>
            </a:r>
            <a:r>
              <a:rPr lang="ja-JP" altLang="en-US" sz="4400" dirty="0"/>
              <a:t>　</a:t>
            </a:r>
            <a:r>
              <a:rPr lang="en-US" altLang="ja-JP" sz="4400" dirty="0"/>
              <a:t>7/17</a:t>
            </a:r>
            <a:r>
              <a:rPr lang="ja-JP" altLang="en-US" sz="4400" dirty="0"/>
              <a:t>（日本）</a:t>
            </a:r>
          </a:p>
          <a:p>
            <a:r>
              <a:rPr lang="en-US" altLang="ja-JP" sz="4400" dirty="0"/>
              <a:t>Zen6</a:t>
            </a:r>
            <a:r>
              <a:rPr lang="ja-JP" altLang="en-US" sz="4400" dirty="0"/>
              <a:t>　見込み：</a:t>
            </a:r>
            <a:r>
              <a:rPr lang="en-US" altLang="ja-JP" sz="4400" dirty="0"/>
              <a:t>H2'2027</a:t>
            </a:r>
          </a:p>
          <a:p>
            <a:endParaRPr lang="en-US" altLang="ja-JP" sz="4400" dirty="0"/>
          </a:p>
          <a:p>
            <a:r>
              <a:rPr lang="en-US" altLang="ja-JP" sz="4400" dirty="0"/>
              <a:t>※TW</a:t>
            </a:r>
            <a:r>
              <a:rPr lang="ja-JP" altLang="en-US" sz="4400" dirty="0"/>
              <a:t>内</a:t>
            </a:r>
          </a:p>
          <a:p>
            <a:r>
              <a:rPr lang="en-US" altLang="ja-JP" sz="4400" dirty="0"/>
              <a:t>SFF</a:t>
            </a:r>
            <a:r>
              <a:rPr lang="ja-JP" altLang="en-US" sz="4400" dirty="0"/>
              <a:t>ケース用</a:t>
            </a:r>
            <a:r>
              <a:rPr lang="en-US" altLang="ja-JP" sz="4400" dirty="0" err="1"/>
              <a:t>MiniITX</a:t>
            </a:r>
            <a:r>
              <a:rPr lang="en-US" altLang="ja-JP" sz="4400" dirty="0"/>
              <a:t> MB</a:t>
            </a:r>
            <a:r>
              <a:rPr lang="ja-JP" altLang="en-US" sz="4400" dirty="0"/>
              <a:t>は</a:t>
            </a:r>
            <a:r>
              <a:rPr lang="en-US" altLang="ja-JP" sz="4400" dirty="0"/>
              <a:t>ASUS TUF B850-I </a:t>
            </a:r>
            <a:r>
              <a:rPr lang="en-US" altLang="ja-JP" sz="4400" dirty="0" err="1"/>
              <a:t>WiFi</a:t>
            </a:r>
            <a:r>
              <a:rPr lang="en-US" altLang="ja-JP" sz="4400" dirty="0"/>
              <a:t> NEO</a:t>
            </a:r>
            <a:r>
              <a:rPr lang="ja-JP" altLang="en-US" sz="4400" dirty="0"/>
              <a:t>で進行</a:t>
            </a:r>
            <a:r>
              <a:rPr lang="en-US" altLang="ja-JP" sz="4400" dirty="0"/>
              <a:t>(P34)</a:t>
            </a:r>
          </a:p>
          <a:p>
            <a:endParaRPr lang="en-US" altLang="ja-JP" sz="4400" dirty="0"/>
          </a:p>
          <a:p>
            <a:endParaRPr lang="en-US" altLang="ja-JP" sz="4400" dirty="0"/>
          </a:p>
          <a:p>
            <a:r>
              <a:rPr lang="en-US" altLang="ja-JP" sz="4400" dirty="0"/>
              <a:t>GPU(P3,10)</a:t>
            </a:r>
          </a:p>
          <a:p>
            <a:r>
              <a:rPr lang="ja-JP" altLang="en-US" sz="4400" dirty="0"/>
              <a:t>・</a:t>
            </a:r>
            <a:r>
              <a:rPr lang="en-US" altLang="ja-JP" sz="4400" dirty="0"/>
              <a:t>AMD Radeon </a:t>
            </a:r>
            <a:r>
              <a:rPr lang="en-US" altLang="ja-JP" sz="4400" dirty="0" err="1"/>
              <a:t>Radeon</a:t>
            </a:r>
            <a:r>
              <a:rPr lang="en-US" altLang="ja-JP" sz="4400" dirty="0"/>
              <a:t> RX9050</a:t>
            </a:r>
            <a:r>
              <a:rPr lang="ja-JP" altLang="en-US" sz="4400" dirty="0"/>
              <a:t>を追加予定　発売は</a:t>
            </a:r>
            <a:r>
              <a:rPr lang="en-US" altLang="ja-JP" sz="4400" dirty="0"/>
              <a:t>TBD Q2-Q3</a:t>
            </a:r>
            <a:r>
              <a:rPr lang="ja-JP" altLang="en-US" sz="4400" dirty="0"/>
              <a:t>にかけて</a:t>
            </a:r>
          </a:p>
          <a:p>
            <a:r>
              <a:rPr lang="en-US" altLang="ja-JP" sz="4400" dirty="0"/>
              <a:t>※TW</a:t>
            </a:r>
            <a:r>
              <a:rPr lang="ja-JP" altLang="en-US" sz="4400" dirty="0"/>
              <a:t>内</a:t>
            </a:r>
            <a:r>
              <a:rPr lang="en-US" altLang="ja-JP" sz="4400" dirty="0"/>
              <a:t>(P35)</a:t>
            </a:r>
          </a:p>
          <a:p>
            <a:r>
              <a:rPr lang="ja-JP" altLang="en-US" sz="4400" dirty="0"/>
              <a:t>・</a:t>
            </a:r>
            <a:r>
              <a:rPr lang="en-US" altLang="ja-JP" sz="4400" dirty="0"/>
              <a:t>Nvidia GeForce RTX3060 12GB </a:t>
            </a:r>
            <a:r>
              <a:rPr lang="ja-JP" altLang="en-US" sz="4400" dirty="0"/>
              <a:t>復活予定</a:t>
            </a:r>
          </a:p>
          <a:p>
            <a:r>
              <a:rPr lang="ja-JP" altLang="en-US" sz="4400" dirty="0"/>
              <a:t>・</a:t>
            </a:r>
            <a:r>
              <a:rPr lang="en-US" altLang="ja-JP" sz="4400" dirty="0"/>
              <a:t>AMD Radeon RX9070GRE </a:t>
            </a:r>
            <a:r>
              <a:rPr lang="ja-JP" altLang="en-US" sz="4400" dirty="0"/>
              <a:t>追加予定</a:t>
            </a:r>
          </a:p>
          <a:p>
            <a:r>
              <a:rPr lang="ja-JP" altLang="en-US" sz="4400" dirty="0"/>
              <a:t> </a:t>
            </a:r>
          </a:p>
          <a:p>
            <a:r>
              <a:rPr lang="ja-JP" altLang="en-US" sz="4400" dirty="0"/>
              <a:t> </a:t>
            </a:r>
          </a:p>
          <a:p>
            <a:r>
              <a:rPr lang="en-US" altLang="ja-JP" sz="4400" dirty="0"/>
              <a:t>SSD</a:t>
            </a:r>
            <a:r>
              <a:rPr lang="ja-JP" altLang="en-US" sz="4400" dirty="0"/>
              <a:t>・メモリ関連</a:t>
            </a:r>
            <a:r>
              <a:rPr lang="en-US" altLang="ja-JP" sz="4400" dirty="0"/>
              <a:t>(P13,16-23,38)</a:t>
            </a:r>
          </a:p>
          <a:p>
            <a:r>
              <a:rPr lang="en-US" altLang="ja-JP" sz="4400" dirty="0"/>
              <a:t>AI</a:t>
            </a:r>
            <a:r>
              <a:rPr lang="ja-JP" altLang="en-US" sz="4400" dirty="0"/>
              <a:t>データセンター向けの需要が急増　</a:t>
            </a:r>
            <a:r>
              <a:rPr lang="en-US" altLang="ja-JP" sz="4400" dirty="0"/>
              <a:t>DRAM NAND</a:t>
            </a:r>
            <a:r>
              <a:rPr lang="ja-JP" altLang="en-US" sz="4400" dirty="0"/>
              <a:t>供給不足でメモリ・ストレージ価格上昇中</a:t>
            </a:r>
            <a:r>
              <a:rPr lang="en-US" altLang="ja-JP" sz="4400" dirty="0"/>
              <a:t>(</a:t>
            </a:r>
            <a:r>
              <a:rPr lang="ja-JP" altLang="en-US" sz="4400" dirty="0"/>
              <a:t>需要過剰反応もあり不足長期化予測</a:t>
            </a:r>
            <a:r>
              <a:rPr lang="en-US" altLang="ja-JP" sz="4400" dirty="0"/>
              <a:t>)</a:t>
            </a:r>
          </a:p>
          <a:p>
            <a:r>
              <a:rPr lang="ja-JP" altLang="en-US" sz="4400" dirty="0"/>
              <a:t>・</a:t>
            </a:r>
            <a:r>
              <a:rPr lang="en-US" altLang="ja-JP" sz="4400" dirty="0" err="1"/>
              <a:t>Sandisk</a:t>
            </a:r>
            <a:r>
              <a:rPr lang="en-US" altLang="ja-JP" sz="4400" dirty="0"/>
              <a:t> WD</a:t>
            </a:r>
            <a:r>
              <a:rPr lang="ja-JP" altLang="en-US" sz="4400" dirty="0"/>
              <a:t>ブランド</a:t>
            </a:r>
            <a:r>
              <a:rPr lang="en-US" altLang="ja-JP" sz="4400" dirty="0"/>
              <a:t>SSD</a:t>
            </a:r>
            <a:r>
              <a:rPr lang="ja-JP" altLang="en-US" sz="4400" dirty="0"/>
              <a:t>をリブランド</a:t>
            </a:r>
            <a:r>
              <a:rPr lang="en-US" altLang="ja-JP" sz="4400" dirty="0"/>
              <a:t>(5</a:t>
            </a:r>
            <a:r>
              <a:rPr lang="ja-JP" altLang="en-US" sz="4400" dirty="0"/>
              <a:t>月ころから順次</a:t>
            </a:r>
            <a:r>
              <a:rPr lang="en-US" altLang="ja-JP" sz="4400" dirty="0"/>
              <a:t>)</a:t>
            </a:r>
          </a:p>
          <a:p>
            <a:r>
              <a:rPr lang="ja-JP" altLang="en-US" sz="4400" dirty="0"/>
              <a:t>・</a:t>
            </a:r>
            <a:r>
              <a:rPr lang="en-US" altLang="ja-JP" sz="4400" dirty="0"/>
              <a:t>SSD</a:t>
            </a:r>
            <a:r>
              <a:rPr lang="ja-JP" altLang="en-US" sz="4400" dirty="0"/>
              <a:t>関連の見直し</a:t>
            </a:r>
            <a:r>
              <a:rPr lang="en-US" altLang="ja-JP" sz="4400" dirty="0"/>
              <a:t>/</a:t>
            </a:r>
            <a:r>
              <a:rPr lang="ja-JP" altLang="en-US" sz="4400" dirty="0"/>
              <a:t>汎用見直し中</a:t>
            </a:r>
          </a:p>
          <a:p>
            <a:r>
              <a:rPr lang="ja-JP" altLang="en-US" sz="4400" dirty="0"/>
              <a:t>・</a:t>
            </a:r>
            <a:r>
              <a:rPr lang="en-US" altLang="ja-JP" sz="4400" dirty="0"/>
              <a:t>KIOXIA EXCERIA BASIC</a:t>
            </a:r>
            <a:r>
              <a:rPr lang="ja-JP" altLang="en-US" sz="4400" dirty="0"/>
              <a:t>を</a:t>
            </a:r>
            <a:r>
              <a:rPr lang="en-US" altLang="ja-JP" sz="4400" dirty="0"/>
              <a:t>Gen4</a:t>
            </a:r>
            <a:r>
              <a:rPr lang="ja-JP" altLang="en-US" sz="4400" dirty="0"/>
              <a:t>汎用</a:t>
            </a:r>
            <a:r>
              <a:rPr lang="en-US" altLang="ja-JP" sz="4400" dirty="0"/>
              <a:t>S</a:t>
            </a:r>
            <a:r>
              <a:rPr lang="ja-JP" altLang="en-US" sz="4400" dirty="0"/>
              <a:t>に追加</a:t>
            </a:r>
          </a:p>
          <a:p>
            <a:endParaRPr lang="ja-JP" altLang="en-US" sz="4400" dirty="0"/>
          </a:p>
          <a:p>
            <a:endParaRPr lang="ja-JP" altLang="en-US" sz="4400" dirty="0"/>
          </a:p>
          <a:p>
            <a:r>
              <a:rPr lang="ja-JP" altLang="en-US" sz="4400" dirty="0"/>
              <a:t>電源関連</a:t>
            </a:r>
            <a:r>
              <a:rPr lang="en-US" altLang="ja-JP" sz="4400" dirty="0"/>
              <a:t>(P24-25)</a:t>
            </a:r>
          </a:p>
          <a:p>
            <a:r>
              <a:rPr lang="ja-JP" altLang="en-US" sz="4400" dirty="0"/>
              <a:t>・</a:t>
            </a:r>
            <a:r>
              <a:rPr lang="en-US" altLang="ja-JP" sz="4400" dirty="0"/>
              <a:t>SFX</a:t>
            </a:r>
            <a:r>
              <a:rPr lang="ja-JP" altLang="en-US" sz="4400" dirty="0"/>
              <a:t>追加　</a:t>
            </a:r>
            <a:r>
              <a:rPr lang="en-US" altLang="ja-JP" sz="4400" dirty="0"/>
              <a:t>1000W</a:t>
            </a:r>
            <a:r>
              <a:rPr lang="ja-JP" altLang="en-US" sz="4400" dirty="0"/>
              <a:t>　</a:t>
            </a:r>
            <a:r>
              <a:rPr lang="en-US" altLang="ja-JP" sz="4400" dirty="0"/>
              <a:t>CX</a:t>
            </a:r>
            <a:r>
              <a:rPr lang="ja-JP" altLang="en-US" sz="4400" dirty="0"/>
              <a:t>合わせ。</a:t>
            </a:r>
            <a:r>
              <a:rPr lang="en-US" altLang="ja-JP" sz="4400" dirty="0"/>
              <a:t>9/17</a:t>
            </a:r>
            <a:r>
              <a:rPr lang="ja-JP" altLang="en-US" sz="4400" dirty="0"/>
              <a:t>～</a:t>
            </a:r>
          </a:p>
          <a:p>
            <a:endParaRPr lang="ja-JP" altLang="en-US" sz="4400" dirty="0"/>
          </a:p>
          <a:p>
            <a:endParaRPr lang="ja-JP" altLang="en-US" sz="4400" dirty="0"/>
          </a:p>
          <a:p>
            <a:r>
              <a:rPr lang="en-US" altLang="ja-JP" sz="4400" dirty="0"/>
              <a:t>FAN</a:t>
            </a:r>
            <a:r>
              <a:rPr lang="ja-JP" altLang="en-US" sz="4400" dirty="0"/>
              <a:t>関連</a:t>
            </a:r>
            <a:r>
              <a:rPr lang="en-US" altLang="ja-JP" sz="4400" dirty="0"/>
              <a:t>(P27-29)</a:t>
            </a:r>
          </a:p>
          <a:p>
            <a:r>
              <a:rPr lang="ja-JP" altLang="en-US" sz="4400" dirty="0"/>
              <a:t>・液晶付き水冷投入準備中</a:t>
            </a:r>
          </a:p>
          <a:p>
            <a:r>
              <a:rPr lang="ja-JP" altLang="en-US" sz="4400" dirty="0"/>
              <a:t>・</a:t>
            </a:r>
            <a:r>
              <a:rPr lang="en-US" altLang="ja-JP" sz="4400" dirty="0"/>
              <a:t>Fluence DA240 →</a:t>
            </a:r>
            <a:r>
              <a:rPr lang="ja-JP" altLang="en-US" sz="4400" dirty="0"/>
              <a:t>　</a:t>
            </a:r>
            <a:r>
              <a:rPr lang="en-US" altLang="ja-JP" sz="4400" dirty="0"/>
              <a:t>DA240 V2</a:t>
            </a:r>
            <a:r>
              <a:rPr lang="ja-JP" altLang="en-US" sz="4400" dirty="0"/>
              <a:t>へ切替予定を追加</a:t>
            </a:r>
          </a:p>
          <a:p>
            <a:r>
              <a:rPr lang="ja-JP" altLang="en-US" sz="4400" dirty="0"/>
              <a:t>・</a:t>
            </a:r>
            <a:r>
              <a:rPr lang="en-US" altLang="ja-JP" sz="4400" dirty="0"/>
              <a:t>Scythe </a:t>
            </a:r>
            <a:r>
              <a:rPr lang="ja-JP" altLang="en-US" sz="4400" dirty="0"/>
              <a:t>虎徹</a:t>
            </a:r>
            <a:r>
              <a:rPr lang="en-US" altLang="ja-JP" sz="4400" dirty="0"/>
              <a:t>5</a:t>
            </a:r>
            <a:r>
              <a:rPr lang="ja-JP" altLang="en-US" sz="4400" dirty="0"/>
              <a:t>を仮追加</a:t>
            </a:r>
          </a:p>
          <a:p>
            <a:r>
              <a:rPr lang="ja-JP" altLang="en-US" sz="4400" dirty="0"/>
              <a:t>・</a:t>
            </a:r>
            <a:r>
              <a:rPr lang="en-US" altLang="ja-JP" sz="4400" dirty="0"/>
              <a:t>Noctua NF-A12x25 G2,Noctua NF-A9 PWM</a:t>
            </a:r>
            <a:r>
              <a:rPr lang="ja-JP" altLang="en-US" sz="4400" dirty="0"/>
              <a:t>を</a:t>
            </a:r>
            <a:r>
              <a:rPr lang="en-US" altLang="ja-JP" sz="4400" dirty="0"/>
              <a:t>CX</a:t>
            </a:r>
            <a:r>
              <a:rPr lang="ja-JP" altLang="en-US" sz="4400" dirty="0"/>
              <a:t>投入合わせ。</a:t>
            </a:r>
            <a:r>
              <a:rPr lang="en-US" altLang="ja-JP" sz="4400" dirty="0"/>
              <a:t>9/17</a:t>
            </a:r>
            <a:r>
              <a:rPr lang="ja-JP" altLang="en-US" sz="4400" dirty="0"/>
              <a:t>～</a:t>
            </a:r>
          </a:p>
          <a:p>
            <a:endParaRPr lang="ja-JP" altLang="en-US" sz="4400" dirty="0"/>
          </a:p>
          <a:p>
            <a:endParaRPr lang="ja-JP" altLang="en-US" sz="4400" dirty="0"/>
          </a:p>
          <a:p>
            <a:r>
              <a:rPr lang="ja-JP" altLang="en-US" sz="4400" dirty="0"/>
              <a:t>その他製品トピック</a:t>
            </a:r>
            <a:r>
              <a:rPr lang="en-US" altLang="ja-JP" sz="4400" dirty="0"/>
              <a:t>(P36-41)</a:t>
            </a:r>
          </a:p>
          <a:p>
            <a:r>
              <a:rPr lang="ja-JP" altLang="en-US" sz="4400" dirty="0"/>
              <a:t>・ケース開発コードネーム削除</a:t>
            </a:r>
          </a:p>
          <a:p>
            <a:r>
              <a:rPr lang="ja-JP" altLang="en-US" sz="4400" dirty="0"/>
              <a:t>・</a:t>
            </a:r>
            <a:r>
              <a:rPr lang="en-US" altLang="ja-JP" sz="4400" dirty="0"/>
              <a:t>Nova Lake-S/Raptor Lake Next</a:t>
            </a:r>
            <a:r>
              <a:rPr lang="ja-JP" altLang="en-US" sz="4400" dirty="0"/>
              <a:t>関連　現在把握している情報更新</a:t>
            </a:r>
          </a:p>
          <a:p>
            <a:r>
              <a:rPr lang="ja-JP" altLang="en-US" sz="4400" dirty="0"/>
              <a:t>・メモリ、</a:t>
            </a:r>
            <a:r>
              <a:rPr lang="en-US" altLang="ja-JP" sz="4400" dirty="0"/>
              <a:t>SSD</a:t>
            </a:r>
            <a:r>
              <a:rPr lang="ja-JP" altLang="en-US" sz="4400" dirty="0"/>
              <a:t>　新規メーカーの投入検証、検討中</a:t>
            </a:r>
          </a:p>
          <a:p>
            <a:endParaRPr lang="ja-JP" altLang="en-US" sz="4400" dirty="0"/>
          </a:p>
          <a:p>
            <a:endParaRPr lang="ja-JP" altLang="en-US" sz="4400" dirty="0"/>
          </a:p>
          <a:p>
            <a:r>
              <a:rPr lang="ja-JP" altLang="en-US" sz="4400" dirty="0"/>
              <a:t>新規パーツの検証結果関連は以下の</a:t>
            </a:r>
            <a:r>
              <a:rPr lang="en-US" altLang="ja-JP" sz="4400" dirty="0"/>
              <a:t>Teams</a:t>
            </a:r>
            <a:r>
              <a:rPr lang="ja-JP" altLang="en-US" sz="4400" dirty="0"/>
              <a:t>で共有されます（随時更新）</a:t>
            </a:r>
          </a:p>
          <a:p>
            <a:r>
              <a:rPr lang="ja-JP" altLang="en-US" sz="4400" dirty="0"/>
              <a:t>チーム：製品開発</a:t>
            </a:r>
            <a:r>
              <a:rPr lang="en-US" altLang="ja-JP" sz="4400" dirty="0"/>
              <a:t>/</a:t>
            </a:r>
            <a:r>
              <a:rPr lang="ja-JP" altLang="en-US" sz="4400" dirty="0"/>
              <a:t>共有</a:t>
            </a:r>
            <a:r>
              <a:rPr lang="en-US" altLang="ja-JP" sz="4400" dirty="0"/>
              <a:t>/</a:t>
            </a:r>
            <a:r>
              <a:rPr lang="ja-JP" altLang="en-US" sz="4400" dirty="0"/>
              <a:t>連絡</a:t>
            </a:r>
          </a:p>
          <a:p>
            <a:r>
              <a:rPr lang="ja-JP" altLang="en-US" sz="4400" dirty="0"/>
              <a:t>チャネル：</a:t>
            </a:r>
            <a:r>
              <a:rPr lang="en-US" altLang="ja-JP" sz="4400" dirty="0"/>
              <a:t>100_PC</a:t>
            </a:r>
            <a:r>
              <a:rPr lang="ja-JP" altLang="en-US" sz="4400" dirty="0"/>
              <a:t>部材開発管理</a:t>
            </a:r>
          </a:p>
          <a:p>
            <a:r>
              <a:rPr lang="ja-JP" altLang="en-US" sz="4400" dirty="0"/>
              <a:t> </a:t>
            </a:r>
          </a:p>
          <a:p>
            <a:r>
              <a:rPr lang="ja-JP" altLang="en-US" sz="4400" dirty="0"/>
              <a:t> </a:t>
            </a:r>
          </a:p>
          <a:p>
            <a:r>
              <a:rPr lang="en-US" altLang="ja-JP" sz="4400" dirty="0"/>
              <a:t>MB/</a:t>
            </a:r>
            <a:r>
              <a:rPr lang="ja-JP" altLang="en-US" sz="4400" dirty="0"/>
              <a:t>ノートベアとメモリ</a:t>
            </a:r>
            <a:r>
              <a:rPr lang="en-US" altLang="ja-JP" sz="4400" dirty="0"/>
              <a:t>/</a:t>
            </a:r>
            <a:r>
              <a:rPr lang="ja-JP" altLang="en-US" sz="4400" dirty="0"/>
              <a:t>ストレージの組み合わせ検証は以下の</a:t>
            </a:r>
            <a:r>
              <a:rPr lang="en-US" altLang="ja-JP" sz="4400" dirty="0"/>
              <a:t>Teams</a:t>
            </a:r>
            <a:r>
              <a:rPr lang="ja-JP" altLang="en-US" sz="4400" dirty="0"/>
              <a:t>で確認できます（随時更新）</a:t>
            </a:r>
          </a:p>
          <a:p>
            <a:r>
              <a:rPr lang="ja-JP" altLang="en-US" sz="4400" dirty="0"/>
              <a:t>チーム：製品開発</a:t>
            </a:r>
            <a:r>
              <a:rPr lang="en-US" altLang="ja-JP" sz="4400" dirty="0"/>
              <a:t>/</a:t>
            </a:r>
            <a:r>
              <a:rPr lang="ja-JP" altLang="en-US" sz="4400" dirty="0"/>
              <a:t>共有</a:t>
            </a:r>
            <a:r>
              <a:rPr lang="en-US" altLang="ja-JP" sz="4400" dirty="0"/>
              <a:t>/</a:t>
            </a:r>
            <a:r>
              <a:rPr lang="ja-JP" altLang="en-US" sz="4400" dirty="0"/>
              <a:t>連絡</a:t>
            </a:r>
          </a:p>
          <a:p>
            <a:r>
              <a:rPr lang="ja-JP" altLang="en-US" sz="4400" dirty="0"/>
              <a:t>チャネル：</a:t>
            </a:r>
            <a:r>
              <a:rPr lang="en-US" altLang="ja-JP" sz="4400" dirty="0"/>
              <a:t>120_</a:t>
            </a:r>
            <a:r>
              <a:rPr lang="ja-JP" altLang="en-US" sz="4400" dirty="0"/>
              <a:t>デスク・ノート組み合わせ検証結果</a:t>
            </a:r>
          </a:p>
          <a:p>
            <a:r>
              <a:rPr lang="ja-JP" altLang="en-US" sz="4400" dirty="0"/>
              <a:t> </a:t>
            </a:r>
          </a:p>
          <a:p>
            <a:r>
              <a:rPr lang="ja-JP" altLang="en-US" sz="4400" dirty="0"/>
              <a:t> </a:t>
            </a:r>
          </a:p>
          <a:p>
            <a:r>
              <a:rPr lang="ja-JP" altLang="en-US" sz="4400" dirty="0"/>
              <a:t>製品比較用仕様資料、サポート金具対応、オリジナル</a:t>
            </a:r>
            <a:r>
              <a:rPr lang="en-US" altLang="ja-JP" sz="4400" dirty="0"/>
              <a:t>MB</a:t>
            </a:r>
            <a:r>
              <a:rPr lang="ja-JP" altLang="en-US" sz="4400" dirty="0"/>
              <a:t>製品のマニュアル等は以下の</a:t>
            </a:r>
            <a:r>
              <a:rPr lang="en-US" altLang="ja-JP" sz="4400" dirty="0"/>
              <a:t>Teams</a:t>
            </a:r>
            <a:r>
              <a:rPr lang="ja-JP" altLang="en-US" sz="4400" dirty="0"/>
              <a:t>で共有されております（随時更新）</a:t>
            </a:r>
          </a:p>
          <a:p>
            <a:r>
              <a:rPr lang="ja-JP" altLang="en-US" sz="4400" dirty="0"/>
              <a:t>チーム：製品開発</a:t>
            </a:r>
            <a:r>
              <a:rPr lang="en-US" altLang="ja-JP" sz="4400" dirty="0"/>
              <a:t>/</a:t>
            </a:r>
            <a:r>
              <a:rPr lang="ja-JP" altLang="en-US" sz="4400" dirty="0"/>
              <a:t>共有</a:t>
            </a:r>
            <a:r>
              <a:rPr lang="en-US" altLang="ja-JP" sz="4400" dirty="0"/>
              <a:t>/</a:t>
            </a:r>
            <a:r>
              <a:rPr lang="ja-JP" altLang="en-US" sz="4400" dirty="0"/>
              <a:t>連絡</a:t>
            </a:r>
          </a:p>
          <a:p>
            <a:r>
              <a:rPr lang="ja-JP" altLang="en-US" sz="4400" dirty="0"/>
              <a:t>チャネル：</a:t>
            </a:r>
            <a:r>
              <a:rPr lang="en-US" altLang="ja-JP" sz="4400" dirty="0"/>
              <a:t>04_</a:t>
            </a:r>
            <a:r>
              <a:rPr lang="ja-JP" altLang="en-US" sz="4400" dirty="0"/>
              <a:t>製品仕様</a:t>
            </a:r>
            <a:r>
              <a:rPr lang="en-US" altLang="ja-JP" sz="4400" dirty="0"/>
              <a:t>(</a:t>
            </a:r>
            <a:r>
              <a:rPr lang="ja-JP" altLang="en-US" sz="4400" dirty="0"/>
              <a:t>デスク・モバイル</a:t>
            </a:r>
            <a:r>
              <a:rPr lang="en-US" altLang="ja-JP" sz="4400" dirty="0"/>
              <a:t>)</a:t>
            </a:r>
          </a:p>
          <a:p>
            <a:endParaRPr lang="en-US" altLang="ja-JP" sz="4400" dirty="0"/>
          </a:p>
        </p:txBody>
      </p:sp>
      <p:sp>
        <p:nvSpPr>
          <p:cNvPr id="4" name="スライド番号プレースホルダー 3"/>
          <p:cNvSpPr>
            <a:spLocks noGrp="1"/>
          </p:cNvSpPr>
          <p:nvPr>
            <p:ph type="sldNum" sz="quarter" idx="10"/>
          </p:nvPr>
        </p:nvSpPr>
        <p:spPr/>
        <p:txBody>
          <a:bodyPr/>
          <a:lstStyle/>
          <a:p>
            <a:fld id="{DC6BBDF9-537D-40FA-9E55-F5BA437032A1}" type="slidenum">
              <a:rPr kumimoji="1" lang="ja-JP" altLang="en-US" smtClean="0"/>
              <a:t>44</a:t>
            </a:fld>
            <a:endParaRPr kumimoji="1" lang="ja-JP" altLang="en-US"/>
          </a:p>
        </p:txBody>
      </p:sp>
    </p:spTree>
    <p:extLst>
      <p:ext uri="{BB962C8B-B14F-4D97-AF65-F5344CB8AC3E}">
        <p14:creationId xmlns:p14="http://schemas.microsoft.com/office/powerpoint/2010/main" val="1157565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597819"/>
            <a:ext cx="7772400" cy="1102519"/>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280F7265-021D-4C3B-9161-6869B49496E4}" type="datetime1">
              <a:rPr kumimoji="1" lang="ja-JP" altLang="en-US" smtClean="0"/>
              <a:t>2026/6/30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182752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062A162-7BC9-4F2C-97D4-261AF441CE63}" type="datetime1">
              <a:rPr kumimoji="1" lang="ja-JP" altLang="en-US" smtClean="0"/>
              <a:t>2026/6/30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1934834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3305176"/>
            <a:ext cx="7772400" cy="1021556"/>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6EB16E0-F1A2-4F51-80E7-043181BB9235}" type="datetime1">
              <a:rPr kumimoji="1" lang="ja-JP" altLang="en-US" smtClean="0"/>
              <a:t>2026/6/30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116146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AFB490D-B6A2-4AC1-BE6E-6DA56DD87812}" type="datetime1">
              <a:rPr kumimoji="1" lang="ja-JP" altLang="en-US" smtClean="0"/>
              <a:t>2026/6/30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402271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AA14E0BD-DA0A-4A00-841C-8EE9CA07BBB3}" type="datetime1">
              <a:rPr kumimoji="1" lang="ja-JP" altLang="en-US" smtClean="0"/>
              <a:t>2026/6/30</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66897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19496DC-09CB-4049-98BE-92A78789FE94}" type="datetime1">
              <a:rPr kumimoji="1" lang="ja-JP" altLang="en-US" smtClean="0"/>
              <a:t>2026/6/30</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4130213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E62F207-6D81-427E-B4E0-E153FD8A42B0}" type="datetime1">
              <a:rPr kumimoji="1" lang="ja-JP" altLang="en-US" smtClean="0"/>
              <a:t>2026/6/30</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3341134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1" y="204787"/>
            <a:ext cx="3008313" cy="871538"/>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EA3E2B3-3156-46BB-9772-B29C0589BCF9}" type="datetime1">
              <a:rPr kumimoji="1" lang="ja-JP" altLang="en-US" smtClean="0"/>
              <a:t>2026/6/30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3032178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3600450"/>
            <a:ext cx="5486400" cy="425054"/>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78A880A-43B2-4747-812C-4A50BBEF24DB}" type="datetime1">
              <a:rPr kumimoji="1" lang="ja-JP" altLang="en-US" smtClean="0"/>
              <a:t>2026/6/30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2328397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E98FA79-9D39-4B67-93EE-2EF332F2BC0D}" type="datetime1">
              <a:rPr kumimoji="1" lang="ja-JP" altLang="en-US" smtClean="0"/>
              <a:t>2026/6/30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836027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05979"/>
            <a:ext cx="2057400" cy="4388644"/>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05979"/>
            <a:ext cx="6019800" cy="4388644"/>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8E3CB804-9C86-4A9C-9BF1-BFC36E67E7FE}" type="datetime1">
              <a:rPr kumimoji="1" lang="ja-JP" altLang="en-US" smtClean="0"/>
              <a:t>2026/6/30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9DFCEB9-CAE4-4F3C-93D0-85C4724A0355}" type="slidenum">
              <a:rPr kumimoji="1" lang="ja-JP" altLang="en-US" smtClean="0"/>
              <a:t>‹#›</a:t>
            </a:fld>
            <a:endParaRPr kumimoji="1" lang="ja-JP" altLang="en-US"/>
          </a:p>
        </p:txBody>
      </p:sp>
    </p:spTree>
    <p:extLst>
      <p:ext uri="{BB962C8B-B14F-4D97-AF65-F5344CB8AC3E}">
        <p14:creationId xmlns:p14="http://schemas.microsoft.com/office/powerpoint/2010/main" val="3293098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4D2E8FC-93DE-4D9C-8599-E71534F14BB9}" type="datetime1">
              <a:rPr kumimoji="1" lang="ja-JP" altLang="en-US" smtClean="0"/>
              <a:t>2026/6/30</a:t>
            </a:fld>
            <a:endParaRPr kumimoji="1" lang="ja-JP" altLang="en-US"/>
          </a:p>
        </p:txBody>
      </p:sp>
      <p:sp>
        <p:nvSpPr>
          <p:cNvPr id="5" name="フッター プレースホルダー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7010400" y="4847127"/>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9DFCEB9-CAE4-4F3C-93D0-85C4724A0355}" type="slidenum">
              <a:rPr kumimoji="1" lang="ja-JP" altLang="en-US" smtClean="0"/>
              <a:t>‹#›</a:t>
            </a:fld>
            <a:endParaRPr kumimoji="1" lang="ja-JP" altLang="en-US"/>
          </a:p>
        </p:txBody>
      </p:sp>
      <p:sp>
        <p:nvSpPr>
          <p:cNvPr id="7" name="四角形: 角を丸くする 6">
            <a:extLst>
              <a:ext uri="{FF2B5EF4-FFF2-40B4-BE49-F238E27FC236}">
                <a16:creationId xmlns:a16="http://schemas.microsoft.com/office/drawing/2014/main" id="{8D4AE5C7-21FE-4C9A-87FC-FACF42BE3587}"/>
              </a:ext>
            </a:extLst>
          </p:cNvPr>
          <p:cNvSpPr/>
          <p:nvPr userDrawn="1"/>
        </p:nvSpPr>
        <p:spPr>
          <a:xfrm>
            <a:off x="0" y="4948015"/>
            <a:ext cx="899591" cy="1729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b="1" dirty="0">
                <a:solidFill>
                  <a:srgbClr val="FF0000"/>
                </a:solidFill>
                <a:latin typeface="游ゴシック" panose="020B0400000000000000" pitchFamily="50" charset="-128"/>
                <a:ea typeface="游ゴシック" panose="020B0400000000000000" pitchFamily="50" charset="-128"/>
                <a:cs typeface="Arial" panose="020B0604020202020204" pitchFamily="34" charset="0"/>
              </a:rPr>
              <a:t>CONFIDENTIAL</a:t>
            </a:r>
            <a:endParaRPr lang="ja-JP" altLang="en-US" sz="700" b="1" dirty="0">
              <a:solidFill>
                <a:srgbClr val="FF0000"/>
              </a:solidFill>
              <a:latin typeface="游ゴシック" panose="020B0400000000000000" pitchFamily="50" charset="-128"/>
              <a:ea typeface="游ゴシック" panose="020B0400000000000000" pitchFamily="50" charset="-128"/>
              <a:cs typeface="Arial" panose="020B0604020202020204" pitchFamily="34" charset="0"/>
            </a:endParaRPr>
          </a:p>
        </p:txBody>
      </p:sp>
    </p:spTree>
    <p:extLst>
      <p:ext uri="{BB962C8B-B14F-4D97-AF65-F5344CB8AC3E}">
        <p14:creationId xmlns:p14="http://schemas.microsoft.com/office/powerpoint/2010/main" val="2319333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0" y="1995686"/>
            <a:ext cx="9144000" cy="461665"/>
          </a:xfrm>
          <a:prstGeom prst="rect">
            <a:avLst/>
          </a:prstGeom>
          <a:noFill/>
        </p:spPr>
        <p:txBody>
          <a:bodyPr wrap="square" rtlCol="0">
            <a:spAutoFit/>
          </a:bodyPr>
          <a:lstStyle/>
          <a:p>
            <a:pPr algn="ctr"/>
            <a:r>
              <a:rPr lang="en-US" altLang="ja-JP" sz="2400" b="1" dirty="0">
                <a:latin typeface="メイリオ" panose="020B0604030504040204" pitchFamily="50" charset="-128"/>
                <a:ea typeface="メイリオ" panose="020B0604030504040204" pitchFamily="50" charset="-128"/>
              </a:rPr>
              <a:t>PC</a:t>
            </a:r>
            <a:r>
              <a:rPr lang="ja-JP" altLang="en-US" sz="2400" b="1" dirty="0">
                <a:latin typeface="メイリオ" panose="020B0604030504040204" pitchFamily="50" charset="-128"/>
                <a:ea typeface="メイリオ" panose="020B0604030504040204" pitchFamily="50" charset="-128"/>
              </a:rPr>
              <a:t>部材ロードマップ</a:t>
            </a:r>
            <a:endParaRPr kumimoji="1" lang="ja-JP" altLang="en-US" sz="24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41603EFF-C368-4B59-9000-B7B2376938CF}"/>
              </a:ext>
            </a:extLst>
          </p:cNvPr>
          <p:cNvSpPr txBox="1"/>
          <p:nvPr/>
        </p:nvSpPr>
        <p:spPr>
          <a:xfrm>
            <a:off x="3131840" y="3363838"/>
            <a:ext cx="2808312" cy="369332"/>
          </a:xfrm>
          <a:prstGeom prst="rect">
            <a:avLst/>
          </a:prstGeom>
          <a:noFill/>
        </p:spPr>
        <p:txBody>
          <a:bodyPr wrap="square" rtlCol="0">
            <a:spAutoFit/>
          </a:bodyPr>
          <a:lstStyle/>
          <a:p>
            <a:pPr algn="ctr"/>
            <a:r>
              <a:rPr lang="ja-JP" altLang="en-US" dirty="0"/>
              <a:t>企画部　企画課</a:t>
            </a:r>
            <a:endParaRPr kumimoji="1" lang="ja-JP" altLang="en-US" dirty="0"/>
          </a:p>
        </p:txBody>
      </p:sp>
      <p:sp>
        <p:nvSpPr>
          <p:cNvPr id="4" name="テキスト ボックス 3">
            <a:extLst>
              <a:ext uri="{FF2B5EF4-FFF2-40B4-BE49-F238E27FC236}">
                <a16:creationId xmlns:a16="http://schemas.microsoft.com/office/drawing/2014/main" id="{CC7E8264-C0B5-4796-8B06-EE685FCB9F34}"/>
              </a:ext>
            </a:extLst>
          </p:cNvPr>
          <p:cNvSpPr txBox="1"/>
          <p:nvPr/>
        </p:nvSpPr>
        <p:spPr>
          <a:xfrm>
            <a:off x="7668344" y="195486"/>
            <a:ext cx="1296144" cy="261610"/>
          </a:xfrm>
          <a:prstGeom prst="rect">
            <a:avLst/>
          </a:prstGeom>
          <a:noFill/>
        </p:spPr>
        <p:txBody>
          <a:bodyPr wrap="square" rtlCol="0">
            <a:spAutoFit/>
          </a:bodyPr>
          <a:lstStyle/>
          <a:p>
            <a:r>
              <a:rPr kumimoji="1" lang="en-US" altLang="ja-JP" sz="1100" dirty="0">
                <a:latin typeface="メイリオ" panose="020B0604030504040204" pitchFamily="50" charset="-128"/>
                <a:ea typeface="メイリオ" panose="020B0604030504040204" pitchFamily="50" charset="-128"/>
              </a:rPr>
              <a:t>Ver.20260630</a:t>
            </a:r>
          </a:p>
        </p:txBody>
      </p:sp>
      <p:sp>
        <p:nvSpPr>
          <p:cNvPr id="5" name="スライド番号プレースホルダー 4">
            <a:extLst>
              <a:ext uri="{FF2B5EF4-FFF2-40B4-BE49-F238E27FC236}">
                <a16:creationId xmlns:a16="http://schemas.microsoft.com/office/drawing/2014/main" id="{5AE2D49A-804F-4AE8-84F4-BA79FCDF9878}"/>
              </a:ext>
            </a:extLst>
          </p:cNvPr>
          <p:cNvSpPr>
            <a:spLocks noGrp="1"/>
          </p:cNvSpPr>
          <p:nvPr>
            <p:ph type="sldNum" sz="quarter" idx="12"/>
          </p:nvPr>
        </p:nvSpPr>
        <p:spPr/>
        <p:txBody>
          <a:bodyPr/>
          <a:lstStyle/>
          <a:p>
            <a:fld id="{F9DFCEB9-CAE4-4F3C-93D0-85C4724A0355}" type="slidenum">
              <a:rPr kumimoji="1" lang="ja-JP" altLang="en-US" smtClean="0"/>
              <a:t>1</a:t>
            </a:fld>
            <a:endParaRPr kumimoji="1" lang="ja-JP" altLang="en-US"/>
          </a:p>
        </p:txBody>
      </p:sp>
    </p:spTree>
    <p:extLst>
      <p:ext uri="{BB962C8B-B14F-4D97-AF65-F5344CB8AC3E}">
        <p14:creationId xmlns:p14="http://schemas.microsoft.com/office/powerpoint/2010/main" val="2529595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0" y="1779662"/>
            <a:ext cx="9144000" cy="1631216"/>
          </a:xfrm>
          <a:prstGeom prst="rect">
            <a:avLst/>
          </a:prstGeom>
          <a:noFill/>
        </p:spPr>
        <p:txBody>
          <a:bodyPr wrap="square" lIns="91440" tIns="45720" rIns="91440" bIns="45720" rtlCol="0" anchor="t">
            <a:spAutoFit/>
          </a:bodyPr>
          <a:lstStyle/>
          <a:p>
            <a:pPr algn="ctr"/>
            <a:r>
              <a:rPr lang="ja-JP" altLang="en-US" sz="2000" b="1" dirty="0">
                <a:latin typeface="メイリオ" panose="020B0604030504040204" pitchFamily="50" charset="-128"/>
                <a:ea typeface="メイリオ" panose="020B0604030504040204" pitchFamily="50" charset="-128"/>
              </a:rPr>
              <a:t>サプライヤーロードマップ整理　（</a:t>
            </a:r>
            <a:r>
              <a:rPr lang="en-US" altLang="ja-JP" sz="2000" b="1" dirty="0">
                <a:latin typeface="メイリオ" panose="020B0604030504040204" pitchFamily="50" charset="-128"/>
                <a:ea typeface="メイリオ" panose="020B0604030504040204" pitchFamily="50" charset="-128"/>
              </a:rPr>
              <a:t>A</a:t>
            </a:r>
            <a:r>
              <a:rPr lang="ja-JP" altLang="en-US" sz="2000" b="1" dirty="0">
                <a:latin typeface="メイリオ" panose="020B0604030504040204" pitchFamily="50" charset="-128"/>
                <a:ea typeface="メイリオ" panose="020B0604030504040204" pitchFamily="50" charset="-128"/>
              </a:rPr>
              <a:t>郡）</a:t>
            </a:r>
            <a:endParaRPr lang="en-US" altLang="ja-JP" sz="2000" b="1" dirty="0">
              <a:latin typeface="メイリオ" panose="020B0604030504040204" pitchFamily="50" charset="-128"/>
              <a:ea typeface="メイリオ" panose="020B0604030504040204" pitchFamily="50" charset="-128"/>
            </a:endParaRPr>
          </a:p>
          <a:p>
            <a:r>
              <a:rPr lang="en-US" altLang="ja-JP" sz="1600" b="1" dirty="0">
                <a:latin typeface="メイリオ"/>
                <a:ea typeface="メイリオ"/>
              </a:rPr>
              <a:t>      </a:t>
            </a:r>
            <a:r>
              <a:rPr lang="ja-JP" altLang="en-US" sz="1600" b="1" dirty="0">
                <a:latin typeface="メイリオ"/>
                <a:ea typeface="メイリオ"/>
              </a:rPr>
              <a:t>　　　　　　　　　　　　　　</a:t>
            </a:r>
            <a:r>
              <a:rPr lang="en-US" altLang="ja-JP" sz="1600" b="1" dirty="0">
                <a:latin typeface="メイリオ"/>
                <a:ea typeface="メイリオ"/>
              </a:rPr>
              <a:t> CPU</a:t>
            </a:r>
            <a:r>
              <a:rPr lang="ja-JP" altLang="en-US" sz="1000" b="1" dirty="0">
                <a:latin typeface="メイリオ"/>
                <a:ea typeface="メイリオ"/>
              </a:rPr>
              <a:t>（</a:t>
            </a:r>
            <a:r>
              <a:rPr lang="en-US" altLang="ja-JP" sz="1000" b="1" dirty="0" err="1">
                <a:latin typeface="メイリオ"/>
                <a:ea typeface="メイリオ"/>
              </a:rPr>
              <a:t>Intel,AMD</a:t>
            </a:r>
            <a:r>
              <a:rPr lang="ja-JP" altLang="en-US" sz="1000" b="1" dirty="0">
                <a:latin typeface="メイリオ"/>
                <a:ea typeface="メイリオ"/>
              </a:rPr>
              <a:t>）</a:t>
            </a:r>
            <a:endParaRPr lang="en-US" altLang="ja-JP" sz="1000" b="1" dirty="0">
              <a:latin typeface="メイリオ"/>
              <a:ea typeface="メイリオ"/>
            </a:endParaRPr>
          </a:p>
          <a:p>
            <a:r>
              <a:rPr lang="en-US" altLang="ja-JP" sz="1600" b="1" dirty="0">
                <a:latin typeface="メイリオ"/>
                <a:ea typeface="メイリオ"/>
              </a:rPr>
              <a:t> </a:t>
            </a:r>
            <a:r>
              <a:rPr lang="ja-JP" altLang="en-US" sz="1600" b="1" dirty="0">
                <a:latin typeface="メイリオ"/>
                <a:ea typeface="メイリオ"/>
              </a:rPr>
              <a:t>　　　　　　　　　　　　　　　　</a:t>
            </a:r>
            <a:r>
              <a:rPr lang="en-US" altLang="ja-JP" sz="1600" b="1" dirty="0">
                <a:latin typeface="メイリオ"/>
                <a:ea typeface="メイリオ"/>
              </a:rPr>
              <a:t>MB</a:t>
            </a:r>
            <a:r>
              <a:rPr lang="ja-JP" altLang="en-US" sz="1600" b="1" dirty="0">
                <a:latin typeface="メイリオ"/>
                <a:ea typeface="メイリオ"/>
              </a:rPr>
              <a:t>・チップセット</a:t>
            </a:r>
            <a:r>
              <a:rPr lang="ja-JP" altLang="en-US" sz="1000" b="1" dirty="0">
                <a:latin typeface="メイリオ"/>
                <a:ea typeface="メイリオ"/>
              </a:rPr>
              <a:t>（</a:t>
            </a:r>
            <a:r>
              <a:rPr lang="en-US" altLang="ja-JP" sz="1000" b="1" dirty="0" err="1">
                <a:latin typeface="メイリオ"/>
                <a:ea typeface="メイリオ"/>
              </a:rPr>
              <a:t>Intel,AMD</a:t>
            </a:r>
            <a:r>
              <a:rPr lang="ja-JP" altLang="en-US" sz="1000" b="1" dirty="0">
                <a:latin typeface="メイリオ"/>
                <a:ea typeface="メイリオ"/>
              </a:rPr>
              <a:t>）</a:t>
            </a:r>
            <a:endParaRPr lang="en-US" altLang="ja-JP" sz="1000" b="1" dirty="0">
              <a:latin typeface="メイリオ"/>
              <a:ea typeface="メイリオ"/>
            </a:endParaRPr>
          </a:p>
          <a:p>
            <a:r>
              <a:rPr lang="en-US" altLang="ja-JP" sz="1600" b="1" dirty="0">
                <a:latin typeface="メイリオ"/>
                <a:ea typeface="メイリオ"/>
              </a:rPr>
              <a:t>       </a:t>
            </a:r>
            <a:r>
              <a:rPr lang="ja-JP" altLang="en-US" sz="1600" b="1" dirty="0">
                <a:latin typeface="メイリオ"/>
                <a:ea typeface="メイリオ"/>
              </a:rPr>
              <a:t>　　　　　　　　　　　　　　</a:t>
            </a:r>
            <a:r>
              <a:rPr lang="en-US" altLang="ja-JP" sz="1600" b="1" dirty="0">
                <a:latin typeface="メイリオ"/>
                <a:ea typeface="メイリオ"/>
              </a:rPr>
              <a:t>Graphic Card</a:t>
            </a:r>
            <a:r>
              <a:rPr lang="ja-JP" altLang="en-US" sz="1050" b="1" dirty="0">
                <a:latin typeface="メイリオ"/>
                <a:ea typeface="メイリオ"/>
              </a:rPr>
              <a:t>（</a:t>
            </a:r>
            <a:r>
              <a:rPr lang="en-US" altLang="ja-JP" sz="1050" b="1" dirty="0" err="1">
                <a:latin typeface="メイリオ"/>
                <a:ea typeface="メイリオ"/>
              </a:rPr>
              <a:t>NVIDIA,AMD,Intel</a:t>
            </a:r>
            <a:r>
              <a:rPr lang="ja-JP" altLang="en-US" sz="1050" b="1" dirty="0">
                <a:latin typeface="メイリオ"/>
                <a:ea typeface="メイリオ"/>
              </a:rPr>
              <a:t>）</a:t>
            </a:r>
            <a:endParaRPr lang="en-US" altLang="ja-JP" sz="1050" b="1" dirty="0">
              <a:latin typeface="メイリオ"/>
              <a:ea typeface="メイリオ"/>
            </a:endParaRPr>
          </a:p>
          <a:p>
            <a:r>
              <a:rPr lang="en-US" altLang="ja-JP" sz="1600" b="1" dirty="0">
                <a:latin typeface="メイリオ"/>
                <a:ea typeface="メイリオ"/>
              </a:rPr>
              <a:t>       </a:t>
            </a:r>
            <a:r>
              <a:rPr lang="ja-JP" altLang="en-US" sz="1600" b="1" dirty="0">
                <a:latin typeface="メイリオ"/>
                <a:ea typeface="メイリオ"/>
              </a:rPr>
              <a:t>　　　　　　　　　　　　　　</a:t>
            </a:r>
            <a:r>
              <a:rPr lang="en-US" altLang="ja-JP" sz="1600" b="1" dirty="0" err="1">
                <a:latin typeface="メイリオ"/>
                <a:ea typeface="メイリオ"/>
              </a:rPr>
              <a:t>WiFi</a:t>
            </a:r>
            <a:r>
              <a:rPr lang="ja-JP" altLang="en-US" sz="1050" b="1" dirty="0">
                <a:latin typeface="メイリオ"/>
                <a:ea typeface="メイリオ"/>
              </a:rPr>
              <a:t>（</a:t>
            </a:r>
            <a:r>
              <a:rPr lang="en-US" altLang="ja-JP" sz="1050" b="1" dirty="0" err="1">
                <a:latin typeface="メイリオ"/>
                <a:ea typeface="メイリオ"/>
              </a:rPr>
              <a:t>Intel,AMD</a:t>
            </a:r>
            <a:r>
              <a:rPr lang="en-US" altLang="ja-JP" sz="1050" b="1" dirty="0">
                <a:latin typeface="メイリオ"/>
                <a:ea typeface="メイリオ"/>
              </a:rPr>
              <a:t>(</a:t>
            </a:r>
            <a:r>
              <a:rPr lang="en-US" altLang="ja-JP" sz="1050" b="1" dirty="0" err="1">
                <a:latin typeface="メイリオ"/>
                <a:ea typeface="メイリオ"/>
              </a:rPr>
              <a:t>Mediatek</a:t>
            </a:r>
            <a:r>
              <a:rPr lang="en-US" altLang="ja-JP" sz="1050" b="1" dirty="0">
                <a:latin typeface="メイリオ"/>
                <a:ea typeface="メイリオ"/>
              </a:rPr>
              <a:t>),Qualcomm</a:t>
            </a:r>
            <a:r>
              <a:rPr lang="ja-JP" altLang="en-US" sz="1050" b="1" dirty="0">
                <a:latin typeface="メイリオ"/>
                <a:ea typeface="メイリオ"/>
              </a:rPr>
              <a:t>）</a:t>
            </a:r>
            <a:endParaRPr lang="en-US" altLang="ja-JP" sz="1050" b="1" dirty="0">
              <a:latin typeface="メイリオ"/>
              <a:ea typeface="メイリオ"/>
            </a:endParaRPr>
          </a:p>
          <a:p>
            <a:r>
              <a:rPr lang="en-US" altLang="ja-JP" sz="1600" b="1" dirty="0">
                <a:latin typeface="メイリオ"/>
                <a:ea typeface="メイリオ"/>
              </a:rPr>
              <a:t>      </a:t>
            </a:r>
            <a:r>
              <a:rPr lang="ja-JP" altLang="en-US" sz="1600" b="1" dirty="0">
                <a:latin typeface="メイリオ"/>
                <a:ea typeface="メイリオ"/>
              </a:rPr>
              <a:t>　</a:t>
            </a:r>
            <a:r>
              <a:rPr lang="en-US" altLang="ja-JP" sz="1600" b="1" dirty="0">
                <a:latin typeface="メイリオ"/>
                <a:ea typeface="メイリオ"/>
              </a:rPr>
              <a:t> </a:t>
            </a:r>
            <a:r>
              <a:rPr lang="ja-JP" altLang="en-US" sz="1600" b="1" dirty="0">
                <a:latin typeface="メイリオ"/>
                <a:ea typeface="メイリオ"/>
              </a:rPr>
              <a:t>　　　　　　　　　　　　　</a:t>
            </a:r>
            <a:r>
              <a:rPr lang="en-US" altLang="ja-JP" sz="1600" b="1" dirty="0">
                <a:latin typeface="メイリオ"/>
                <a:ea typeface="メイリオ"/>
              </a:rPr>
              <a:t>SSD</a:t>
            </a:r>
            <a:r>
              <a:rPr lang="ja-JP" altLang="en-US" sz="1050" b="1" dirty="0">
                <a:latin typeface="メイリオ"/>
                <a:ea typeface="メイリオ"/>
              </a:rPr>
              <a:t>（</a:t>
            </a:r>
            <a:r>
              <a:rPr lang="en-US" altLang="ja-JP" sz="1050" b="1" dirty="0" err="1">
                <a:latin typeface="メイリオ"/>
                <a:ea typeface="メイリオ"/>
              </a:rPr>
              <a:t>Micron,WesternDigital,Hynix,SAMSUNG,Seagate,Phison</a:t>
            </a:r>
            <a:r>
              <a:rPr lang="ja-JP" altLang="en-US" sz="1050" b="1" dirty="0">
                <a:latin typeface="メイリオ"/>
                <a:ea typeface="メイリオ"/>
              </a:rPr>
              <a:t>他）</a:t>
            </a:r>
            <a:endParaRPr kumimoji="1" lang="ja-JP" altLang="en-US" sz="1000" b="1" dirty="0">
              <a:latin typeface="メイリオ"/>
              <a:ea typeface="メイリオ"/>
            </a:endParaRPr>
          </a:p>
        </p:txBody>
      </p:sp>
      <p:sp>
        <p:nvSpPr>
          <p:cNvPr id="3" name="スライド番号プレースホルダー 2">
            <a:extLst>
              <a:ext uri="{FF2B5EF4-FFF2-40B4-BE49-F238E27FC236}">
                <a16:creationId xmlns:a16="http://schemas.microsoft.com/office/drawing/2014/main" id="{61189AF9-D070-4D5E-8FEB-748DEC809E74}"/>
              </a:ext>
            </a:extLst>
          </p:cNvPr>
          <p:cNvSpPr>
            <a:spLocks noGrp="1"/>
          </p:cNvSpPr>
          <p:nvPr>
            <p:ph type="sldNum" sz="quarter" idx="12"/>
          </p:nvPr>
        </p:nvSpPr>
        <p:spPr/>
        <p:txBody>
          <a:bodyPr/>
          <a:lstStyle/>
          <a:p>
            <a:fld id="{F9DFCEB9-CAE4-4F3C-93D0-85C4724A0355}" type="slidenum">
              <a:rPr kumimoji="1" lang="ja-JP" altLang="en-US" smtClean="0"/>
              <a:t>2</a:t>
            </a:fld>
            <a:endParaRPr kumimoji="1" lang="ja-JP" altLang="en-US"/>
          </a:p>
        </p:txBody>
      </p:sp>
      <p:sp>
        <p:nvSpPr>
          <p:cNvPr id="4" name="四角形: 角を丸くする 3">
            <a:extLst>
              <a:ext uri="{FF2B5EF4-FFF2-40B4-BE49-F238E27FC236}">
                <a16:creationId xmlns:a16="http://schemas.microsoft.com/office/drawing/2014/main" id="{948904C9-0D68-4982-804E-0FB6072DB53E}"/>
              </a:ext>
            </a:extLst>
          </p:cNvPr>
          <p:cNvSpPr/>
          <p:nvPr/>
        </p:nvSpPr>
        <p:spPr>
          <a:xfrm>
            <a:off x="0" y="4948015"/>
            <a:ext cx="899591" cy="1729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b="1" dirty="0">
                <a:solidFill>
                  <a:srgbClr val="FF0000"/>
                </a:solidFill>
                <a:latin typeface="游ゴシック" panose="020B0400000000000000" pitchFamily="50" charset="-128"/>
                <a:ea typeface="游ゴシック" panose="020B0400000000000000" pitchFamily="50" charset="-128"/>
                <a:cs typeface="Arial" panose="020B0604020202020204" pitchFamily="34" charset="0"/>
              </a:rPr>
              <a:t>CONFIDENTIAL</a:t>
            </a:r>
            <a:endParaRPr lang="ja-JP" altLang="en-US" sz="700" b="1" dirty="0">
              <a:solidFill>
                <a:srgbClr val="FF0000"/>
              </a:solidFill>
              <a:latin typeface="游ゴシック" panose="020B0400000000000000" pitchFamily="50" charset="-128"/>
              <a:ea typeface="游ゴシック" panose="020B0400000000000000" pitchFamily="50" charset="-128"/>
              <a:cs typeface="Arial" panose="020B0604020202020204" pitchFamily="34" charset="0"/>
            </a:endParaRPr>
          </a:p>
        </p:txBody>
      </p:sp>
    </p:spTree>
    <p:extLst>
      <p:ext uri="{BB962C8B-B14F-4D97-AF65-F5344CB8AC3E}">
        <p14:creationId xmlns:p14="http://schemas.microsoft.com/office/powerpoint/2010/main" val="3721885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noChangeAspect="1"/>
          </p:cNvGraphicFramePr>
          <p:nvPr>
            <p:extLst>
              <p:ext uri="{D42A27DB-BD31-4B8C-83A1-F6EECF244321}">
                <p14:modId xmlns:p14="http://schemas.microsoft.com/office/powerpoint/2010/main" val="896390605"/>
              </p:ext>
            </p:extLst>
          </p:nvPr>
        </p:nvGraphicFramePr>
        <p:xfrm>
          <a:off x="0" y="51470"/>
          <a:ext cx="9108504" cy="4975042"/>
        </p:xfrm>
        <a:graphic>
          <a:graphicData uri="http://schemas.openxmlformats.org/drawingml/2006/table">
            <a:tbl>
              <a:tblPr firstRow="1" bandRow="1">
                <a:tableStyleId>{5C22544A-7EE6-4342-B048-85BDC9FD1C3A}</a:tableStyleId>
              </a:tblPr>
              <a:tblGrid>
                <a:gridCol w="719471">
                  <a:extLst>
                    <a:ext uri="{9D8B030D-6E8A-4147-A177-3AD203B41FA5}">
                      <a16:colId xmlns:a16="http://schemas.microsoft.com/office/drawing/2014/main" val="20000"/>
                    </a:ext>
                  </a:extLst>
                </a:gridCol>
                <a:gridCol w="828193">
                  <a:extLst>
                    <a:ext uri="{9D8B030D-6E8A-4147-A177-3AD203B41FA5}">
                      <a16:colId xmlns:a16="http://schemas.microsoft.com/office/drawing/2014/main" val="20001"/>
                    </a:ext>
                  </a:extLst>
                </a:gridCol>
                <a:gridCol w="574360">
                  <a:extLst>
                    <a:ext uri="{9D8B030D-6E8A-4147-A177-3AD203B41FA5}">
                      <a16:colId xmlns:a16="http://schemas.microsoft.com/office/drawing/2014/main" val="20002"/>
                    </a:ext>
                  </a:extLst>
                </a:gridCol>
                <a:gridCol w="577768">
                  <a:extLst>
                    <a:ext uri="{9D8B030D-6E8A-4147-A177-3AD203B41FA5}">
                      <a16:colId xmlns:a16="http://schemas.microsoft.com/office/drawing/2014/main" val="20003"/>
                    </a:ext>
                  </a:extLst>
                </a:gridCol>
                <a:gridCol w="495560">
                  <a:extLst>
                    <a:ext uri="{9D8B030D-6E8A-4147-A177-3AD203B41FA5}">
                      <a16:colId xmlns:a16="http://schemas.microsoft.com/office/drawing/2014/main" val="20004"/>
                    </a:ext>
                  </a:extLst>
                </a:gridCol>
                <a:gridCol w="547391">
                  <a:extLst>
                    <a:ext uri="{9D8B030D-6E8A-4147-A177-3AD203B41FA5}">
                      <a16:colId xmlns:a16="http://schemas.microsoft.com/office/drawing/2014/main" val="20005"/>
                    </a:ext>
                  </a:extLst>
                </a:gridCol>
                <a:gridCol w="534312">
                  <a:extLst>
                    <a:ext uri="{9D8B030D-6E8A-4147-A177-3AD203B41FA5}">
                      <a16:colId xmlns:a16="http://schemas.microsoft.com/office/drawing/2014/main" val="20006"/>
                    </a:ext>
                  </a:extLst>
                </a:gridCol>
                <a:gridCol w="655992">
                  <a:extLst>
                    <a:ext uri="{9D8B030D-6E8A-4147-A177-3AD203B41FA5}">
                      <a16:colId xmlns:a16="http://schemas.microsoft.com/office/drawing/2014/main" val="20007"/>
                    </a:ext>
                  </a:extLst>
                </a:gridCol>
                <a:gridCol w="590549">
                  <a:extLst>
                    <a:ext uri="{9D8B030D-6E8A-4147-A177-3AD203B41FA5}">
                      <a16:colId xmlns:a16="http://schemas.microsoft.com/office/drawing/2014/main" val="20008"/>
                    </a:ext>
                  </a:extLst>
                </a:gridCol>
                <a:gridCol w="590549">
                  <a:extLst>
                    <a:ext uri="{9D8B030D-6E8A-4147-A177-3AD203B41FA5}">
                      <a16:colId xmlns:a16="http://schemas.microsoft.com/office/drawing/2014/main" val="20009"/>
                    </a:ext>
                  </a:extLst>
                </a:gridCol>
                <a:gridCol w="664367">
                  <a:extLst>
                    <a:ext uri="{9D8B030D-6E8A-4147-A177-3AD203B41FA5}">
                      <a16:colId xmlns:a16="http://schemas.microsoft.com/office/drawing/2014/main" val="20010"/>
                    </a:ext>
                  </a:extLst>
                </a:gridCol>
                <a:gridCol w="664367">
                  <a:extLst>
                    <a:ext uri="{9D8B030D-6E8A-4147-A177-3AD203B41FA5}">
                      <a16:colId xmlns:a16="http://schemas.microsoft.com/office/drawing/2014/main" val="20011"/>
                    </a:ext>
                  </a:extLst>
                </a:gridCol>
                <a:gridCol w="664367">
                  <a:extLst>
                    <a:ext uri="{9D8B030D-6E8A-4147-A177-3AD203B41FA5}">
                      <a16:colId xmlns:a16="http://schemas.microsoft.com/office/drawing/2014/main" val="20013"/>
                    </a:ext>
                  </a:extLst>
                </a:gridCol>
                <a:gridCol w="1001258">
                  <a:extLst>
                    <a:ext uri="{9D8B030D-6E8A-4147-A177-3AD203B41FA5}">
                      <a16:colId xmlns:a16="http://schemas.microsoft.com/office/drawing/2014/main" val="20012"/>
                    </a:ext>
                  </a:extLst>
                </a:gridCol>
              </a:tblGrid>
              <a:tr h="144016">
                <a:tc>
                  <a:txBody>
                    <a:bodyPr/>
                    <a:lstStyle/>
                    <a:p>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6</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tc>
                  <a:txBody>
                    <a:bodyP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不明</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or</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以降</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tc>
                <a:extLst>
                  <a:ext uri="{0D108BD9-81ED-4DB2-BD59-A6C34878D82A}">
                    <a16:rowId xmlns:a16="http://schemas.microsoft.com/office/drawing/2014/main" val="10000"/>
                  </a:ext>
                </a:extLst>
              </a:tr>
              <a:tr h="203686">
                <a:tc>
                  <a:txBody>
                    <a:bodyPr/>
                    <a:lstStyle/>
                    <a:p>
                      <a:pPr algn="l"/>
                      <a:r>
                        <a:rPr kumimoji="1" lang="en-US" altLang="ja-JP" sz="7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Windows</a:t>
                      </a:r>
                      <a:endParaRPr kumimoji="1" lang="ja-JP" altLang="en-US" sz="7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26H1</a:t>
                      </a:r>
                    </a:p>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26H2</a:t>
                      </a:r>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tc>
                  <a:txBody>
                    <a:bodyPr/>
                    <a:lstStyle/>
                    <a:p>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tx2">
                        <a:lumMod val="60000"/>
                        <a:lumOff val="40000"/>
                      </a:schemeClr>
                    </a:solidFill>
                  </a:tcPr>
                </a:tc>
                <a:extLst>
                  <a:ext uri="{0D108BD9-81ED-4DB2-BD59-A6C34878D82A}">
                    <a16:rowId xmlns:a16="http://schemas.microsoft.com/office/drawing/2014/main" val="10001"/>
                  </a:ext>
                </a:extLst>
              </a:tr>
              <a:tr h="161891">
                <a:tc>
                  <a:txBody>
                    <a:bodyPr/>
                    <a:lstStyle/>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intel </a:t>
                      </a:r>
                    </a:p>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Desk</a:t>
                      </a:r>
                      <a:endPar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dirty="0">
                        <a:solidFill>
                          <a:schemeClr val="bg1"/>
                        </a:solidFill>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dirty="0">
                        <a:solidFill>
                          <a:schemeClr val="bg1"/>
                        </a:solidFill>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dirty="0">
                        <a:solidFill>
                          <a:schemeClr val="bg1"/>
                        </a:solidFill>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2027</a:t>
                      </a:r>
                      <a:r>
                        <a:rPr kumimoji="1" lang="ja-JP" altLang="en-US"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 </a:t>
                      </a: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Q1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Nova Lake-S(</a:t>
                      </a:r>
                      <a:r>
                        <a:rPr kumimoji="1" lang="ja-JP" altLang="en-US"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シリーズ</a:t>
                      </a: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4)+Z990</a:t>
                      </a:r>
                      <a:endParaRPr kumimoji="1" lang="en-US" altLang="ja-JP" sz="600" dirty="0">
                        <a:solidFill>
                          <a:schemeClr val="bg1"/>
                        </a:solidFill>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a:t>
                      </a: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Q2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Nova Lake-S(</a:t>
                      </a:r>
                      <a:r>
                        <a:rPr kumimoji="1" lang="ja-JP" altLang="en-US" sz="600" dirty="0">
                          <a:solidFill>
                            <a:schemeClr val="bg1"/>
                          </a:solidFill>
                          <a:latin typeface="Meiryo UI"/>
                          <a:ea typeface="Meiryo UI"/>
                          <a:cs typeface="Meiryo UI" panose="020B0604030504040204" pitchFamily="50" charset="-128"/>
                        </a:rPr>
                        <a:t>シリーズ</a:t>
                      </a:r>
                      <a:r>
                        <a:rPr kumimoji="1" lang="en-US" altLang="ja-JP" sz="600" dirty="0">
                          <a:solidFill>
                            <a:schemeClr val="bg1"/>
                          </a:solidFill>
                          <a:latin typeface="Meiryo UI"/>
                          <a:ea typeface="Meiryo UI"/>
                          <a:cs typeface="Meiryo UI" panose="020B0604030504040204" pitchFamily="50" charset="-128"/>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28C K/16C/8C+Z970/B960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4-6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Lake-S </a:t>
                      </a:r>
                      <a:r>
                        <a:rPr kumimoji="1" lang="en-US" altLang="ja-JP" sz="600" dirty="0" err="1">
                          <a:solidFill>
                            <a:schemeClr val="bg1"/>
                          </a:solidFill>
                          <a:latin typeface="Meiryo UI"/>
                          <a:ea typeface="Meiryo UI"/>
                          <a:cs typeface="Meiryo UI" panose="020B0604030504040204" pitchFamily="50" charset="-128"/>
                        </a:rPr>
                        <a:t>vPro</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+W980/Q970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3-5</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Raptor Lake-S Next</a:t>
                      </a:r>
                    </a:p>
                  </a:txBody>
                  <a:tcPr marL="36364" marR="36364" marT="36364" marB="36364">
                    <a:solidFill>
                      <a:srgbClr val="0070C0"/>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intel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Mobile</a:t>
                      </a:r>
                      <a:endPar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4/1</a:t>
                      </a:r>
                      <a:r>
                        <a:rPr kumimoji="1" lang="ja-JP" altLang="en-US"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a:t>
                      </a:r>
                      <a:r>
                        <a:rPr kumimoji="1" lang="en-US" altLang="ja-JP" sz="600" b="0" i="0" u="none" strike="noStrike" kern="1200" cap="none" spc="0" normalizeH="0" baseline="0" noProof="0" dirty="0" err="1">
                          <a:ln>
                            <a:noFill/>
                          </a:ln>
                          <a:solidFill>
                            <a:prstClr val="white"/>
                          </a:solidFill>
                          <a:effectLst/>
                          <a:uLnTx/>
                          <a:uFillTx/>
                          <a:latin typeface="Meiryo UI"/>
                          <a:ea typeface="Meiryo UI"/>
                          <a:cs typeface="Meiryo UI" panose="020B0604030504040204" pitchFamily="50" charset="-128"/>
                        </a:rPr>
                        <a:t>vPro</a:t>
                      </a: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4/16</a:t>
                      </a:r>
                      <a:r>
                        <a:rPr kumimoji="1" lang="ja-JP" altLang="en-US"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発表・解禁</a:t>
                      </a: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Wildcat Lake</a:t>
                      </a: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6/23</a:t>
                      </a:r>
                      <a:r>
                        <a:rPr kumimoji="1" lang="ja-JP" altLang="en-US"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解禁</a:t>
                      </a: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Panther Lake – Handheld</a:t>
                      </a: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endParaRP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Wildcat Lake Refresh</a:t>
                      </a: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3-5</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Raptor Lake-HX Next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Wildcat Lake Refresh</a:t>
                      </a:r>
                    </a:p>
                  </a:txBody>
                  <a:tcPr marL="36364" marR="36364" marT="36364" marB="36364">
                    <a:solidFill>
                      <a:srgbClr val="0070C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Nova Lake-H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3-5</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Raptor Lake-HX Next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a:ea typeface="Meiryo UI"/>
                          <a:cs typeface="Meiryo UI" panose="020B0604030504040204" pitchFamily="50" charset="-128"/>
                        </a:rPr>
                        <a:t>2027 2</a:t>
                      </a:r>
                      <a:r>
                        <a:rPr kumimoji="1" lang="ja-JP" altLang="en-US" sz="600" dirty="0">
                          <a:solidFill>
                            <a:schemeClr val="bg1"/>
                          </a:solidFill>
                          <a:latin typeface="Meiryo UI"/>
                          <a:ea typeface="Meiryo UI"/>
                          <a:cs typeface="Meiryo UI" panose="020B0604030504040204" pitchFamily="50" charset="-128"/>
                        </a:rPr>
                        <a:t>月</a:t>
                      </a:r>
                      <a:r>
                        <a:rPr kumimoji="1" lang="en-US" altLang="ja-JP" sz="600" dirty="0">
                          <a:solidFill>
                            <a:schemeClr val="bg1"/>
                          </a:solidFill>
                          <a:latin typeface="Meiryo UI"/>
                          <a:ea typeface="Meiryo UI"/>
                          <a:cs typeface="Meiryo UI" panose="020B0604030504040204" pitchFamily="50" charset="-128"/>
                        </a:rPr>
                        <a:t>-6</a:t>
                      </a:r>
                      <a:r>
                        <a:rPr kumimoji="1" lang="ja-JP" altLang="en-US" sz="600" dirty="0">
                          <a:solidFill>
                            <a:schemeClr val="bg1"/>
                          </a:solidFill>
                          <a:latin typeface="Meiryo UI"/>
                          <a:ea typeface="Meiryo UI"/>
                          <a:cs typeface="Meiryo UI" panose="020B0604030504040204" pitchFamily="50" charset="-128"/>
                        </a:rPr>
                        <a:t>月</a:t>
                      </a:r>
                      <a:endParaRPr kumimoji="1" lang="en-US" altLang="ja-JP" sz="600" dirty="0">
                        <a:solidFill>
                          <a:schemeClr val="bg1"/>
                        </a:solidFill>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dirty="0">
                          <a:solidFill>
                            <a:schemeClr val="bg1"/>
                          </a:solidFill>
                          <a:latin typeface="Meiryo UI"/>
                          <a:ea typeface="Meiryo UI"/>
                          <a:cs typeface="Meiryo UI" panose="020B0604030504040204" pitchFamily="50" charset="-128"/>
                        </a:rPr>
                        <a:t>　</a:t>
                      </a:r>
                      <a:r>
                        <a:rPr kumimoji="1" lang="en-US" altLang="ja-JP" sz="600" dirty="0">
                          <a:solidFill>
                            <a:schemeClr val="bg1"/>
                          </a:solidFill>
                          <a:latin typeface="Meiryo UI"/>
                          <a:ea typeface="Meiryo UI"/>
                          <a:cs typeface="Meiryo UI" panose="020B0604030504040204" pitchFamily="50" charset="-128"/>
                        </a:rPr>
                        <a:t>Wildcat Lake Refresh</a:t>
                      </a:r>
                    </a:p>
                  </a:txBody>
                  <a:tcPr marL="36364" marR="36364" marT="36364" marB="36364">
                    <a:solidFill>
                      <a:srgbClr val="0070C0"/>
                    </a:solidFill>
                  </a:tcPr>
                </a:tc>
                <a:extLst>
                  <a:ext uri="{0D108BD9-81ED-4DB2-BD59-A6C34878D82A}">
                    <a16:rowId xmlns:a16="http://schemas.microsoft.com/office/drawing/2014/main" val="10003"/>
                  </a:ext>
                </a:extLst>
              </a:tr>
              <a:tr h="0">
                <a:tc>
                  <a:txBody>
                    <a:bodyPr/>
                    <a:lstStyle/>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AMD </a:t>
                      </a:r>
                    </a:p>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D&amp;M</a:t>
                      </a:r>
                      <a:endPar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4/26(</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9 9950X3D2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4-6</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AI 400G Series(OEM)</a:t>
                      </a: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4-6</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AI 400G Series(OEM)</a:t>
                      </a: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6/26(</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Ryzen7 5800X3D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4-6</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 AI 400G Series(OEM)</a:t>
                      </a: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7/17(</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Ryzen7 7700X3D</a:t>
                      </a: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2027</a:t>
                      </a:r>
                    </a:p>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Olympic Ridge(Zen6)</a:t>
                      </a:r>
                    </a:p>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2027</a:t>
                      </a:r>
                    </a:p>
                    <a:p>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Medusa Point(Zen6) ※APU</a:t>
                      </a:r>
                    </a:p>
                  </a:txBody>
                  <a:tcPr marL="36364" marR="36364" marT="36364" marB="36364">
                    <a:solidFill>
                      <a:srgbClr val="FF0000"/>
                    </a:solidFill>
                  </a:tcPr>
                </a:tc>
                <a:extLst>
                  <a:ext uri="{0D108BD9-81ED-4DB2-BD59-A6C34878D82A}">
                    <a16:rowId xmlns:a16="http://schemas.microsoft.com/office/drawing/2014/main" val="10004"/>
                  </a:ext>
                </a:extLst>
              </a:tr>
              <a:tr h="0">
                <a:tc>
                  <a:txBody>
                    <a:bodyPr/>
                    <a:lstStyle/>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NVIDIA</a:t>
                      </a:r>
                    </a:p>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GeForce</a:t>
                      </a:r>
                      <a:endParaRPr kumimoji="1" lang="ja-JP" altLang="en-US"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it-IT"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RTX5050 9GB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RTX3060 12GB</a:t>
                      </a:r>
                      <a:r>
                        <a:rPr kumimoji="1" lang="ja-JP" altLang="en-US"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復活</a:t>
                      </a:r>
                      <a:endParaRPr kumimoji="1" lang="en-US" altLang="ja-JP"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RTX5050 9GB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RTX3060 12GB</a:t>
                      </a:r>
                      <a:r>
                        <a:rPr kumimoji="1" lang="ja-JP" altLang="en-US"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復活</a:t>
                      </a:r>
                      <a:endParaRPr kumimoji="1" lang="en-US" altLang="ja-JP" sz="6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it-IT"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it-IT"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it-IT"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rPr>
                        <a:t>RTX5000Super</a:t>
                      </a:r>
                    </a:p>
                  </a:txBody>
                  <a:tcPr marL="36364" marR="36364" marT="36364" marB="36364">
                    <a:solidFill>
                      <a:srgbClr val="92D050"/>
                    </a:solidFill>
                  </a:tcPr>
                </a:tc>
                <a:extLst>
                  <a:ext uri="{0D108BD9-81ED-4DB2-BD59-A6C34878D82A}">
                    <a16:rowId xmlns:a16="http://schemas.microsoft.com/office/drawing/2014/main" val="10005"/>
                  </a:ext>
                </a:extLst>
              </a:tr>
              <a:tr h="0">
                <a:tc>
                  <a:txBody>
                    <a:bodyPr/>
                    <a:lstStyle/>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AMD</a:t>
                      </a:r>
                    </a:p>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a:t>
                      </a:r>
                      <a:endPar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6/2(</a:t>
                      </a:r>
                      <a:r>
                        <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日本</a:t>
                      </a:r>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RX9070GRE</a:t>
                      </a:r>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RX9050</a:t>
                      </a: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rgbClr val="FF0000"/>
                    </a:solidFill>
                  </a:tcPr>
                </a:tc>
                <a:extLst>
                  <a:ext uri="{0D108BD9-81ED-4DB2-BD59-A6C34878D82A}">
                    <a16:rowId xmlns:a16="http://schemas.microsoft.com/office/drawing/2014/main" val="10006"/>
                  </a:ext>
                </a:extLst>
              </a:tr>
              <a:tr h="358983">
                <a:tc>
                  <a:txBody>
                    <a:bodyPr/>
                    <a:lstStyle/>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SSD</a:t>
                      </a:r>
                    </a:p>
                  </a:txBody>
                  <a:tcPr marL="92365" marR="92365" marT="46183" marB="46183" anchor="ctr">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extLst>
                  <a:ext uri="{0D108BD9-81ED-4DB2-BD59-A6C34878D82A}">
                    <a16:rowId xmlns:a16="http://schemas.microsoft.com/office/drawing/2014/main" val="10007"/>
                  </a:ext>
                </a:extLst>
              </a:tr>
              <a:tr h="235492">
                <a:tc>
                  <a:txBody>
                    <a:bodyPr/>
                    <a:lstStyle/>
                    <a:p>
                      <a:pPr algn="l"/>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他</a:t>
                      </a:r>
                      <a:endPar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92365" marR="92365" marT="46183" marB="46183" anchor="ctr">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4/21</a:t>
                      </a:r>
                      <a:r>
                        <a:rPr kumimoji="1" lang="ja-JP" altLang="en-US"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Arc Pro B65</a:t>
                      </a: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9/22 26H2 RTM</a:t>
                      </a: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solidFill>
                      <a:schemeClr val="accent4">
                        <a:lumMod val="75000"/>
                      </a:schemeClr>
                    </a:solidFill>
                  </a:tcPr>
                </a:tc>
                <a:extLst>
                  <a:ext uri="{0D108BD9-81ED-4DB2-BD59-A6C34878D82A}">
                    <a16:rowId xmlns:a16="http://schemas.microsoft.com/office/drawing/2014/main" val="10008"/>
                  </a:ext>
                </a:extLst>
              </a:tr>
              <a:tr h="367839">
                <a:tc>
                  <a:txBody>
                    <a:bodyPr/>
                    <a:lstStyle/>
                    <a:p>
                      <a:pPr algn="l"/>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採用メモ</a:t>
                      </a:r>
                    </a:p>
                  </a:txBody>
                  <a:tcPr marL="92365" marR="92365" marT="46183" marB="46183" anchor="ctr">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5800X3D</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9070GRE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3060 12GB</a:t>
                      </a: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7700X3D</a:t>
                      </a: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Nova Lake</a:t>
                      </a: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Nova Lake</a:t>
                      </a: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Nova Lake</a:t>
                      </a: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prstClr val="white"/>
                          </a:solidFill>
                          <a:effectLst/>
                          <a:uLnTx/>
                          <a:uFillTx/>
                          <a:latin typeface="Meiryo UI"/>
                          <a:ea typeface="Meiryo UI"/>
                          <a:cs typeface="Meiryo UI" panose="020B0604030504040204" pitchFamily="50" charset="-128"/>
                        </a:rPr>
                        <a:t>Nova Lake</a:t>
                      </a:r>
                      <a:endParaRPr kumimoji="1" lang="en-US" altLang="ja-JP" sz="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364" marR="36364" marT="36364" marB="36364">
                    <a:lnB w="38100" cap="flat" cmpd="sng" algn="ctr">
                      <a:solidFill>
                        <a:schemeClr val="bg1"/>
                      </a:solidFill>
                      <a:prstDash val="solid"/>
                      <a:round/>
                      <a:headEnd type="none" w="med" len="med"/>
                      <a:tailEnd type="none" w="med" len="med"/>
                    </a:lnB>
                    <a:solidFill>
                      <a:srgbClr val="002060"/>
                    </a:solidFill>
                  </a:tcPr>
                </a:tc>
                <a:extLst>
                  <a:ext uri="{0D108BD9-81ED-4DB2-BD59-A6C34878D82A}">
                    <a16:rowId xmlns:a16="http://schemas.microsoft.com/office/drawing/2014/main" val="10009"/>
                  </a:ext>
                </a:extLst>
              </a:tr>
            </a:tbl>
          </a:graphicData>
        </a:graphic>
      </p:graphicFrame>
      <p:sp>
        <p:nvSpPr>
          <p:cNvPr id="2" name="スライド番号プレースホルダー 1">
            <a:extLst>
              <a:ext uri="{FF2B5EF4-FFF2-40B4-BE49-F238E27FC236}">
                <a16:creationId xmlns:a16="http://schemas.microsoft.com/office/drawing/2014/main" id="{6C9A2D2D-B2AF-4C75-9019-93FB6FE6796F}"/>
              </a:ext>
            </a:extLst>
          </p:cNvPr>
          <p:cNvSpPr>
            <a:spLocks noGrp="1"/>
          </p:cNvSpPr>
          <p:nvPr>
            <p:ph type="sldNum" sz="quarter" idx="12"/>
          </p:nvPr>
        </p:nvSpPr>
        <p:spPr>
          <a:xfrm>
            <a:off x="7020272" y="4847127"/>
            <a:ext cx="2133600" cy="273844"/>
          </a:xfrm>
        </p:spPr>
        <p:txBody>
          <a:bodyPr/>
          <a:lstStyle/>
          <a:p>
            <a:fld id="{F9DFCEB9-CAE4-4F3C-93D0-85C4724A0355}" type="slidenum">
              <a:rPr kumimoji="1" lang="ja-JP" altLang="en-US" smtClean="0"/>
              <a:t>3</a:t>
            </a:fld>
            <a:endParaRPr kumimoji="1" lang="ja-JP" altLang="en-US" dirty="0"/>
          </a:p>
        </p:txBody>
      </p:sp>
    </p:spTree>
    <p:extLst>
      <p:ext uri="{BB962C8B-B14F-4D97-AF65-F5344CB8AC3E}">
        <p14:creationId xmlns:p14="http://schemas.microsoft.com/office/powerpoint/2010/main" val="497837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756936118"/>
              </p:ext>
            </p:extLst>
          </p:nvPr>
        </p:nvGraphicFramePr>
        <p:xfrm>
          <a:off x="41498" y="51470"/>
          <a:ext cx="8928982" cy="5040560"/>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03554">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Intel</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Desk CPU</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5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5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68640">
                <a:tc>
                  <a:txBody>
                    <a:bodyPr/>
                    <a:lstStyle/>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X/Xeon(1S)</a:t>
                      </a: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960440">
                <a:tc>
                  <a:txBody>
                    <a:bodyPr/>
                    <a:lstStyle/>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a:t>
                      </a: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43" name="角丸四角形 40">
            <a:extLst>
              <a:ext uri="{FF2B5EF4-FFF2-40B4-BE49-F238E27FC236}">
                <a16:creationId xmlns:a16="http://schemas.microsoft.com/office/drawing/2014/main" id="{C094D2BB-79F5-4669-B46E-F2D7355FFC49}"/>
              </a:ext>
            </a:extLst>
          </p:cNvPr>
          <p:cNvSpPr/>
          <p:nvPr/>
        </p:nvSpPr>
        <p:spPr>
          <a:xfrm>
            <a:off x="1276674" y="4901297"/>
            <a:ext cx="5167534" cy="150597"/>
          </a:xfrm>
          <a:prstGeom prst="roundRect">
            <a:avLst>
              <a:gd name="adj" fmla="val 4891"/>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Alder Lake-S</a:t>
            </a:r>
            <a:r>
              <a:rPr lang="ja-JP" altLang="en-US" sz="1000" dirty="0"/>
              <a:t>　</a:t>
            </a:r>
            <a:r>
              <a:rPr lang="en-US" altLang="ja-JP" sz="1000" dirty="0"/>
              <a:t>12</a:t>
            </a:r>
            <a:r>
              <a:rPr lang="ja-JP" altLang="en-US" sz="1000" dirty="0"/>
              <a:t>世代　</a:t>
            </a:r>
            <a:r>
              <a:rPr lang="en-US" altLang="ja-JP" sz="1000" dirty="0"/>
              <a:t>LGA1700</a:t>
            </a:r>
            <a:r>
              <a:rPr lang="ja-JP" altLang="en-US" sz="1000" dirty="0"/>
              <a:t> </a:t>
            </a:r>
            <a:r>
              <a:rPr lang="en-US" altLang="ja-JP" sz="1000" dirty="0"/>
              <a:t>700/600</a:t>
            </a:r>
            <a:r>
              <a:rPr lang="ja-JP" altLang="en-US" sz="1000" dirty="0"/>
              <a:t>シリーズ　</a:t>
            </a:r>
            <a:r>
              <a:rPr lang="en-US" altLang="ja-JP" sz="1000" dirty="0"/>
              <a:t>DDR5/DDR4</a:t>
            </a:r>
          </a:p>
        </p:txBody>
      </p:sp>
      <p:sp>
        <p:nvSpPr>
          <p:cNvPr id="36" name="角丸四角形 40">
            <a:extLst>
              <a:ext uri="{FF2B5EF4-FFF2-40B4-BE49-F238E27FC236}">
                <a16:creationId xmlns:a16="http://schemas.microsoft.com/office/drawing/2014/main" id="{87EDDE0D-F071-4FF8-9B54-564C01E0EAC3}"/>
              </a:ext>
            </a:extLst>
          </p:cNvPr>
          <p:cNvSpPr/>
          <p:nvPr/>
        </p:nvSpPr>
        <p:spPr>
          <a:xfrm>
            <a:off x="1270298" y="3830706"/>
            <a:ext cx="7687269" cy="1003957"/>
          </a:xfrm>
          <a:prstGeom prst="roundRect">
            <a:avLst>
              <a:gd name="adj" fmla="val 4891"/>
            </a:avLst>
          </a:prstGeom>
          <a:solidFill>
            <a:schemeClr val="tx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Raptor Lake-S Refresh</a:t>
            </a:r>
            <a:r>
              <a:rPr lang="ja-JP" altLang="en-US" sz="1000" dirty="0"/>
              <a:t>　</a:t>
            </a:r>
            <a:r>
              <a:rPr lang="en-US" altLang="ja-JP" sz="1000" dirty="0"/>
              <a:t>14</a:t>
            </a:r>
            <a:r>
              <a:rPr lang="ja-JP" altLang="en-US" sz="1000" dirty="0"/>
              <a:t>世代 </a:t>
            </a:r>
            <a:r>
              <a:rPr lang="en-US" altLang="ja-JP" sz="1000" dirty="0"/>
              <a:t>LGA1700 700/600</a:t>
            </a:r>
            <a:r>
              <a:rPr lang="ja-JP" altLang="en-US" sz="1000" dirty="0"/>
              <a:t>シリーズ</a:t>
            </a:r>
            <a:r>
              <a:rPr lang="en-US" altLang="ja-JP" sz="1000" dirty="0"/>
              <a:t> DDR5/DDR4</a:t>
            </a:r>
          </a:p>
        </p:txBody>
      </p:sp>
      <p:sp>
        <p:nvSpPr>
          <p:cNvPr id="45" name="角丸四角形 8">
            <a:extLst>
              <a:ext uri="{FF2B5EF4-FFF2-40B4-BE49-F238E27FC236}">
                <a16:creationId xmlns:a16="http://schemas.microsoft.com/office/drawing/2014/main" id="{F38BDC3E-1E3B-469C-BCDB-B9BFAB01BD02}"/>
              </a:ext>
            </a:extLst>
          </p:cNvPr>
          <p:cNvSpPr/>
          <p:nvPr/>
        </p:nvSpPr>
        <p:spPr>
          <a:xfrm>
            <a:off x="1275560" y="818794"/>
            <a:ext cx="7680525" cy="241899"/>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t>Sapphire Rapids Refresh</a:t>
            </a:r>
            <a:endParaRPr kumimoji="1" lang="en-US" altLang="ja-JP" sz="1200" dirty="0"/>
          </a:p>
        </p:txBody>
      </p:sp>
      <p:sp>
        <p:nvSpPr>
          <p:cNvPr id="48" name="角丸四角形 54">
            <a:extLst>
              <a:ext uri="{FF2B5EF4-FFF2-40B4-BE49-F238E27FC236}">
                <a16:creationId xmlns:a16="http://schemas.microsoft.com/office/drawing/2014/main" id="{1DE7592B-10C4-4FC4-8239-799A90E4D155}"/>
              </a:ext>
            </a:extLst>
          </p:cNvPr>
          <p:cNvSpPr/>
          <p:nvPr/>
        </p:nvSpPr>
        <p:spPr>
          <a:xfrm>
            <a:off x="1279734" y="4086090"/>
            <a:ext cx="7653877" cy="80737"/>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I9-14900 /F</a:t>
            </a:r>
          </a:p>
        </p:txBody>
      </p:sp>
      <p:sp>
        <p:nvSpPr>
          <p:cNvPr id="52" name="角丸四角形 55">
            <a:extLst>
              <a:ext uri="{FF2B5EF4-FFF2-40B4-BE49-F238E27FC236}">
                <a16:creationId xmlns:a16="http://schemas.microsoft.com/office/drawing/2014/main" id="{343C0A5F-BCE0-408F-A6C3-3EFD124870B5}"/>
              </a:ext>
            </a:extLst>
          </p:cNvPr>
          <p:cNvSpPr/>
          <p:nvPr/>
        </p:nvSpPr>
        <p:spPr>
          <a:xfrm>
            <a:off x="1277695" y="4180470"/>
            <a:ext cx="7665186" cy="85794"/>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I7-14700K /KF</a:t>
            </a:r>
          </a:p>
        </p:txBody>
      </p:sp>
      <p:sp>
        <p:nvSpPr>
          <p:cNvPr id="53" name="角丸四角形 56">
            <a:extLst>
              <a:ext uri="{FF2B5EF4-FFF2-40B4-BE49-F238E27FC236}">
                <a16:creationId xmlns:a16="http://schemas.microsoft.com/office/drawing/2014/main" id="{84132D9C-A6A1-4594-BF4A-9B03FCE4C863}"/>
              </a:ext>
            </a:extLst>
          </p:cNvPr>
          <p:cNvSpPr/>
          <p:nvPr/>
        </p:nvSpPr>
        <p:spPr>
          <a:xfrm>
            <a:off x="1272310" y="4374978"/>
            <a:ext cx="7664911" cy="87950"/>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I5-14600K /KF</a:t>
            </a:r>
          </a:p>
        </p:txBody>
      </p:sp>
      <p:sp>
        <p:nvSpPr>
          <p:cNvPr id="61" name="角丸四角形 56">
            <a:extLst>
              <a:ext uri="{FF2B5EF4-FFF2-40B4-BE49-F238E27FC236}">
                <a16:creationId xmlns:a16="http://schemas.microsoft.com/office/drawing/2014/main" id="{395E7443-AFA9-41AB-A7A6-E57651E68C26}"/>
              </a:ext>
            </a:extLst>
          </p:cNvPr>
          <p:cNvSpPr/>
          <p:nvPr/>
        </p:nvSpPr>
        <p:spPr>
          <a:xfrm>
            <a:off x="1267113" y="4487521"/>
            <a:ext cx="7661740" cy="87047"/>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I5-14600/14500/14400 /F /T</a:t>
            </a:r>
          </a:p>
        </p:txBody>
      </p:sp>
      <p:sp>
        <p:nvSpPr>
          <p:cNvPr id="75" name="角丸四角形 55">
            <a:extLst>
              <a:ext uri="{FF2B5EF4-FFF2-40B4-BE49-F238E27FC236}">
                <a16:creationId xmlns:a16="http://schemas.microsoft.com/office/drawing/2014/main" id="{FCFB5B4E-E831-4251-A0CC-F445CB4D2B63}"/>
              </a:ext>
            </a:extLst>
          </p:cNvPr>
          <p:cNvSpPr/>
          <p:nvPr/>
        </p:nvSpPr>
        <p:spPr>
          <a:xfrm>
            <a:off x="1273127" y="4288115"/>
            <a:ext cx="7667669" cy="71285"/>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I7-14700 /F /T</a:t>
            </a:r>
          </a:p>
        </p:txBody>
      </p:sp>
      <p:sp>
        <p:nvSpPr>
          <p:cNvPr id="76" name="角丸四角形 54">
            <a:extLst>
              <a:ext uri="{FF2B5EF4-FFF2-40B4-BE49-F238E27FC236}">
                <a16:creationId xmlns:a16="http://schemas.microsoft.com/office/drawing/2014/main" id="{C634C2D1-1E38-4BFC-9C24-806BECD69D24}"/>
              </a:ext>
            </a:extLst>
          </p:cNvPr>
          <p:cNvSpPr/>
          <p:nvPr/>
        </p:nvSpPr>
        <p:spPr>
          <a:xfrm>
            <a:off x="1276470" y="3985465"/>
            <a:ext cx="7650492" cy="88161"/>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I9-14900K /KF</a:t>
            </a:r>
          </a:p>
        </p:txBody>
      </p:sp>
      <p:sp>
        <p:nvSpPr>
          <p:cNvPr id="77" name="角丸四角形 57">
            <a:extLst>
              <a:ext uri="{FF2B5EF4-FFF2-40B4-BE49-F238E27FC236}">
                <a16:creationId xmlns:a16="http://schemas.microsoft.com/office/drawing/2014/main" id="{270E179E-D51A-4952-916F-6116D91FEA4D}"/>
              </a:ext>
            </a:extLst>
          </p:cNvPr>
          <p:cNvSpPr/>
          <p:nvPr/>
        </p:nvSpPr>
        <p:spPr>
          <a:xfrm>
            <a:off x="1274441" y="4602047"/>
            <a:ext cx="7667230" cy="82786"/>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I3-14100</a:t>
            </a:r>
          </a:p>
        </p:txBody>
      </p:sp>
      <p:sp>
        <p:nvSpPr>
          <p:cNvPr id="79" name="角丸四角形 58">
            <a:extLst>
              <a:ext uri="{FF2B5EF4-FFF2-40B4-BE49-F238E27FC236}">
                <a16:creationId xmlns:a16="http://schemas.microsoft.com/office/drawing/2014/main" id="{34333596-B0C1-4F81-B274-36598846FEB7}"/>
              </a:ext>
            </a:extLst>
          </p:cNvPr>
          <p:cNvSpPr/>
          <p:nvPr/>
        </p:nvSpPr>
        <p:spPr>
          <a:xfrm>
            <a:off x="1277410" y="4711815"/>
            <a:ext cx="7667669" cy="81074"/>
          </a:xfrm>
          <a:prstGeom prst="roundRect">
            <a:avLst>
              <a:gd name="adj" fmla="val 3447"/>
            </a:avLst>
          </a:prstGeom>
          <a:solidFill>
            <a:schemeClr val="accent6">
              <a:lumMod val="20000"/>
              <a:lumOff val="8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Intel Processor</a:t>
            </a:r>
            <a:r>
              <a:rPr lang="ja-JP" altLang="en-US" sz="700" dirty="0">
                <a:solidFill>
                  <a:schemeClr val="tx1"/>
                </a:solidFill>
              </a:rPr>
              <a:t> </a:t>
            </a:r>
            <a:r>
              <a:rPr lang="en-US" altLang="ja-JP" sz="700" dirty="0">
                <a:solidFill>
                  <a:schemeClr val="tx1"/>
                </a:solidFill>
              </a:rPr>
              <a:t>300</a:t>
            </a:r>
          </a:p>
        </p:txBody>
      </p:sp>
      <p:sp>
        <p:nvSpPr>
          <p:cNvPr id="80" name="角丸四角形 40">
            <a:extLst>
              <a:ext uri="{FF2B5EF4-FFF2-40B4-BE49-F238E27FC236}">
                <a16:creationId xmlns:a16="http://schemas.microsoft.com/office/drawing/2014/main" id="{E06DB812-7DE7-41C6-B5D6-21032AA379FD}"/>
              </a:ext>
            </a:extLst>
          </p:cNvPr>
          <p:cNvSpPr/>
          <p:nvPr/>
        </p:nvSpPr>
        <p:spPr>
          <a:xfrm>
            <a:off x="1279734" y="2139702"/>
            <a:ext cx="7676350" cy="1045299"/>
          </a:xfrm>
          <a:prstGeom prst="roundRect">
            <a:avLst>
              <a:gd name="adj" fmla="val 4891"/>
            </a:avLst>
          </a:prstGeom>
          <a:solidFill>
            <a:schemeClr val="tx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Arrow Lake-S/Refresh</a:t>
            </a:r>
            <a:r>
              <a:rPr lang="ja-JP" altLang="en-US" sz="1000" dirty="0"/>
              <a:t>　</a:t>
            </a:r>
            <a:r>
              <a:rPr lang="en-US" altLang="ja-JP" sz="1000" dirty="0"/>
              <a:t>Core Ultra </a:t>
            </a:r>
            <a:r>
              <a:rPr lang="ja-JP" altLang="en-US" sz="1000" dirty="0"/>
              <a:t>シリーズ</a:t>
            </a:r>
            <a:r>
              <a:rPr lang="en-US" altLang="ja-JP" sz="1000" dirty="0"/>
              <a:t>2</a:t>
            </a:r>
            <a:r>
              <a:rPr lang="ja-JP" altLang="en-US" sz="1000" dirty="0"/>
              <a:t>　</a:t>
            </a:r>
            <a:r>
              <a:rPr lang="en-US" altLang="ja-JP" sz="1000" dirty="0"/>
              <a:t>LGA1851</a:t>
            </a:r>
            <a:r>
              <a:rPr lang="ja-JP" altLang="en-US" sz="1000" dirty="0"/>
              <a:t>　</a:t>
            </a:r>
            <a:r>
              <a:rPr lang="en-US" altLang="ja-JP" sz="1000" dirty="0"/>
              <a:t>800</a:t>
            </a:r>
            <a:r>
              <a:rPr lang="ja-JP" altLang="en-US" sz="1000" dirty="0"/>
              <a:t>シリーズ　</a:t>
            </a:r>
            <a:r>
              <a:rPr lang="en-US" altLang="ja-JP" sz="1000" dirty="0"/>
              <a:t>DDR5</a:t>
            </a:r>
          </a:p>
        </p:txBody>
      </p:sp>
      <p:sp>
        <p:nvSpPr>
          <p:cNvPr id="63" name="角丸四角形 54">
            <a:extLst>
              <a:ext uri="{FF2B5EF4-FFF2-40B4-BE49-F238E27FC236}">
                <a16:creationId xmlns:a16="http://schemas.microsoft.com/office/drawing/2014/main" id="{5680DB43-8DC7-4A9B-A029-267501577663}"/>
              </a:ext>
            </a:extLst>
          </p:cNvPr>
          <p:cNvSpPr/>
          <p:nvPr/>
        </p:nvSpPr>
        <p:spPr>
          <a:xfrm>
            <a:off x="1298992" y="2470927"/>
            <a:ext cx="7628112" cy="89771"/>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9 285 /T</a:t>
            </a:r>
          </a:p>
        </p:txBody>
      </p:sp>
      <p:sp>
        <p:nvSpPr>
          <p:cNvPr id="73" name="角丸四角形 55">
            <a:extLst>
              <a:ext uri="{FF2B5EF4-FFF2-40B4-BE49-F238E27FC236}">
                <a16:creationId xmlns:a16="http://schemas.microsoft.com/office/drawing/2014/main" id="{F514EE84-7A52-4232-AC45-5229CD0910EA}"/>
              </a:ext>
            </a:extLst>
          </p:cNvPr>
          <p:cNvSpPr/>
          <p:nvPr/>
        </p:nvSpPr>
        <p:spPr>
          <a:xfrm>
            <a:off x="1285563" y="2593867"/>
            <a:ext cx="7662796" cy="92297"/>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7 265K /KF</a:t>
            </a:r>
            <a:r>
              <a:rPr lang="ja-JP" altLang="en-US" sz="700" dirty="0">
                <a:solidFill>
                  <a:schemeClr val="tx1"/>
                </a:solidFill>
              </a:rPr>
              <a:t>　 </a:t>
            </a:r>
            <a:r>
              <a:rPr lang="en-US" altLang="ja-JP" sz="700" dirty="0">
                <a:solidFill>
                  <a:schemeClr val="tx1"/>
                </a:solidFill>
              </a:rPr>
              <a:t>270K Plus​</a:t>
            </a:r>
          </a:p>
        </p:txBody>
      </p:sp>
      <p:sp>
        <p:nvSpPr>
          <p:cNvPr id="78" name="角丸四角形 56">
            <a:extLst>
              <a:ext uri="{FF2B5EF4-FFF2-40B4-BE49-F238E27FC236}">
                <a16:creationId xmlns:a16="http://schemas.microsoft.com/office/drawing/2014/main" id="{D9D0975C-61E5-42A7-AB57-D4B0D8984557}"/>
              </a:ext>
            </a:extLst>
          </p:cNvPr>
          <p:cNvSpPr/>
          <p:nvPr/>
        </p:nvSpPr>
        <p:spPr>
          <a:xfrm>
            <a:off x="1292151" y="2823821"/>
            <a:ext cx="7643662" cy="9365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5 245K /KF   250K /KF Plus​</a:t>
            </a:r>
          </a:p>
        </p:txBody>
      </p:sp>
      <p:sp>
        <p:nvSpPr>
          <p:cNvPr id="82" name="角丸四角形 56">
            <a:extLst>
              <a:ext uri="{FF2B5EF4-FFF2-40B4-BE49-F238E27FC236}">
                <a16:creationId xmlns:a16="http://schemas.microsoft.com/office/drawing/2014/main" id="{F9F3AB44-9A6E-4792-BFAD-64A879505C6C}"/>
              </a:ext>
            </a:extLst>
          </p:cNvPr>
          <p:cNvSpPr/>
          <p:nvPr/>
        </p:nvSpPr>
        <p:spPr>
          <a:xfrm>
            <a:off x="1298228" y="2948412"/>
            <a:ext cx="7644300" cy="92148"/>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5 245/235 /T</a:t>
            </a:r>
          </a:p>
        </p:txBody>
      </p:sp>
      <p:sp>
        <p:nvSpPr>
          <p:cNvPr id="83" name="角丸四角形 55">
            <a:extLst>
              <a:ext uri="{FF2B5EF4-FFF2-40B4-BE49-F238E27FC236}">
                <a16:creationId xmlns:a16="http://schemas.microsoft.com/office/drawing/2014/main" id="{152CCD6D-5EF0-47D3-90E3-21AA31ACD424}"/>
              </a:ext>
            </a:extLst>
          </p:cNvPr>
          <p:cNvSpPr/>
          <p:nvPr/>
        </p:nvSpPr>
        <p:spPr>
          <a:xfrm>
            <a:off x="1292256" y="2708428"/>
            <a:ext cx="7641861" cy="91345"/>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7 265 /F /T</a:t>
            </a:r>
          </a:p>
        </p:txBody>
      </p:sp>
      <p:sp>
        <p:nvSpPr>
          <p:cNvPr id="84" name="角丸四角形 54">
            <a:extLst>
              <a:ext uri="{FF2B5EF4-FFF2-40B4-BE49-F238E27FC236}">
                <a16:creationId xmlns:a16="http://schemas.microsoft.com/office/drawing/2014/main" id="{E61FE278-E312-404F-B61B-895F2D0A31A3}"/>
              </a:ext>
            </a:extLst>
          </p:cNvPr>
          <p:cNvSpPr/>
          <p:nvPr/>
        </p:nvSpPr>
        <p:spPr>
          <a:xfrm>
            <a:off x="1297491" y="2358236"/>
            <a:ext cx="7640246" cy="92297"/>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9 285K​</a:t>
            </a:r>
          </a:p>
        </p:txBody>
      </p:sp>
      <p:sp>
        <p:nvSpPr>
          <p:cNvPr id="40" name="角丸四角形 56">
            <a:extLst>
              <a:ext uri="{FF2B5EF4-FFF2-40B4-BE49-F238E27FC236}">
                <a16:creationId xmlns:a16="http://schemas.microsoft.com/office/drawing/2014/main" id="{AC3C860E-0D99-46EA-926E-FCE34846E691}"/>
              </a:ext>
            </a:extLst>
          </p:cNvPr>
          <p:cNvSpPr/>
          <p:nvPr/>
        </p:nvSpPr>
        <p:spPr>
          <a:xfrm>
            <a:off x="1279734" y="3063399"/>
            <a:ext cx="7660873" cy="92149"/>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5 225 /F /T</a:t>
            </a:r>
          </a:p>
        </p:txBody>
      </p:sp>
      <p:sp>
        <p:nvSpPr>
          <p:cNvPr id="42" name="角丸四角形 8">
            <a:extLst>
              <a:ext uri="{FF2B5EF4-FFF2-40B4-BE49-F238E27FC236}">
                <a16:creationId xmlns:a16="http://schemas.microsoft.com/office/drawing/2014/main" id="{06C42DDB-A32A-41E1-BF6E-2DEA9E518250}"/>
              </a:ext>
            </a:extLst>
          </p:cNvPr>
          <p:cNvSpPr/>
          <p:nvPr/>
        </p:nvSpPr>
        <p:spPr>
          <a:xfrm>
            <a:off x="1274441" y="533255"/>
            <a:ext cx="7681644" cy="241899"/>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t>Granite Rapids</a:t>
            </a:r>
            <a:endParaRPr kumimoji="1" lang="en-US" altLang="ja-JP" sz="1200" dirty="0"/>
          </a:p>
        </p:txBody>
      </p:sp>
      <p:sp>
        <p:nvSpPr>
          <p:cNvPr id="2" name="スライド番号プレースホルダー 1">
            <a:extLst>
              <a:ext uri="{FF2B5EF4-FFF2-40B4-BE49-F238E27FC236}">
                <a16:creationId xmlns:a16="http://schemas.microsoft.com/office/drawing/2014/main" id="{B5C72F8A-2E4E-4D0F-891B-8C79ED5EA23E}"/>
              </a:ext>
            </a:extLst>
          </p:cNvPr>
          <p:cNvSpPr>
            <a:spLocks noGrp="1"/>
          </p:cNvSpPr>
          <p:nvPr>
            <p:ph type="sldNum" sz="quarter" idx="12"/>
          </p:nvPr>
        </p:nvSpPr>
        <p:spPr/>
        <p:txBody>
          <a:bodyPr/>
          <a:lstStyle/>
          <a:p>
            <a:fld id="{F9DFCEB9-CAE4-4F3C-93D0-85C4724A0355}" type="slidenum">
              <a:rPr kumimoji="1" lang="ja-JP" altLang="en-US" smtClean="0"/>
              <a:t>4</a:t>
            </a:fld>
            <a:endParaRPr kumimoji="1" lang="ja-JP" altLang="en-US" dirty="0"/>
          </a:p>
        </p:txBody>
      </p:sp>
      <p:sp>
        <p:nvSpPr>
          <p:cNvPr id="38" name="角丸四角形 40">
            <a:extLst>
              <a:ext uri="{FF2B5EF4-FFF2-40B4-BE49-F238E27FC236}">
                <a16:creationId xmlns:a16="http://schemas.microsoft.com/office/drawing/2014/main" id="{1F28EFAD-A5DB-4075-A855-A63532807182}"/>
              </a:ext>
            </a:extLst>
          </p:cNvPr>
          <p:cNvSpPr/>
          <p:nvPr/>
        </p:nvSpPr>
        <p:spPr>
          <a:xfrm>
            <a:off x="5652120" y="1159738"/>
            <a:ext cx="3303964" cy="935292"/>
          </a:xfrm>
          <a:prstGeom prst="roundRect">
            <a:avLst>
              <a:gd name="adj" fmla="val 4891"/>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Q1-Q2 Nova Lake-S</a:t>
            </a:r>
          </a:p>
        </p:txBody>
      </p:sp>
      <p:sp>
        <p:nvSpPr>
          <p:cNvPr id="3" name="テキスト ボックス 2">
            <a:extLst>
              <a:ext uri="{FF2B5EF4-FFF2-40B4-BE49-F238E27FC236}">
                <a16:creationId xmlns:a16="http://schemas.microsoft.com/office/drawing/2014/main" id="{DA9C99B2-BF53-436D-AAE7-BC904E34E62A}"/>
              </a:ext>
            </a:extLst>
          </p:cNvPr>
          <p:cNvSpPr txBox="1"/>
          <p:nvPr/>
        </p:nvSpPr>
        <p:spPr>
          <a:xfrm>
            <a:off x="4620501" y="4855018"/>
            <a:ext cx="1578179" cy="297517"/>
          </a:xfrm>
          <a:prstGeom prst="rect">
            <a:avLst/>
          </a:prstGeom>
          <a:solidFill>
            <a:schemeClr val="bg1">
              <a:lumMod val="75000"/>
            </a:schemeClr>
          </a:solidFill>
          <a:ln>
            <a:noFill/>
          </a:ln>
        </p:spPr>
        <p:txBody>
          <a:bodyPr wrap="square" rtlCol="0" anchor="ctr">
            <a:spAutoFit/>
          </a:bodyPr>
          <a:lstStyle/>
          <a:p>
            <a:pPr>
              <a:lnSpc>
                <a:spcPts val="800"/>
              </a:lnSpc>
            </a:pPr>
            <a:r>
              <a:rPr kumimoji="1" lang="en-US" altLang="ja-JP" sz="800" dirty="0">
                <a:latin typeface="Meiryo UI" panose="020B0604030504040204" pitchFamily="50" charset="-128"/>
                <a:ea typeface="Meiryo UI" panose="020B0604030504040204" pitchFamily="50" charset="-128"/>
              </a:rPr>
              <a:t>Last Order </a:t>
            </a:r>
            <a:r>
              <a:rPr lang="en-US" altLang="ja-JP" sz="800" dirty="0">
                <a:latin typeface="Meiryo UI" panose="020B0604030504040204" pitchFamily="50" charset="-128"/>
                <a:ea typeface="Meiryo UI" panose="020B0604030504040204" pitchFamily="50" charset="-128"/>
              </a:rPr>
              <a:t>Date</a:t>
            </a:r>
            <a:r>
              <a:rPr kumimoji="1" lang="en-US" altLang="ja-JP" sz="800" dirty="0">
                <a:latin typeface="Meiryo UI" panose="020B0604030504040204" pitchFamily="50" charset="-128"/>
                <a:ea typeface="Meiryo UI" panose="020B0604030504040204" pitchFamily="50" charset="-128"/>
              </a:rPr>
              <a:t> 7/24/2026</a:t>
            </a:r>
          </a:p>
          <a:p>
            <a:pPr>
              <a:lnSpc>
                <a:spcPts val="800"/>
              </a:lnSpc>
            </a:pPr>
            <a:r>
              <a:rPr lang="en-US" altLang="ja-JP" sz="800" dirty="0">
                <a:latin typeface="Meiryo UI" panose="020B0604030504040204" pitchFamily="50" charset="-128"/>
                <a:ea typeface="Meiryo UI" panose="020B0604030504040204" pitchFamily="50" charset="-128"/>
              </a:rPr>
              <a:t>Last Ship Date</a:t>
            </a:r>
            <a:r>
              <a:rPr lang="ja-JP" altLang="en-US" sz="8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1/22/2027</a:t>
            </a:r>
            <a:endParaRPr kumimoji="1" lang="ja-JP" altLang="en-US" sz="800" dirty="0">
              <a:latin typeface="Meiryo UI" panose="020B0604030504040204" pitchFamily="50" charset="-128"/>
              <a:ea typeface="Meiryo UI" panose="020B0604030504040204" pitchFamily="50" charset="-128"/>
            </a:endParaRPr>
          </a:p>
        </p:txBody>
      </p:sp>
      <p:sp>
        <p:nvSpPr>
          <p:cNvPr id="41" name="角丸四角形 40">
            <a:extLst>
              <a:ext uri="{FF2B5EF4-FFF2-40B4-BE49-F238E27FC236}">
                <a16:creationId xmlns:a16="http://schemas.microsoft.com/office/drawing/2014/main" id="{EEF8AF5C-A93C-454B-8322-97066C987478}"/>
              </a:ext>
            </a:extLst>
          </p:cNvPr>
          <p:cNvSpPr/>
          <p:nvPr/>
        </p:nvSpPr>
        <p:spPr>
          <a:xfrm>
            <a:off x="6379479" y="3219822"/>
            <a:ext cx="2568596" cy="576064"/>
          </a:xfrm>
          <a:prstGeom prst="roundRect">
            <a:avLst>
              <a:gd name="adj" fmla="val 4891"/>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3-5</a:t>
            </a:r>
            <a:r>
              <a:rPr lang="ja-JP" altLang="en-US" sz="1000" dirty="0"/>
              <a:t>月</a:t>
            </a:r>
            <a:r>
              <a:rPr lang="en-US" altLang="ja-JP" sz="1000" dirty="0"/>
              <a:t> Raptor Lake-S NEXT</a:t>
            </a:r>
            <a:r>
              <a:rPr lang="ja-JP" altLang="en-US" sz="1000" dirty="0"/>
              <a:t>　</a:t>
            </a:r>
            <a:r>
              <a:rPr lang="en-US" altLang="ja-JP" sz="1000" dirty="0"/>
              <a:t>LGA1700</a:t>
            </a:r>
            <a:endParaRPr lang="ja-JP" altLang="en-US" sz="1000" dirty="0"/>
          </a:p>
          <a:p>
            <a:endParaRPr lang="en-US" altLang="ja-JP" sz="1000" dirty="0"/>
          </a:p>
        </p:txBody>
      </p:sp>
      <p:sp>
        <p:nvSpPr>
          <p:cNvPr id="44" name="角丸四角形 56">
            <a:extLst>
              <a:ext uri="{FF2B5EF4-FFF2-40B4-BE49-F238E27FC236}">
                <a16:creationId xmlns:a16="http://schemas.microsoft.com/office/drawing/2014/main" id="{7ED6DD12-8E45-430B-B2B0-B734E5AADB5B}"/>
              </a:ext>
            </a:extLst>
          </p:cNvPr>
          <p:cNvSpPr/>
          <p:nvPr/>
        </p:nvSpPr>
        <p:spPr>
          <a:xfrm>
            <a:off x="6415643" y="3482070"/>
            <a:ext cx="2547483" cy="8686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I5K</a:t>
            </a:r>
          </a:p>
        </p:txBody>
      </p:sp>
      <p:sp>
        <p:nvSpPr>
          <p:cNvPr id="47" name="角丸四角形 55">
            <a:extLst>
              <a:ext uri="{FF2B5EF4-FFF2-40B4-BE49-F238E27FC236}">
                <a16:creationId xmlns:a16="http://schemas.microsoft.com/office/drawing/2014/main" id="{31E5796F-4AB8-4E0E-9673-93EA764B7765}"/>
              </a:ext>
            </a:extLst>
          </p:cNvPr>
          <p:cNvSpPr/>
          <p:nvPr/>
        </p:nvSpPr>
        <p:spPr>
          <a:xfrm>
            <a:off x="6416088" y="3381669"/>
            <a:ext cx="2548400" cy="87388"/>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I7</a:t>
            </a:r>
          </a:p>
        </p:txBody>
      </p:sp>
      <p:sp>
        <p:nvSpPr>
          <p:cNvPr id="50" name="角丸四角形 56">
            <a:extLst>
              <a:ext uri="{FF2B5EF4-FFF2-40B4-BE49-F238E27FC236}">
                <a16:creationId xmlns:a16="http://schemas.microsoft.com/office/drawing/2014/main" id="{05CAFFDD-0DEA-43F4-A064-436412411E76}"/>
              </a:ext>
            </a:extLst>
          </p:cNvPr>
          <p:cNvSpPr/>
          <p:nvPr/>
        </p:nvSpPr>
        <p:spPr>
          <a:xfrm>
            <a:off x="6414992" y="3590784"/>
            <a:ext cx="2547483" cy="87388"/>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I5</a:t>
            </a:r>
          </a:p>
        </p:txBody>
      </p:sp>
      <p:sp>
        <p:nvSpPr>
          <p:cNvPr id="51" name="角丸四角形 57">
            <a:extLst>
              <a:ext uri="{FF2B5EF4-FFF2-40B4-BE49-F238E27FC236}">
                <a16:creationId xmlns:a16="http://schemas.microsoft.com/office/drawing/2014/main" id="{87428D4B-B96A-4B7A-BE1C-F86A2FD81EC9}"/>
              </a:ext>
            </a:extLst>
          </p:cNvPr>
          <p:cNvSpPr/>
          <p:nvPr/>
        </p:nvSpPr>
        <p:spPr>
          <a:xfrm>
            <a:off x="6414075" y="3705154"/>
            <a:ext cx="2548400" cy="80262"/>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I3</a:t>
            </a:r>
          </a:p>
        </p:txBody>
      </p:sp>
      <p:sp>
        <p:nvSpPr>
          <p:cNvPr id="30" name="テキスト ボックス 29">
            <a:extLst>
              <a:ext uri="{FF2B5EF4-FFF2-40B4-BE49-F238E27FC236}">
                <a16:creationId xmlns:a16="http://schemas.microsoft.com/office/drawing/2014/main" id="{A6CC2E59-3C94-440E-B206-225F56237F16}"/>
              </a:ext>
            </a:extLst>
          </p:cNvPr>
          <p:cNvSpPr txBox="1"/>
          <p:nvPr/>
        </p:nvSpPr>
        <p:spPr>
          <a:xfrm>
            <a:off x="7431028" y="4535042"/>
            <a:ext cx="153945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latin typeface="+mn-ea"/>
              </a:rPr>
              <a:t>採用品は</a:t>
            </a:r>
            <a:r>
              <a:rPr kumimoji="1" lang="en-US" altLang="ja-JP" sz="1400" dirty="0">
                <a:latin typeface="+mn-ea"/>
              </a:rPr>
              <a:t>P31</a:t>
            </a:r>
            <a:r>
              <a:rPr kumimoji="1" lang="ja-JP" altLang="en-US" sz="1400" dirty="0">
                <a:latin typeface="+mn-ea"/>
              </a:rPr>
              <a:t>参照</a:t>
            </a:r>
          </a:p>
        </p:txBody>
      </p:sp>
      <p:sp>
        <p:nvSpPr>
          <p:cNvPr id="55" name="角丸四角形 56">
            <a:extLst>
              <a:ext uri="{FF2B5EF4-FFF2-40B4-BE49-F238E27FC236}">
                <a16:creationId xmlns:a16="http://schemas.microsoft.com/office/drawing/2014/main" id="{F751253B-6D26-4A3F-9A66-E3487BE05557}"/>
              </a:ext>
            </a:extLst>
          </p:cNvPr>
          <p:cNvSpPr/>
          <p:nvPr/>
        </p:nvSpPr>
        <p:spPr>
          <a:xfrm>
            <a:off x="6401067" y="1769257"/>
            <a:ext cx="2547483" cy="8686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5</a:t>
            </a:r>
          </a:p>
        </p:txBody>
      </p:sp>
      <p:sp>
        <p:nvSpPr>
          <p:cNvPr id="56" name="角丸四角形 55">
            <a:extLst>
              <a:ext uri="{FF2B5EF4-FFF2-40B4-BE49-F238E27FC236}">
                <a16:creationId xmlns:a16="http://schemas.microsoft.com/office/drawing/2014/main" id="{CDE277D0-CCEA-488A-988A-421C3C9F022C}"/>
              </a:ext>
            </a:extLst>
          </p:cNvPr>
          <p:cNvSpPr/>
          <p:nvPr/>
        </p:nvSpPr>
        <p:spPr>
          <a:xfrm>
            <a:off x="6403080" y="1660905"/>
            <a:ext cx="2548400" cy="87388"/>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7</a:t>
            </a:r>
          </a:p>
        </p:txBody>
      </p:sp>
      <p:sp>
        <p:nvSpPr>
          <p:cNvPr id="57" name="角丸四角形 56">
            <a:extLst>
              <a:ext uri="{FF2B5EF4-FFF2-40B4-BE49-F238E27FC236}">
                <a16:creationId xmlns:a16="http://schemas.microsoft.com/office/drawing/2014/main" id="{F38DDBB1-8CFB-41B7-885E-D6288F6AC9B3}"/>
              </a:ext>
            </a:extLst>
          </p:cNvPr>
          <p:cNvSpPr/>
          <p:nvPr/>
        </p:nvSpPr>
        <p:spPr>
          <a:xfrm>
            <a:off x="6401067" y="1873242"/>
            <a:ext cx="2547483" cy="87388"/>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5</a:t>
            </a:r>
          </a:p>
        </p:txBody>
      </p:sp>
      <p:sp>
        <p:nvSpPr>
          <p:cNvPr id="58" name="角丸四角形 57">
            <a:extLst>
              <a:ext uri="{FF2B5EF4-FFF2-40B4-BE49-F238E27FC236}">
                <a16:creationId xmlns:a16="http://schemas.microsoft.com/office/drawing/2014/main" id="{B5FCC908-BF62-45CC-9A66-19215BE8B7FE}"/>
              </a:ext>
            </a:extLst>
          </p:cNvPr>
          <p:cNvSpPr/>
          <p:nvPr/>
        </p:nvSpPr>
        <p:spPr>
          <a:xfrm>
            <a:off x="6401067" y="1984390"/>
            <a:ext cx="2548400" cy="80262"/>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3</a:t>
            </a:r>
          </a:p>
        </p:txBody>
      </p:sp>
      <p:sp>
        <p:nvSpPr>
          <p:cNvPr id="59" name="角丸四角形 55">
            <a:extLst>
              <a:ext uri="{FF2B5EF4-FFF2-40B4-BE49-F238E27FC236}">
                <a16:creationId xmlns:a16="http://schemas.microsoft.com/office/drawing/2014/main" id="{9F4D79F5-3082-439A-A9B4-3FAE40246F68}"/>
              </a:ext>
            </a:extLst>
          </p:cNvPr>
          <p:cNvSpPr/>
          <p:nvPr/>
        </p:nvSpPr>
        <p:spPr>
          <a:xfrm>
            <a:off x="6033272" y="1555811"/>
            <a:ext cx="2921451" cy="84380"/>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7</a:t>
            </a:r>
          </a:p>
        </p:txBody>
      </p:sp>
      <p:sp>
        <p:nvSpPr>
          <p:cNvPr id="60" name="角丸四角形 54">
            <a:extLst>
              <a:ext uri="{FF2B5EF4-FFF2-40B4-BE49-F238E27FC236}">
                <a16:creationId xmlns:a16="http://schemas.microsoft.com/office/drawing/2014/main" id="{DBBC1A79-9834-405B-92D1-8E05702833D7}"/>
              </a:ext>
            </a:extLst>
          </p:cNvPr>
          <p:cNvSpPr/>
          <p:nvPr/>
        </p:nvSpPr>
        <p:spPr>
          <a:xfrm>
            <a:off x="5719797" y="1331658"/>
            <a:ext cx="3215207" cy="84380"/>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9</a:t>
            </a:r>
          </a:p>
        </p:txBody>
      </p:sp>
      <p:sp>
        <p:nvSpPr>
          <p:cNvPr id="68" name="角丸四角形 54">
            <a:extLst>
              <a:ext uri="{FF2B5EF4-FFF2-40B4-BE49-F238E27FC236}">
                <a16:creationId xmlns:a16="http://schemas.microsoft.com/office/drawing/2014/main" id="{D133DC21-2481-4762-99DC-EA31ACD9B92F}"/>
              </a:ext>
            </a:extLst>
          </p:cNvPr>
          <p:cNvSpPr/>
          <p:nvPr/>
        </p:nvSpPr>
        <p:spPr>
          <a:xfrm>
            <a:off x="6033272" y="1448967"/>
            <a:ext cx="2914803" cy="78915"/>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Ultra 9</a:t>
            </a:r>
          </a:p>
        </p:txBody>
      </p:sp>
    </p:spTree>
    <p:extLst>
      <p:ext uri="{BB962C8B-B14F-4D97-AF65-F5344CB8AC3E}">
        <p14:creationId xmlns:p14="http://schemas.microsoft.com/office/powerpoint/2010/main" val="1709354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997144217"/>
              </p:ext>
            </p:extLst>
          </p:nvPr>
        </p:nvGraphicFramePr>
        <p:xfrm>
          <a:off x="35496" y="51469"/>
          <a:ext cx="8928982" cy="4680521"/>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216025">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Intel</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Desk  Chipset</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7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96633">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Extreme Workstation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576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Entry Workstation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266357"/>
                  </a:ext>
                </a:extLst>
              </a:tr>
              <a:tr h="57606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Corporate with Intel® </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vPro</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Technology (</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iSIPP</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93610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Enthusiast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93610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Mainstream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648072">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55" name="角丸四角形 40">
            <a:extLst>
              <a:ext uri="{FF2B5EF4-FFF2-40B4-BE49-F238E27FC236}">
                <a16:creationId xmlns:a16="http://schemas.microsoft.com/office/drawing/2014/main" id="{7976D1BC-AA80-4701-AE49-481CB624A227}"/>
              </a:ext>
            </a:extLst>
          </p:cNvPr>
          <p:cNvSpPr/>
          <p:nvPr/>
        </p:nvSpPr>
        <p:spPr>
          <a:xfrm>
            <a:off x="1259628" y="4461228"/>
            <a:ext cx="7694656" cy="198754"/>
          </a:xfrm>
          <a:prstGeom prst="round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H610</a:t>
            </a:r>
          </a:p>
        </p:txBody>
      </p:sp>
      <p:sp>
        <p:nvSpPr>
          <p:cNvPr id="30" name="角丸四角形 19">
            <a:extLst>
              <a:ext uri="{FF2B5EF4-FFF2-40B4-BE49-F238E27FC236}">
                <a16:creationId xmlns:a16="http://schemas.microsoft.com/office/drawing/2014/main" id="{45227A2E-3C9F-43E4-8CF4-61D68ED3C96E}"/>
              </a:ext>
            </a:extLst>
          </p:cNvPr>
          <p:cNvSpPr/>
          <p:nvPr/>
        </p:nvSpPr>
        <p:spPr>
          <a:xfrm>
            <a:off x="1259628" y="788820"/>
            <a:ext cx="7704850" cy="198754"/>
          </a:xfrm>
          <a:prstGeom prst="round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W790</a:t>
            </a:r>
          </a:p>
        </p:txBody>
      </p:sp>
      <p:sp>
        <p:nvSpPr>
          <p:cNvPr id="35" name="角丸四角形 40">
            <a:extLst>
              <a:ext uri="{FF2B5EF4-FFF2-40B4-BE49-F238E27FC236}">
                <a16:creationId xmlns:a16="http://schemas.microsoft.com/office/drawing/2014/main" id="{59FCB9A0-D436-4878-8E2B-C119BBDBD48C}"/>
              </a:ext>
            </a:extLst>
          </p:cNvPr>
          <p:cNvSpPr/>
          <p:nvPr/>
        </p:nvSpPr>
        <p:spPr>
          <a:xfrm>
            <a:off x="1259626" y="3755550"/>
            <a:ext cx="7694656" cy="184352"/>
          </a:xfrm>
          <a:prstGeom prst="roundRect">
            <a:avLst/>
          </a:prstGeom>
          <a:solidFill>
            <a:schemeClr val="accent1">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B</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760</a:t>
            </a:r>
          </a:p>
        </p:txBody>
      </p:sp>
      <p:sp>
        <p:nvSpPr>
          <p:cNvPr id="22" name="角丸四角形 40">
            <a:extLst>
              <a:ext uri="{FF2B5EF4-FFF2-40B4-BE49-F238E27FC236}">
                <a16:creationId xmlns:a16="http://schemas.microsoft.com/office/drawing/2014/main" id="{23E8A76F-C2D9-431C-A2F8-0F8E970B1AFD}"/>
              </a:ext>
            </a:extLst>
          </p:cNvPr>
          <p:cNvSpPr/>
          <p:nvPr/>
        </p:nvSpPr>
        <p:spPr>
          <a:xfrm>
            <a:off x="1257288" y="2529580"/>
            <a:ext cx="7704850" cy="199609"/>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Z890</a:t>
            </a:r>
          </a:p>
        </p:txBody>
      </p:sp>
      <p:sp>
        <p:nvSpPr>
          <p:cNvPr id="23" name="角丸四角形 40">
            <a:extLst>
              <a:ext uri="{FF2B5EF4-FFF2-40B4-BE49-F238E27FC236}">
                <a16:creationId xmlns:a16="http://schemas.microsoft.com/office/drawing/2014/main" id="{2138C745-3A8C-4142-A2ED-FFCE801616D8}"/>
              </a:ext>
            </a:extLst>
          </p:cNvPr>
          <p:cNvSpPr/>
          <p:nvPr/>
        </p:nvSpPr>
        <p:spPr>
          <a:xfrm>
            <a:off x="1257288" y="3494960"/>
            <a:ext cx="7696996" cy="201105"/>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B860</a:t>
            </a:r>
          </a:p>
        </p:txBody>
      </p:sp>
      <p:sp>
        <p:nvSpPr>
          <p:cNvPr id="24" name="角丸四角形 40">
            <a:extLst>
              <a:ext uri="{FF2B5EF4-FFF2-40B4-BE49-F238E27FC236}">
                <a16:creationId xmlns:a16="http://schemas.microsoft.com/office/drawing/2014/main" id="{6302F4DB-34E7-4741-960B-DE1767427C5E}"/>
              </a:ext>
            </a:extLst>
          </p:cNvPr>
          <p:cNvSpPr/>
          <p:nvPr/>
        </p:nvSpPr>
        <p:spPr>
          <a:xfrm>
            <a:off x="1257288" y="4185764"/>
            <a:ext cx="7689006" cy="201105"/>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H810</a:t>
            </a:r>
          </a:p>
        </p:txBody>
      </p:sp>
      <p:sp>
        <p:nvSpPr>
          <p:cNvPr id="36" name="角丸四角形 40">
            <a:extLst>
              <a:ext uri="{FF2B5EF4-FFF2-40B4-BE49-F238E27FC236}">
                <a16:creationId xmlns:a16="http://schemas.microsoft.com/office/drawing/2014/main" id="{3034EA61-FBA2-4E96-8064-F62319ADF6E7}"/>
              </a:ext>
            </a:extLst>
          </p:cNvPr>
          <p:cNvSpPr/>
          <p:nvPr/>
        </p:nvSpPr>
        <p:spPr>
          <a:xfrm>
            <a:off x="1259626" y="1954140"/>
            <a:ext cx="7696994" cy="185562"/>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Q870</a:t>
            </a:r>
          </a:p>
        </p:txBody>
      </p:sp>
      <p:sp>
        <p:nvSpPr>
          <p:cNvPr id="40" name="角丸四角形 19">
            <a:extLst>
              <a:ext uri="{FF2B5EF4-FFF2-40B4-BE49-F238E27FC236}">
                <a16:creationId xmlns:a16="http://schemas.microsoft.com/office/drawing/2014/main" id="{5A2B5448-0BD3-42E2-86E6-F1C6B62F7D93}"/>
              </a:ext>
            </a:extLst>
          </p:cNvPr>
          <p:cNvSpPr/>
          <p:nvPr/>
        </p:nvSpPr>
        <p:spPr>
          <a:xfrm>
            <a:off x="1274470" y="1347614"/>
            <a:ext cx="7696994" cy="185562"/>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W880</a:t>
            </a:r>
          </a:p>
        </p:txBody>
      </p:sp>
      <p:sp>
        <p:nvSpPr>
          <p:cNvPr id="2" name="スライド番号プレースホルダー 1">
            <a:extLst>
              <a:ext uri="{FF2B5EF4-FFF2-40B4-BE49-F238E27FC236}">
                <a16:creationId xmlns:a16="http://schemas.microsoft.com/office/drawing/2014/main" id="{272F04AF-5A7F-47AA-B6B6-81B2F6E4A7CE}"/>
              </a:ext>
            </a:extLst>
          </p:cNvPr>
          <p:cNvSpPr>
            <a:spLocks noGrp="1"/>
          </p:cNvSpPr>
          <p:nvPr>
            <p:ph type="sldNum" sz="quarter" idx="12"/>
          </p:nvPr>
        </p:nvSpPr>
        <p:spPr/>
        <p:txBody>
          <a:bodyPr/>
          <a:lstStyle/>
          <a:p>
            <a:fld id="{F9DFCEB9-CAE4-4F3C-93D0-85C4724A0355}" type="slidenum">
              <a:rPr kumimoji="1" lang="ja-JP" altLang="en-US" smtClean="0"/>
              <a:t>5</a:t>
            </a:fld>
            <a:endParaRPr kumimoji="1" lang="ja-JP" altLang="en-US"/>
          </a:p>
        </p:txBody>
      </p:sp>
      <p:sp>
        <p:nvSpPr>
          <p:cNvPr id="26" name="角丸四角形 19">
            <a:extLst>
              <a:ext uri="{FF2B5EF4-FFF2-40B4-BE49-F238E27FC236}">
                <a16:creationId xmlns:a16="http://schemas.microsoft.com/office/drawing/2014/main" id="{AAB6AAFA-51BE-4025-9AAC-1567167FACBC}"/>
              </a:ext>
            </a:extLst>
          </p:cNvPr>
          <p:cNvSpPr/>
          <p:nvPr/>
        </p:nvSpPr>
        <p:spPr>
          <a:xfrm>
            <a:off x="1257288" y="526579"/>
            <a:ext cx="7696996" cy="198754"/>
          </a:xfrm>
          <a:prstGeom prst="roundRect">
            <a:avLst/>
          </a:prstGeom>
          <a:solidFill>
            <a:schemeClr val="accent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W890</a:t>
            </a:r>
          </a:p>
        </p:txBody>
      </p:sp>
      <p:sp>
        <p:nvSpPr>
          <p:cNvPr id="16" name="角丸四角形 40">
            <a:extLst>
              <a:ext uri="{FF2B5EF4-FFF2-40B4-BE49-F238E27FC236}">
                <a16:creationId xmlns:a16="http://schemas.microsoft.com/office/drawing/2014/main" id="{F4488E9E-DE15-4CE0-AA02-42D1325A6E7E}"/>
              </a:ext>
            </a:extLst>
          </p:cNvPr>
          <p:cNvSpPr/>
          <p:nvPr/>
        </p:nvSpPr>
        <p:spPr>
          <a:xfrm>
            <a:off x="5940152" y="2241548"/>
            <a:ext cx="3021984" cy="199609"/>
          </a:xfrm>
          <a:prstGeom prst="roundRect">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Z990</a:t>
            </a:r>
          </a:p>
        </p:txBody>
      </p:sp>
      <p:sp>
        <p:nvSpPr>
          <p:cNvPr id="17" name="角丸四角形 40">
            <a:extLst>
              <a:ext uri="{FF2B5EF4-FFF2-40B4-BE49-F238E27FC236}">
                <a16:creationId xmlns:a16="http://schemas.microsoft.com/office/drawing/2014/main" id="{59C08D69-264C-4CB0-9647-D3A5480484C1}"/>
              </a:ext>
            </a:extLst>
          </p:cNvPr>
          <p:cNvSpPr/>
          <p:nvPr/>
        </p:nvSpPr>
        <p:spPr>
          <a:xfrm>
            <a:off x="6588224" y="2804189"/>
            <a:ext cx="2358070" cy="199609"/>
          </a:xfrm>
          <a:prstGeom prst="roundRect">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Z970</a:t>
            </a:r>
          </a:p>
        </p:txBody>
      </p:sp>
      <p:sp>
        <p:nvSpPr>
          <p:cNvPr id="18" name="角丸四角形 40">
            <a:extLst>
              <a:ext uri="{FF2B5EF4-FFF2-40B4-BE49-F238E27FC236}">
                <a16:creationId xmlns:a16="http://schemas.microsoft.com/office/drawing/2014/main" id="{362CDBDD-2112-4DF5-8F67-DC393BFBD407}"/>
              </a:ext>
            </a:extLst>
          </p:cNvPr>
          <p:cNvSpPr/>
          <p:nvPr/>
        </p:nvSpPr>
        <p:spPr>
          <a:xfrm>
            <a:off x="6588224" y="3228472"/>
            <a:ext cx="2358070" cy="199609"/>
          </a:xfrm>
          <a:prstGeom prst="roundRect">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 B960</a:t>
            </a:r>
          </a:p>
        </p:txBody>
      </p:sp>
      <p:sp>
        <p:nvSpPr>
          <p:cNvPr id="19" name="角丸四角形 40">
            <a:extLst>
              <a:ext uri="{FF2B5EF4-FFF2-40B4-BE49-F238E27FC236}">
                <a16:creationId xmlns:a16="http://schemas.microsoft.com/office/drawing/2014/main" id="{BD59201C-D8EE-4A92-B652-5159BD52775B}"/>
              </a:ext>
            </a:extLst>
          </p:cNvPr>
          <p:cNvSpPr/>
          <p:nvPr/>
        </p:nvSpPr>
        <p:spPr>
          <a:xfrm>
            <a:off x="6588224" y="1682523"/>
            <a:ext cx="2366058" cy="199609"/>
          </a:xfrm>
          <a:prstGeom prst="roundRect">
            <a:avLst/>
          </a:prstGeom>
          <a:solidFill>
            <a:schemeClr val="accent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3-6</a:t>
            </a:r>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月　</a:t>
            </a:r>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Q970</a:t>
            </a:r>
          </a:p>
        </p:txBody>
      </p:sp>
      <p:sp>
        <p:nvSpPr>
          <p:cNvPr id="20" name="角丸四角形 19">
            <a:extLst>
              <a:ext uri="{FF2B5EF4-FFF2-40B4-BE49-F238E27FC236}">
                <a16:creationId xmlns:a16="http://schemas.microsoft.com/office/drawing/2014/main" id="{A392C6E1-F8E5-4896-864A-FBC7002B40E7}"/>
              </a:ext>
            </a:extLst>
          </p:cNvPr>
          <p:cNvSpPr/>
          <p:nvPr/>
        </p:nvSpPr>
        <p:spPr>
          <a:xfrm>
            <a:off x="6571020" y="1118398"/>
            <a:ext cx="2384982" cy="198754"/>
          </a:xfrm>
          <a:prstGeom prst="roundRect">
            <a:avLst/>
          </a:prstGeom>
          <a:solidFill>
            <a:schemeClr val="tx2">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600" dirty="0">
                <a:latin typeface="Meiryo UI" panose="020B0604030504040204" pitchFamily="50" charset="-128"/>
                <a:ea typeface="Meiryo UI" panose="020B0604030504040204" pitchFamily="50" charset="-128"/>
                <a:cs typeface="Meiryo UI" panose="020B0604030504040204" pitchFamily="50" charset="-128"/>
              </a:rPr>
              <a:t>3-6</a:t>
            </a:r>
            <a:r>
              <a:rPr lang="ja-JP" altLang="en-US" sz="600" dirty="0">
                <a:latin typeface="Meiryo UI" panose="020B0604030504040204" pitchFamily="50" charset="-128"/>
                <a:ea typeface="Meiryo UI" panose="020B0604030504040204" pitchFamily="50" charset="-128"/>
                <a:cs typeface="Meiryo UI" panose="020B0604030504040204" pitchFamily="50" charset="-128"/>
              </a:rPr>
              <a:t>月　</a:t>
            </a:r>
            <a:r>
              <a:rPr lang="en-US" altLang="ja-JP" sz="600" dirty="0">
                <a:latin typeface="Meiryo UI" panose="020B0604030504040204" pitchFamily="50" charset="-128"/>
                <a:ea typeface="Meiryo UI" panose="020B0604030504040204" pitchFamily="50" charset="-128"/>
                <a:cs typeface="Meiryo UI" panose="020B0604030504040204" pitchFamily="50" charset="-128"/>
              </a:rPr>
              <a:t>W980</a:t>
            </a:r>
          </a:p>
        </p:txBody>
      </p:sp>
      <p:sp>
        <p:nvSpPr>
          <p:cNvPr id="25" name="テキスト ボックス 24">
            <a:extLst>
              <a:ext uri="{FF2B5EF4-FFF2-40B4-BE49-F238E27FC236}">
                <a16:creationId xmlns:a16="http://schemas.microsoft.com/office/drawing/2014/main" id="{6E2FFF6E-9E4E-40B7-B07E-C7C2A22A28FA}"/>
              </a:ext>
            </a:extLst>
          </p:cNvPr>
          <p:cNvSpPr txBox="1"/>
          <p:nvPr/>
        </p:nvSpPr>
        <p:spPr>
          <a:xfrm>
            <a:off x="8534622" y="4771953"/>
            <a:ext cx="436842" cy="276999"/>
          </a:xfrm>
          <a:prstGeom prst="rect">
            <a:avLst/>
          </a:prstGeom>
          <a:noFill/>
        </p:spPr>
        <p:txBody>
          <a:bodyPr wrap="square" rtlCol="0">
            <a:spAutoFit/>
          </a:bodyPr>
          <a:lstStyle/>
          <a:p>
            <a:r>
              <a:rPr lang="en-US" altLang="ja-JP" sz="1200" dirty="0">
                <a:solidFill>
                  <a:schemeClr val="bg1"/>
                </a:solidFill>
              </a:rPr>
              <a:t>TBD</a:t>
            </a:r>
            <a:endParaRPr kumimoji="1" lang="ja-JP" altLang="en-US" sz="1200" dirty="0">
              <a:solidFill>
                <a:schemeClr val="bg1"/>
              </a:solidFill>
            </a:endParaRPr>
          </a:p>
        </p:txBody>
      </p:sp>
      <p:sp>
        <p:nvSpPr>
          <p:cNvPr id="21" name="テキスト ボックス 20">
            <a:extLst>
              <a:ext uri="{FF2B5EF4-FFF2-40B4-BE49-F238E27FC236}">
                <a16:creationId xmlns:a16="http://schemas.microsoft.com/office/drawing/2014/main" id="{19FAF31E-0B9A-4B90-81F7-AA6D330BEA3B}"/>
              </a:ext>
            </a:extLst>
          </p:cNvPr>
          <p:cNvSpPr txBox="1"/>
          <p:nvPr/>
        </p:nvSpPr>
        <p:spPr>
          <a:xfrm>
            <a:off x="7364402" y="4590100"/>
            <a:ext cx="153945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latin typeface="+mn-ea"/>
              </a:rPr>
              <a:t>採用品は</a:t>
            </a:r>
            <a:r>
              <a:rPr kumimoji="1" lang="en-US" altLang="ja-JP" sz="1400" dirty="0">
                <a:latin typeface="+mn-ea"/>
              </a:rPr>
              <a:t>P32</a:t>
            </a:r>
            <a:r>
              <a:rPr kumimoji="1" lang="ja-JP" altLang="en-US" sz="1400" dirty="0">
                <a:latin typeface="+mn-ea"/>
              </a:rPr>
              <a:t>参照</a:t>
            </a:r>
          </a:p>
        </p:txBody>
      </p:sp>
    </p:spTree>
    <p:extLst>
      <p:ext uri="{BB962C8B-B14F-4D97-AF65-F5344CB8AC3E}">
        <p14:creationId xmlns:p14="http://schemas.microsoft.com/office/powerpoint/2010/main" val="113662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185610042"/>
              </p:ext>
            </p:extLst>
          </p:nvPr>
        </p:nvGraphicFramePr>
        <p:xfrm>
          <a:off x="7772" y="51470"/>
          <a:ext cx="8928982" cy="5040560"/>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10061">
                <a:tc>
                  <a:txBody>
                    <a:bodyPr/>
                    <a:lstStyle/>
                    <a:p>
                      <a:r>
                        <a:rPr kumimoji="1" lang="en-US" altLang="ja-JP" sz="1050" kern="1200" dirty="0">
                          <a:solidFill>
                            <a:schemeClr val="bg1"/>
                          </a:solidFill>
                          <a:latin typeface="Meiryo UI" panose="020B0604030504040204" pitchFamily="50" charset="-128"/>
                          <a:ea typeface="Meiryo UI" panose="020B0604030504040204" pitchFamily="50" charset="-128"/>
                          <a:cs typeface="+mn-cs"/>
                        </a:rPr>
                        <a:t>AMD</a:t>
                      </a:r>
                      <a:r>
                        <a:rPr kumimoji="1" lang="ja-JP" altLang="en-US" sz="1050" kern="1200" dirty="0">
                          <a:solidFill>
                            <a:schemeClr val="bg1"/>
                          </a:solidFill>
                          <a:latin typeface="Meiryo UI" panose="020B0604030504040204" pitchFamily="50" charset="-128"/>
                          <a:ea typeface="Meiryo UI" panose="020B0604030504040204" pitchFamily="50" charset="-128"/>
                          <a:cs typeface="+mn-cs"/>
                        </a:rPr>
                        <a:t>　</a:t>
                      </a:r>
                      <a:r>
                        <a:rPr kumimoji="1" lang="en-US" altLang="ja-JP" sz="1050" kern="1200" dirty="0">
                          <a:solidFill>
                            <a:schemeClr val="bg1"/>
                          </a:solidFill>
                          <a:latin typeface="Meiryo UI" panose="020B0604030504040204" pitchFamily="50" charset="-128"/>
                          <a:ea typeface="Meiryo UI" panose="020B0604030504040204" pitchFamily="50" charset="-128"/>
                          <a:cs typeface="+mn-cs"/>
                        </a:rPr>
                        <a:t>Desk CPU</a:t>
                      </a:r>
                      <a:r>
                        <a:rPr kumimoji="1" lang="ja-JP" altLang="en-US" sz="1050" kern="1200" dirty="0">
                          <a:solidFill>
                            <a:schemeClr val="bg1"/>
                          </a:solidFill>
                          <a:latin typeface="Meiryo UI" panose="020B0604030504040204" pitchFamily="50" charset="-128"/>
                          <a:ea typeface="Meiryo UI" panose="020B0604030504040204" pitchFamily="50" charset="-128"/>
                          <a:cs typeface="+mn-cs"/>
                        </a:rPr>
                        <a:t>　</a:t>
                      </a:r>
                      <a:r>
                        <a:rPr kumimoji="1" lang="ja-JP" altLang="en-US" sz="700" kern="1200" dirty="0">
                          <a:solidFill>
                            <a:schemeClr val="bg1"/>
                          </a:solidFill>
                          <a:latin typeface="Meiryo UI" panose="020B0604030504040204" pitchFamily="50" charset="-128"/>
                          <a:ea typeface="Meiryo UI" panose="020B0604030504040204" pitchFamily="50" charset="-128"/>
                          <a:cs typeface="+mn-cs"/>
                        </a:rPr>
                        <a:t>ロードマップ</a:t>
                      </a:r>
                      <a:endParaRPr kumimoji="1" lang="en-US" altLang="ja-JP" sz="700" kern="1200" dirty="0">
                        <a:solidFill>
                          <a:schemeClr val="bg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8600">
                <a:tc>
                  <a:txBody>
                    <a:bodyPr/>
                    <a:lstStyle/>
                    <a:p>
                      <a:pPr algn="l"/>
                      <a:r>
                        <a:rPr kumimoji="1" lang="en-US" altLang="ja-JP" sz="800" kern="1200" dirty="0">
                          <a:solidFill>
                            <a:schemeClr val="tx1"/>
                          </a:solidFill>
                          <a:latin typeface="Meiryo UI" panose="020B0604030504040204" pitchFamily="50" charset="-128"/>
                          <a:ea typeface="Meiryo UI" panose="020B0604030504040204" pitchFamily="50" charset="-128"/>
                          <a:cs typeface="+mn-cs"/>
                        </a:rPr>
                        <a:t>TR</a:t>
                      </a:r>
                    </a:p>
                    <a:p>
                      <a:pPr algn="l"/>
                      <a:r>
                        <a:rPr kumimoji="1" lang="en-US" altLang="ja-JP" sz="800" kern="1200" dirty="0">
                          <a:solidFill>
                            <a:schemeClr val="tx1"/>
                          </a:solidFill>
                          <a:latin typeface="Meiryo UI" panose="020B0604030504040204" pitchFamily="50" charset="-128"/>
                          <a:ea typeface="Meiryo UI" panose="020B0604030504040204" pitchFamily="50" charset="-128"/>
                          <a:cs typeface="+mn-cs"/>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4293800">
                <a:tc>
                  <a:txBody>
                    <a:bodyPr/>
                    <a:lstStyle/>
                    <a:p>
                      <a:pPr algn="l"/>
                      <a:r>
                        <a:rPr kumimoji="1" lang="en-US" altLang="ja-JP" sz="800" kern="1200" dirty="0">
                          <a:solidFill>
                            <a:schemeClr val="tx1"/>
                          </a:solidFill>
                          <a:latin typeface="Meiryo UI" panose="020B0604030504040204" pitchFamily="50" charset="-128"/>
                          <a:ea typeface="Meiryo UI" panose="020B0604030504040204" pitchFamily="50" charset="-128"/>
                          <a:cs typeface="+mn-cs"/>
                        </a:rPr>
                        <a:t>Zen</a:t>
                      </a:r>
                    </a:p>
                    <a:p>
                      <a:pPr algn="l"/>
                      <a:r>
                        <a:rPr kumimoji="1" lang="en-US" altLang="ja-JP" sz="800" kern="1200" dirty="0">
                          <a:solidFill>
                            <a:schemeClr val="tx1"/>
                          </a:solidFill>
                          <a:latin typeface="Meiryo UI" panose="020B0604030504040204" pitchFamily="50" charset="-128"/>
                          <a:ea typeface="Meiryo UI" panose="020B0604030504040204" pitchFamily="50" charset="-128"/>
                          <a:cs typeface="+mn-cs"/>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700" kern="1200" dirty="0">
                        <a:solidFill>
                          <a:schemeClr val="tx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12" name="角丸四角形 11"/>
          <p:cNvSpPr/>
          <p:nvPr/>
        </p:nvSpPr>
        <p:spPr>
          <a:xfrm>
            <a:off x="1260591" y="4331368"/>
            <a:ext cx="7690755" cy="288248"/>
          </a:xfrm>
          <a:prstGeom prst="roundRect">
            <a:avLst>
              <a:gd name="adj" fmla="val 0"/>
            </a:avLst>
          </a:prstGeom>
          <a:solidFill>
            <a:schemeClr val="tx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Renoir</a:t>
            </a:r>
            <a:r>
              <a:rPr lang="ja-JP" altLang="en-US" sz="1000" dirty="0"/>
              <a:t>　</a:t>
            </a:r>
            <a:r>
              <a:rPr lang="en-US" altLang="ja-JP" sz="1000" dirty="0"/>
              <a:t>4000 Series</a:t>
            </a:r>
            <a:r>
              <a:rPr lang="ja-JP" altLang="en-US" sz="1000" dirty="0"/>
              <a:t>　</a:t>
            </a:r>
            <a:r>
              <a:rPr lang="en-US" altLang="ja-JP" sz="1000" dirty="0"/>
              <a:t>Zen2</a:t>
            </a:r>
          </a:p>
        </p:txBody>
      </p:sp>
      <p:sp>
        <p:nvSpPr>
          <p:cNvPr id="32" name="角丸四角形 11">
            <a:extLst>
              <a:ext uri="{FF2B5EF4-FFF2-40B4-BE49-F238E27FC236}">
                <a16:creationId xmlns:a16="http://schemas.microsoft.com/office/drawing/2014/main" id="{415AA893-C8BD-4E40-8EC5-DBDC7E5C45F4}"/>
              </a:ext>
            </a:extLst>
          </p:cNvPr>
          <p:cNvSpPr/>
          <p:nvPr/>
        </p:nvSpPr>
        <p:spPr>
          <a:xfrm>
            <a:off x="1268479" y="3514974"/>
            <a:ext cx="7695996" cy="782271"/>
          </a:xfrm>
          <a:prstGeom prst="roundRect">
            <a:avLst>
              <a:gd name="adj" fmla="val 0"/>
            </a:avLst>
          </a:prstGeom>
          <a:solidFill>
            <a:schemeClr val="tx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Vermeer (Cezanne)</a:t>
            </a:r>
            <a:r>
              <a:rPr lang="ja-JP" altLang="en-US" sz="1000" dirty="0"/>
              <a:t>　</a:t>
            </a:r>
            <a:r>
              <a:rPr lang="en-US" altLang="ja-JP" sz="1000" dirty="0"/>
              <a:t>5000 Series</a:t>
            </a:r>
            <a:r>
              <a:rPr lang="ja-JP" altLang="en-US" sz="1000" dirty="0"/>
              <a:t>　</a:t>
            </a:r>
            <a:r>
              <a:rPr lang="en-US" altLang="ja-JP" sz="1000" dirty="0"/>
              <a:t>Zen3/Zen2</a:t>
            </a:r>
          </a:p>
        </p:txBody>
      </p:sp>
      <p:cxnSp>
        <p:nvCxnSpPr>
          <p:cNvPr id="3" name="直線コネクタ 2">
            <a:extLst>
              <a:ext uri="{FF2B5EF4-FFF2-40B4-BE49-F238E27FC236}">
                <a16:creationId xmlns:a16="http://schemas.microsoft.com/office/drawing/2014/main" id="{2C640B3B-BC53-45A3-B0E4-9847F0EFDE6D}"/>
              </a:ext>
            </a:extLst>
          </p:cNvPr>
          <p:cNvCxnSpPr>
            <a:cxnSpLocks/>
          </p:cNvCxnSpPr>
          <p:nvPr/>
        </p:nvCxnSpPr>
        <p:spPr>
          <a:xfrm>
            <a:off x="677736" y="3435846"/>
            <a:ext cx="828091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5" name="角丸四角形 11">
            <a:extLst>
              <a:ext uri="{FF2B5EF4-FFF2-40B4-BE49-F238E27FC236}">
                <a16:creationId xmlns:a16="http://schemas.microsoft.com/office/drawing/2014/main" id="{2FE47E54-BC3C-47D9-A65D-CD553D569EEC}"/>
              </a:ext>
            </a:extLst>
          </p:cNvPr>
          <p:cNvSpPr/>
          <p:nvPr/>
        </p:nvSpPr>
        <p:spPr>
          <a:xfrm>
            <a:off x="1268479" y="2019020"/>
            <a:ext cx="7684336" cy="696746"/>
          </a:xfrm>
          <a:prstGeom prst="roundRect">
            <a:avLst>
              <a:gd name="adj" fmla="val 0"/>
            </a:avLst>
          </a:prstGeom>
          <a:solidFill>
            <a:srgbClr val="00206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7000 Series Zen4</a:t>
            </a:r>
          </a:p>
        </p:txBody>
      </p:sp>
      <p:sp>
        <p:nvSpPr>
          <p:cNvPr id="44" name="角丸四角形 55">
            <a:extLst>
              <a:ext uri="{FF2B5EF4-FFF2-40B4-BE49-F238E27FC236}">
                <a16:creationId xmlns:a16="http://schemas.microsoft.com/office/drawing/2014/main" id="{BC6A81D9-1E99-4D84-9557-47E72CE923C2}"/>
              </a:ext>
            </a:extLst>
          </p:cNvPr>
          <p:cNvSpPr/>
          <p:nvPr/>
        </p:nvSpPr>
        <p:spPr>
          <a:xfrm>
            <a:off x="1279476" y="3786311"/>
            <a:ext cx="7679170" cy="9929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5700X Vermeer</a:t>
            </a:r>
          </a:p>
        </p:txBody>
      </p:sp>
      <p:sp>
        <p:nvSpPr>
          <p:cNvPr id="51" name="角丸四角形 56">
            <a:extLst>
              <a:ext uri="{FF2B5EF4-FFF2-40B4-BE49-F238E27FC236}">
                <a16:creationId xmlns:a16="http://schemas.microsoft.com/office/drawing/2014/main" id="{9DFE3B06-FDE1-400B-90FE-CABE00D6A759}"/>
              </a:ext>
            </a:extLst>
          </p:cNvPr>
          <p:cNvSpPr/>
          <p:nvPr/>
        </p:nvSpPr>
        <p:spPr>
          <a:xfrm>
            <a:off x="1279824" y="4489733"/>
            <a:ext cx="6389184" cy="9675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 4500 </a:t>
            </a:r>
            <a:r>
              <a:rPr lang="en-US" altLang="ja-JP" sz="700" dirty="0" err="1">
                <a:solidFill>
                  <a:schemeClr val="tx1"/>
                </a:solidFill>
              </a:rPr>
              <a:t>nonGPU</a:t>
            </a:r>
            <a:endParaRPr lang="en-US" altLang="ja-JP" sz="700" dirty="0">
              <a:solidFill>
                <a:schemeClr val="tx1"/>
              </a:solidFill>
            </a:endParaRPr>
          </a:p>
        </p:txBody>
      </p:sp>
      <p:sp>
        <p:nvSpPr>
          <p:cNvPr id="59" name="角丸四角形 56">
            <a:extLst>
              <a:ext uri="{FF2B5EF4-FFF2-40B4-BE49-F238E27FC236}">
                <a16:creationId xmlns:a16="http://schemas.microsoft.com/office/drawing/2014/main" id="{09897095-E7E1-4A70-8E34-B6BC382A4D58}"/>
              </a:ext>
            </a:extLst>
          </p:cNvPr>
          <p:cNvSpPr/>
          <p:nvPr/>
        </p:nvSpPr>
        <p:spPr>
          <a:xfrm>
            <a:off x="1284187" y="4032351"/>
            <a:ext cx="2567733" cy="96076"/>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a:t>
            </a:r>
            <a:r>
              <a:rPr lang="ja-JP" altLang="en-US" sz="700" dirty="0">
                <a:solidFill>
                  <a:schemeClr val="tx1"/>
                </a:solidFill>
              </a:rPr>
              <a:t> </a:t>
            </a:r>
            <a:r>
              <a:rPr lang="en-US" altLang="ja-JP" sz="700" dirty="0">
                <a:solidFill>
                  <a:schemeClr val="tx1"/>
                </a:solidFill>
              </a:rPr>
              <a:t>5600GT/ 5500GT Cezanne</a:t>
            </a:r>
            <a:r>
              <a:rPr lang="ja-JP" altLang="en-US" sz="700" dirty="0">
                <a:solidFill>
                  <a:schemeClr val="tx1"/>
                </a:solidFill>
              </a:rPr>
              <a:t>　</a:t>
            </a:r>
            <a:r>
              <a:rPr lang="en-US" altLang="ja-JP" sz="700" dirty="0" err="1">
                <a:solidFill>
                  <a:schemeClr val="tx1"/>
                </a:solidFill>
              </a:rPr>
              <a:t>iGPU</a:t>
            </a:r>
            <a:r>
              <a:rPr lang="ja-JP" altLang="en-US" sz="700" dirty="0">
                <a:solidFill>
                  <a:schemeClr val="tx1"/>
                </a:solidFill>
              </a:rPr>
              <a:t>付き</a:t>
            </a:r>
            <a:endParaRPr lang="en-US" altLang="ja-JP" sz="700" dirty="0">
              <a:solidFill>
                <a:schemeClr val="tx1"/>
              </a:solidFill>
            </a:endParaRPr>
          </a:p>
        </p:txBody>
      </p:sp>
      <p:sp>
        <p:nvSpPr>
          <p:cNvPr id="28" name="角丸四角形 54">
            <a:extLst>
              <a:ext uri="{FF2B5EF4-FFF2-40B4-BE49-F238E27FC236}">
                <a16:creationId xmlns:a16="http://schemas.microsoft.com/office/drawing/2014/main" id="{EB66A88D-9CCD-4928-9309-7D2098FC746F}"/>
              </a:ext>
            </a:extLst>
          </p:cNvPr>
          <p:cNvSpPr/>
          <p:nvPr/>
        </p:nvSpPr>
        <p:spPr>
          <a:xfrm>
            <a:off x="1276661" y="2185762"/>
            <a:ext cx="7676154" cy="99863"/>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Ryzen9</a:t>
            </a:r>
            <a:r>
              <a:rPr lang="ja-JP" altLang="en-US" sz="700" dirty="0">
                <a:solidFill>
                  <a:schemeClr val="tx1"/>
                </a:solidFill>
              </a:rPr>
              <a:t> </a:t>
            </a:r>
            <a:r>
              <a:rPr lang="en-US" altLang="ja-JP" sz="700" dirty="0">
                <a:solidFill>
                  <a:schemeClr val="tx1"/>
                </a:solidFill>
              </a:rPr>
              <a:t>7900X / 7900</a:t>
            </a:r>
          </a:p>
        </p:txBody>
      </p:sp>
      <p:sp>
        <p:nvSpPr>
          <p:cNvPr id="30" name="角丸四角形 55">
            <a:extLst>
              <a:ext uri="{FF2B5EF4-FFF2-40B4-BE49-F238E27FC236}">
                <a16:creationId xmlns:a16="http://schemas.microsoft.com/office/drawing/2014/main" id="{931CE2B7-4F11-4D56-A8D7-F176EF7F03AA}"/>
              </a:ext>
            </a:extLst>
          </p:cNvPr>
          <p:cNvSpPr/>
          <p:nvPr/>
        </p:nvSpPr>
        <p:spPr>
          <a:xfrm>
            <a:off x="1276641" y="2424413"/>
            <a:ext cx="7668466" cy="103550"/>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 7700X / 7700 </a:t>
            </a:r>
          </a:p>
        </p:txBody>
      </p:sp>
      <p:sp>
        <p:nvSpPr>
          <p:cNvPr id="33" name="角丸四角形 56">
            <a:extLst>
              <a:ext uri="{FF2B5EF4-FFF2-40B4-BE49-F238E27FC236}">
                <a16:creationId xmlns:a16="http://schemas.microsoft.com/office/drawing/2014/main" id="{A0A89E5B-5BF2-484C-92BA-0E88D6326C12}"/>
              </a:ext>
            </a:extLst>
          </p:cNvPr>
          <p:cNvSpPr/>
          <p:nvPr/>
        </p:nvSpPr>
        <p:spPr>
          <a:xfrm>
            <a:off x="1275291" y="2554463"/>
            <a:ext cx="7669826" cy="98908"/>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 7600X / 7600 / 7500F (/ 7400)</a:t>
            </a:r>
          </a:p>
        </p:txBody>
      </p:sp>
      <p:sp>
        <p:nvSpPr>
          <p:cNvPr id="52" name="角丸四角形 55">
            <a:extLst>
              <a:ext uri="{FF2B5EF4-FFF2-40B4-BE49-F238E27FC236}">
                <a16:creationId xmlns:a16="http://schemas.microsoft.com/office/drawing/2014/main" id="{3298D97F-8935-42A9-8A46-41B0ABC50FC6}"/>
              </a:ext>
            </a:extLst>
          </p:cNvPr>
          <p:cNvSpPr/>
          <p:nvPr/>
        </p:nvSpPr>
        <p:spPr>
          <a:xfrm>
            <a:off x="1276662" y="2313372"/>
            <a:ext cx="7660906" cy="97014"/>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 7800X3D</a:t>
            </a:r>
          </a:p>
        </p:txBody>
      </p:sp>
      <p:sp>
        <p:nvSpPr>
          <p:cNvPr id="57" name="角丸四角形 10">
            <a:extLst>
              <a:ext uri="{FF2B5EF4-FFF2-40B4-BE49-F238E27FC236}">
                <a16:creationId xmlns:a16="http://schemas.microsoft.com/office/drawing/2014/main" id="{2A0C3B2A-224F-4773-8D18-6A3AC046532E}"/>
              </a:ext>
            </a:extLst>
          </p:cNvPr>
          <p:cNvSpPr/>
          <p:nvPr/>
        </p:nvSpPr>
        <p:spPr>
          <a:xfrm>
            <a:off x="1268479" y="2972004"/>
            <a:ext cx="7684336" cy="463842"/>
          </a:xfrm>
          <a:prstGeom prst="roundRect">
            <a:avLst>
              <a:gd name="adj" fmla="val 0"/>
            </a:avLst>
          </a:prstGeom>
          <a:solidFill>
            <a:srgbClr val="00B0F0"/>
          </a:solid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000" dirty="0"/>
              <a:t>8000 Series Zen4</a:t>
            </a:r>
            <a:r>
              <a:rPr lang="ja-JP" altLang="en-US" sz="1000" dirty="0"/>
              <a:t>　</a:t>
            </a:r>
            <a:r>
              <a:rPr lang="en-US" altLang="ja-JP" sz="1000" dirty="0"/>
              <a:t>8700G/8600G</a:t>
            </a:r>
            <a:r>
              <a:rPr lang="ja-JP" altLang="en-US" sz="1000" dirty="0"/>
              <a:t>は</a:t>
            </a:r>
            <a:r>
              <a:rPr lang="en-US" altLang="ja-JP" sz="1000" dirty="0" err="1"/>
              <a:t>RyzenAI</a:t>
            </a:r>
            <a:r>
              <a:rPr lang="en-US" altLang="ja-JP" sz="1000" dirty="0"/>
              <a:t>(NPU)</a:t>
            </a:r>
            <a:r>
              <a:rPr lang="ja-JP" altLang="en-US" sz="1000" dirty="0"/>
              <a:t>搭載</a:t>
            </a:r>
            <a:endParaRPr lang="en-US" altLang="ja-JP" sz="1000" dirty="0"/>
          </a:p>
        </p:txBody>
      </p:sp>
      <p:sp>
        <p:nvSpPr>
          <p:cNvPr id="58" name="角丸四角形 55">
            <a:extLst>
              <a:ext uri="{FF2B5EF4-FFF2-40B4-BE49-F238E27FC236}">
                <a16:creationId xmlns:a16="http://schemas.microsoft.com/office/drawing/2014/main" id="{AB7731A7-CBDA-4657-8724-B2CC9F1B044F}"/>
              </a:ext>
            </a:extLst>
          </p:cNvPr>
          <p:cNvSpPr/>
          <p:nvPr/>
        </p:nvSpPr>
        <p:spPr>
          <a:xfrm>
            <a:off x="1290574" y="3167539"/>
            <a:ext cx="7646191" cy="102491"/>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8700G </a:t>
            </a:r>
            <a:r>
              <a:rPr lang="en-US" altLang="ja-JP" sz="700" dirty="0" err="1">
                <a:solidFill>
                  <a:schemeClr val="tx1"/>
                </a:solidFill>
              </a:rPr>
              <a:t>iGPU</a:t>
            </a:r>
            <a:r>
              <a:rPr lang="ja-JP" altLang="en-US" sz="700" dirty="0">
                <a:solidFill>
                  <a:schemeClr val="tx1"/>
                </a:solidFill>
              </a:rPr>
              <a:t>付き </a:t>
            </a:r>
            <a:r>
              <a:rPr lang="en-US" altLang="ja-JP" sz="700" dirty="0">
                <a:solidFill>
                  <a:schemeClr val="tx1"/>
                </a:solidFill>
              </a:rPr>
              <a:t>/ 8700F </a:t>
            </a:r>
            <a:r>
              <a:rPr lang="en-US" altLang="ja-JP" sz="700" dirty="0" err="1">
                <a:solidFill>
                  <a:schemeClr val="tx1"/>
                </a:solidFill>
              </a:rPr>
              <a:t>nonGPU</a:t>
            </a:r>
            <a:endParaRPr lang="en-US" altLang="ja-JP" sz="700" dirty="0">
              <a:solidFill>
                <a:schemeClr val="tx1"/>
              </a:solidFill>
            </a:endParaRPr>
          </a:p>
        </p:txBody>
      </p:sp>
      <p:sp>
        <p:nvSpPr>
          <p:cNvPr id="65" name="角丸四角形 16">
            <a:extLst>
              <a:ext uri="{FF2B5EF4-FFF2-40B4-BE49-F238E27FC236}">
                <a16:creationId xmlns:a16="http://schemas.microsoft.com/office/drawing/2014/main" id="{0B820E3F-8FED-46B6-A066-CD3CD33EA265}"/>
              </a:ext>
            </a:extLst>
          </p:cNvPr>
          <p:cNvSpPr/>
          <p:nvPr/>
        </p:nvSpPr>
        <p:spPr>
          <a:xfrm>
            <a:off x="1290563" y="3289003"/>
            <a:ext cx="7646191" cy="110478"/>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a:t>
            </a:r>
            <a:r>
              <a:rPr lang="ja-JP" altLang="en-US" sz="700" dirty="0">
                <a:solidFill>
                  <a:schemeClr val="tx1"/>
                </a:solidFill>
              </a:rPr>
              <a:t> </a:t>
            </a:r>
            <a:r>
              <a:rPr lang="en-US" altLang="ja-JP" sz="700" dirty="0">
                <a:solidFill>
                  <a:schemeClr val="tx1"/>
                </a:solidFill>
              </a:rPr>
              <a:t>8600G/8500G</a:t>
            </a:r>
            <a:r>
              <a:rPr lang="ja-JP" altLang="en-US" sz="700" dirty="0">
                <a:solidFill>
                  <a:schemeClr val="tx1"/>
                </a:solidFill>
              </a:rPr>
              <a:t> </a:t>
            </a:r>
            <a:r>
              <a:rPr lang="en-US" altLang="ja-JP" sz="700" dirty="0" err="1">
                <a:solidFill>
                  <a:schemeClr val="tx1"/>
                </a:solidFill>
              </a:rPr>
              <a:t>iGPU</a:t>
            </a:r>
            <a:r>
              <a:rPr lang="ja-JP" altLang="en-US" sz="700" dirty="0">
                <a:solidFill>
                  <a:schemeClr val="tx1"/>
                </a:solidFill>
              </a:rPr>
              <a:t>付き </a:t>
            </a:r>
            <a:r>
              <a:rPr lang="en-US" altLang="ja-JP" sz="700" dirty="0">
                <a:solidFill>
                  <a:schemeClr val="tx1"/>
                </a:solidFill>
              </a:rPr>
              <a:t>/ Ryzen5</a:t>
            </a:r>
            <a:r>
              <a:rPr lang="ja-JP" altLang="en-US" sz="700" dirty="0">
                <a:solidFill>
                  <a:schemeClr val="tx1"/>
                </a:solidFill>
              </a:rPr>
              <a:t> </a:t>
            </a:r>
            <a:r>
              <a:rPr lang="en-US" altLang="ja-JP" sz="700" dirty="0">
                <a:solidFill>
                  <a:schemeClr val="tx1"/>
                </a:solidFill>
              </a:rPr>
              <a:t>8400F</a:t>
            </a:r>
            <a:r>
              <a:rPr lang="ja-JP" altLang="en-US" sz="700" dirty="0">
                <a:solidFill>
                  <a:schemeClr val="tx1"/>
                </a:solidFill>
              </a:rPr>
              <a:t> </a:t>
            </a:r>
            <a:r>
              <a:rPr lang="en-US" altLang="ja-JP" sz="700" dirty="0" err="1">
                <a:solidFill>
                  <a:schemeClr val="tx1"/>
                </a:solidFill>
              </a:rPr>
              <a:t>nonGPU</a:t>
            </a:r>
            <a:endParaRPr lang="en-US" altLang="ja-JP" sz="700" dirty="0">
              <a:solidFill>
                <a:schemeClr val="tx1"/>
              </a:solidFill>
            </a:endParaRPr>
          </a:p>
        </p:txBody>
      </p:sp>
      <p:sp>
        <p:nvSpPr>
          <p:cNvPr id="60" name="テキスト ボックス 59">
            <a:extLst>
              <a:ext uri="{FF2B5EF4-FFF2-40B4-BE49-F238E27FC236}">
                <a16:creationId xmlns:a16="http://schemas.microsoft.com/office/drawing/2014/main" id="{CFA26452-97CC-42C1-B1A6-A4E2E82FF55D}"/>
              </a:ext>
            </a:extLst>
          </p:cNvPr>
          <p:cNvSpPr txBox="1"/>
          <p:nvPr/>
        </p:nvSpPr>
        <p:spPr>
          <a:xfrm>
            <a:off x="638873" y="4207696"/>
            <a:ext cx="585575" cy="246221"/>
          </a:xfrm>
          <a:prstGeom prst="rect">
            <a:avLst/>
          </a:prstGeom>
          <a:noFill/>
        </p:spPr>
        <p:txBody>
          <a:bodyPr wrap="square" rtlCol="0">
            <a:spAutoFit/>
          </a:bodyPr>
          <a:lstStyle/>
          <a:p>
            <a:r>
              <a:rPr kumimoji="1" lang="en-US" altLang="ja-JP" sz="1000" dirty="0">
                <a:ea typeface="Meiryo UI" panose="020B0604030504040204" pitchFamily="50" charset="-128"/>
              </a:rPr>
              <a:t>AM4</a:t>
            </a:r>
            <a:endParaRPr kumimoji="1" lang="ja-JP" altLang="en-US" sz="1000" dirty="0">
              <a:ea typeface="Meiryo UI" panose="020B0604030504040204" pitchFamily="50" charset="-128"/>
            </a:endParaRPr>
          </a:p>
        </p:txBody>
      </p:sp>
      <p:sp>
        <p:nvSpPr>
          <p:cNvPr id="71" name="テキスト ボックス 70">
            <a:extLst>
              <a:ext uri="{FF2B5EF4-FFF2-40B4-BE49-F238E27FC236}">
                <a16:creationId xmlns:a16="http://schemas.microsoft.com/office/drawing/2014/main" id="{26AFB6B8-0F36-420B-9AF0-DE3F47A762BA}"/>
              </a:ext>
            </a:extLst>
          </p:cNvPr>
          <p:cNvSpPr txBox="1"/>
          <p:nvPr/>
        </p:nvSpPr>
        <p:spPr>
          <a:xfrm>
            <a:off x="677736" y="1879130"/>
            <a:ext cx="585575" cy="246221"/>
          </a:xfrm>
          <a:prstGeom prst="rect">
            <a:avLst/>
          </a:prstGeom>
          <a:noFill/>
        </p:spPr>
        <p:txBody>
          <a:bodyPr wrap="square" rtlCol="0">
            <a:spAutoFit/>
          </a:bodyPr>
          <a:lstStyle/>
          <a:p>
            <a:r>
              <a:rPr kumimoji="1" lang="en-US" altLang="ja-JP" sz="1000" dirty="0">
                <a:ea typeface="Meiryo UI" panose="020B0604030504040204" pitchFamily="50" charset="-128"/>
              </a:rPr>
              <a:t>AM5</a:t>
            </a:r>
            <a:endParaRPr kumimoji="1" lang="ja-JP" altLang="en-US" sz="1000" dirty="0">
              <a:ea typeface="Meiryo UI" panose="020B0604030504040204" pitchFamily="50" charset="-128"/>
            </a:endParaRPr>
          </a:p>
        </p:txBody>
      </p:sp>
      <p:sp>
        <p:nvSpPr>
          <p:cNvPr id="46" name="角丸四角形 11">
            <a:extLst>
              <a:ext uri="{FF2B5EF4-FFF2-40B4-BE49-F238E27FC236}">
                <a16:creationId xmlns:a16="http://schemas.microsoft.com/office/drawing/2014/main" id="{7F9F75E1-C6E7-4ADA-9008-58D1B9FD2095}"/>
              </a:ext>
            </a:extLst>
          </p:cNvPr>
          <p:cNvSpPr/>
          <p:nvPr/>
        </p:nvSpPr>
        <p:spPr>
          <a:xfrm>
            <a:off x="1259632" y="982639"/>
            <a:ext cx="7689306" cy="995317"/>
          </a:xfrm>
          <a:prstGeom prst="roundRect">
            <a:avLst>
              <a:gd name="adj" fmla="val 294"/>
            </a:avLst>
          </a:prstGeom>
          <a:solidFill>
            <a:srgbClr val="00206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9000 Series Zen5</a:t>
            </a:r>
          </a:p>
        </p:txBody>
      </p:sp>
      <p:sp>
        <p:nvSpPr>
          <p:cNvPr id="50" name="角丸四角形 54">
            <a:extLst>
              <a:ext uri="{FF2B5EF4-FFF2-40B4-BE49-F238E27FC236}">
                <a16:creationId xmlns:a16="http://schemas.microsoft.com/office/drawing/2014/main" id="{53AEB78E-0E2B-4A54-957C-2005957F4562}"/>
              </a:ext>
            </a:extLst>
          </p:cNvPr>
          <p:cNvSpPr/>
          <p:nvPr/>
        </p:nvSpPr>
        <p:spPr>
          <a:xfrm>
            <a:off x="1279122" y="1385772"/>
            <a:ext cx="7660618" cy="97470"/>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Ryzen9</a:t>
            </a:r>
            <a:r>
              <a:rPr lang="ja-JP" altLang="en-US" sz="700" dirty="0">
                <a:solidFill>
                  <a:schemeClr val="tx1"/>
                </a:solidFill>
              </a:rPr>
              <a:t> </a:t>
            </a:r>
            <a:r>
              <a:rPr lang="en-US" altLang="ja-JP" sz="700" dirty="0">
                <a:solidFill>
                  <a:schemeClr val="tx1"/>
                </a:solidFill>
              </a:rPr>
              <a:t>9950X/9900X</a:t>
            </a:r>
          </a:p>
        </p:txBody>
      </p:sp>
      <p:sp>
        <p:nvSpPr>
          <p:cNvPr id="69" name="角丸四角形 55">
            <a:extLst>
              <a:ext uri="{FF2B5EF4-FFF2-40B4-BE49-F238E27FC236}">
                <a16:creationId xmlns:a16="http://schemas.microsoft.com/office/drawing/2014/main" id="{25C35EB3-23DD-42F3-BF0E-01F946271558}"/>
              </a:ext>
            </a:extLst>
          </p:cNvPr>
          <p:cNvSpPr/>
          <p:nvPr/>
        </p:nvSpPr>
        <p:spPr>
          <a:xfrm>
            <a:off x="1271513" y="1715417"/>
            <a:ext cx="7660617" cy="95305"/>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9700X </a:t>
            </a:r>
          </a:p>
        </p:txBody>
      </p:sp>
      <p:sp>
        <p:nvSpPr>
          <p:cNvPr id="72" name="角丸四角形 56">
            <a:extLst>
              <a:ext uri="{FF2B5EF4-FFF2-40B4-BE49-F238E27FC236}">
                <a16:creationId xmlns:a16="http://schemas.microsoft.com/office/drawing/2014/main" id="{4DA41C6C-8482-4C52-ABD2-A3076D32E17F}"/>
              </a:ext>
            </a:extLst>
          </p:cNvPr>
          <p:cNvSpPr/>
          <p:nvPr/>
        </p:nvSpPr>
        <p:spPr>
          <a:xfrm>
            <a:off x="1276386" y="1836220"/>
            <a:ext cx="7667715" cy="97420"/>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a:t>
            </a:r>
            <a:r>
              <a:rPr lang="ja-JP" altLang="en-US" sz="700" dirty="0">
                <a:solidFill>
                  <a:schemeClr val="tx1"/>
                </a:solidFill>
              </a:rPr>
              <a:t> </a:t>
            </a:r>
            <a:r>
              <a:rPr lang="en-US" altLang="ja-JP" sz="700" dirty="0">
                <a:solidFill>
                  <a:schemeClr val="tx1"/>
                </a:solidFill>
              </a:rPr>
              <a:t>9600X / 9600 / 9500F </a:t>
            </a:r>
          </a:p>
        </p:txBody>
      </p:sp>
      <p:sp>
        <p:nvSpPr>
          <p:cNvPr id="42" name="角丸四角形 54">
            <a:extLst>
              <a:ext uri="{FF2B5EF4-FFF2-40B4-BE49-F238E27FC236}">
                <a16:creationId xmlns:a16="http://schemas.microsoft.com/office/drawing/2014/main" id="{5160591C-7B3E-46F6-A8B3-D40C68B7946F}"/>
              </a:ext>
            </a:extLst>
          </p:cNvPr>
          <p:cNvSpPr/>
          <p:nvPr/>
        </p:nvSpPr>
        <p:spPr>
          <a:xfrm>
            <a:off x="1287296" y="1264058"/>
            <a:ext cx="7661643" cy="93967"/>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Ryzen9</a:t>
            </a:r>
            <a:r>
              <a:rPr lang="ja-JP" altLang="en-US" sz="700" dirty="0">
                <a:solidFill>
                  <a:schemeClr val="tx1"/>
                </a:solidFill>
              </a:rPr>
              <a:t> </a:t>
            </a:r>
            <a:r>
              <a:rPr lang="en-US" altLang="ja-JP" sz="700" dirty="0">
                <a:solidFill>
                  <a:schemeClr val="tx1"/>
                </a:solidFill>
              </a:rPr>
              <a:t>9900X3D</a:t>
            </a:r>
          </a:p>
        </p:txBody>
      </p:sp>
      <p:sp>
        <p:nvSpPr>
          <p:cNvPr id="53" name="角丸四角形 55">
            <a:extLst>
              <a:ext uri="{FF2B5EF4-FFF2-40B4-BE49-F238E27FC236}">
                <a16:creationId xmlns:a16="http://schemas.microsoft.com/office/drawing/2014/main" id="{D1EB21AD-7CA6-4736-9C78-F177B8B5E27D}"/>
              </a:ext>
            </a:extLst>
          </p:cNvPr>
          <p:cNvSpPr/>
          <p:nvPr/>
        </p:nvSpPr>
        <p:spPr>
          <a:xfrm>
            <a:off x="1279121" y="1614398"/>
            <a:ext cx="7660618" cy="92544"/>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9800X3D </a:t>
            </a:r>
          </a:p>
        </p:txBody>
      </p:sp>
      <p:sp>
        <p:nvSpPr>
          <p:cNvPr id="62" name="角丸四角形 56">
            <a:extLst>
              <a:ext uri="{FF2B5EF4-FFF2-40B4-BE49-F238E27FC236}">
                <a16:creationId xmlns:a16="http://schemas.microsoft.com/office/drawing/2014/main" id="{57C154FE-C523-47B6-9A0E-02D487E40D28}"/>
              </a:ext>
            </a:extLst>
          </p:cNvPr>
          <p:cNvSpPr/>
          <p:nvPr/>
        </p:nvSpPr>
        <p:spPr>
          <a:xfrm>
            <a:off x="1279825" y="3907214"/>
            <a:ext cx="5020367" cy="96076"/>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 5500 </a:t>
            </a:r>
            <a:r>
              <a:rPr lang="en-US" altLang="ja-JP" sz="700" dirty="0" err="1">
                <a:solidFill>
                  <a:schemeClr val="tx1"/>
                </a:solidFill>
              </a:rPr>
              <a:t>Cezenne</a:t>
            </a:r>
            <a:r>
              <a:rPr lang="en-US" altLang="ja-JP" sz="700" dirty="0">
                <a:solidFill>
                  <a:schemeClr val="tx1"/>
                </a:solidFill>
              </a:rPr>
              <a:t>/ 5600 Vermeer</a:t>
            </a:r>
            <a:r>
              <a:rPr lang="ja-JP" altLang="en-US" sz="700" dirty="0">
                <a:solidFill>
                  <a:schemeClr val="tx1"/>
                </a:solidFill>
              </a:rPr>
              <a:t> </a:t>
            </a:r>
            <a:r>
              <a:rPr lang="en-US" altLang="ja-JP" sz="700" dirty="0" err="1">
                <a:solidFill>
                  <a:schemeClr val="tx1"/>
                </a:solidFill>
              </a:rPr>
              <a:t>nonGPU</a:t>
            </a:r>
            <a:endParaRPr lang="en-US" altLang="ja-JP" sz="700" dirty="0">
              <a:solidFill>
                <a:schemeClr val="tx1"/>
              </a:solidFill>
            </a:endParaRPr>
          </a:p>
        </p:txBody>
      </p:sp>
      <p:sp>
        <p:nvSpPr>
          <p:cNvPr id="63" name="角丸四角形 57">
            <a:extLst>
              <a:ext uri="{FF2B5EF4-FFF2-40B4-BE49-F238E27FC236}">
                <a16:creationId xmlns:a16="http://schemas.microsoft.com/office/drawing/2014/main" id="{3738DBB0-960E-4455-82F9-17296251ED5E}"/>
              </a:ext>
            </a:extLst>
          </p:cNvPr>
          <p:cNvSpPr/>
          <p:nvPr/>
        </p:nvSpPr>
        <p:spPr>
          <a:xfrm>
            <a:off x="1287297" y="4159658"/>
            <a:ext cx="6374062" cy="96076"/>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Ryzen3</a:t>
            </a:r>
            <a:r>
              <a:rPr lang="ja-JP" altLang="en-US" sz="700" dirty="0">
                <a:solidFill>
                  <a:schemeClr val="tx1"/>
                </a:solidFill>
              </a:rPr>
              <a:t> </a:t>
            </a:r>
            <a:r>
              <a:rPr lang="en-US" altLang="ja-JP" sz="700" dirty="0">
                <a:solidFill>
                  <a:schemeClr val="tx1"/>
                </a:solidFill>
              </a:rPr>
              <a:t>5300G </a:t>
            </a:r>
            <a:r>
              <a:rPr lang="en-US" altLang="ja-JP" sz="700" dirty="0" err="1">
                <a:solidFill>
                  <a:schemeClr val="tx1"/>
                </a:solidFill>
              </a:rPr>
              <a:t>iGPU</a:t>
            </a:r>
            <a:r>
              <a:rPr lang="ja-JP" altLang="en-US" sz="700" dirty="0">
                <a:solidFill>
                  <a:schemeClr val="tx1"/>
                </a:solidFill>
              </a:rPr>
              <a:t>付き</a:t>
            </a:r>
            <a:endParaRPr lang="en-US" altLang="ja-JP" sz="700" dirty="0">
              <a:solidFill>
                <a:schemeClr val="tx1"/>
              </a:solidFill>
            </a:endParaRPr>
          </a:p>
        </p:txBody>
      </p:sp>
      <p:sp>
        <p:nvSpPr>
          <p:cNvPr id="39" name="角丸四角形 54">
            <a:extLst>
              <a:ext uri="{FF2B5EF4-FFF2-40B4-BE49-F238E27FC236}">
                <a16:creationId xmlns:a16="http://schemas.microsoft.com/office/drawing/2014/main" id="{ACA08850-1939-425A-95AF-6623EA8F1874}"/>
              </a:ext>
            </a:extLst>
          </p:cNvPr>
          <p:cNvSpPr/>
          <p:nvPr/>
        </p:nvSpPr>
        <p:spPr>
          <a:xfrm>
            <a:off x="1276719" y="1155728"/>
            <a:ext cx="7684321" cy="88031"/>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Ryzen9</a:t>
            </a:r>
            <a:r>
              <a:rPr lang="ja-JP" altLang="en-US" sz="700" dirty="0">
                <a:solidFill>
                  <a:schemeClr val="tx1"/>
                </a:solidFill>
              </a:rPr>
              <a:t> </a:t>
            </a:r>
            <a:r>
              <a:rPr lang="en-US" altLang="ja-JP" sz="700" dirty="0">
                <a:solidFill>
                  <a:schemeClr val="tx1"/>
                </a:solidFill>
              </a:rPr>
              <a:t>9950X3D</a:t>
            </a:r>
          </a:p>
        </p:txBody>
      </p:sp>
      <p:sp>
        <p:nvSpPr>
          <p:cNvPr id="64" name="角丸四角形 8">
            <a:extLst>
              <a:ext uri="{FF2B5EF4-FFF2-40B4-BE49-F238E27FC236}">
                <a16:creationId xmlns:a16="http://schemas.microsoft.com/office/drawing/2014/main" id="{50598733-CB04-4F44-A568-52F809C4E1AF}"/>
              </a:ext>
            </a:extLst>
          </p:cNvPr>
          <p:cNvSpPr/>
          <p:nvPr/>
        </p:nvSpPr>
        <p:spPr>
          <a:xfrm>
            <a:off x="1284187" y="573138"/>
            <a:ext cx="7649880" cy="132272"/>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t>Thread ripper </a:t>
            </a:r>
            <a:r>
              <a:rPr lang="ja-JP" altLang="en-US" sz="1000" dirty="0"/>
              <a:t>（</a:t>
            </a:r>
            <a:r>
              <a:rPr lang="en-US" altLang="ja-JP" sz="1000" dirty="0"/>
              <a:t>ZEN5</a:t>
            </a:r>
            <a:r>
              <a:rPr lang="ja-JP" altLang="en-US" sz="1000" dirty="0"/>
              <a:t>）　</a:t>
            </a:r>
            <a:r>
              <a:rPr lang="en-US" altLang="ja-JP" sz="1000" dirty="0"/>
              <a:t>9000WX</a:t>
            </a:r>
            <a:r>
              <a:rPr lang="ja-JP" altLang="en-US" sz="1000" dirty="0"/>
              <a:t>、</a:t>
            </a:r>
            <a:r>
              <a:rPr lang="en-US" altLang="ja-JP" sz="1000" dirty="0"/>
              <a:t> 9000</a:t>
            </a:r>
            <a:r>
              <a:rPr lang="ja-JP" altLang="en-US" sz="1000" dirty="0"/>
              <a:t>シリーズ</a:t>
            </a:r>
            <a:endParaRPr kumimoji="1" lang="en-US" altLang="ja-JP" sz="1000" dirty="0"/>
          </a:p>
        </p:txBody>
      </p:sp>
      <p:sp>
        <p:nvSpPr>
          <p:cNvPr id="2" name="スライド番号プレースホルダー 1">
            <a:extLst>
              <a:ext uri="{FF2B5EF4-FFF2-40B4-BE49-F238E27FC236}">
                <a16:creationId xmlns:a16="http://schemas.microsoft.com/office/drawing/2014/main" id="{1BBEC1A1-BBE7-4E14-83E2-6231AE14D5A3}"/>
              </a:ext>
            </a:extLst>
          </p:cNvPr>
          <p:cNvSpPr>
            <a:spLocks noGrp="1"/>
          </p:cNvSpPr>
          <p:nvPr>
            <p:ph type="sldNum" sz="quarter" idx="12"/>
          </p:nvPr>
        </p:nvSpPr>
        <p:spPr>
          <a:xfrm>
            <a:off x="7020272" y="4890194"/>
            <a:ext cx="2133600" cy="273844"/>
          </a:xfrm>
        </p:spPr>
        <p:txBody>
          <a:bodyPr/>
          <a:lstStyle/>
          <a:p>
            <a:fld id="{F9DFCEB9-CAE4-4F3C-93D0-85C4724A0355}" type="slidenum">
              <a:rPr kumimoji="1" lang="ja-JP" altLang="en-US" smtClean="0"/>
              <a:t>6</a:t>
            </a:fld>
            <a:endParaRPr kumimoji="1" lang="ja-JP" altLang="en-US"/>
          </a:p>
        </p:txBody>
      </p:sp>
      <p:sp>
        <p:nvSpPr>
          <p:cNvPr id="74" name="角丸四角形 10">
            <a:extLst>
              <a:ext uri="{FF2B5EF4-FFF2-40B4-BE49-F238E27FC236}">
                <a16:creationId xmlns:a16="http://schemas.microsoft.com/office/drawing/2014/main" id="{994CACFD-8B12-410C-AEA9-B505ACCDCC93}"/>
              </a:ext>
            </a:extLst>
          </p:cNvPr>
          <p:cNvSpPr/>
          <p:nvPr/>
        </p:nvSpPr>
        <p:spPr>
          <a:xfrm>
            <a:off x="1475656" y="2772907"/>
            <a:ext cx="7475690" cy="164682"/>
          </a:xfrm>
          <a:prstGeom prst="roundRect">
            <a:avLst>
              <a:gd name="adj" fmla="val 0"/>
            </a:avLst>
          </a:prstGeom>
          <a:solidFill>
            <a:srgbClr val="00B0F0"/>
          </a:solid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 Ryzen AI 400G</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Series</a:t>
            </a:r>
            <a:endParaRPr lang="en-US" altLang="ja-JP" sz="1000" dirty="0"/>
          </a:p>
        </p:txBody>
      </p:sp>
      <p:sp>
        <p:nvSpPr>
          <p:cNvPr id="68" name="角丸四角形 55">
            <a:extLst>
              <a:ext uri="{FF2B5EF4-FFF2-40B4-BE49-F238E27FC236}">
                <a16:creationId xmlns:a16="http://schemas.microsoft.com/office/drawing/2014/main" id="{9F3C41B1-1D75-46C1-A858-4C8849B3CF71}"/>
              </a:ext>
            </a:extLst>
          </p:cNvPr>
          <p:cNvSpPr/>
          <p:nvPr/>
        </p:nvSpPr>
        <p:spPr>
          <a:xfrm>
            <a:off x="1619673" y="1500032"/>
            <a:ext cx="7310296" cy="94610"/>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 Ryzen7</a:t>
            </a:r>
            <a:r>
              <a:rPr lang="ja-JP" altLang="en-US" sz="700" dirty="0">
                <a:solidFill>
                  <a:schemeClr val="tx1"/>
                </a:solidFill>
              </a:rPr>
              <a:t> </a:t>
            </a:r>
            <a:r>
              <a:rPr lang="en-US" altLang="ja-JP" sz="700" dirty="0">
                <a:solidFill>
                  <a:schemeClr val="tx1"/>
                </a:solidFill>
              </a:rPr>
              <a:t>9850X3D </a:t>
            </a:r>
          </a:p>
        </p:txBody>
      </p:sp>
      <p:sp>
        <p:nvSpPr>
          <p:cNvPr id="70" name="角丸四角形 54">
            <a:extLst>
              <a:ext uri="{FF2B5EF4-FFF2-40B4-BE49-F238E27FC236}">
                <a16:creationId xmlns:a16="http://schemas.microsoft.com/office/drawing/2014/main" id="{1F3916DB-FCB9-441D-97E9-45DECD414EE8}"/>
              </a:ext>
            </a:extLst>
          </p:cNvPr>
          <p:cNvSpPr/>
          <p:nvPr/>
        </p:nvSpPr>
        <p:spPr>
          <a:xfrm>
            <a:off x="2913654" y="1029976"/>
            <a:ext cx="6030448" cy="102553"/>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Ryzen9</a:t>
            </a:r>
            <a:r>
              <a:rPr lang="ja-JP" altLang="en-US" sz="700" dirty="0">
                <a:solidFill>
                  <a:schemeClr val="tx1"/>
                </a:solidFill>
              </a:rPr>
              <a:t> </a:t>
            </a:r>
            <a:r>
              <a:rPr lang="en-US" altLang="ja-JP" sz="700" dirty="0">
                <a:solidFill>
                  <a:schemeClr val="tx1"/>
                </a:solidFill>
              </a:rPr>
              <a:t>9950X3D2</a:t>
            </a:r>
          </a:p>
        </p:txBody>
      </p:sp>
      <p:sp>
        <p:nvSpPr>
          <p:cNvPr id="41" name="角丸四角形 11">
            <a:extLst>
              <a:ext uri="{FF2B5EF4-FFF2-40B4-BE49-F238E27FC236}">
                <a16:creationId xmlns:a16="http://schemas.microsoft.com/office/drawing/2014/main" id="{4ECB16E2-E739-4DB2-9576-E37DD6FF01D4}"/>
              </a:ext>
            </a:extLst>
          </p:cNvPr>
          <p:cNvSpPr/>
          <p:nvPr/>
        </p:nvSpPr>
        <p:spPr>
          <a:xfrm>
            <a:off x="1268479" y="4645250"/>
            <a:ext cx="7690755" cy="402682"/>
          </a:xfrm>
          <a:prstGeom prst="roundRect">
            <a:avLst>
              <a:gd name="adj" fmla="val 0"/>
            </a:avLst>
          </a:prstGeom>
          <a:solidFill>
            <a:schemeClr val="tx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Picasso</a:t>
            </a:r>
            <a:r>
              <a:rPr lang="ja-JP" altLang="en-US" sz="1000" dirty="0"/>
              <a:t>　</a:t>
            </a:r>
            <a:r>
              <a:rPr lang="en-US" altLang="ja-JP" sz="1000" dirty="0"/>
              <a:t>3000 Series</a:t>
            </a:r>
            <a:r>
              <a:rPr lang="ja-JP" altLang="en-US" sz="1000" dirty="0"/>
              <a:t>　</a:t>
            </a:r>
            <a:r>
              <a:rPr lang="en-US" altLang="ja-JP" sz="1000" dirty="0"/>
              <a:t>Zen+</a:t>
            </a:r>
          </a:p>
        </p:txBody>
      </p:sp>
      <p:sp>
        <p:nvSpPr>
          <p:cNvPr id="43" name="角丸四角形 56">
            <a:extLst>
              <a:ext uri="{FF2B5EF4-FFF2-40B4-BE49-F238E27FC236}">
                <a16:creationId xmlns:a16="http://schemas.microsoft.com/office/drawing/2014/main" id="{ABBB96B0-AB6B-4325-81A2-84A7E2D3280B}"/>
              </a:ext>
            </a:extLst>
          </p:cNvPr>
          <p:cNvSpPr/>
          <p:nvPr/>
        </p:nvSpPr>
        <p:spPr>
          <a:xfrm>
            <a:off x="1291836" y="4794885"/>
            <a:ext cx="6377172" cy="9906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Ryzen5 3400G </a:t>
            </a:r>
            <a:r>
              <a:rPr lang="en-US" altLang="ja-JP" sz="700" dirty="0" err="1">
                <a:solidFill>
                  <a:schemeClr val="tx1"/>
                </a:solidFill>
              </a:rPr>
              <a:t>iGPU</a:t>
            </a:r>
            <a:r>
              <a:rPr lang="ja-JP" altLang="en-US" sz="700" dirty="0">
                <a:solidFill>
                  <a:schemeClr val="tx1"/>
                </a:solidFill>
              </a:rPr>
              <a:t>付き</a:t>
            </a:r>
            <a:endParaRPr lang="en-US" altLang="ja-JP" sz="700" dirty="0">
              <a:solidFill>
                <a:schemeClr val="tx1"/>
              </a:solidFill>
            </a:endParaRPr>
          </a:p>
        </p:txBody>
      </p:sp>
      <p:sp>
        <p:nvSpPr>
          <p:cNvPr id="56" name="角丸四角形 57">
            <a:extLst>
              <a:ext uri="{FF2B5EF4-FFF2-40B4-BE49-F238E27FC236}">
                <a16:creationId xmlns:a16="http://schemas.microsoft.com/office/drawing/2014/main" id="{87DDC820-3EF2-4AA1-9737-3400EC1DFB75}"/>
              </a:ext>
            </a:extLst>
          </p:cNvPr>
          <p:cNvSpPr/>
          <p:nvPr/>
        </p:nvSpPr>
        <p:spPr>
          <a:xfrm>
            <a:off x="1294946" y="4925180"/>
            <a:ext cx="6374062" cy="96076"/>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Ryzen3</a:t>
            </a:r>
            <a:r>
              <a:rPr lang="ja-JP" altLang="en-US" sz="700" dirty="0">
                <a:solidFill>
                  <a:schemeClr val="tx1"/>
                </a:solidFill>
              </a:rPr>
              <a:t> </a:t>
            </a:r>
            <a:r>
              <a:rPr lang="en-US" altLang="ja-JP" sz="700" dirty="0">
                <a:solidFill>
                  <a:schemeClr val="tx1"/>
                </a:solidFill>
              </a:rPr>
              <a:t>3200G </a:t>
            </a:r>
            <a:r>
              <a:rPr lang="en-US" altLang="ja-JP" sz="700" dirty="0" err="1">
                <a:solidFill>
                  <a:schemeClr val="tx1"/>
                </a:solidFill>
              </a:rPr>
              <a:t>iGPU</a:t>
            </a:r>
            <a:r>
              <a:rPr lang="ja-JP" altLang="en-US" sz="700" dirty="0">
                <a:solidFill>
                  <a:schemeClr val="tx1"/>
                </a:solidFill>
              </a:rPr>
              <a:t>付き</a:t>
            </a:r>
            <a:endParaRPr lang="en-US" altLang="ja-JP" sz="700" dirty="0">
              <a:solidFill>
                <a:schemeClr val="tx1"/>
              </a:solidFill>
            </a:endParaRPr>
          </a:p>
        </p:txBody>
      </p:sp>
      <p:sp>
        <p:nvSpPr>
          <p:cNvPr id="38" name="テキスト ボックス 37">
            <a:extLst>
              <a:ext uri="{FF2B5EF4-FFF2-40B4-BE49-F238E27FC236}">
                <a16:creationId xmlns:a16="http://schemas.microsoft.com/office/drawing/2014/main" id="{8F38FCA5-2181-445A-BBBB-BF23526EB98D}"/>
              </a:ext>
            </a:extLst>
          </p:cNvPr>
          <p:cNvSpPr txBox="1"/>
          <p:nvPr/>
        </p:nvSpPr>
        <p:spPr>
          <a:xfrm>
            <a:off x="7302854" y="4482447"/>
            <a:ext cx="162711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dirty="0">
                <a:latin typeface="+mn-ea"/>
              </a:rPr>
              <a:t>採用品</a:t>
            </a:r>
            <a:r>
              <a:rPr kumimoji="1" lang="ja-JP" altLang="en-US" sz="1400" dirty="0">
                <a:latin typeface="+mn-ea"/>
              </a:rPr>
              <a:t>は</a:t>
            </a:r>
            <a:r>
              <a:rPr kumimoji="1" lang="en-US" altLang="ja-JP" sz="1400" dirty="0">
                <a:latin typeface="+mn-ea"/>
              </a:rPr>
              <a:t>P33</a:t>
            </a:r>
            <a:r>
              <a:rPr kumimoji="1" lang="ja-JP" altLang="en-US" sz="1400" dirty="0">
                <a:latin typeface="+mn-ea"/>
              </a:rPr>
              <a:t>参照</a:t>
            </a:r>
          </a:p>
        </p:txBody>
      </p:sp>
      <p:sp>
        <p:nvSpPr>
          <p:cNvPr id="40" name="角丸四角形 11">
            <a:extLst>
              <a:ext uri="{FF2B5EF4-FFF2-40B4-BE49-F238E27FC236}">
                <a16:creationId xmlns:a16="http://schemas.microsoft.com/office/drawing/2014/main" id="{ED34DCFC-093E-439E-9DAA-CFE2AD9D069D}"/>
              </a:ext>
            </a:extLst>
          </p:cNvPr>
          <p:cNvSpPr/>
          <p:nvPr/>
        </p:nvSpPr>
        <p:spPr>
          <a:xfrm>
            <a:off x="7740352" y="815405"/>
            <a:ext cx="1199388" cy="138067"/>
          </a:xfrm>
          <a:prstGeom prst="roundRect">
            <a:avLst>
              <a:gd name="adj" fmla="val 294"/>
            </a:avLst>
          </a:prstGeom>
          <a:solidFill>
            <a:srgbClr val="00206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TBD Zen6</a:t>
            </a:r>
          </a:p>
        </p:txBody>
      </p:sp>
      <p:sp>
        <p:nvSpPr>
          <p:cNvPr id="45" name="角丸四角形 55">
            <a:extLst>
              <a:ext uri="{FF2B5EF4-FFF2-40B4-BE49-F238E27FC236}">
                <a16:creationId xmlns:a16="http://schemas.microsoft.com/office/drawing/2014/main" id="{DB120CC4-82B9-4C0B-9B9F-2233A183BD7C}"/>
              </a:ext>
            </a:extLst>
          </p:cNvPr>
          <p:cNvSpPr/>
          <p:nvPr/>
        </p:nvSpPr>
        <p:spPr>
          <a:xfrm>
            <a:off x="2411760" y="3665259"/>
            <a:ext cx="6538472" cy="9929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5800X3D</a:t>
            </a:r>
          </a:p>
        </p:txBody>
      </p:sp>
      <p:sp>
        <p:nvSpPr>
          <p:cNvPr id="47" name="角丸四角形 55">
            <a:extLst>
              <a:ext uri="{FF2B5EF4-FFF2-40B4-BE49-F238E27FC236}">
                <a16:creationId xmlns:a16="http://schemas.microsoft.com/office/drawing/2014/main" id="{7A4A6275-3704-42AF-A69B-7EDC60A0E7F6}"/>
              </a:ext>
            </a:extLst>
          </p:cNvPr>
          <p:cNvSpPr/>
          <p:nvPr/>
        </p:nvSpPr>
        <p:spPr>
          <a:xfrm>
            <a:off x="2627783" y="2400478"/>
            <a:ext cx="6316317" cy="73639"/>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rPr>
              <a:t>7/17</a:t>
            </a:r>
            <a:r>
              <a:rPr lang="ja-JP" altLang="en-US" sz="700" dirty="0">
                <a:solidFill>
                  <a:schemeClr val="tx1"/>
                </a:solidFill>
              </a:rPr>
              <a:t>　</a:t>
            </a:r>
            <a:r>
              <a:rPr lang="en-US" altLang="ja-JP" sz="700" dirty="0">
                <a:solidFill>
                  <a:schemeClr val="tx1"/>
                </a:solidFill>
              </a:rPr>
              <a:t>Ryzen7</a:t>
            </a:r>
            <a:r>
              <a:rPr lang="ja-JP" altLang="en-US" sz="700" dirty="0">
                <a:solidFill>
                  <a:schemeClr val="tx1"/>
                </a:solidFill>
              </a:rPr>
              <a:t> </a:t>
            </a:r>
            <a:r>
              <a:rPr lang="en-US" altLang="ja-JP" sz="700" dirty="0">
                <a:solidFill>
                  <a:schemeClr val="tx1"/>
                </a:solidFill>
              </a:rPr>
              <a:t>7700X3D </a:t>
            </a:r>
          </a:p>
        </p:txBody>
      </p:sp>
      <p:sp>
        <p:nvSpPr>
          <p:cNvPr id="48" name="テキスト ボックス 47">
            <a:extLst>
              <a:ext uri="{FF2B5EF4-FFF2-40B4-BE49-F238E27FC236}">
                <a16:creationId xmlns:a16="http://schemas.microsoft.com/office/drawing/2014/main" id="{23D22509-881C-41B9-99AD-22F931ED5310}"/>
              </a:ext>
            </a:extLst>
          </p:cNvPr>
          <p:cNvSpPr txBox="1"/>
          <p:nvPr/>
        </p:nvSpPr>
        <p:spPr>
          <a:xfrm>
            <a:off x="3857398" y="3999401"/>
            <a:ext cx="383547" cy="194925"/>
          </a:xfrm>
          <a:prstGeom prst="rect">
            <a:avLst/>
          </a:prstGeom>
          <a:solidFill>
            <a:schemeClr val="bg1">
              <a:lumMod val="75000"/>
            </a:schemeClr>
          </a:solidFill>
          <a:ln>
            <a:noFill/>
          </a:ln>
        </p:spPr>
        <p:txBody>
          <a:bodyPr wrap="square" rtlCol="0" anchor="ctr">
            <a:spAutoFit/>
          </a:bodyPr>
          <a:lstStyle/>
          <a:p>
            <a:pPr>
              <a:lnSpc>
                <a:spcPts val="800"/>
              </a:lnSpc>
            </a:pPr>
            <a:r>
              <a:rPr kumimoji="1" lang="en-US" altLang="ja-JP" sz="800" dirty="0">
                <a:latin typeface="Meiryo UI" panose="020B0604030504040204" pitchFamily="50" charset="-128"/>
                <a:ea typeface="Meiryo UI" panose="020B0604030504040204" pitchFamily="50" charset="-128"/>
              </a:rPr>
              <a:t>EOL</a:t>
            </a:r>
            <a:endParaRPr kumimoji="1" lang="ja-JP" altLang="en-US" sz="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72035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768938256"/>
              </p:ext>
            </p:extLst>
          </p:nvPr>
        </p:nvGraphicFramePr>
        <p:xfrm>
          <a:off x="35496" y="51469"/>
          <a:ext cx="8928982" cy="4797534"/>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98621">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AMD</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Desk  Chipset</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7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57019">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Extreme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627820">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Enthusiast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906851">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Mainstream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1157271">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837093">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Other(</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ex.deskmini</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2279544"/>
                  </a:ext>
                </a:extLst>
              </a:tr>
            </a:tbl>
          </a:graphicData>
        </a:graphic>
      </p:graphicFrame>
      <p:sp>
        <p:nvSpPr>
          <p:cNvPr id="38" name="角丸四角形 37"/>
          <p:cNvSpPr/>
          <p:nvPr/>
        </p:nvSpPr>
        <p:spPr>
          <a:xfrm>
            <a:off x="1273175" y="3723878"/>
            <a:ext cx="7671852" cy="198754"/>
          </a:xfrm>
          <a:prstGeom prst="round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A520 (AM4) </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38"/>
          <p:cNvSpPr/>
          <p:nvPr/>
        </p:nvSpPr>
        <p:spPr>
          <a:xfrm>
            <a:off x="1275295" y="2588327"/>
            <a:ext cx="7671852" cy="198754"/>
          </a:xfrm>
          <a:prstGeom prst="round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B550(AM4)</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角丸四角形 38">
            <a:extLst>
              <a:ext uri="{FF2B5EF4-FFF2-40B4-BE49-F238E27FC236}">
                <a16:creationId xmlns:a16="http://schemas.microsoft.com/office/drawing/2014/main" id="{B89A0EA0-8D27-4BEC-8718-65849F23900B}"/>
              </a:ext>
            </a:extLst>
          </p:cNvPr>
          <p:cNvSpPr/>
          <p:nvPr/>
        </p:nvSpPr>
        <p:spPr>
          <a:xfrm>
            <a:off x="1275295" y="2290714"/>
            <a:ext cx="2216585" cy="179925"/>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B650 /E (AM5</a:t>
            </a:r>
            <a:r>
              <a:rPr lang="en-US" altLang="ja-JP" sz="1200">
                <a:solidFill>
                  <a:schemeClr val="bg1"/>
                </a:solidFill>
                <a:latin typeface="Meiryo UI" panose="020B0604030504040204" pitchFamily="50" charset="-128"/>
                <a:ea typeface="Meiryo UI" panose="020B0604030504040204" pitchFamily="50" charset="-128"/>
              </a:rPr>
              <a:t>)</a:t>
            </a:r>
            <a:r>
              <a:rPr lang="ja-JP" altLang="en-US" sz="1200">
                <a:solidFill>
                  <a:schemeClr val="bg1"/>
                </a:solidFill>
                <a:latin typeface="Meiryo UI" panose="020B0604030504040204" pitchFamily="50" charset="-128"/>
                <a:ea typeface="Meiryo UI" panose="020B0604030504040204" pitchFamily="50" charset="-128"/>
              </a:rPr>
              <a:t>　</a:t>
            </a:r>
            <a:endParaRPr lang="en-US" altLang="ja-JP" sz="1200" dirty="0">
              <a:solidFill>
                <a:schemeClr val="bg1"/>
              </a:solidFill>
              <a:latin typeface="Meiryo UI" panose="020B0604030504040204" pitchFamily="50" charset="-128"/>
              <a:ea typeface="Meiryo UI" panose="020B0604030504040204" pitchFamily="50" charset="-128"/>
            </a:endParaRPr>
          </a:p>
        </p:txBody>
      </p:sp>
      <p:sp>
        <p:nvSpPr>
          <p:cNvPr id="25" name="角丸四角形 37">
            <a:extLst>
              <a:ext uri="{FF2B5EF4-FFF2-40B4-BE49-F238E27FC236}">
                <a16:creationId xmlns:a16="http://schemas.microsoft.com/office/drawing/2014/main" id="{73990253-EEC7-4D22-9729-940282D6A38E}"/>
              </a:ext>
            </a:extLst>
          </p:cNvPr>
          <p:cNvSpPr/>
          <p:nvPr/>
        </p:nvSpPr>
        <p:spPr>
          <a:xfrm>
            <a:off x="1273175" y="3441811"/>
            <a:ext cx="1282601" cy="198754"/>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A620 (AM5</a:t>
            </a:r>
            <a:r>
              <a:rPr lang="en-US" altLang="ja-JP" sz="1200">
                <a:solidFill>
                  <a:schemeClr val="bg1"/>
                </a:solidFill>
                <a:latin typeface="Meiryo UI" panose="020B0604030504040204" pitchFamily="50" charset="-128"/>
                <a:ea typeface="Meiryo UI" panose="020B0604030504040204" pitchFamily="50" charset="-128"/>
              </a:rPr>
              <a:t>) </a:t>
            </a:r>
            <a:r>
              <a:rPr lang="ja-JP" altLang="en-US" sz="1200">
                <a:solidFill>
                  <a:schemeClr val="bg1"/>
                </a:solidFill>
                <a:latin typeface="Meiryo UI" panose="020B0604030504040204" pitchFamily="50" charset="-128"/>
                <a:ea typeface="Meiryo UI" panose="020B0604030504040204" pitchFamily="50" charset="-128"/>
              </a:rPr>
              <a:t>　</a:t>
            </a:r>
            <a:endParaRPr lang="en-US" altLang="ja-JP" sz="1200" dirty="0">
              <a:solidFill>
                <a:schemeClr val="bg1"/>
              </a:solidFill>
              <a:latin typeface="Meiryo UI" panose="020B0604030504040204" pitchFamily="50" charset="-128"/>
              <a:ea typeface="Meiryo UI" panose="020B0604030504040204" pitchFamily="50" charset="-128"/>
            </a:endParaRPr>
          </a:p>
        </p:txBody>
      </p:sp>
      <p:sp>
        <p:nvSpPr>
          <p:cNvPr id="40" name="角丸四角形 33">
            <a:extLst>
              <a:ext uri="{FF2B5EF4-FFF2-40B4-BE49-F238E27FC236}">
                <a16:creationId xmlns:a16="http://schemas.microsoft.com/office/drawing/2014/main" id="{CD61AE95-6B11-4624-8711-2E6EA243B868}"/>
              </a:ext>
            </a:extLst>
          </p:cNvPr>
          <p:cNvSpPr/>
          <p:nvPr/>
        </p:nvSpPr>
        <p:spPr>
          <a:xfrm>
            <a:off x="1273174" y="4376331"/>
            <a:ext cx="7671851" cy="211643"/>
          </a:xfrm>
          <a:prstGeom prst="round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X300+ (AM4)</a:t>
            </a:r>
          </a:p>
        </p:txBody>
      </p:sp>
      <p:sp>
        <p:nvSpPr>
          <p:cNvPr id="26" name="角丸四角形 33">
            <a:extLst>
              <a:ext uri="{FF2B5EF4-FFF2-40B4-BE49-F238E27FC236}">
                <a16:creationId xmlns:a16="http://schemas.microsoft.com/office/drawing/2014/main" id="{1BDA3CA9-BA37-4808-B988-4B4190C9FAF1}"/>
              </a:ext>
            </a:extLst>
          </p:cNvPr>
          <p:cNvSpPr/>
          <p:nvPr/>
        </p:nvSpPr>
        <p:spPr>
          <a:xfrm>
            <a:off x="1273174" y="4095321"/>
            <a:ext cx="7691304" cy="195597"/>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X600 (AM5)</a:t>
            </a:r>
          </a:p>
        </p:txBody>
      </p:sp>
      <p:sp>
        <p:nvSpPr>
          <p:cNvPr id="19" name="テキスト ボックス 18">
            <a:extLst>
              <a:ext uri="{FF2B5EF4-FFF2-40B4-BE49-F238E27FC236}">
                <a16:creationId xmlns:a16="http://schemas.microsoft.com/office/drawing/2014/main" id="{A251D78B-FF23-46F9-A0AD-4C6A268FD62A}"/>
              </a:ext>
            </a:extLst>
          </p:cNvPr>
          <p:cNvSpPr txBox="1"/>
          <p:nvPr/>
        </p:nvSpPr>
        <p:spPr>
          <a:xfrm>
            <a:off x="7524328" y="2570064"/>
            <a:ext cx="1438237" cy="230832"/>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altLang="ja-JP" sz="900" dirty="0">
                <a:solidFill>
                  <a:schemeClr val="tx1"/>
                </a:solidFill>
                <a:latin typeface="メイリオ"/>
                <a:ea typeface="メイリオ"/>
              </a:rPr>
              <a:t>AM4</a:t>
            </a:r>
            <a:r>
              <a:rPr lang="ja-JP" altLang="en-US" sz="900" dirty="0">
                <a:solidFill>
                  <a:schemeClr val="tx1"/>
                </a:solidFill>
                <a:latin typeface="メイリオ"/>
                <a:ea typeface="メイリオ"/>
              </a:rPr>
              <a:t>　継続予定</a:t>
            </a:r>
            <a:endParaRPr lang="en-US" altLang="ja-JP" sz="900" dirty="0">
              <a:solidFill>
                <a:schemeClr val="tx1"/>
              </a:solidFill>
              <a:latin typeface="メイリオ"/>
              <a:ea typeface="メイリオ"/>
            </a:endParaRPr>
          </a:p>
        </p:txBody>
      </p:sp>
      <p:sp>
        <p:nvSpPr>
          <p:cNvPr id="28" name="角丸四角形 19">
            <a:extLst>
              <a:ext uri="{FF2B5EF4-FFF2-40B4-BE49-F238E27FC236}">
                <a16:creationId xmlns:a16="http://schemas.microsoft.com/office/drawing/2014/main" id="{F835BCCB-C1EB-4A98-AEFE-E36315E20D1F}"/>
              </a:ext>
            </a:extLst>
          </p:cNvPr>
          <p:cNvSpPr/>
          <p:nvPr/>
        </p:nvSpPr>
        <p:spPr>
          <a:xfrm>
            <a:off x="1273175" y="932836"/>
            <a:ext cx="7691303" cy="198754"/>
          </a:xfrm>
          <a:prstGeom prst="round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TRX50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TR/TRPRO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用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Prosumer</a:t>
            </a:r>
          </a:p>
        </p:txBody>
      </p:sp>
      <p:sp>
        <p:nvSpPr>
          <p:cNvPr id="29" name="角丸四角形 19">
            <a:extLst>
              <a:ext uri="{FF2B5EF4-FFF2-40B4-BE49-F238E27FC236}">
                <a16:creationId xmlns:a16="http://schemas.microsoft.com/office/drawing/2014/main" id="{EF6A59D8-B093-43F8-8556-A3ABD12BB594}"/>
              </a:ext>
            </a:extLst>
          </p:cNvPr>
          <p:cNvSpPr/>
          <p:nvPr/>
        </p:nvSpPr>
        <p:spPr>
          <a:xfrm>
            <a:off x="1273175" y="699542"/>
            <a:ext cx="7691303" cy="198754"/>
          </a:xfrm>
          <a:prstGeom prst="round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latin typeface="Meiryo UI" panose="020B0604030504040204" pitchFamily="50" charset="-128"/>
                <a:ea typeface="Meiryo UI" panose="020B0604030504040204" pitchFamily="50" charset="-128"/>
                <a:cs typeface="Meiryo UI" panose="020B0604030504040204" pitchFamily="50" charset="-128"/>
              </a:rPr>
              <a:t>WRX90</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TRPRO</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用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Workstation/Enthusiast</a:t>
            </a:r>
          </a:p>
        </p:txBody>
      </p:sp>
      <p:sp>
        <p:nvSpPr>
          <p:cNvPr id="27" name="角丸四角形 60">
            <a:extLst>
              <a:ext uri="{FF2B5EF4-FFF2-40B4-BE49-F238E27FC236}">
                <a16:creationId xmlns:a16="http://schemas.microsoft.com/office/drawing/2014/main" id="{D6538FB1-2758-4CD8-8672-5BFB5F891254}"/>
              </a:ext>
            </a:extLst>
          </p:cNvPr>
          <p:cNvSpPr/>
          <p:nvPr/>
        </p:nvSpPr>
        <p:spPr>
          <a:xfrm>
            <a:off x="1266347" y="1638404"/>
            <a:ext cx="7671862" cy="175661"/>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X870E/X870</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(AM5)</a:t>
            </a:r>
            <a:endPar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角丸四角形 60">
            <a:extLst>
              <a:ext uri="{FF2B5EF4-FFF2-40B4-BE49-F238E27FC236}">
                <a16:creationId xmlns:a16="http://schemas.microsoft.com/office/drawing/2014/main" id="{DEA7F750-6C22-4996-AE93-0C5C7F2D2B30}"/>
              </a:ext>
            </a:extLst>
          </p:cNvPr>
          <p:cNvSpPr/>
          <p:nvPr/>
        </p:nvSpPr>
        <p:spPr>
          <a:xfrm>
            <a:off x="1273174" y="1995686"/>
            <a:ext cx="7671862" cy="179925"/>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B850 </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(AM5)</a:t>
            </a:r>
            <a:endPar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テキスト ボックス 1">
            <a:extLst>
              <a:ext uri="{FF2B5EF4-FFF2-40B4-BE49-F238E27FC236}">
                <a16:creationId xmlns:a16="http://schemas.microsoft.com/office/drawing/2014/main" id="{A3E633AF-0903-6B30-AA73-117856A387AD}"/>
              </a:ext>
            </a:extLst>
          </p:cNvPr>
          <p:cNvSpPr txBox="1"/>
          <p:nvPr/>
        </p:nvSpPr>
        <p:spPr>
          <a:xfrm>
            <a:off x="7524328" y="3732933"/>
            <a:ext cx="1413881" cy="230832"/>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altLang="ja-JP" sz="900" dirty="0">
                <a:solidFill>
                  <a:schemeClr val="tx1"/>
                </a:solidFill>
                <a:latin typeface="メイリオ"/>
                <a:ea typeface="メイリオ"/>
              </a:rPr>
              <a:t>AM4</a:t>
            </a:r>
            <a:r>
              <a:rPr lang="ja-JP" altLang="en-US" sz="900" dirty="0">
                <a:solidFill>
                  <a:schemeClr val="tx1"/>
                </a:solidFill>
                <a:latin typeface="メイリオ"/>
                <a:ea typeface="メイリオ"/>
              </a:rPr>
              <a:t>　継続予定</a:t>
            </a:r>
            <a:endParaRPr lang="en-US" altLang="ja-JP" sz="900" dirty="0">
              <a:solidFill>
                <a:schemeClr val="tx1"/>
              </a:solidFill>
              <a:latin typeface="メイリオ"/>
              <a:ea typeface="メイリオ"/>
            </a:endParaRPr>
          </a:p>
        </p:txBody>
      </p:sp>
      <p:sp>
        <p:nvSpPr>
          <p:cNvPr id="22" name="角丸四角形 60">
            <a:extLst>
              <a:ext uri="{FF2B5EF4-FFF2-40B4-BE49-F238E27FC236}">
                <a16:creationId xmlns:a16="http://schemas.microsoft.com/office/drawing/2014/main" id="{15E07F7F-B273-417A-BD64-1972D6A46CCE}"/>
              </a:ext>
            </a:extLst>
          </p:cNvPr>
          <p:cNvSpPr/>
          <p:nvPr/>
        </p:nvSpPr>
        <p:spPr>
          <a:xfrm>
            <a:off x="1273174" y="2886837"/>
            <a:ext cx="7665036" cy="179925"/>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B840</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(AM5)</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仕様的には</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A620</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とほぼ同じもの</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角丸四角形 37">
            <a:extLst>
              <a:ext uri="{FF2B5EF4-FFF2-40B4-BE49-F238E27FC236}">
                <a16:creationId xmlns:a16="http://schemas.microsoft.com/office/drawing/2014/main" id="{97A9EDFF-9B5F-44D5-B74B-1D2EA681DF39}"/>
              </a:ext>
            </a:extLst>
          </p:cNvPr>
          <p:cNvSpPr/>
          <p:nvPr/>
        </p:nvSpPr>
        <p:spPr>
          <a:xfrm>
            <a:off x="1273174" y="3174167"/>
            <a:ext cx="7681577" cy="198754"/>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A620A (AM5</a:t>
            </a:r>
            <a:r>
              <a:rPr lang="en-US" altLang="ja-JP" sz="1200">
                <a:solidFill>
                  <a:schemeClr val="bg1"/>
                </a:solidFill>
                <a:latin typeface="Meiryo UI" panose="020B0604030504040204" pitchFamily="50" charset="-128"/>
                <a:ea typeface="Meiryo UI" panose="020B0604030504040204" pitchFamily="50" charset="-128"/>
              </a:rPr>
              <a:t>) </a:t>
            </a:r>
            <a:r>
              <a:rPr lang="ja-JP" altLang="en-US" sz="1200">
                <a:solidFill>
                  <a:schemeClr val="bg1"/>
                </a:solidFill>
                <a:latin typeface="Meiryo UI" panose="020B0604030504040204" pitchFamily="50" charset="-128"/>
                <a:ea typeface="Meiryo UI" panose="020B0604030504040204" pitchFamily="50" charset="-128"/>
              </a:rPr>
              <a:t>　</a:t>
            </a:r>
            <a:endParaRPr lang="en-US" altLang="ja-JP" sz="1200" dirty="0">
              <a:solidFill>
                <a:schemeClr val="bg1"/>
              </a:solidFill>
              <a:latin typeface="Meiryo UI" panose="020B0604030504040204" pitchFamily="50" charset="-128"/>
              <a:ea typeface="Meiryo UI" panose="020B0604030504040204" pitchFamily="50" charset="-128"/>
            </a:endParaRPr>
          </a:p>
        </p:txBody>
      </p:sp>
      <p:sp>
        <p:nvSpPr>
          <p:cNvPr id="35" name="テキスト ボックス 34">
            <a:extLst>
              <a:ext uri="{FF2B5EF4-FFF2-40B4-BE49-F238E27FC236}">
                <a16:creationId xmlns:a16="http://schemas.microsoft.com/office/drawing/2014/main" id="{CAA6E8EC-4227-4D34-B436-EAC2CE1C6C2B}"/>
              </a:ext>
            </a:extLst>
          </p:cNvPr>
          <p:cNvSpPr txBox="1"/>
          <p:nvPr/>
        </p:nvSpPr>
        <p:spPr>
          <a:xfrm>
            <a:off x="2267744" y="3372921"/>
            <a:ext cx="2160240" cy="318924"/>
          </a:xfrm>
          <a:prstGeom prst="rect">
            <a:avLst/>
          </a:prstGeom>
        </p:spPr>
        <p:style>
          <a:lnRef idx="2">
            <a:schemeClr val="dk1"/>
          </a:lnRef>
          <a:fillRef idx="1">
            <a:schemeClr val="lt1"/>
          </a:fillRef>
          <a:effectRef idx="0">
            <a:schemeClr val="dk1"/>
          </a:effectRef>
          <a:fontRef idx="minor">
            <a:schemeClr val="dk1"/>
          </a:fontRef>
        </p:style>
        <p:txBody>
          <a:bodyPr wrap="square" lIns="91440" tIns="36000" rIns="91440" bIns="36000" rtlCol="0" anchor="t">
            <a:spAutoFit/>
          </a:bodyPr>
          <a:lstStyle/>
          <a:p>
            <a:r>
              <a:rPr lang="en-US" altLang="ja-JP" sz="900" dirty="0">
                <a:solidFill>
                  <a:schemeClr val="tx1"/>
                </a:solidFill>
                <a:latin typeface="メイリオ"/>
                <a:ea typeface="メイリオ"/>
              </a:rPr>
              <a:t>A620 </a:t>
            </a:r>
            <a:r>
              <a:rPr lang="ja-JP" altLang="en-US" sz="900" dirty="0">
                <a:solidFill>
                  <a:schemeClr val="tx1"/>
                </a:solidFill>
                <a:latin typeface="メイリオ"/>
                <a:ea typeface="メイリオ"/>
              </a:rPr>
              <a:t>供給終了</a:t>
            </a:r>
            <a:endParaRPr lang="en-US" altLang="ja-JP" sz="900" dirty="0">
              <a:solidFill>
                <a:schemeClr val="tx1"/>
              </a:solidFill>
              <a:latin typeface="メイリオ"/>
              <a:ea typeface="メイリオ"/>
            </a:endParaRPr>
          </a:p>
          <a:p>
            <a:r>
              <a:rPr lang="en-US" altLang="ja-JP" sz="700" dirty="0">
                <a:solidFill>
                  <a:schemeClr val="tx1"/>
                </a:solidFill>
                <a:latin typeface="メイリオ"/>
                <a:ea typeface="メイリオ"/>
              </a:rPr>
              <a:t>(</a:t>
            </a:r>
            <a:r>
              <a:rPr lang="ja-JP" altLang="en-US" sz="700" dirty="0">
                <a:solidFill>
                  <a:schemeClr val="tx1"/>
                </a:solidFill>
                <a:latin typeface="メイリオ"/>
                <a:ea typeface="メイリオ"/>
              </a:rPr>
              <a:t>残供給はメーカーによる</a:t>
            </a:r>
            <a:r>
              <a:rPr lang="en-US" altLang="ja-JP" sz="700" dirty="0">
                <a:solidFill>
                  <a:schemeClr val="tx1"/>
                </a:solidFill>
                <a:latin typeface="メイリオ"/>
                <a:ea typeface="メイリオ"/>
              </a:rPr>
              <a:t>)</a:t>
            </a:r>
            <a:r>
              <a:rPr lang="ja-JP" altLang="en-US" sz="700" dirty="0">
                <a:solidFill>
                  <a:schemeClr val="tx1"/>
                </a:solidFill>
                <a:latin typeface="メイリオ"/>
                <a:ea typeface="メイリオ"/>
              </a:rPr>
              <a:t>　</a:t>
            </a:r>
            <a:r>
              <a:rPr lang="en-US" altLang="ja-JP" sz="700" dirty="0">
                <a:solidFill>
                  <a:schemeClr val="tx1"/>
                </a:solidFill>
                <a:latin typeface="メイリオ"/>
                <a:ea typeface="メイリオ"/>
              </a:rPr>
              <a:t>B840/A620A</a:t>
            </a:r>
            <a:r>
              <a:rPr lang="ja-JP" altLang="en-US" sz="700" dirty="0">
                <a:solidFill>
                  <a:schemeClr val="tx1"/>
                </a:solidFill>
                <a:latin typeface="メイリオ"/>
                <a:ea typeface="メイリオ"/>
              </a:rPr>
              <a:t>へ移行</a:t>
            </a:r>
            <a:endParaRPr lang="en-US" altLang="ja-JP" sz="700" dirty="0">
              <a:solidFill>
                <a:schemeClr val="tx1"/>
              </a:solidFill>
              <a:latin typeface="メイリオ"/>
              <a:ea typeface="メイリオ"/>
            </a:endParaRPr>
          </a:p>
        </p:txBody>
      </p:sp>
      <p:sp>
        <p:nvSpPr>
          <p:cNvPr id="20" name="テキスト ボックス 19">
            <a:extLst>
              <a:ext uri="{FF2B5EF4-FFF2-40B4-BE49-F238E27FC236}">
                <a16:creationId xmlns:a16="http://schemas.microsoft.com/office/drawing/2014/main" id="{9B01FC1B-AEBF-415E-A256-D51B96C23E5B}"/>
              </a:ext>
            </a:extLst>
          </p:cNvPr>
          <p:cNvSpPr txBox="1"/>
          <p:nvPr/>
        </p:nvSpPr>
        <p:spPr>
          <a:xfrm>
            <a:off x="2267744" y="2217887"/>
            <a:ext cx="2160240" cy="318924"/>
          </a:xfrm>
          <a:prstGeom prst="rect">
            <a:avLst/>
          </a:prstGeom>
        </p:spPr>
        <p:style>
          <a:lnRef idx="2">
            <a:schemeClr val="dk1"/>
          </a:lnRef>
          <a:fillRef idx="1">
            <a:schemeClr val="lt1"/>
          </a:fillRef>
          <a:effectRef idx="0">
            <a:schemeClr val="dk1"/>
          </a:effectRef>
          <a:fontRef idx="minor">
            <a:schemeClr val="dk1"/>
          </a:fontRef>
        </p:style>
        <p:txBody>
          <a:bodyPr wrap="square" lIns="91440" tIns="36000" rIns="91440" bIns="36000" rtlCol="0" anchor="t">
            <a:spAutoFit/>
          </a:bodyPr>
          <a:lstStyle/>
          <a:p>
            <a:r>
              <a:rPr lang="en-US" altLang="ja-JP" sz="900" dirty="0">
                <a:solidFill>
                  <a:schemeClr val="tx1"/>
                </a:solidFill>
                <a:latin typeface="メイリオ"/>
                <a:ea typeface="メイリオ"/>
              </a:rPr>
              <a:t>B650 </a:t>
            </a:r>
            <a:r>
              <a:rPr lang="ja-JP" altLang="en-US" sz="900" dirty="0">
                <a:solidFill>
                  <a:schemeClr val="tx1"/>
                </a:solidFill>
                <a:latin typeface="メイリオ"/>
                <a:ea typeface="メイリオ"/>
              </a:rPr>
              <a:t>供給終了</a:t>
            </a:r>
            <a:endParaRPr lang="en-US" altLang="ja-JP" sz="900" dirty="0">
              <a:solidFill>
                <a:schemeClr val="tx1"/>
              </a:solidFill>
              <a:latin typeface="メイリオ"/>
              <a:ea typeface="メイリオ"/>
            </a:endParaRPr>
          </a:p>
          <a:p>
            <a:r>
              <a:rPr lang="en-US" altLang="ja-JP" sz="700" dirty="0">
                <a:solidFill>
                  <a:schemeClr val="tx1"/>
                </a:solidFill>
                <a:latin typeface="メイリオ"/>
                <a:ea typeface="メイリオ"/>
              </a:rPr>
              <a:t>(</a:t>
            </a:r>
            <a:r>
              <a:rPr lang="ja-JP" altLang="en-US" sz="700" dirty="0">
                <a:solidFill>
                  <a:schemeClr val="tx1"/>
                </a:solidFill>
                <a:latin typeface="メイリオ"/>
                <a:ea typeface="メイリオ"/>
              </a:rPr>
              <a:t>残供給はメーカーによる</a:t>
            </a:r>
            <a:r>
              <a:rPr lang="en-US" altLang="ja-JP" sz="700" dirty="0">
                <a:solidFill>
                  <a:schemeClr val="tx1"/>
                </a:solidFill>
                <a:latin typeface="メイリオ"/>
                <a:ea typeface="メイリオ"/>
              </a:rPr>
              <a:t>)</a:t>
            </a:r>
            <a:r>
              <a:rPr lang="ja-JP" altLang="en-US" sz="700" dirty="0">
                <a:solidFill>
                  <a:schemeClr val="tx1"/>
                </a:solidFill>
                <a:latin typeface="メイリオ"/>
                <a:ea typeface="メイリオ"/>
              </a:rPr>
              <a:t>　</a:t>
            </a:r>
            <a:r>
              <a:rPr lang="en-US" altLang="ja-JP" sz="700" dirty="0">
                <a:solidFill>
                  <a:schemeClr val="tx1"/>
                </a:solidFill>
                <a:latin typeface="メイリオ"/>
                <a:ea typeface="メイリオ"/>
              </a:rPr>
              <a:t>B850</a:t>
            </a:r>
            <a:r>
              <a:rPr lang="ja-JP" altLang="en-US" sz="700" dirty="0">
                <a:solidFill>
                  <a:schemeClr val="tx1"/>
                </a:solidFill>
                <a:latin typeface="メイリオ"/>
                <a:ea typeface="メイリオ"/>
              </a:rPr>
              <a:t>へ移行</a:t>
            </a:r>
            <a:endParaRPr lang="en-US" altLang="ja-JP" sz="700" dirty="0">
              <a:solidFill>
                <a:schemeClr val="tx1"/>
              </a:solidFill>
              <a:latin typeface="メイリオ"/>
              <a:ea typeface="メイリオ"/>
            </a:endParaRPr>
          </a:p>
        </p:txBody>
      </p:sp>
      <p:sp>
        <p:nvSpPr>
          <p:cNvPr id="32" name="テキスト ボックス 31">
            <a:extLst>
              <a:ext uri="{FF2B5EF4-FFF2-40B4-BE49-F238E27FC236}">
                <a16:creationId xmlns:a16="http://schemas.microsoft.com/office/drawing/2014/main" id="{06621F0B-61DE-4324-95A0-95B5A0415E29}"/>
              </a:ext>
            </a:extLst>
          </p:cNvPr>
          <p:cNvSpPr txBox="1"/>
          <p:nvPr/>
        </p:nvSpPr>
        <p:spPr>
          <a:xfrm>
            <a:off x="7415300" y="4459486"/>
            <a:ext cx="153945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latin typeface="+mn-ea"/>
              </a:rPr>
              <a:t>採用品は</a:t>
            </a:r>
            <a:r>
              <a:rPr kumimoji="1" lang="en-US" altLang="ja-JP" sz="1400" dirty="0">
                <a:latin typeface="+mn-ea"/>
              </a:rPr>
              <a:t>P34</a:t>
            </a:r>
            <a:r>
              <a:rPr kumimoji="1" lang="ja-JP" altLang="en-US" sz="1400" dirty="0">
                <a:latin typeface="+mn-ea"/>
              </a:rPr>
              <a:t>参照</a:t>
            </a:r>
          </a:p>
        </p:txBody>
      </p:sp>
      <p:sp>
        <p:nvSpPr>
          <p:cNvPr id="3" name="スライド番号プレースホルダー 2">
            <a:extLst>
              <a:ext uri="{FF2B5EF4-FFF2-40B4-BE49-F238E27FC236}">
                <a16:creationId xmlns:a16="http://schemas.microsoft.com/office/drawing/2014/main" id="{423CFFDD-C709-4BA1-8C55-67DA93C05756}"/>
              </a:ext>
            </a:extLst>
          </p:cNvPr>
          <p:cNvSpPr>
            <a:spLocks noGrp="1"/>
          </p:cNvSpPr>
          <p:nvPr>
            <p:ph type="sldNum" sz="quarter" idx="12"/>
          </p:nvPr>
        </p:nvSpPr>
        <p:spPr/>
        <p:txBody>
          <a:bodyPr/>
          <a:lstStyle/>
          <a:p>
            <a:fld id="{F9DFCEB9-CAE4-4F3C-93D0-85C4724A0355}" type="slidenum">
              <a:rPr kumimoji="1" lang="ja-JP" altLang="en-US" smtClean="0"/>
              <a:t>7</a:t>
            </a:fld>
            <a:endParaRPr kumimoji="1" lang="ja-JP" altLang="en-US" dirty="0"/>
          </a:p>
        </p:txBody>
      </p:sp>
      <p:sp>
        <p:nvSpPr>
          <p:cNvPr id="21" name="角丸四角形 60">
            <a:extLst>
              <a:ext uri="{FF2B5EF4-FFF2-40B4-BE49-F238E27FC236}">
                <a16:creationId xmlns:a16="http://schemas.microsoft.com/office/drawing/2014/main" id="{1E432F06-B4E5-4230-81EF-4E800249451F}"/>
              </a:ext>
            </a:extLst>
          </p:cNvPr>
          <p:cNvSpPr/>
          <p:nvPr/>
        </p:nvSpPr>
        <p:spPr>
          <a:xfrm>
            <a:off x="7668343" y="1353052"/>
            <a:ext cx="1269865" cy="201583"/>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(AM5)</a:t>
            </a:r>
            <a:endPar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60">
            <a:extLst>
              <a:ext uri="{FF2B5EF4-FFF2-40B4-BE49-F238E27FC236}">
                <a16:creationId xmlns:a16="http://schemas.microsoft.com/office/drawing/2014/main" id="{CD6586A8-DFF1-46E3-A7AA-25E610AE12CA}"/>
              </a:ext>
            </a:extLst>
          </p:cNvPr>
          <p:cNvSpPr/>
          <p:nvPr/>
        </p:nvSpPr>
        <p:spPr>
          <a:xfrm>
            <a:off x="7668342" y="2266180"/>
            <a:ext cx="1269865" cy="201583"/>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(AM5)</a:t>
            </a:r>
            <a:endPar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60">
            <a:extLst>
              <a:ext uri="{FF2B5EF4-FFF2-40B4-BE49-F238E27FC236}">
                <a16:creationId xmlns:a16="http://schemas.microsoft.com/office/drawing/2014/main" id="{7137CD03-AFF8-41AA-9BCE-DC43E9D978CC}"/>
              </a:ext>
            </a:extLst>
          </p:cNvPr>
          <p:cNvSpPr/>
          <p:nvPr/>
        </p:nvSpPr>
        <p:spPr>
          <a:xfrm>
            <a:off x="7668342" y="3456076"/>
            <a:ext cx="1269865" cy="201583"/>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r>
              <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(AM5)</a:t>
            </a:r>
            <a:endPar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627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5638610"/>
              </p:ext>
            </p:extLst>
          </p:nvPr>
        </p:nvGraphicFramePr>
        <p:xfrm>
          <a:off x="35496" y="51468"/>
          <a:ext cx="8928982" cy="5028509"/>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51524">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Intel</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Note CPU</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5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5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17029">
                <a:tc>
                  <a:txBody>
                    <a:bodyPr/>
                    <a:lstStyle/>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HX/H</a:t>
                      </a:r>
                      <a:endParaRPr kumimoji="1" lang="en-US" altLang="ja-JP" sz="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1" name="角丸四角形 40">
            <a:extLst>
              <a:ext uri="{FF2B5EF4-FFF2-40B4-BE49-F238E27FC236}">
                <a16:creationId xmlns:a16="http://schemas.microsoft.com/office/drawing/2014/main" id="{5353DB7D-343D-4B50-8B0F-F638B9E7C991}"/>
              </a:ext>
            </a:extLst>
          </p:cNvPr>
          <p:cNvSpPr/>
          <p:nvPr/>
        </p:nvSpPr>
        <p:spPr>
          <a:xfrm>
            <a:off x="1267578" y="3681144"/>
            <a:ext cx="7688502" cy="194163"/>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Meteor Lake-H</a:t>
            </a:r>
          </a:p>
        </p:txBody>
      </p:sp>
      <p:sp>
        <p:nvSpPr>
          <p:cNvPr id="28" name="角丸四角形 40">
            <a:extLst>
              <a:ext uri="{FF2B5EF4-FFF2-40B4-BE49-F238E27FC236}">
                <a16:creationId xmlns:a16="http://schemas.microsoft.com/office/drawing/2014/main" id="{7E8D4848-20AD-45A9-9107-582A60BB34D0}"/>
              </a:ext>
            </a:extLst>
          </p:cNvPr>
          <p:cNvSpPr/>
          <p:nvPr/>
        </p:nvSpPr>
        <p:spPr>
          <a:xfrm>
            <a:off x="1259630" y="1588744"/>
            <a:ext cx="7681467" cy="550958"/>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Arrow Lake-HX(ARL-HX)</a:t>
            </a:r>
          </a:p>
        </p:txBody>
      </p:sp>
      <p:sp>
        <p:nvSpPr>
          <p:cNvPr id="34" name="角丸四角形 40">
            <a:extLst>
              <a:ext uri="{FF2B5EF4-FFF2-40B4-BE49-F238E27FC236}">
                <a16:creationId xmlns:a16="http://schemas.microsoft.com/office/drawing/2014/main" id="{5D44496C-BD97-485B-B9FD-6C9AB8E783B7}"/>
              </a:ext>
            </a:extLst>
          </p:cNvPr>
          <p:cNvSpPr/>
          <p:nvPr/>
        </p:nvSpPr>
        <p:spPr>
          <a:xfrm>
            <a:off x="1259631" y="3085594"/>
            <a:ext cx="7696449" cy="569636"/>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Arrow Lake-H(ARL-H)</a:t>
            </a:r>
          </a:p>
        </p:txBody>
      </p:sp>
      <p:sp>
        <p:nvSpPr>
          <p:cNvPr id="39" name="角丸四角形 40">
            <a:extLst>
              <a:ext uri="{FF2B5EF4-FFF2-40B4-BE49-F238E27FC236}">
                <a16:creationId xmlns:a16="http://schemas.microsoft.com/office/drawing/2014/main" id="{DF40FBA0-5AB6-4837-9D6E-B1C2240393DB}"/>
              </a:ext>
            </a:extLst>
          </p:cNvPr>
          <p:cNvSpPr/>
          <p:nvPr/>
        </p:nvSpPr>
        <p:spPr>
          <a:xfrm>
            <a:off x="1274887" y="4515966"/>
            <a:ext cx="7662624" cy="567911"/>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Raptor Lake-H </a:t>
            </a:r>
            <a:r>
              <a:rPr lang="en-US" altLang="ja-JP" sz="1000" dirty="0" err="1"/>
              <a:t>Refesh</a:t>
            </a:r>
            <a:endParaRPr lang="en-US" altLang="ja-JP" sz="1000" dirty="0"/>
          </a:p>
        </p:txBody>
      </p:sp>
      <p:sp>
        <p:nvSpPr>
          <p:cNvPr id="43" name="角丸四角形 54">
            <a:extLst>
              <a:ext uri="{FF2B5EF4-FFF2-40B4-BE49-F238E27FC236}">
                <a16:creationId xmlns:a16="http://schemas.microsoft.com/office/drawing/2014/main" id="{D5CAFEAA-45E5-4D14-BBDB-A4D241982FFE}"/>
              </a:ext>
            </a:extLst>
          </p:cNvPr>
          <p:cNvSpPr/>
          <p:nvPr/>
        </p:nvSpPr>
        <p:spPr>
          <a:xfrm>
            <a:off x="1280333" y="4677356"/>
            <a:ext cx="7655470" cy="113383"/>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Core9 270H</a:t>
            </a:r>
          </a:p>
        </p:txBody>
      </p:sp>
      <p:sp>
        <p:nvSpPr>
          <p:cNvPr id="45" name="角丸四角形 50">
            <a:extLst>
              <a:ext uri="{FF2B5EF4-FFF2-40B4-BE49-F238E27FC236}">
                <a16:creationId xmlns:a16="http://schemas.microsoft.com/office/drawing/2014/main" id="{3748E7B5-071B-41F2-B492-EEE7E1094D74}"/>
              </a:ext>
            </a:extLst>
          </p:cNvPr>
          <p:cNvSpPr/>
          <p:nvPr/>
        </p:nvSpPr>
        <p:spPr>
          <a:xfrm>
            <a:off x="1273629" y="4810658"/>
            <a:ext cx="7655470" cy="110684"/>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Core7 250H/240H</a:t>
            </a:r>
          </a:p>
        </p:txBody>
      </p:sp>
      <p:sp>
        <p:nvSpPr>
          <p:cNvPr id="46" name="角丸四角形 51">
            <a:extLst>
              <a:ext uri="{FF2B5EF4-FFF2-40B4-BE49-F238E27FC236}">
                <a16:creationId xmlns:a16="http://schemas.microsoft.com/office/drawing/2014/main" id="{FE019E2A-4F41-4EC6-BBFA-118D4AC24505}"/>
              </a:ext>
            </a:extLst>
          </p:cNvPr>
          <p:cNvSpPr/>
          <p:nvPr/>
        </p:nvSpPr>
        <p:spPr>
          <a:xfrm>
            <a:off x="1283186" y="4947172"/>
            <a:ext cx="2133600" cy="11068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Core5 220H/210H</a:t>
            </a:r>
          </a:p>
        </p:txBody>
      </p:sp>
      <p:sp>
        <p:nvSpPr>
          <p:cNvPr id="38" name="角丸四角形 54">
            <a:extLst>
              <a:ext uri="{FF2B5EF4-FFF2-40B4-BE49-F238E27FC236}">
                <a16:creationId xmlns:a16="http://schemas.microsoft.com/office/drawing/2014/main" id="{75973E96-49C3-45D0-9935-6C7600B2D5D4}"/>
              </a:ext>
            </a:extLst>
          </p:cNvPr>
          <p:cNvSpPr/>
          <p:nvPr/>
        </p:nvSpPr>
        <p:spPr>
          <a:xfrm>
            <a:off x="1283186" y="1731270"/>
            <a:ext cx="3862210" cy="114942"/>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Ultra9 285HX</a:t>
            </a:r>
          </a:p>
        </p:txBody>
      </p:sp>
      <p:sp>
        <p:nvSpPr>
          <p:cNvPr id="41" name="角丸四角形 50">
            <a:extLst>
              <a:ext uri="{FF2B5EF4-FFF2-40B4-BE49-F238E27FC236}">
                <a16:creationId xmlns:a16="http://schemas.microsoft.com/office/drawing/2014/main" id="{4E495FF8-B6AC-4A57-97D9-6D2741C502C4}"/>
              </a:ext>
            </a:extLst>
          </p:cNvPr>
          <p:cNvSpPr/>
          <p:nvPr/>
        </p:nvSpPr>
        <p:spPr>
          <a:xfrm>
            <a:off x="1285854" y="1855317"/>
            <a:ext cx="3862210" cy="117531"/>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Ultra7 265HX</a:t>
            </a:r>
          </a:p>
        </p:txBody>
      </p:sp>
      <p:sp>
        <p:nvSpPr>
          <p:cNvPr id="42" name="角丸四角形 51">
            <a:extLst>
              <a:ext uri="{FF2B5EF4-FFF2-40B4-BE49-F238E27FC236}">
                <a16:creationId xmlns:a16="http://schemas.microsoft.com/office/drawing/2014/main" id="{1002D8E2-E358-47E3-91BB-32AF492CFF94}"/>
              </a:ext>
            </a:extLst>
          </p:cNvPr>
          <p:cNvSpPr/>
          <p:nvPr/>
        </p:nvSpPr>
        <p:spPr>
          <a:xfrm>
            <a:off x="1290794" y="1987839"/>
            <a:ext cx="3862210" cy="117531"/>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Ultra5 245HX 235HX</a:t>
            </a:r>
          </a:p>
        </p:txBody>
      </p:sp>
      <p:sp>
        <p:nvSpPr>
          <p:cNvPr id="50" name="角丸四角形 54">
            <a:extLst>
              <a:ext uri="{FF2B5EF4-FFF2-40B4-BE49-F238E27FC236}">
                <a16:creationId xmlns:a16="http://schemas.microsoft.com/office/drawing/2014/main" id="{B3618BE8-3B34-45C0-8D8D-A00009E0A82B}"/>
              </a:ext>
            </a:extLst>
          </p:cNvPr>
          <p:cNvSpPr/>
          <p:nvPr/>
        </p:nvSpPr>
        <p:spPr>
          <a:xfrm>
            <a:off x="1283987" y="3257999"/>
            <a:ext cx="7645111" cy="117336"/>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Ultra9 285H</a:t>
            </a:r>
          </a:p>
        </p:txBody>
      </p:sp>
      <p:sp>
        <p:nvSpPr>
          <p:cNvPr id="51" name="角丸四角形 50">
            <a:extLst>
              <a:ext uri="{FF2B5EF4-FFF2-40B4-BE49-F238E27FC236}">
                <a16:creationId xmlns:a16="http://schemas.microsoft.com/office/drawing/2014/main" id="{73A88D26-26AB-45AC-9315-04ACB50C0824}"/>
              </a:ext>
            </a:extLst>
          </p:cNvPr>
          <p:cNvSpPr/>
          <p:nvPr/>
        </p:nvSpPr>
        <p:spPr>
          <a:xfrm>
            <a:off x="1283987" y="3391980"/>
            <a:ext cx="7645111" cy="92933"/>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Ultra7 265H 255H</a:t>
            </a:r>
          </a:p>
        </p:txBody>
      </p:sp>
      <p:sp>
        <p:nvSpPr>
          <p:cNvPr id="52" name="角丸四角形 51">
            <a:extLst>
              <a:ext uri="{FF2B5EF4-FFF2-40B4-BE49-F238E27FC236}">
                <a16:creationId xmlns:a16="http://schemas.microsoft.com/office/drawing/2014/main" id="{353F28A0-C299-4731-9997-D9379B8ED5D0}"/>
              </a:ext>
            </a:extLst>
          </p:cNvPr>
          <p:cNvSpPr/>
          <p:nvPr/>
        </p:nvSpPr>
        <p:spPr>
          <a:xfrm>
            <a:off x="1278420" y="3515209"/>
            <a:ext cx="7645111" cy="98249"/>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Ultra5 245H 235H</a:t>
            </a:r>
          </a:p>
        </p:txBody>
      </p:sp>
      <p:sp>
        <p:nvSpPr>
          <p:cNvPr id="56" name="角丸四角形 40">
            <a:extLst>
              <a:ext uri="{FF2B5EF4-FFF2-40B4-BE49-F238E27FC236}">
                <a16:creationId xmlns:a16="http://schemas.microsoft.com/office/drawing/2014/main" id="{9F76834C-A74A-4DAC-ADE6-B400DF5C81F6}"/>
              </a:ext>
            </a:extLst>
          </p:cNvPr>
          <p:cNvSpPr/>
          <p:nvPr/>
        </p:nvSpPr>
        <p:spPr>
          <a:xfrm>
            <a:off x="1280333" y="1059582"/>
            <a:ext cx="7680585" cy="488464"/>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Arrow Lake-HX Refresh(ARL-HX-R)</a:t>
            </a:r>
            <a:r>
              <a:rPr lang="ja-JP" altLang="en-US" sz="1000" dirty="0"/>
              <a:t>　</a:t>
            </a:r>
            <a:r>
              <a:rPr lang="en-US" altLang="ja-JP" sz="1000" dirty="0"/>
              <a:t>U200-HX</a:t>
            </a:r>
          </a:p>
        </p:txBody>
      </p:sp>
      <p:sp>
        <p:nvSpPr>
          <p:cNvPr id="5" name="角丸四角形 40">
            <a:extLst>
              <a:ext uri="{FF2B5EF4-FFF2-40B4-BE49-F238E27FC236}">
                <a16:creationId xmlns:a16="http://schemas.microsoft.com/office/drawing/2014/main" id="{8AA3CB58-679C-74F4-F24D-8C4BDF0CE6E5}"/>
              </a:ext>
            </a:extLst>
          </p:cNvPr>
          <p:cNvSpPr/>
          <p:nvPr/>
        </p:nvSpPr>
        <p:spPr>
          <a:xfrm>
            <a:off x="1259630" y="2427734"/>
            <a:ext cx="7696451" cy="587561"/>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Panther Lake-H(PTL-H)</a:t>
            </a:r>
            <a:r>
              <a:rPr lang="ja-JP" altLang="en-US" sz="1000" dirty="0"/>
              <a:t>　</a:t>
            </a:r>
            <a:r>
              <a:rPr lang="it-IT" altLang="ja-JP" sz="1000" dirty="0"/>
              <a:t>Intel Core Ultra Processors Series 3</a:t>
            </a:r>
            <a:endParaRPr lang="en-US" altLang="ja-JP" sz="1000" dirty="0"/>
          </a:p>
        </p:txBody>
      </p:sp>
      <p:sp>
        <p:nvSpPr>
          <p:cNvPr id="49" name="スライド番号プレースホルダー 3">
            <a:extLst>
              <a:ext uri="{FF2B5EF4-FFF2-40B4-BE49-F238E27FC236}">
                <a16:creationId xmlns:a16="http://schemas.microsoft.com/office/drawing/2014/main" id="{E3CED012-2AAB-49C0-94EE-3A0CA564BD78}"/>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8</a:t>
            </a:fld>
            <a:endParaRPr kumimoji="1" lang="ja-JP" altLang="en-US" dirty="0"/>
          </a:p>
        </p:txBody>
      </p:sp>
      <p:sp>
        <p:nvSpPr>
          <p:cNvPr id="47" name="角丸四角形 54">
            <a:extLst>
              <a:ext uri="{FF2B5EF4-FFF2-40B4-BE49-F238E27FC236}">
                <a16:creationId xmlns:a16="http://schemas.microsoft.com/office/drawing/2014/main" id="{53ABF161-A583-493A-A5E6-9E19D72DAC84}"/>
              </a:ext>
            </a:extLst>
          </p:cNvPr>
          <p:cNvSpPr/>
          <p:nvPr/>
        </p:nvSpPr>
        <p:spPr>
          <a:xfrm>
            <a:off x="1310890" y="1223064"/>
            <a:ext cx="7626617" cy="138606"/>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Ultra9 290HX Plus</a:t>
            </a:r>
          </a:p>
        </p:txBody>
      </p:sp>
      <p:sp>
        <p:nvSpPr>
          <p:cNvPr id="48" name="角丸四角形 50">
            <a:extLst>
              <a:ext uri="{FF2B5EF4-FFF2-40B4-BE49-F238E27FC236}">
                <a16:creationId xmlns:a16="http://schemas.microsoft.com/office/drawing/2014/main" id="{48043A22-F68B-4086-A107-A5674923C731}"/>
              </a:ext>
            </a:extLst>
          </p:cNvPr>
          <p:cNvSpPr/>
          <p:nvPr/>
        </p:nvSpPr>
        <p:spPr>
          <a:xfrm>
            <a:off x="1310890" y="1378012"/>
            <a:ext cx="7626617" cy="137850"/>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Ultra7 270HX Plus</a:t>
            </a:r>
          </a:p>
        </p:txBody>
      </p:sp>
      <p:sp>
        <p:nvSpPr>
          <p:cNvPr id="60" name="角丸四角形 40">
            <a:extLst>
              <a:ext uri="{FF2B5EF4-FFF2-40B4-BE49-F238E27FC236}">
                <a16:creationId xmlns:a16="http://schemas.microsoft.com/office/drawing/2014/main" id="{FA61A118-FE2F-4BA3-8D50-5F2AAD9AFA6B}"/>
              </a:ext>
            </a:extLst>
          </p:cNvPr>
          <p:cNvSpPr/>
          <p:nvPr/>
        </p:nvSpPr>
        <p:spPr>
          <a:xfrm>
            <a:off x="1619672" y="3954615"/>
            <a:ext cx="7321426" cy="509383"/>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Wildcat Lake</a:t>
            </a:r>
            <a:r>
              <a:rPr lang="ja-JP" altLang="en-US" sz="1000" dirty="0"/>
              <a:t>　</a:t>
            </a:r>
            <a:r>
              <a:rPr lang="it-IT" altLang="ja-JP" sz="1000" dirty="0"/>
              <a:t>Intel Core Processors Series 3</a:t>
            </a:r>
            <a:endParaRPr lang="en-US" altLang="ja-JP" sz="1000" dirty="0"/>
          </a:p>
          <a:p>
            <a:endParaRPr lang="en-US" altLang="ja-JP" sz="1000" dirty="0"/>
          </a:p>
        </p:txBody>
      </p:sp>
      <p:sp>
        <p:nvSpPr>
          <p:cNvPr id="64" name="角丸四角形 54">
            <a:extLst>
              <a:ext uri="{FF2B5EF4-FFF2-40B4-BE49-F238E27FC236}">
                <a16:creationId xmlns:a16="http://schemas.microsoft.com/office/drawing/2014/main" id="{40F2C08F-E2B7-4307-BB12-6582D698382C}"/>
              </a:ext>
            </a:extLst>
          </p:cNvPr>
          <p:cNvSpPr/>
          <p:nvPr/>
        </p:nvSpPr>
        <p:spPr>
          <a:xfrm>
            <a:off x="1271926" y="2575111"/>
            <a:ext cx="7657174" cy="117278"/>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X9 388H *Arc Graphics</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9 386H</a:t>
            </a:r>
          </a:p>
        </p:txBody>
      </p:sp>
      <p:sp>
        <p:nvSpPr>
          <p:cNvPr id="65" name="角丸四角形 51">
            <a:extLst>
              <a:ext uri="{FF2B5EF4-FFF2-40B4-BE49-F238E27FC236}">
                <a16:creationId xmlns:a16="http://schemas.microsoft.com/office/drawing/2014/main" id="{7DE754BA-64D5-4873-945B-A002D521B79A}"/>
              </a:ext>
            </a:extLst>
          </p:cNvPr>
          <p:cNvSpPr/>
          <p:nvPr/>
        </p:nvSpPr>
        <p:spPr>
          <a:xfrm>
            <a:off x="1280333" y="2863143"/>
            <a:ext cx="7657174" cy="116830"/>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5 338H *Arc Graphics</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5 336H 335 325 332 322</a:t>
            </a:r>
          </a:p>
        </p:txBody>
      </p:sp>
      <p:sp>
        <p:nvSpPr>
          <p:cNvPr id="66" name="角丸四角形 50">
            <a:extLst>
              <a:ext uri="{FF2B5EF4-FFF2-40B4-BE49-F238E27FC236}">
                <a16:creationId xmlns:a16="http://schemas.microsoft.com/office/drawing/2014/main" id="{7D4CCFAB-2A9E-4742-9846-01553776D5FF}"/>
              </a:ext>
            </a:extLst>
          </p:cNvPr>
          <p:cNvSpPr/>
          <p:nvPr/>
        </p:nvSpPr>
        <p:spPr>
          <a:xfrm>
            <a:off x="1280333" y="2719127"/>
            <a:ext cx="7657174" cy="122340"/>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X7 368H 358H *Arc Graphics</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7 366H 356H</a:t>
            </a:r>
          </a:p>
        </p:txBody>
      </p:sp>
      <p:sp>
        <p:nvSpPr>
          <p:cNvPr id="44" name="角丸四角形 50">
            <a:extLst>
              <a:ext uri="{FF2B5EF4-FFF2-40B4-BE49-F238E27FC236}">
                <a16:creationId xmlns:a16="http://schemas.microsoft.com/office/drawing/2014/main" id="{C611E1C4-2478-4040-B49A-69E5D59D4A21}"/>
              </a:ext>
            </a:extLst>
          </p:cNvPr>
          <p:cNvSpPr/>
          <p:nvPr/>
        </p:nvSpPr>
        <p:spPr>
          <a:xfrm>
            <a:off x="1682445" y="4137839"/>
            <a:ext cx="7253358" cy="115283"/>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Core7 360/350</a:t>
            </a:r>
          </a:p>
        </p:txBody>
      </p:sp>
      <p:sp>
        <p:nvSpPr>
          <p:cNvPr id="53" name="角丸四角形 51">
            <a:extLst>
              <a:ext uri="{FF2B5EF4-FFF2-40B4-BE49-F238E27FC236}">
                <a16:creationId xmlns:a16="http://schemas.microsoft.com/office/drawing/2014/main" id="{3E4CC199-68F1-4DA0-9C1B-C713632BADEF}"/>
              </a:ext>
            </a:extLst>
          </p:cNvPr>
          <p:cNvSpPr/>
          <p:nvPr/>
        </p:nvSpPr>
        <p:spPr>
          <a:xfrm>
            <a:off x="1691669" y="4274353"/>
            <a:ext cx="7245694" cy="115283"/>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Core5 330/320/315</a:t>
            </a:r>
          </a:p>
        </p:txBody>
      </p:sp>
      <p:sp>
        <p:nvSpPr>
          <p:cNvPr id="59" name="角丸四角形 40">
            <a:extLst>
              <a:ext uri="{FF2B5EF4-FFF2-40B4-BE49-F238E27FC236}">
                <a16:creationId xmlns:a16="http://schemas.microsoft.com/office/drawing/2014/main" id="{4F4C137C-2C89-4C0A-AC62-2E57EC944965}"/>
              </a:ext>
            </a:extLst>
          </p:cNvPr>
          <p:cNvSpPr/>
          <p:nvPr/>
        </p:nvSpPr>
        <p:spPr>
          <a:xfrm>
            <a:off x="6012160" y="505329"/>
            <a:ext cx="2952317" cy="226399"/>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a:t>3-6</a:t>
            </a:r>
            <a:r>
              <a:rPr lang="ja-JP" altLang="en-US" sz="1000" dirty="0"/>
              <a:t>月</a:t>
            </a:r>
            <a:r>
              <a:rPr lang="en-US" altLang="ja-JP" sz="1000" dirty="0"/>
              <a:t> Nova Lake-HX</a:t>
            </a:r>
          </a:p>
        </p:txBody>
      </p:sp>
      <p:sp>
        <p:nvSpPr>
          <p:cNvPr id="29" name="角丸四角形 40">
            <a:extLst>
              <a:ext uri="{FF2B5EF4-FFF2-40B4-BE49-F238E27FC236}">
                <a16:creationId xmlns:a16="http://schemas.microsoft.com/office/drawing/2014/main" id="{5CA74A9A-7EFB-4E4F-BB99-881A34819F21}"/>
              </a:ext>
            </a:extLst>
          </p:cNvPr>
          <p:cNvSpPr/>
          <p:nvPr/>
        </p:nvSpPr>
        <p:spPr>
          <a:xfrm>
            <a:off x="6012161" y="761175"/>
            <a:ext cx="2920540" cy="226399"/>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bg1"/>
                </a:solidFill>
                <a:ea typeface="Meiryo UI"/>
                <a:cs typeface="Meiryo UI" panose="020B0604030504040204" pitchFamily="50" charset="-128"/>
              </a:rPr>
              <a:t>3-5</a:t>
            </a:r>
            <a:r>
              <a:rPr kumimoji="1" lang="ja-JP" altLang="en-US" sz="1000" dirty="0">
                <a:solidFill>
                  <a:schemeClr val="bg1"/>
                </a:solidFill>
                <a:ea typeface="Meiryo UI"/>
                <a:cs typeface="Meiryo UI" panose="020B0604030504040204" pitchFamily="50" charset="-128"/>
              </a:rPr>
              <a:t>月</a:t>
            </a:r>
            <a:r>
              <a:rPr kumimoji="1" lang="en-US" altLang="ja-JP" sz="1000" dirty="0">
                <a:solidFill>
                  <a:schemeClr val="bg1"/>
                </a:solidFill>
                <a:ea typeface="Meiryo UI"/>
                <a:cs typeface="Meiryo UI" panose="020B0604030504040204" pitchFamily="50" charset="-128"/>
              </a:rPr>
              <a:t> Raptor Lake-HX Next</a:t>
            </a:r>
            <a:r>
              <a:rPr kumimoji="1" lang="ja-JP" altLang="en-US" sz="1000" dirty="0">
                <a:solidFill>
                  <a:schemeClr val="bg1"/>
                </a:solidFill>
                <a:ea typeface="Meiryo UI"/>
                <a:cs typeface="Meiryo UI" panose="020B0604030504040204" pitchFamily="50" charset="-128"/>
              </a:rPr>
              <a:t>　</a:t>
            </a:r>
            <a:r>
              <a:rPr lang="en-US" altLang="ja-JP" sz="1000" dirty="0">
                <a:solidFill>
                  <a:schemeClr val="bg1"/>
                </a:solidFill>
                <a:ea typeface="Meiryo UI"/>
                <a:cs typeface="Meiryo UI" panose="020B0604030504040204" pitchFamily="50" charset="-128"/>
              </a:rPr>
              <a:t>Core9</a:t>
            </a:r>
            <a:r>
              <a:rPr lang="ja-JP" altLang="en-US" sz="1000" dirty="0">
                <a:solidFill>
                  <a:schemeClr val="bg1"/>
                </a:solidFill>
                <a:ea typeface="Meiryo UI"/>
                <a:cs typeface="Meiryo UI" panose="020B0604030504040204" pitchFamily="50" charset="-128"/>
              </a:rPr>
              <a:t>＆</a:t>
            </a:r>
            <a:r>
              <a:rPr lang="en-US" altLang="ja-JP" sz="1000" dirty="0">
                <a:solidFill>
                  <a:schemeClr val="bg1"/>
                </a:solidFill>
                <a:ea typeface="Meiryo UI"/>
                <a:cs typeface="Meiryo UI" panose="020B0604030504040204" pitchFamily="50" charset="-128"/>
              </a:rPr>
              <a:t>Core7</a:t>
            </a:r>
            <a:endParaRPr kumimoji="1" lang="en-US" altLang="ja-JP" sz="1000" dirty="0">
              <a:solidFill>
                <a:schemeClr val="bg1"/>
              </a:solidFill>
              <a:ea typeface="Meiryo UI"/>
              <a:cs typeface="Meiryo UI" panose="020B0604030504040204" pitchFamily="50" charset="-128"/>
            </a:endParaRPr>
          </a:p>
        </p:txBody>
      </p:sp>
      <p:sp>
        <p:nvSpPr>
          <p:cNvPr id="31" name="角丸四角形 40">
            <a:extLst>
              <a:ext uri="{FF2B5EF4-FFF2-40B4-BE49-F238E27FC236}">
                <a16:creationId xmlns:a16="http://schemas.microsoft.com/office/drawing/2014/main" id="{361FAD0D-6913-411B-A693-31D8AFC9E586}"/>
              </a:ext>
            </a:extLst>
          </p:cNvPr>
          <p:cNvSpPr/>
          <p:nvPr/>
        </p:nvSpPr>
        <p:spPr>
          <a:xfrm>
            <a:off x="6660232" y="3826563"/>
            <a:ext cx="2272468" cy="188707"/>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4-6</a:t>
            </a:r>
            <a:r>
              <a:rPr lang="ja-JP" altLang="en-US" sz="1000" dirty="0"/>
              <a:t>月 </a:t>
            </a:r>
            <a:r>
              <a:rPr lang="en-US" altLang="ja-JP" sz="1000" dirty="0"/>
              <a:t>Wildcat Lake Refresh </a:t>
            </a:r>
          </a:p>
        </p:txBody>
      </p:sp>
      <p:sp>
        <p:nvSpPr>
          <p:cNvPr id="32" name="角丸四角形 40">
            <a:extLst>
              <a:ext uri="{FF2B5EF4-FFF2-40B4-BE49-F238E27FC236}">
                <a16:creationId xmlns:a16="http://schemas.microsoft.com/office/drawing/2014/main" id="{923725F1-A198-44D7-BA5B-66291E546136}"/>
              </a:ext>
            </a:extLst>
          </p:cNvPr>
          <p:cNvSpPr/>
          <p:nvPr/>
        </p:nvSpPr>
        <p:spPr>
          <a:xfrm>
            <a:off x="5652120" y="2181285"/>
            <a:ext cx="3280580" cy="226399"/>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2-6</a:t>
            </a:r>
            <a:r>
              <a:rPr lang="ja-JP" altLang="en-US" sz="1000" dirty="0"/>
              <a:t>月</a:t>
            </a:r>
            <a:r>
              <a:rPr lang="en-US" altLang="ja-JP" sz="1000" dirty="0"/>
              <a:t> Nova Lake-H</a:t>
            </a:r>
          </a:p>
        </p:txBody>
      </p:sp>
    </p:spTree>
    <p:extLst>
      <p:ext uri="{BB962C8B-B14F-4D97-AF65-F5344CB8AC3E}">
        <p14:creationId xmlns:p14="http://schemas.microsoft.com/office/powerpoint/2010/main" val="1254287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975669598"/>
              </p:ext>
            </p:extLst>
          </p:nvPr>
        </p:nvGraphicFramePr>
        <p:xfrm>
          <a:off x="35496" y="51470"/>
          <a:ext cx="8928992" cy="5085127"/>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44">
                  <a:extLst>
                    <a:ext uri="{9D8B030D-6E8A-4147-A177-3AD203B41FA5}">
                      <a16:colId xmlns:a16="http://schemas.microsoft.com/office/drawing/2014/main" val="20018"/>
                    </a:ext>
                  </a:extLst>
                </a:gridCol>
              </a:tblGrid>
              <a:tr h="405728">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Intel</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Note CPU</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5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5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73647">
                <a:tc>
                  <a:txBody>
                    <a:bodyPr/>
                    <a:lstStyle/>
                    <a:p>
                      <a:pPr algn="l"/>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P/U/N</a:t>
                      </a:r>
                    </a:p>
                    <a:p>
                      <a:pPr algn="l"/>
                      <a:r>
                        <a:rPr kumimoji="1" lang="en-US" altLang="ja-JP" sz="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43" name="角丸四角形 40">
            <a:extLst>
              <a:ext uri="{FF2B5EF4-FFF2-40B4-BE49-F238E27FC236}">
                <a16:creationId xmlns:a16="http://schemas.microsoft.com/office/drawing/2014/main" id="{A8B41CE5-B5A5-4032-9995-F8B0E12F6705}"/>
              </a:ext>
            </a:extLst>
          </p:cNvPr>
          <p:cNvSpPr/>
          <p:nvPr/>
        </p:nvSpPr>
        <p:spPr>
          <a:xfrm>
            <a:off x="1259282" y="3028823"/>
            <a:ext cx="7675052" cy="190999"/>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900" dirty="0"/>
              <a:t>Meteor Lake-U </a:t>
            </a:r>
          </a:p>
        </p:txBody>
      </p:sp>
      <p:sp>
        <p:nvSpPr>
          <p:cNvPr id="44" name="角丸四角形 40">
            <a:extLst>
              <a:ext uri="{FF2B5EF4-FFF2-40B4-BE49-F238E27FC236}">
                <a16:creationId xmlns:a16="http://schemas.microsoft.com/office/drawing/2014/main" id="{53080592-1410-4513-9649-2FBE5356309D}"/>
              </a:ext>
            </a:extLst>
          </p:cNvPr>
          <p:cNvSpPr/>
          <p:nvPr/>
        </p:nvSpPr>
        <p:spPr>
          <a:xfrm>
            <a:off x="1262726" y="2175661"/>
            <a:ext cx="7671608" cy="550005"/>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900" dirty="0"/>
              <a:t>Lunar Lake(LNL)</a:t>
            </a:r>
            <a:r>
              <a:rPr lang="ja-JP" altLang="en-US" sz="900" dirty="0"/>
              <a:t>　</a:t>
            </a:r>
            <a:r>
              <a:rPr lang="en-US" altLang="ja-JP" sz="900" dirty="0"/>
              <a:t>Up to 45TOPS NPU </a:t>
            </a:r>
          </a:p>
        </p:txBody>
      </p:sp>
      <p:sp>
        <p:nvSpPr>
          <p:cNvPr id="46" name="角丸四角形 40">
            <a:extLst>
              <a:ext uri="{FF2B5EF4-FFF2-40B4-BE49-F238E27FC236}">
                <a16:creationId xmlns:a16="http://schemas.microsoft.com/office/drawing/2014/main" id="{493AEB45-4AC1-486F-B76D-7FD0933C0874}"/>
              </a:ext>
            </a:extLst>
          </p:cNvPr>
          <p:cNvSpPr/>
          <p:nvPr/>
        </p:nvSpPr>
        <p:spPr>
          <a:xfrm>
            <a:off x="1259632" y="4981609"/>
            <a:ext cx="7681466" cy="158282"/>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800" dirty="0"/>
              <a:t>Twin Lake-N</a:t>
            </a:r>
          </a:p>
        </p:txBody>
      </p:sp>
      <p:sp>
        <p:nvSpPr>
          <p:cNvPr id="59" name="角丸四角形 40">
            <a:extLst>
              <a:ext uri="{FF2B5EF4-FFF2-40B4-BE49-F238E27FC236}">
                <a16:creationId xmlns:a16="http://schemas.microsoft.com/office/drawing/2014/main" id="{1A76DFE7-1B78-4BBA-8D31-8458475DD593}"/>
              </a:ext>
            </a:extLst>
          </p:cNvPr>
          <p:cNvSpPr/>
          <p:nvPr/>
        </p:nvSpPr>
        <p:spPr>
          <a:xfrm>
            <a:off x="1259632" y="2781629"/>
            <a:ext cx="7671608" cy="190998"/>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900" dirty="0"/>
              <a:t>Arrow Lake-U(ARL-U)</a:t>
            </a:r>
          </a:p>
          <a:p>
            <a:r>
              <a:rPr lang="en-US" altLang="ja-JP" sz="900" dirty="0"/>
              <a:t> </a:t>
            </a:r>
          </a:p>
        </p:txBody>
      </p:sp>
      <p:sp>
        <p:nvSpPr>
          <p:cNvPr id="38" name="角丸四角形 54">
            <a:extLst>
              <a:ext uri="{FF2B5EF4-FFF2-40B4-BE49-F238E27FC236}">
                <a16:creationId xmlns:a16="http://schemas.microsoft.com/office/drawing/2014/main" id="{EC823F96-CA6B-481E-AC58-32F041BFBAAD}"/>
              </a:ext>
            </a:extLst>
          </p:cNvPr>
          <p:cNvSpPr/>
          <p:nvPr/>
        </p:nvSpPr>
        <p:spPr>
          <a:xfrm>
            <a:off x="1254238" y="2317602"/>
            <a:ext cx="6549715" cy="112071"/>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Ultra9 288V</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32GB</a:t>
            </a:r>
          </a:p>
        </p:txBody>
      </p:sp>
      <p:sp>
        <p:nvSpPr>
          <p:cNvPr id="39" name="角丸四角形 50">
            <a:extLst>
              <a:ext uri="{FF2B5EF4-FFF2-40B4-BE49-F238E27FC236}">
                <a16:creationId xmlns:a16="http://schemas.microsoft.com/office/drawing/2014/main" id="{D62AC396-AC30-4ADD-8F7D-E73C4772BB06}"/>
              </a:ext>
            </a:extLst>
          </p:cNvPr>
          <p:cNvSpPr/>
          <p:nvPr/>
        </p:nvSpPr>
        <p:spPr>
          <a:xfrm>
            <a:off x="1259074" y="2445261"/>
            <a:ext cx="6549715" cy="12021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Ultra7 268V</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32GB/266V</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16GB   258V</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32GB/256V 16GB</a:t>
            </a:r>
          </a:p>
        </p:txBody>
      </p:sp>
      <p:sp>
        <p:nvSpPr>
          <p:cNvPr id="40" name="角丸四角形 51">
            <a:extLst>
              <a:ext uri="{FF2B5EF4-FFF2-40B4-BE49-F238E27FC236}">
                <a16:creationId xmlns:a16="http://schemas.microsoft.com/office/drawing/2014/main" id="{9B874B10-9F57-4EA4-9C24-477563433A73}"/>
              </a:ext>
            </a:extLst>
          </p:cNvPr>
          <p:cNvSpPr/>
          <p:nvPr/>
        </p:nvSpPr>
        <p:spPr>
          <a:xfrm>
            <a:off x="1262645" y="2589277"/>
            <a:ext cx="6549715" cy="114797"/>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Ultra5 238V 32GB/236V 16GB   228V 32GB 226V 16GB</a:t>
            </a:r>
          </a:p>
        </p:txBody>
      </p:sp>
      <p:sp>
        <p:nvSpPr>
          <p:cNvPr id="55" name="角丸四角形 40">
            <a:extLst>
              <a:ext uri="{FF2B5EF4-FFF2-40B4-BE49-F238E27FC236}">
                <a16:creationId xmlns:a16="http://schemas.microsoft.com/office/drawing/2014/main" id="{1F341DAC-2C77-4D2A-A813-62E177DBBB62}"/>
              </a:ext>
            </a:extLst>
          </p:cNvPr>
          <p:cNvSpPr/>
          <p:nvPr/>
        </p:nvSpPr>
        <p:spPr>
          <a:xfrm>
            <a:off x="1260981" y="4579597"/>
            <a:ext cx="7680117" cy="368417"/>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900" dirty="0"/>
              <a:t>Raptor Lake-U Refresh</a:t>
            </a:r>
            <a:r>
              <a:rPr lang="ja-JP" altLang="en-US" sz="900" dirty="0"/>
              <a:t>　</a:t>
            </a:r>
            <a:endParaRPr lang="en-US" altLang="ja-JP" sz="900" dirty="0"/>
          </a:p>
          <a:p>
            <a:r>
              <a:rPr lang="en-US" altLang="ja-JP" sz="900" dirty="0"/>
              <a:t> </a:t>
            </a:r>
          </a:p>
        </p:txBody>
      </p:sp>
      <p:sp>
        <p:nvSpPr>
          <p:cNvPr id="61" name="テキスト ボックス 60">
            <a:extLst>
              <a:ext uri="{FF2B5EF4-FFF2-40B4-BE49-F238E27FC236}">
                <a16:creationId xmlns:a16="http://schemas.microsoft.com/office/drawing/2014/main" id="{AE4AC85D-9356-4A0A-A3B9-BBAAE10740CC}"/>
              </a:ext>
            </a:extLst>
          </p:cNvPr>
          <p:cNvSpPr txBox="1"/>
          <p:nvPr/>
        </p:nvSpPr>
        <p:spPr>
          <a:xfrm>
            <a:off x="1283019" y="4813306"/>
            <a:ext cx="4968806" cy="100647"/>
          </a:xfrm>
          <a:prstGeom prst="rect">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defPPr>
              <a:defRPr lang="ja-JP"/>
            </a:defPPr>
            <a:lvl1pPr>
              <a:defRPr sz="800">
                <a:solidFill>
                  <a:schemeClr val="tx1"/>
                </a:solidFill>
                <a:latin typeface="メイリオ" panose="020B0604030504040204" pitchFamily="50" charset="-128"/>
                <a:ea typeface="メイリオ"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sz="600" dirty="0"/>
              <a:t>Core5 220U </a:t>
            </a:r>
            <a:r>
              <a:rPr lang="en-US" altLang="ja-JP" sz="600" dirty="0" err="1"/>
              <a:t>noVpro</a:t>
            </a:r>
            <a:endParaRPr lang="en-US" altLang="ja-JP" sz="600" dirty="0"/>
          </a:p>
        </p:txBody>
      </p:sp>
      <p:sp>
        <p:nvSpPr>
          <p:cNvPr id="64" name="テキスト ボックス 63">
            <a:extLst>
              <a:ext uri="{FF2B5EF4-FFF2-40B4-BE49-F238E27FC236}">
                <a16:creationId xmlns:a16="http://schemas.microsoft.com/office/drawing/2014/main" id="{6F125F0A-B18C-4A40-A674-4CED44DD8A6C}"/>
              </a:ext>
            </a:extLst>
          </p:cNvPr>
          <p:cNvSpPr txBox="1"/>
          <p:nvPr/>
        </p:nvSpPr>
        <p:spPr>
          <a:xfrm>
            <a:off x="1283019" y="4694974"/>
            <a:ext cx="4968806" cy="100647"/>
          </a:xfrm>
          <a:prstGeom prst="rect">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defPPr>
              <a:defRPr lang="ja-JP"/>
            </a:defPPr>
            <a:lvl1pPr>
              <a:defRPr sz="800">
                <a:solidFill>
                  <a:schemeClr val="tx1"/>
                </a:solidFill>
                <a:latin typeface="メイリオ" panose="020B0604030504040204" pitchFamily="50" charset="-128"/>
                <a:ea typeface="メイリオ"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sz="600" dirty="0"/>
              <a:t>Core7 250U </a:t>
            </a:r>
            <a:r>
              <a:rPr lang="en-US" altLang="ja-JP" sz="600" dirty="0" err="1"/>
              <a:t>noVPro</a:t>
            </a:r>
            <a:endParaRPr lang="en-US" altLang="ja-JP" sz="600" dirty="0"/>
          </a:p>
        </p:txBody>
      </p:sp>
      <p:sp>
        <p:nvSpPr>
          <p:cNvPr id="2" name="スライド番号プレースホルダー 1">
            <a:extLst>
              <a:ext uri="{FF2B5EF4-FFF2-40B4-BE49-F238E27FC236}">
                <a16:creationId xmlns:a16="http://schemas.microsoft.com/office/drawing/2014/main" id="{F46C4F43-75EE-4F48-B8FE-D6D900B5BD7D}"/>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9</a:t>
            </a:fld>
            <a:endParaRPr kumimoji="1" lang="ja-JP" altLang="en-US"/>
          </a:p>
        </p:txBody>
      </p:sp>
      <p:sp>
        <p:nvSpPr>
          <p:cNvPr id="42" name="角丸四角形 40">
            <a:extLst>
              <a:ext uri="{FF2B5EF4-FFF2-40B4-BE49-F238E27FC236}">
                <a16:creationId xmlns:a16="http://schemas.microsoft.com/office/drawing/2014/main" id="{9880F5D8-1618-4323-B13D-43C4894692A8}"/>
              </a:ext>
            </a:extLst>
          </p:cNvPr>
          <p:cNvSpPr/>
          <p:nvPr/>
        </p:nvSpPr>
        <p:spPr>
          <a:xfrm>
            <a:off x="1283019" y="1203598"/>
            <a:ext cx="7648221" cy="921929"/>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Panther Lake-H(PTL-H)</a:t>
            </a:r>
            <a:r>
              <a:rPr lang="ja-JP" altLang="en-US" sz="1000" dirty="0"/>
              <a:t>　</a:t>
            </a:r>
            <a:r>
              <a:rPr lang="it-IT" altLang="ja-JP" sz="1000" dirty="0"/>
              <a:t>Intel Core Ultra Processors Series 3</a:t>
            </a:r>
            <a:endParaRPr lang="en-US" altLang="ja-JP" sz="1000" dirty="0"/>
          </a:p>
        </p:txBody>
      </p:sp>
      <p:sp>
        <p:nvSpPr>
          <p:cNvPr id="57" name="角丸四角形 40">
            <a:extLst>
              <a:ext uri="{FF2B5EF4-FFF2-40B4-BE49-F238E27FC236}">
                <a16:creationId xmlns:a16="http://schemas.microsoft.com/office/drawing/2014/main" id="{BFB54447-CA47-470C-8F9E-939280E487B6}"/>
              </a:ext>
            </a:extLst>
          </p:cNvPr>
          <p:cNvSpPr/>
          <p:nvPr/>
        </p:nvSpPr>
        <p:spPr>
          <a:xfrm>
            <a:off x="1619672" y="3898525"/>
            <a:ext cx="7321426" cy="631842"/>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Wildcat Lake</a:t>
            </a:r>
            <a:r>
              <a:rPr lang="ja-JP" altLang="en-US" sz="1000" dirty="0"/>
              <a:t>　</a:t>
            </a:r>
            <a:r>
              <a:rPr lang="it-IT" altLang="ja-JP" sz="1000" dirty="0"/>
              <a:t>Intel Core Processors Series 3</a:t>
            </a:r>
            <a:endParaRPr lang="en-US" altLang="ja-JP" sz="1000" dirty="0"/>
          </a:p>
          <a:p>
            <a:endParaRPr lang="en-US" altLang="ja-JP" sz="1000" dirty="0"/>
          </a:p>
        </p:txBody>
      </p:sp>
      <p:sp>
        <p:nvSpPr>
          <p:cNvPr id="62" name="角丸四角形 54">
            <a:extLst>
              <a:ext uri="{FF2B5EF4-FFF2-40B4-BE49-F238E27FC236}">
                <a16:creationId xmlns:a16="http://schemas.microsoft.com/office/drawing/2014/main" id="{C73E1CA9-FDFA-402F-892D-C225C736127F}"/>
              </a:ext>
            </a:extLst>
          </p:cNvPr>
          <p:cNvSpPr/>
          <p:nvPr/>
        </p:nvSpPr>
        <p:spPr>
          <a:xfrm>
            <a:off x="1322121" y="1364003"/>
            <a:ext cx="7573805" cy="117366"/>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X9 388H</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9 386H</a:t>
            </a:r>
          </a:p>
        </p:txBody>
      </p:sp>
      <p:sp>
        <p:nvSpPr>
          <p:cNvPr id="65" name="角丸四角形 51">
            <a:extLst>
              <a:ext uri="{FF2B5EF4-FFF2-40B4-BE49-F238E27FC236}">
                <a16:creationId xmlns:a16="http://schemas.microsoft.com/office/drawing/2014/main" id="{F6F3CDF9-B31A-45C1-A8AF-4AD89A711942}"/>
              </a:ext>
            </a:extLst>
          </p:cNvPr>
          <p:cNvSpPr/>
          <p:nvPr/>
        </p:nvSpPr>
        <p:spPr>
          <a:xfrm>
            <a:off x="1330528" y="1654626"/>
            <a:ext cx="7573805" cy="11322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X5 338H</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5 336H 335 325</a:t>
            </a:r>
          </a:p>
        </p:txBody>
      </p:sp>
      <p:sp>
        <p:nvSpPr>
          <p:cNvPr id="66" name="角丸四角形 50">
            <a:extLst>
              <a:ext uri="{FF2B5EF4-FFF2-40B4-BE49-F238E27FC236}">
                <a16:creationId xmlns:a16="http://schemas.microsoft.com/office/drawing/2014/main" id="{B87C367D-5E37-454E-946D-A7DE549DAB41}"/>
              </a:ext>
            </a:extLst>
          </p:cNvPr>
          <p:cNvSpPr/>
          <p:nvPr/>
        </p:nvSpPr>
        <p:spPr>
          <a:xfrm>
            <a:off x="1330528" y="1510610"/>
            <a:ext cx="7573805" cy="118565"/>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X7 368H 358H</a:t>
            </a:r>
            <a:r>
              <a:rPr lang="ja-JP" altLang="en-US" sz="700" dirty="0">
                <a:solidFill>
                  <a:schemeClr val="tx1"/>
                </a:solidFill>
                <a:latin typeface="メイリオ" panose="020B0604030504040204" pitchFamily="50" charset="-128"/>
                <a:ea typeface="メイリオ" panose="020B0604030504040204" pitchFamily="50" charset="-128"/>
              </a:rPr>
              <a:t>　</a:t>
            </a:r>
            <a:r>
              <a:rPr lang="en-US" altLang="ja-JP" sz="700" dirty="0">
                <a:solidFill>
                  <a:schemeClr val="tx1"/>
                </a:solidFill>
                <a:latin typeface="メイリオ" panose="020B0604030504040204" pitchFamily="50" charset="-128"/>
                <a:ea typeface="メイリオ" panose="020B0604030504040204" pitchFamily="50" charset="-128"/>
              </a:rPr>
              <a:t>/Ultra 7 366H 356H</a:t>
            </a:r>
          </a:p>
        </p:txBody>
      </p:sp>
      <p:sp>
        <p:nvSpPr>
          <p:cNvPr id="67" name="角丸四角形 50">
            <a:extLst>
              <a:ext uri="{FF2B5EF4-FFF2-40B4-BE49-F238E27FC236}">
                <a16:creationId xmlns:a16="http://schemas.microsoft.com/office/drawing/2014/main" id="{326B2431-DA5C-4772-B569-0118702D8A39}"/>
              </a:ext>
            </a:extLst>
          </p:cNvPr>
          <p:cNvSpPr/>
          <p:nvPr/>
        </p:nvSpPr>
        <p:spPr>
          <a:xfrm>
            <a:off x="1335847" y="1796051"/>
            <a:ext cx="7573805" cy="118565"/>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7 365 355</a:t>
            </a:r>
          </a:p>
        </p:txBody>
      </p:sp>
      <p:sp>
        <p:nvSpPr>
          <p:cNvPr id="68" name="角丸四角形 51">
            <a:extLst>
              <a:ext uri="{FF2B5EF4-FFF2-40B4-BE49-F238E27FC236}">
                <a16:creationId xmlns:a16="http://schemas.microsoft.com/office/drawing/2014/main" id="{A0DF1ECF-4B18-4BFB-892A-3359F6F35016}"/>
              </a:ext>
            </a:extLst>
          </p:cNvPr>
          <p:cNvSpPr/>
          <p:nvPr/>
        </p:nvSpPr>
        <p:spPr>
          <a:xfrm>
            <a:off x="1339418" y="1940067"/>
            <a:ext cx="7573805" cy="11322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Ultra 5 335 332 325 322</a:t>
            </a:r>
          </a:p>
        </p:txBody>
      </p:sp>
      <p:sp>
        <p:nvSpPr>
          <p:cNvPr id="48" name="角丸四角形 50">
            <a:extLst>
              <a:ext uri="{FF2B5EF4-FFF2-40B4-BE49-F238E27FC236}">
                <a16:creationId xmlns:a16="http://schemas.microsoft.com/office/drawing/2014/main" id="{1F11714D-2E0C-4FB1-BE00-45C09FFBC986}"/>
              </a:ext>
            </a:extLst>
          </p:cNvPr>
          <p:cNvSpPr/>
          <p:nvPr/>
        </p:nvSpPr>
        <p:spPr>
          <a:xfrm>
            <a:off x="1650526" y="4057741"/>
            <a:ext cx="7276230" cy="12993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Core7 360/350</a:t>
            </a:r>
          </a:p>
        </p:txBody>
      </p:sp>
      <p:sp>
        <p:nvSpPr>
          <p:cNvPr id="69" name="角丸四角形 51">
            <a:extLst>
              <a:ext uri="{FF2B5EF4-FFF2-40B4-BE49-F238E27FC236}">
                <a16:creationId xmlns:a16="http://schemas.microsoft.com/office/drawing/2014/main" id="{5C202C13-8171-4158-94C1-A864449105BA}"/>
              </a:ext>
            </a:extLst>
          </p:cNvPr>
          <p:cNvSpPr/>
          <p:nvPr/>
        </p:nvSpPr>
        <p:spPr>
          <a:xfrm>
            <a:off x="1659603" y="4200641"/>
            <a:ext cx="7268542" cy="129932"/>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Core5 330/320/315</a:t>
            </a:r>
          </a:p>
        </p:txBody>
      </p:sp>
      <p:sp>
        <p:nvSpPr>
          <p:cNvPr id="70" name="角丸四角形 40">
            <a:extLst>
              <a:ext uri="{FF2B5EF4-FFF2-40B4-BE49-F238E27FC236}">
                <a16:creationId xmlns:a16="http://schemas.microsoft.com/office/drawing/2014/main" id="{B3AB6489-0B3B-484A-9681-F77A89BAD990}"/>
              </a:ext>
            </a:extLst>
          </p:cNvPr>
          <p:cNvSpPr/>
          <p:nvPr/>
        </p:nvSpPr>
        <p:spPr>
          <a:xfrm>
            <a:off x="5652120" y="499655"/>
            <a:ext cx="3288978" cy="650915"/>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Nova Lake</a:t>
            </a:r>
          </a:p>
        </p:txBody>
      </p:sp>
      <p:sp>
        <p:nvSpPr>
          <p:cNvPr id="72" name="角丸四角形 22">
            <a:extLst>
              <a:ext uri="{FF2B5EF4-FFF2-40B4-BE49-F238E27FC236}">
                <a16:creationId xmlns:a16="http://schemas.microsoft.com/office/drawing/2014/main" id="{27224636-848D-48BF-8E8F-405906010AAE}"/>
              </a:ext>
            </a:extLst>
          </p:cNvPr>
          <p:cNvSpPr/>
          <p:nvPr/>
        </p:nvSpPr>
        <p:spPr>
          <a:xfrm>
            <a:off x="1660186" y="4338471"/>
            <a:ext cx="7264820" cy="131369"/>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メイリオ" panose="020B0604030504040204" pitchFamily="50" charset="-128"/>
                <a:ea typeface="メイリオ" panose="020B0604030504040204" pitchFamily="50" charset="-128"/>
              </a:rPr>
              <a:t>Core3 304</a:t>
            </a:r>
          </a:p>
        </p:txBody>
      </p:sp>
      <p:sp>
        <p:nvSpPr>
          <p:cNvPr id="35" name="角丸四角形 40">
            <a:extLst>
              <a:ext uri="{FF2B5EF4-FFF2-40B4-BE49-F238E27FC236}">
                <a16:creationId xmlns:a16="http://schemas.microsoft.com/office/drawing/2014/main" id="{95C3F06D-AFD5-408B-872D-D8D6B15A57CB}"/>
              </a:ext>
            </a:extLst>
          </p:cNvPr>
          <p:cNvSpPr/>
          <p:nvPr/>
        </p:nvSpPr>
        <p:spPr>
          <a:xfrm>
            <a:off x="6444208" y="3297376"/>
            <a:ext cx="2488492" cy="565980"/>
          </a:xfrm>
          <a:prstGeom prst="roundRect">
            <a:avLst>
              <a:gd name="adj" fmla="val 0"/>
            </a:avLst>
          </a:prstGeom>
          <a:solidFill>
            <a:schemeClr val="tx2">
              <a:lumMod val="50000"/>
              <a:alpha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r>
              <a:rPr lang="en-US" altLang="ja-JP" sz="1000" dirty="0"/>
              <a:t>4-6</a:t>
            </a:r>
            <a:r>
              <a:rPr lang="ja-JP" altLang="en-US" sz="1000" dirty="0"/>
              <a:t>月 </a:t>
            </a:r>
            <a:r>
              <a:rPr lang="en-US" altLang="ja-JP" sz="1000" dirty="0"/>
              <a:t>Wildcat Lake Refresh </a:t>
            </a:r>
          </a:p>
        </p:txBody>
      </p:sp>
    </p:spTree>
    <p:extLst>
      <p:ext uri="{BB962C8B-B14F-4D97-AF65-F5344CB8AC3E}">
        <p14:creationId xmlns:p14="http://schemas.microsoft.com/office/powerpoint/2010/main" val="411151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3742926180"/>
              </p:ext>
            </p:extLst>
          </p:nvPr>
        </p:nvGraphicFramePr>
        <p:xfrm>
          <a:off x="35496" y="51468"/>
          <a:ext cx="8928982" cy="4900645"/>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54041">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NVIDIA</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98067">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Workstation</a:t>
                      </a:r>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系</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94443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GeForce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44" name="角丸四角形 5">
            <a:extLst>
              <a:ext uri="{FF2B5EF4-FFF2-40B4-BE49-F238E27FC236}">
                <a16:creationId xmlns:a16="http://schemas.microsoft.com/office/drawing/2014/main" id="{7E641E71-6D45-47E9-82CB-22F3DB8C16FB}"/>
              </a:ext>
            </a:extLst>
          </p:cNvPr>
          <p:cNvSpPr/>
          <p:nvPr/>
        </p:nvSpPr>
        <p:spPr>
          <a:xfrm>
            <a:off x="1259645" y="825885"/>
            <a:ext cx="7697613" cy="152255"/>
          </a:xfrm>
          <a:prstGeom prst="roundRect">
            <a:avLst/>
          </a:prstGeom>
          <a:ln/>
        </p:spPr>
        <p:style>
          <a:lnRef idx="0">
            <a:schemeClr val="dk1"/>
          </a:lnRef>
          <a:fillRef idx="3">
            <a:schemeClr val="dk1"/>
          </a:fillRef>
          <a:effectRef idx="3">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NVIDIA T1000/T400  Turing</a:t>
            </a:r>
          </a:p>
        </p:txBody>
      </p:sp>
      <p:sp>
        <p:nvSpPr>
          <p:cNvPr id="50" name="角丸四角形 5">
            <a:extLst>
              <a:ext uri="{FF2B5EF4-FFF2-40B4-BE49-F238E27FC236}">
                <a16:creationId xmlns:a16="http://schemas.microsoft.com/office/drawing/2014/main" id="{1EEB42A0-8D8F-4807-A8E0-9CFA6562CEDD}"/>
              </a:ext>
            </a:extLst>
          </p:cNvPr>
          <p:cNvSpPr/>
          <p:nvPr/>
        </p:nvSpPr>
        <p:spPr>
          <a:xfrm>
            <a:off x="1266373" y="649341"/>
            <a:ext cx="7698105" cy="152255"/>
          </a:xfrm>
          <a:prstGeom prst="roundRect">
            <a:avLst/>
          </a:prstGeom>
          <a:ln/>
        </p:spPr>
        <p:style>
          <a:lnRef idx="0">
            <a:schemeClr val="dk1"/>
          </a:lnRef>
          <a:fillRef idx="3">
            <a:schemeClr val="dk1"/>
          </a:fillRef>
          <a:effectRef idx="3">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NVIDIA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RTX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6000/</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5000/4500/</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4000/400SFF/2000  Ada</a:t>
            </a:r>
          </a:p>
        </p:txBody>
      </p:sp>
      <p:sp>
        <p:nvSpPr>
          <p:cNvPr id="29" name="角丸四角形 22">
            <a:extLst>
              <a:ext uri="{FF2B5EF4-FFF2-40B4-BE49-F238E27FC236}">
                <a16:creationId xmlns:a16="http://schemas.microsoft.com/office/drawing/2014/main" id="{DFA83D34-54DD-4458-A7DA-EFC630A642E0}"/>
              </a:ext>
            </a:extLst>
          </p:cNvPr>
          <p:cNvSpPr/>
          <p:nvPr/>
        </p:nvSpPr>
        <p:spPr>
          <a:xfrm>
            <a:off x="1259645" y="4709292"/>
            <a:ext cx="7665263" cy="198626"/>
          </a:xfrm>
          <a:prstGeom prst="roundRect">
            <a:avLst/>
          </a:prstGeom>
          <a:solidFill>
            <a:schemeClr val="accent3">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6GB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70W</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22">
            <a:extLst>
              <a:ext uri="{FF2B5EF4-FFF2-40B4-BE49-F238E27FC236}">
                <a16:creationId xmlns:a16="http://schemas.microsoft.com/office/drawing/2014/main" id="{07BC37D6-CE02-43F6-9B6E-6945E6358355}"/>
              </a:ext>
            </a:extLst>
          </p:cNvPr>
          <p:cNvSpPr/>
          <p:nvPr/>
        </p:nvSpPr>
        <p:spPr>
          <a:xfrm>
            <a:off x="1266373" y="1113868"/>
            <a:ext cx="7690801" cy="199257"/>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RTX5090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575W</a:t>
            </a:r>
          </a:p>
        </p:txBody>
      </p:sp>
      <p:sp>
        <p:nvSpPr>
          <p:cNvPr id="52" name="角丸四角形 22">
            <a:extLst>
              <a:ext uri="{FF2B5EF4-FFF2-40B4-BE49-F238E27FC236}">
                <a16:creationId xmlns:a16="http://schemas.microsoft.com/office/drawing/2014/main" id="{DA21C07C-7E8C-4941-BB35-71548C5C3963}"/>
              </a:ext>
            </a:extLst>
          </p:cNvPr>
          <p:cNvSpPr/>
          <p:nvPr/>
        </p:nvSpPr>
        <p:spPr>
          <a:xfrm>
            <a:off x="1266372" y="1640003"/>
            <a:ext cx="7690801" cy="211667"/>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RTX5080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360W</a:t>
            </a:r>
          </a:p>
        </p:txBody>
      </p:sp>
      <p:sp>
        <p:nvSpPr>
          <p:cNvPr id="55" name="角丸四角形 22">
            <a:extLst>
              <a:ext uri="{FF2B5EF4-FFF2-40B4-BE49-F238E27FC236}">
                <a16:creationId xmlns:a16="http://schemas.microsoft.com/office/drawing/2014/main" id="{5F67CA99-EDE5-49C0-A39F-E5FA52EE5D81}"/>
              </a:ext>
            </a:extLst>
          </p:cNvPr>
          <p:cNvSpPr/>
          <p:nvPr/>
        </p:nvSpPr>
        <p:spPr>
          <a:xfrm>
            <a:off x="1275910" y="2957649"/>
            <a:ext cx="7671724" cy="190165"/>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RTX5060Ti 16GB</a:t>
            </a:r>
            <a:r>
              <a:rPr lang="ja-JP" altLang="en-US" sz="1200" dirty="0">
                <a:solidFill>
                  <a:schemeClr val="bg1"/>
                </a:solidFill>
                <a:latin typeface="Meiryo UI" panose="020B0604030504040204" pitchFamily="50" charset="-128"/>
                <a:ea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rPr>
              <a:t>180W</a:t>
            </a:r>
          </a:p>
        </p:txBody>
      </p:sp>
      <p:sp>
        <p:nvSpPr>
          <p:cNvPr id="57" name="角丸四角形 22">
            <a:extLst>
              <a:ext uri="{FF2B5EF4-FFF2-40B4-BE49-F238E27FC236}">
                <a16:creationId xmlns:a16="http://schemas.microsoft.com/office/drawing/2014/main" id="{CA9B9042-D881-42A6-B33F-1530AD15D9BF}"/>
              </a:ext>
            </a:extLst>
          </p:cNvPr>
          <p:cNvSpPr/>
          <p:nvPr/>
        </p:nvSpPr>
        <p:spPr>
          <a:xfrm>
            <a:off x="1275910" y="2669617"/>
            <a:ext cx="7681262" cy="190165"/>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RTX5070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250W</a:t>
            </a:r>
          </a:p>
        </p:txBody>
      </p:sp>
      <p:sp>
        <p:nvSpPr>
          <p:cNvPr id="58" name="角丸四角形 22">
            <a:extLst>
              <a:ext uri="{FF2B5EF4-FFF2-40B4-BE49-F238E27FC236}">
                <a16:creationId xmlns:a16="http://schemas.microsoft.com/office/drawing/2014/main" id="{3A5EA82B-1E99-4F8F-8731-6F926039C13F}"/>
              </a:ext>
            </a:extLst>
          </p:cNvPr>
          <p:cNvSpPr/>
          <p:nvPr/>
        </p:nvSpPr>
        <p:spPr>
          <a:xfrm>
            <a:off x="1266372" y="2165560"/>
            <a:ext cx="7681262" cy="190166"/>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RTX5070Ti</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285W</a:t>
            </a:r>
          </a:p>
        </p:txBody>
      </p:sp>
      <p:sp>
        <p:nvSpPr>
          <p:cNvPr id="47" name="角丸四角形 22">
            <a:extLst>
              <a:ext uri="{FF2B5EF4-FFF2-40B4-BE49-F238E27FC236}">
                <a16:creationId xmlns:a16="http://schemas.microsoft.com/office/drawing/2014/main" id="{4D1AB43F-DCD8-402A-821E-7BD9F9B3D228}"/>
              </a:ext>
            </a:extLst>
          </p:cNvPr>
          <p:cNvSpPr/>
          <p:nvPr/>
        </p:nvSpPr>
        <p:spPr>
          <a:xfrm>
            <a:off x="1275910" y="3571476"/>
            <a:ext cx="7671724" cy="201712"/>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RTX5060</a:t>
            </a:r>
            <a:r>
              <a:rPr lang="ja-JP" altLang="en-US" sz="1200" dirty="0">
                <a:solidFill>
                  <a:schemeClr val="bg1"/>
                </a:solidFill>
                <a:latin typeface="Meiryo UI" panose="020B0604030504040204" pitchFamily="50" charset="-128"/>
                <a:ea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rPr>
              <a:t>150W</a:t>
            </a:r>
          </a:p>
        </p:txBody>
      </p:sp>
      <p:sp>
        <p:nvSpPr>
          <p:cNvPr id="31" name="角丸四角形 22">
            <a:extLst>
              <a:ext uri="{FF2B5EF4-FFF2-40B4-BE49-F238E27FC236}">
                <a16:creationId xmlns:a16="http://schemas.microsoft.com/office/drawing/2014/main" id="{48DCCA0C-4A12-449B-9E16-369C428A3A45}"/>
              </a:ext>
            </a:extLst>
          </p:cNvPr>
          <p:cNvSpPr/>
          <p:nvPr/>
        </p:nvSpPr>
        <p:spPr>
          <a:xfrm>
            <a:off x="1275910" y="3245681"/>
            <a:ext cx="7671724" cy="190165"/>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rPr>
              <a:t>RTX5060Ti 8GB</a:t>
            </a:r>
            <a:r>
              <a:rPr lang="ja-JP" altLang="en-US" sz="1200" dirty="0">
                <a:solidFill>
                  <a:schemeClr val="bg1"/>
                </a:solidFill>
                <a:latin typeface="Meiryo UI" panose="020B0604030504040204" pitchFamily="50" charset="-128"/>
                <a:ea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rPr>
              <a:t>180W</a:t>
            </a:r>
          </a:p>
        </p:txBody>
      </p:sp>
      <p:sp>
        <p:nvSpPr>
          <p:cNvPr id="2" name="スライド番号プレースホルダー 1">
            <a:extLst>
              <a:ext uri="{FF2B5EF4-FFF2-40B4-BE49-F238E27FC236}">
                <a16:creationId xmlns:a16="http://schemas.microsoft.com/office/drawing/2014/main" id="{E97DCDEE-AE8C-4354-BA61-7AF784BBEE67}"/>
              </a:ext>
            </a:extLst>
          </p:cNvPr>
          <p:cNvSpPr>
            <a:spLocks noGrp="1"/>
          </p:cNvSpPr>
          <p:nvPr>
            <p:ph type="sldNum" sz="quarter" idx="12"/>
          </p:nvPr>
        </p:nvSpPr>
        <p:spPr/>
        <p:txBody>
          <a:bodyPr/>
          <a:lstStyle/>
          <a:p>
            <a:fld id="{F9DFCEB9-CAE4-4F3C-93D0-85C4724A0355}" type="slidenum">
              <a:rPr kumimoji="1" lang="ja-JP" altLang="en-US" smtClean="0"/>
              <a:t>10</a:t>
            </a:fld>
            <a:endParaRPr kumimoji="1" lang="ja-JP" altLang="en-US" dirty="0"/>
          </a:p>
        </p:txBody>
      </p:sp>
      <p:sp>
        <p:nvSpPr>
          <p:cNvPr id="33" name="角丸四角形 22">
            <a:extLst>
              <a:ext uri="{FF2B5EF4-FFF2-40B4-BE49-F238E27FC236}">
                <a16:creationId xmlns:a16="http://schemas.microsoft.com/office/drawing/2014/main" id="{C69DC1FB-9B80-4D23-9B29-F8BD6B6049E2}"/>
              </a:ext>
            </a:extLst>
          </p:cNvPr>
          <p:cNvSpPr/>
          <p:nvPr/>
        </p:nvSpPr>
        <p:spPr>
          <a:xfrm>
            <a:off x="1266373" y="4061220"/>
            <a:ext cx="7690800" cy="207192"/>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RTX5050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130W</a:t>
            </a:r>
          </a:p>
        </p:txBody>
      </p:sp>
      <p:sp>
        <p:nvSpPr>
          <p:cNvPr id="37" name="角丸四角形 5">
            <a:extLst>
              <a:ext uri="{FF2B5EF4-FFF2-40B4-BE49-F238E27FC236}">
                <a16:creationId xmlns:a16="http://schemas.microsoft.com/office/drawing/2014/main" id="{F18BD847-C802-46CC-A755-61AAB719CFD9}"/>
              </a:ext>
            </a:extLst>
          </p:cNvPr>
          <p:cNvSpPr/>
          <p:nvPr/>
        </p:nvSpPr>
        <p:spPr>
          <a:xfrm>
            <a:off x="1275910" y="465294"/>
            <a:ext cx="7681261" cy="148362"/>
          </a:xfrm>
          <a:prstGeom prst="roundRect">
            <a:avLst/>
          </a:prstGeom>
          <a:ln/>
        </p:spPr>
        <p:style>
          <a:lnRef idx="0">
            <a:schemeClr val="dk1"/>
          </a:lnRef>
          <a:fillRef idx="3">
            <a:schemeClr val="dk1"/>
          </a:fillRef>
          <a:effectRef idx="3">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NVIDIA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RTX PRO 6000/6000Max-Q/5000/4500/4000/4000SFF/2000  Blackwell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角丸四角形 22">
            <a:extLst>
              <a:ext uri="{FF2B5EF4-FFF2-40B4-BE49-F238E27FC236}">
                <a16:creationId xmlns:a16="http://schemas.microsoft.com/office/drawing/2014/main" id="{D3524D31-5055-4846-A8EE-36BBE5996270}"/>
              </a:ext>
            </a:extLst>
          </p:cNvPr>
          <p:cNvSpPr/>
          <p:nvPr/>
        </p:nvSpPr>
        <p:spPr>
          <a:xfrm>
            <a:off x="1250059" y="4325412"/>
            <a:ext cx="7665263" cy="198626"/>
          </a:xfrm>
          <a:prstGeom prst="roundRect">
            <a:avLst/>
          </a:prstGeom>
          <a:solidFill>
            <a:schemeClr val="accent3">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RTX3060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5-6</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月生産再開予定</a:t>
            </a:r>
            <a:endParaRPr kumimoji="1"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角丸四角形 22">
            <a:extLst>
              <a:ext uri="{FF2B5EF4-FFF2-40B4-BE49-F238E27FC236}">
                <a16:creationId xmlns:a16="http://schemas.microsoft.com/office/drawing/2014/main" id="{E3272A0B-D689-4057-A1D5-32AD8E0D9B40}"/>
              </a:ext>
            </a:extLst>
          </p:cNvPr>
          <p:cNvSpPr/>
          <p:nvPr/>
        </p:nvSpPr>
        <p:spPr>
          <a:xfrm>
            <a:off x="2627784" y="3813608"/>
            <a:ext cx="6322083" cy="207192"/>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 RTX5050 9GB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130W</a:t>
            </a:r>
          </a:p>
        </p:txBody>
      </p:sp>
      <p:sp>
        <p:nvSpPr>
          <p:cNvPr id="49" name="テキスト ボックス 48">
            <a:extLst>
              <a:ext uri="{FF2B5EF4-FFF2-40B4-BE49-F238E27FC236}">
                <a16:creationId xmlns:a16="http://schemas.microsoft.com/office/drawing/2014/main" id="{4FCC3337-322B-477B-9648-2040BB3EF47D}"/>
              </a:ext>
            </a:extLst>
          </p:cNvPr>
          <p:cNvSpPr txBox="1"/>
          <p:nvPr/>
        </p:nvSpPr>
        <p:spPr>
          <a:xfrm>
            <a:off x="7408182" y="4583636"/>
            <a:ext cx="153945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latin typeface="+mn-ea"/>
              </a:rPr>
              <a:t>採用品は</a:t>
            </a:r>
            <a:r>
              <a:rPr kumimoji="1" lang="en-US" altLang="ja-JP" sz="1400" dirty="0">
                <a:latin typeface="+mn-ea"/>
              </a:rPr>
              <a:t>P35</a:t>
            </a:r>
            <a:r>
              <a:rPr kumimoji="1" lang="ja-JP" altLang="en-US" sz="1400" dirty="0">
                <a:latin typeface="+mn-ea"/>
              </a:rPr>
              <a:t>参照</a:t>
            </a:r>
          </a:p>
        </p:txBody>
      </p:sp>
    </p:spTree>
    <p:extLst>
      <p:ext uri="{BB962C8B-B14F-4D97-AF65-F5344CB8AC3E}">
        <p14:creationId xmlns:p14="http://schemas.microsoft.com/office/powerpoint/2010/main" val="4103718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948308088"/>
              </p:ext>
            </p:extLst>
          </p:nvPr>
        </p:nvGraphicFramePr>
        <p:xfrm>
          <a:off x="35502" y="51470"/>
          <a:ext cx="8928982" cy="4824536"/>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05642">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Intel/AMD</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22550">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Intel Arc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09634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Radeon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30" name="角丸四角形 5">
            <a:extLst>
              <a:ext uri="{FF2B5EF4-FFF2-40B4-BE49-F238E27FC236}">
                <a16:creationId xmlns:a16="http://schemas.microsoft.com/office/drawing/2014/main" id="{D2C35F0A-9568-447E-ACCF-0F89122CE21D}"/>
              </a:ext>
            </a:extLst>
          </p:cNvPr>
          <p:cNvSpPr/>
          <p:nvPr/>
        </p:nvSpPr>
        <p:spPr>
          <a:xfrm>
            <a:off x="1253827" y="1371469"/>
            <a:ext cx="7690868" cy="145041"/>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A380 Alchemist</a:t>
            </a:r>
          </a:p>
        </p:txBody>
      </p:sp>
      <p:sp>
        <p:nvSpPr>
          <p:cNvPr id="51" name="角丸四角形 22">
            <a:extLst>
              <a:ext uri="{FF2B5EF4-FFF2-40B4-BE49-F238E27FC236}">
                <a16:creationId xmlns:a16="http://schemas.microsoft.com/office/drawing/2014/main" id="{555671E7-A39C-4468-84CE-18D6084A368C}"/>
              </a:ext>
            </a:extLst>
          </p:cNvPr>
          <p:cNvSpPr/>
          <p:nvPr/>
        </p:nvSpPr>
        <p:spPr>
          <a:xfrm>
            <a:off x="1267839" y="4589673"/>
            <a:ext cx="7699215" cy="18067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6400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53W</a:t>
            </a:r>
          </a:p>
        </p:txBody>
      </p:sp>
      <p:sp>
        <p:nvSpPr>
          <p:cNvPr id="45" name="角丸四角形 22">
            <a:extLst>
              <a:ext uri="{FF2B5EF4-FFF2-40B4-BE49-F238E27FC236}">
                <a16:creationId xmlns:a16="http://schemas.microsoft.com/office/drawing/2014/main" id="{CE0CDE10-1F9D-460F-A6DE-29EF0D6E9AFC}"/>
              </a:ext>
            </a:extLst>
          </p:cNvPr>
          <p:cNvSpPr/>
          <p:nvPr/>
        </p:nvSpPr>
        <p:spPr>
          <a:xfrm>
            <a:off x="1259632" y="3867895"/>
            <a:ext cx="7686734" cy="174609"/>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7600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165W</a:t>
            </a:r>
          </a:p>
        </p:txBody>
      </p:sp>
      <p:sp>
        <p:nvSpPr>
          <p:cNvPr id="54" name="角丸四角形 5">
            <a:extLst>
              <a:ext uri="{FF2B5EF4-FFF2-40B4-BE49-F238E27FC236}">
                <a16:creationId xmlns:a16="http://schemas.microsoft.com/office/drawing/2014/main" id="{DD9BB9F8-5D74-475A-9A3D-F5E2B034E6D5}"/>
              </a:ext>
            </a:extLst>
          </p:cNvPr>
          <p:cNvSpPr/>
          <p:nvPr/>
        </p:nvSpPr>
        <p:spPr>
          <a:xfrm>
            <a:off x="1267840" y="940326"/>
            <a:ext cx="7701020" cy="15116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B580 Battle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ｍ</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age</a:t>
            </a:r>
          </a:p>
        </p:txBody>
      </p:sp>
      <p:sp>
        <p:nvSpPr>
          <p:cNvPr id="46" name="角丸四角形 5">
            <a:extLst>
              <a:ext uri="{FF2B5EF4-FFF2-40B4-BE49-F238E27FC236}">
                <a16:creationId xmlns:a16="http://schemas.microsoft.com/office/drawing/2014/main" id="{7D3C9F7A-355D-483D-A20B-1A824E52EB2B}"/>
              </a:ext>
            </a:extLst>
          </p:cNvPr>
          <p:cNvSpPr/>
          <p:nvPr/>
        </p:nvSpPr>
        <p:spPr>
          <a:xfrm>
            <a:off x="1259632" y="1558608"/>
            <a:ext cx="7696648" cy="15286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A310 Alchemist</a:t>
            </a:r>
          </a:p>
        </p:txBody>
      </p:sp>
      <p:sp>
        <p:nvSpPr>
          <p:cNvPr id="25" name="角丸四角形 22">
            <a:extLst>
              <a:ext uri="{FF2B5EF4-FFF2-40B4-BE49-F238E27FC236}">
                <a16:creationId xmlns:a16="http://schemas.microsoft.com/office/drawing/2014/main" id="{CB705108-416E-4FEB-80DC-574EDFD34798}"/>
              </a:ext>
            </a:extLst>
          </p:cNvPr>
          <p:cNvSpPr/>
          <p:nvPr/>
        </p:nvSpPr>
        <p:spPr>
          <a:xfrm>
            <a:off x="1276186" y="4335291"/>
            <a:ext cx="7690868" cy="18067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6500XT 113W</a:t>
            </a:r>
          </a:p>
        </p:txBody>
      </p:sp>
      <p:sp>
        <p:nvSpPr>
          <p:cNvPr id="22" name="角丸四角形 5">
            <a:extLst>
              <a:ext uri="{FF2B5EF4-FFF2-40B4-BE49-F238E27FC236}">
                <a16:creationId xmlns:a16="http://schemas.microsoft.com/office/drawing/2014/main" id="{35BCC43E-51AF-4062-8299-BDFC8FC5CE99}"/>
              </a:ext>
            </a:extLst>
          </p:cNvPr>
          <p:cNvSpPr/>
          <p:nvPr/>
        </p:nvSpPr>
        <p:spPr>
          <a:xfrm>
            <a:off x="1260527" y="1131479"/>
            <a:ext cx="7696649" cy="14794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B570 Battle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ｍ</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age</a:t>
            </a:r>
          </a:p>
        </p:txBody>
      </p:sp>
      <p:sp>
        <p:nvSpPr>
          <p:cNvPr id="24" name="角丸四角形 22">
            <a:extLst>
              <a:ext uri="{FF2B5EF4-FFF2-40B4-BE49-F238E27FC236}">
                <a16:creationId xmlns:a16="http://schemas.microsoft.com/office/drawing/2014/main" id="{F758B4C8-E49E-4810-9B90-F61810EFAE2F}"/>
              </a:ext>
            </a:extLst>
          </p:cNvPr>
          <p:cNvSpPr/>
          <p:nvPr/>
        </p:nvSpPr>
        <p:spPr>
          <a:xfrm>
            <a:off x="1275449" y="2250031"/>
            <a:ext cx="7675875" cy="17461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9070XT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304W</a:t>
            </a:r>
          </a:p>
        </p:txBody>
      </p:sp>
      <p:sp>
        <p:nvSpPr>
          <p:cNvPr id="26" name="角丸四角形 22">
            <a:extLst>
              <a:ext uri="{FF2B5EF4-FFF2-40B4-BE49-F238E27FC236}">
                <a16:creationId xmlns:a16="http://schemas.microsoft.com/office/drawing/2014/main" id="{ED56FC6E-5060-46EE-AB3E-FA4E7F23F329}"/>
              </a:ext>
            </a:extLst>
          </p:cNvPr>
          <p:cNvSpPr/>
          <p:nvPr/>
        </p:nvSpPr>
        <p:spPr>
          <a:xfrm>
            <a:off x="1267836" y="2499742"/>
            <a:ext cx="7675875" cy="17461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9070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220W</a:t>
            </a:r>
          </a:p>
        </p:txBody>
      </p:sp>
      <p:sp>
        <p:nvSpPr>
          <p:cNvPr id="31" name="テキスト ボックス 30">
            <a:extLst>
              <a:ext uri="{FF2B5EF4-FFF2-40B4-BE49-F238E27FC236}">
                <a16:creationId xmlns:a16="http://schemas.microsoft.com/office/drawing/2014/main" id="{F8E7204F-E682-4042-8281-867469E23DEB}"/>
              </a:ext>
            </a:extLst>
          </p:cNvPr>
          <p:cNvSpPr txBox="1"/>
          <p:nvPr/>
        </p:nvSpPr>
        <p:spPr>
          <a:xfrm>
            <a:off x="7403589" y="4476751"/>
            <a:ext cx="153945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latin typeface="+mn-ea"/>
              </a:rPr>
              <a:t>採用品は</a:t>
            </a:r>
            <a:r>
              <a:rPr kumimoji="1" lang="en-US" altLang="ja-JP" sz="1400" dirty="0">
                <a:latin typeface="+mn-ea"/>
              </a:rPr>
              <a:t>P35</a:t>
            </a:r>
            <a:r>
              <a:rPr kumimoji="1" lang="ja-JP" altLang="en-US" sz="1400" dirty="0">
                <a:latin typeface="+mn-ea"/>
              </a:rPr>
              <a:t>参照</a:t>
            </a:r>
          </a:p>
        </p:txBody>
      </p:sp>
      <p:sp>
        <p:nvSpPr>
          <p:cNvPr id="33" name="角丸四角形 22">
            <a:extLst>
              <a:ext uri="{FF2B5EF4-FFF2-40B4-BE49-F238E27FC236}">
                <a16:creationId xmlns:a16="http://schemas.microsoft.com/office/drawing/2014/main" id="{5531CE4A-27E7-4547-9DAA-05C1CC1A89FF}"/>
              </a:ext>
            </a:extLst>
          </p:cNvPr>
          <p:cNvSpPr/>
          <p:nvPr/>
        </p:nvSpPr>
        <p:spPr>
          <a:xfrm>
            <a:off x="1267836" y="3114127"/>
            <a:ext cx="7664500" cy="177703"/>
          </a:xfrm>
          <a:prstGeom prst="roundRect">
            <a:avLst/>
          </a:prstGeom>
          <a:ln>
            <a:prstDash val="soli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9060XT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16GB 160W</a:t>
            </a:r>
          </a:p>
        </p:txBody>
      </p:sp>
      <p:sp>
        <p:nvSpPr>
          <p:cNvPr id="2" name="スライド番号プレースホルダー 1">
            <a:extLst>
              <a:ext uri="{FF2B5EF4-FFF2-40B4-BE49-F238E27FC236}">
                <a16:creationId xmlns:a16="http://schemas.microsoft.com/office/drawing/2014/main" id="{C8DF2C5B-AC66-4424-B2E8-82978D3E2FF9}"/>
              </a:ext>
            </a:extLst>
          </p:cNvPr>
          <p:cNvSpPr>
            <a:spLocks noGrp="1"/>
          </p:cNvSpPr>
          <p:nvPr>
            <p:ph type="sldNum" sz="quarter" idx="12"/>
          </p:nvPr>
        </p:nvSpPr>
        <p:spPr/>
        <p:txBody>
          <a:bodyPr/>
          <a:lstStyle/>
          <a:p>
            <a:fld id="{F9DFCEB9-CAE4-4F3C-93D0-85C4724A0355}" type="slidenum">
              <a:rPr kumimoji="1" lang="ja-JP" altLang="en-US" smtClean="0"/>
              <a:t>11</a:t>
            </a:fld>
            <a:endParaRPr kumimoji="1" lang="ja-JP" altLang="en-US"/>
          </a:p>
        </p:txBody>
      </p:sp>
      <p:sp>
        <p:nvSpPr>
          <p:cNvPr id="5" name="角丸四角形 22">
            <a:extLst>
              <a:ext uri="{FF2B5EF4-FFF2-40B4-BE49-F238E27FC236}">
                <a16:creationId xmlns:a16="http://schemas.microsoft.com/office/drawing/2014/main" id="{B912CDEF-C872-56F2-DC40-C87A60BD932A}"/>
              </a:ext>
            </a:extLst>
          </p:cNvPr>
          <p:cNvSpPr/>
          <p:nvPr/>
        </p:nvSpPr>
        <p:spPr>
          <a:xfrm>
            <a:off x="1264989" y="3363838"/>
            <a:ext cx="7664499" cy="179526"/>
          </a:xfrm>
          <a:prstGeom prst="roundRect">
            <a:avLst/>
          </a:prstGeom>
          <a:ln>
            <a:prstDash val="soli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9060XT</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8GB 150W</a:t>
            </a:r>
          </a:p>
        </p:txBody>
      </p:sp>
      <p:sp>
        <p:nvSpPr>
          <p:cNvPr id="38" name="角丸四角形 22">
            <a:extLst>
              <a:ext uri="{FF2B5EF4-FFF2-40B4-BE49-F238E27FC236}">
                <a16:creationId xmlns:a16="http://schemas.microsoft.com/office/drawing/2014/main" id="{F6ACDBD5-4398-4073-98A7-6ADB9DF51E05}"/>
              </a:ext>
            </a:extLst>
          </p:cNvPr>
          <p:cNvSpPr/>
          <p:nvPr/>
        </p:nvSpPr>
        <p:spPr>
          <a:xfrm>
            <a:off x="1259632" y="3616361"/>
            <a:ext cx="7680317" cy="179525"/>
          </a:xfrm>
          <a:prstGeom prst="roundRect">
            <a:avLst/>
          </a:prstGeom>
          <a:ln>
            <a:prstDash val="soli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9060</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8GB</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132W</a:t>
            </a:r>
            <a:r>
              <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組み込みのみ展開</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角丸四角形 5">
            <a:extLst>
              <a:ext uri="{FF2B5EF4-FFF2-40B4-BE49-F238E27FC236}">
                <a16:creationId xmlns:a16="http://schemas.microsoft.com/office/drawing/2014/main" id="{B8BB09A6-5B22-4AA8-BE32-B9EED6FDD927}"/>
              </a:ext>
            </a:extLst>
          </p:cNvPr>
          <p:cNvSpPr/>
          <p:nvPr/>
        </p:nvSpPr>
        <p:spPr>
          <a:xfrm>
            <a:off x="1619672" y="558574"/>
            <a:ext cx="7341790" cy="14096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Arc Pro B70/B65</a:t>
            </a:r>
          </a:p>
        </p:txBody>
      </p:sp>
      <p:sp>
        <p:nvSpPr>
          <p:cNvPr id="43" name="角丸四角形 22">
            <a:extLst>
              <a:ext uri="{FF2B5EF4-FFF2-40B4-BE49-F238E27FC236}">
                <a16:creationId xmlns:a16="http://schemas.microsoft.com/office/drawing/2014/main" id="{74072235-26AB-4F8F-AF77-9D8AC9BF6717}"/>
              </a:ext>
            </a:extLst>
          </p:cNvPr>
          <p:cNvSpPr/>
          <p:nvPr/>
        </p:nvSpPr>
        <p:spPr>
          <a:xfrm>
            <a:off x="1267836" y="1851669"/>
            <a:ext cx="7692337" cy="174609"/>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Radeon AI PRO RX9700</a:t>
            </a:r>
          </a:p>
        </p:txBody>
      </p:sp>
      <p:sp>
        <p:nvSpPr>
          <p:cNvPr id="40" name="角丸四角形 5">
            <a:extLst>
              <a:ext uri="{FF2B5EF4-FFF2-40B4-BE49-F238E27FC236}">
                <a16:creationId xmlns:a16="http://schemas.microsoft.com/office/drawing/2014/main" id="{58DF365D-4609-472F-9043-8B5F28A38D99}"/>
              </a:ext>
            </a:extLst>
          </p:cNvPr>
          <p:cNvSpPr/>
          <p:nvPr/>
        </p:nvSpPr>
        <p:spPr>
          <a:xfrm>
            <a:off x="1252657" y="736201"/>
            <a:ext cx="7701830" cy="14096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Arc Pro B60/B50</a:t>
            </a:r>
          </a:p>
        </p:txBody>
      </p:sp>
      <p:sp>
        <p:nvSpPr>
          <p:cNvPr id="44" name="角丸四角形 22">
            <a:extLst>
              <a:ext uri="{FF2B5EF4-FFF2-40B4-BE49-F238E27FC236}">
                <a16:creationId xmlns:a16="http://schemas.microsoft.com/office/drawing/2014/main" id="{C96C6213-1C2A-4D35-B0A1-EF34F85AE308}"/>
              </a:ext>
            </a:extLst>
          </p:cNvPr>
          <p:cNvSpPr/>
          <p:nvPr/>
        </p:nvSpPr>
        <p:spPr>
          <a:xfrm>
            <a:off x="1275449" y="2752225"/>
            <a:ext cx="7664500" cy="17956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日本</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6/2</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11:00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RX9070 GRE</a:t>
            </a:r>
          </a:p>
        </p:txBody>
      </p:sp>
      <p:sp>
        <p:nvSpPr>
          <p:cNvPr id="21" name="角丸四角形 22">
            <a:extLst>
              <a:ext uri="{FF2B5EF4-FFF2-40B4-BE49-F238E27FC236}">
                <a16:creationId xmlns:a16="http://schemas.microsoft.com/office/drawing/2014/main" id="{EF5796DF-4A11-4207-B666-4ECE767BE651}"/>
              </a:ext>
            </a:extLst>
          </p:cNvPr>
          <p:cNvSpPr/>
          <p:nvPr/>
        </p:nvSpPr>
        <p:spPr>
          <a:xfrm>
            <a:off x="2267744" y="4120966"/>
            <a:ext cx="6686743" cy="14047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200">
                <a:solidFill>
                  <a:schemeClr val="bg1"/>
                </a:solidFill>
                <a:latin typeface="Meiryo UI" panose="020B0604030504040204" pitchFamily="50" charset="-128"/>
                <a:ea typeface="Meiryo UI" panose="020B0604030504040204" pitchFamily="50" charset="-128"/>
                <a:cs typeface="Meiryo UI" panose="020B0604030504040204" pitchFamily="50" charset="-128"/>
              </a:rPr>
              <a:t>TBD Q2-Q3 </a:t>
            </a:r>
            <a:r>
              <a:rPr lang="en-US" altLang="ja-JP"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 9050</a:t>
            </a:r>
          </a:p>
        </p:txBody>
      </p:sp>
    </p:spTree>
    <p:extLst>
      <p:ext uri="{BB962C8B-B14F-4D97-AF65-F5344CB8AC3E}">
        <p14:creationId xmlns:p14="http://schemas.microsoft.com/office/powerpoint/2010/main" val="2379462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368120610"/>
              </p:ext>
            </p:extLst>
          </p:nvPr>
        </p:nvGraphicFramePr>
        <p:xfrm>
          <a:off x="35497" y="51470"/>
          <a:ext cx="8909988" cy="5040560"/>
        </p:xfrm>
        <a:graphic>
          <a:graphicData uri="http://schemas.openxmlformats.org/drawingml/2006/table">
            <a:tbl>
              <a:tblPr firstRow="1" bandRow="1">
                <a:tableStyleId>{5C22544A-7EE6-4342-B048-85BDC9FD1C3A}</a:tableStyleId>
              </a:tblPr>
              <a:tblGrid>
                <a:gridCol w="1218174">
                  <a:extLst>
                    <a:ext uri="{9D8B030D-6E8A-4147-A177-3AD203B41FA5}">
                      <a16:colId xmlns:a16="http://schemas.microsoft.com/office/drawing/2014/main" val="20000"/>
                    </a:ext>
                  </a:extLst>
                </a:gridCol>
                <a:gridCol w="427323">
                  <a:extLst>
                    <a:ext uri="{9D8B030D-6E8A-4147-A177-3AD203B41FA5}">
                      <a16:colId xmlns:a16="http://schemas.microsoft.com/office/drawing/2014/main" val="20001"/>
                    </a:ext>
                  </a:extLst>
                </a:gridCol>
                <a:gridCol w="427323">
                  <a:extLst>
                    <a:ext uri="{9D8B030D-6E8A-4147-A177-3AD203B41FA5}">
                      <a16:colId xmlns:a16="http://schemas.microsoft.com/office/drawing/2014/main" val="20002"/>
                    </a:ext>
                  </a:extLst>
                </a:gridCol>
                <a:gridCol w="427323">
                  <a:extLst>
                    <a:ext uri="{9D8B030D-6E8A-4147-A177-3AD203B41FA5}">
                      <a16:colId xmlns:a16="http://schemas.microsoft.com/office/drawing/2014/main" val="20003"/>
                    </a:ext>
                  </a:extLst>
                </a:gridCol>
                <a:gridCol w="427323">
                  <a:extLst>
                    <a:ext uri="{9D8B030D-6E8A-4147-A177-3AD203B41FA5}">
                      <a16:colId xmlns:a16="http://schemas.microsoft.com/office/drawing/2014/main" val="20004"/>
                    </a:ext>
                  </a:extLst>
                </a:gridCol>
                <a:gridCol w="427323">
                  <a:extLst>
                    <a:ext uri="{9D8B030D-6E8A-4147-A177-3AD203B41FA5}">
                      <a16:colId xmlns:a16="http://schemas.microsoft.com/office/drawing/2014/main" val="20005"/>
                    </a:ext>
                  </a:extLst>
                </a:gridCol>
                <a:gridCol w="427323">
                  <a:extLst>
                    <a:ext uri="{9D8B030D-6E8A-4147-A177-3AD203B41FA5}">
                      <a16:colId xmlns:a16="http://schemas.microsoft.com/office/drawing/2014/main" val="20006"/>
                    </a:ext>
                  </a:extLst>
                </a:gridCol>
                <a:gridCol w="427323">
                  <a:extLst>
                    <a:ext uri="{9D8B030D-6E8A-4147-A177-3AD203B41FA5}">
                      <a16:colId xmlns:a16="http://schemas.microsoft.com/office/drawing/2014/main" val="20007"/>
                    </a:ext>
                  </a:extLst>
                </a:gridCol>
                <a:gridCol w="427323">
                  <a:extLst>
                    <a:ext uri="{9D8B030D-6E8A-4147-A177-3AD203B41FA5}">
                      <a16:colId xmlns:a16="http://schemas.microsoft.com/office/drawing/2014/main" val="20008"/>
                    </a:ext>
                  </a:extLst>
                </a:gridCol>
                <a:gridCol w="427323">
                  <a:extLst>
                    <a:ext uri="{9D8B030D-6E8A-4147-A177-3AD203B41FA5}">
                      <a16:colId xmlns:a16="http://schemas.microsoft.com/office/drawing/2014/main" val="20009"/>
                    </a:ext>
                  </a:extLst>
                </a:gridCol>
                <a:gridCol w="427323">
                  <a:extLst>
                    <a:ext uri="{9D8B030D-6E8A-4147-A177-3AD203B41FA5}">
                      <a16:colId xmlns:a16="http://schemas.microsoft.com/office/drawing/2014/main" val="20010"/>
                    </a:ext>
                  </a:extLst>
                </a:gridCol>
                <a:gridCol w="427323">
                  <a:extLst>
                    <a:ext uri="{9D8B030D-6E8A-4147-A177-3AD203B41FA5}">
                      <a16:colId xmlns:a16="http://schemas.microsoft.com/office/drawing/2014/main" val="20011"/>
                    </a:ext>
                  </a:extLst>
                </a:gridCol>
                <a:gridCol w="427323">
                  <a:extLst>
                    <a:ext uri="{9D8B030D-6E8A-4147-A177-3AD203B41FA5}">
                      <a16:colId xmlns:a16="http://schemas.microsoft.com/office/drawing/2014/main" val="20012"/>
                    </a:ext>
                  </a:extLst>
                </a:gridCol>
                <a:gridCol w="427323">
                  <a:extLst>
                    <a:ext uri="{9D8B030D-6E8A-4147-A177-3AD203B41FA5}">
                      <a16:colId xmlns:a16="http://schemas.microsoft.com/office/drawing/2014/main" val="20013"/>
                    </a:ext>
                  </a:extLst>
                </a:gridCol>
                <a:gridCol w="427323">
                  <a:extLst>
                    <a:ext uri="{9D8B030D-6E8A-4147-A177-3AD203B41FA5}">
                      <a16:colId xmlns:a16="http://schemas.microsoft.com/office/drawing/2014/main" val="20014"/>
                    </a:ext>
                  </a:extLst>
                </a:gridCol>
                <a:gridCol w="427323">
                  <a:extLst>
                    <a:ext uri="{9D8B030D-6E8A-4147-A177-3AD203B41FA5}">
                      <a16:colId xmlns:a16="http://schemas.microsoft.com/office/drawing/2014/main" val="20015"/>
                    </a:ext>
                  </a:extLst>
                </a:gridCol>
                <a:gridCol w="427323">
                  <a:extLst>
                    <a:ext uri="{9D8B030D-6E8A-4147-A177-3AD203B41FA5}">
                      <a16:colId xmlns:a16="http://schemas.microsoft.com/office/drawing/2014/main" val="20016"/>
                    </a:ext>
                  </a:extLst>
                </a:gridCol>
                <a:gridCol w="427323">
                  <a:extLst>
                    <a:ext uri="{9D8B030D-6E8A-4147-A177-3AD203B41FA5}">
                      <a16:colId xmlns:a16="http://schemas.microsoft.com/office/drawing/2014/main" val="20017"/>
                    </a:ext>
                  </a:extLst>
                </a:gridCol>
                <a:gridCol w="427323">
                  <a:extLst>
                    <a:ext uri="{9D8B030D-6E8A-4147-A177-3AD203B41FA5}">
                      <a16:colId xmlns:a16="http://schemas.microsoft.com/office/drawing/2014/main" val="20018"/>
                    </a:ext>
                  </a:extLst>
                </a:gridCol>
              </a:tblGrid>
              <a:tr h="292950">
                <a:tc>
                  <a:txBody>
                    <a:bodyPr/>
                    <a:lstStyle/>
                    <a:p>
                      <a:r>
                        <a:rPr kumimoji="1" lang="en-US" altLang="ja-JP" sz="1050" i="1" dirty="0" err="1">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WiFi</a:t>
                      </a:r>
                      <a:endPar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5937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Intel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088232">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52586798"/>
                  </a:ext>
                </a:extLst>
              </a:tr>
            </a:tbl>
          </a:graphicData>
        </a:graphic>
      </p:graphicFrame>
      <p:sp>
        <p:nvSpPr>
          <p:cNvPr id="61" name="角丸四角形 76">
            <a:extLst>
              <a:ext uri="{FF2B5EF4-FFF2-40B4-BE49-F238E27FC236}">
                <a16:creationId xmlns:a16="http://schemas.microsoft.com/office/drawing/2014/main" id="{53C0EC2C-BE8B-433A-A842-3D9DC26699C2}"/>
              </a:ext>
            </a:extLst>
          </p:cNvPr>
          <p:cNvSpPr/>
          <p:nvPr/>
        </p:nvSpPr>
        <p:spPr>
          <a:xfrm>
            <a:off x="1265390" y="2691554"/>
            <a:ext cx="7673511" cy="240236"/>
          </a:xfrm>
          <a:prstGeom prst="roundRect">
            <a:avLst/>
          </a:prstGeom>
          <a:solidFill>
            <a:schemeClr val="accent1">
              <a:lumMod val="60000"/>
              <a:lumOff val="40000"/>
            </a:schemeClr>
          </a:solidFill>
          <a:ln>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AX200 PCIE</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t>6</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(160MH</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z</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)2x2/IEEE802.11a ~2.4Gbps</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PDN Q4 2023q,LastOrder Q1 2024,LastShip Q4 2024</a:t>
            </a:r>
          </a:p>
        </p:txBody>
      </p:sp>
      <p:sp>
        <p:nvSpPr>
          <p:cNvPr id="15" name="角丸四角形 76">
            <a:extLst>
              <a:ext uri="{FF2B5EF4-FFF2-40B4-BE49-F238E27FC236}">
                <a16:creationId xmlns:a16="http://schemas.microsoft.com/office/drawing/2014/main" id="{C5D21F2E-2E9C-40E3-8A24-3D9DA5B0973E}"/>
              </a:ext>
            </a:extLst>
          </p:cNvPr>
          <p:cNvSpPr/>
          <p:nvPr/>
        </p:nvSpPr>
        <p:spPr>
          <a:xfrm>
            <a:off x="1273478" y="2043482"/>
            <a:ext cx="7667772" cy="240236"/>
          </a:xfrm>
          <a:prstGeom prst="roundRect">
            <a:avLst/>
          </a:prstGeom>
          <a:solidFill>
            <a:schemeClr val="accent1">
              <a:lumMod val="75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AX210 PCIE</a:t>
            </a: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/IEEE802.11ax ~2.4Gbps</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PDN Q4 2026,LastOrder Q1 2027,LastShip Q4 2027</a:t>
            </a:r>
          </a:p>
        </p:txBody>
      </p:sp>
      <p:sp>
        <p:nvSpPr>
          <p:cNvPr id="30" name="テキスト ボックス 29">
            <a:extLst>
              <a:ext uri="{FF2B5EF4-FFF2-40B4-BE49-F238E27FC236}">
                <a16:creationId xmlns:a16="http://schemas.microsoft.com/office/drawing/2014/main" id="{AC758518-286B-4AB4-BD00-CE2900C53157}"/>
              </a:ext>
            </a:extLst>
          </p:cNvPr>
          <p:cNvSpPr txBox="1"/>
          <p:nvPr/>
        </p:nvSpPr>
        <p:spPr>
          <a:xfrm>
            <a:off x="3563894" y="5954168"/>
            <a:ext cx="3168352" cy="253916"/>
          </a:xfrm>
          <a:prstGeom prst="rect">
            <a:avLst/>
          </a:prstGeom>
          <a:solidFill>
            <a:schemeClr val="bg1"/>
          </a:solidFill>
          <a:ln w="12700">
            <a:solidFill>
              <a:schemeClr val="tx1"/>
            </a:solidFill>
          </a:ln>
        </p:spPr>
        <p:txBody>
          <a:bodyPr wrap="square" rtlCol="0">
            <a:spAutoFit/>
          </a:bodyPr>
          <a:lstStyle/>
          <a:p>
            <a:r>
              <a:rPr kumimoji="1" lang="ja-JP" altLang="en-US" sz="1050" b="1" dirty="0">
                <a:solidFill>
                  <a:srgbClr val="FF0000"/>
                </a:solidFill>
                <a:latin typeface="メイリオ" panose="020B0604030504040204" pitchFamily="50" charset="-128"/>
                <a:ea typeface="メイリオ" panose="020B0604030504040204" pitchFamily="50" charset="-128"/>
              </a:rPr>
              <a:t>在庫を見つつ</a:t>
            </a:r>
            <a:r>
              <a:rPr kumimoji="1" lang="en-US" altLang="ja-JP" sz="1050" b="1" dirty="0">
                <a:solidFill>
                  <a:srgbClr val="FF0000"/>
                </a:solidFill>
                <a:latin typeface="メイリオ" panose="020B0604030504040204" pitchFamily="50" charset="-128"/>
                <a:ea typeface="メイリオ" panose="020B0604030504040204" pitchFamily="50" charset="-128"/>
              </a:rPr>
              <a:t>11ac</a:t>
            </a:r>
            <a:r>
              <a:rPr kumimoji="1" lang="ja-JP" altLang="en-US" sz="1050" b="1" dirty="0">
                <a:solidFill>
                  <a:srgbClr val="FF0000"/>
                </a:solidFill>
                <a:latin typeface="メイリオ" panose="020B0604030504040204" pitchFamily="50" charset="-128"/>
                <a:ea typeface="メイリオ" panose="020B0604030504040204" pitchFamily="50" charset="-128"/>
              </a:rPr>
              <a:t>→</a:t>
            </a:r>
            <a:r>
              <a:rPr kumimoji="1" lang="en-US" altLang="ja-JP" sz="1050" b="1" dirty="0">
                <a:solidFill>
                  <a:srgbClr val="FF0000"/>
                </a:solidFill>
                <a:latin typeface="メイリオ" panose="020B0604030504040204" pitchFamily="50" charset="-128"/>
                <a:ea typeface="メイリオ" panose="020B0604030504040204" pitchFamily="50" charset="-128"/>
              </a:rPr>
              <a:t>11ax</a:t>
            </a:r>
            <a:r>
              <a:rPr kumimoji="1" lang="ja-JP" altLang="en-US" sz="1050" b="1" dirty="0">
                <a:solidFill>
                  <a:srgbClr val="FF0000"/>
                </a:solidFill>
                <a:latin typeface="メイリオ" panose="020B0604030504040204" pitchFamily="50" charset="-128"/>
                <a:ea typeface="メイリオ" panose="020B0604030504040204" pitchFamily="50" charset="-128"/>
              </a:rPr>
              <a:t>へランニングチェンジ</a:t>
            </a:r>
          </a:p>
        </p:txBody>
      </p:sp>
      <p:sp>
        <p:nvSpPr>
          <p:cNvPr id="26" name="角丸四角形 76">
            <a:extLst>
              <a:ext uri="{FF2B5EF4-FFF2-40B4-BE49-F238E27FC236}">
                <a16:creationId xmlns:a16="http://schemas.microsoft.com/office/drawing/2014/main" id="{60420D30-F2CC-4187-8925-86EDCECE3524}"/>
              </a:ext>
            </a:extLst>
          </p:cNvPr>
          <p:cNvSpPr/>
          <p:nvPr/>
        </p:nvSpPr>
        <p:spPr>
          <a:xfrm>
            <a:off x="1273190" y="1731238"/>
            <a:ext cx="7657913" cy="240236"/>
          </a:xfrm>
          <a:prstGeom prst="roundRect">
            <a:avLst/>
          </a:prstGeom>
          <a:solidFill>
            <a:schemeClr val="accent1">
              <a:lumMod val="75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AX211 </a:t>
            </a:r>
            <a:r>
              <a:rPr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C</a:t>
            </a:r>
            <a:r>
              <a:rPr kumimoji="1"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NVi</a:t>
            </a:r>
            <a:endParaRPr lang="en-US" altLang="ja-JP" sz="1000" dirty="0">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/IEEE802.11ax ~2.4Gbps</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PDN Q4 2026,LastOrder Q1 2027,LastShip Q4 2027</a:t>
            </a:r>
          </a:p>
        </p:txBody>
      </p:sp>
      <p:sp>
        <p:nvSpPr>
          <p:cNvPr id="29" name="角丸四角形 76">
            <a:extLst>
              <a:ext uri="{FF2B5EF4-FFF2-40B4-BE49-F238E27FC236}">
                <a16:creationId xmlns:a16="http://schemas.microsoft.com/office/drawing/2014/main" id="{016540D3-3830-4EC4-AEB5-1A6ECC8C7394}"/>
              </a:ext>
            </a:extLst>
          </p:cNvPr>
          <p:cNvSpPr/>
          <p:nvPr/>
        </p:nvSpPr>
        <p:spPr>
          <a:xfrm>
            <a:off x="1265880" y="1412468"/>
            <a:ext cx="7657913" cy="240236"/>
          </a:xfrm>
          <a:prstGeom prst="roundRect">
            <a:avLst/>
          </a:prstGeom>
          <a:solidFill>
            <a:schemeClr val="accent1">
              <a:lumMod val="75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Intel AX411 </a:t>
            </a:r>
            <a:r>
              <a:rPr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C</a:t>
            </a:r>
            <a:r>
              <a:rPr kumimoji="1"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NVi</a:t>
            </a:r>
            <a:endParaRPr lang="en-US" altLang="ja-JP" sz="1000" dirty="0">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/IEEE802.11ax ~3Gbps(2.4GHz+5GHz/6GHz</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同時利用</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PDN Q4 2026,LastOrder Q1 2027,LastShip Q4 2027</a:t>
            </a:r>
          </a:p>
        </p:txBody>
      </p:sp>
      <p:sp>
        <p:nvSpPr>
          <p:cNvPr id="33" name="角丸四角形 76">
            <a:extLst>
              <a:ext uri="{FF2B5EF4-FFF2-40B4-BE49-F238E27FC236}">
                <a16:creationId xmlns:a16="http://schemas.microsoft.com/office/drawing/2014/main" id="{D8525118-C45E-4171-A238-80AFA1EE030C}"/>
              </a:ext>
            </a:extLst>
          </p:cNvPr>
          <p:cNvSpPr/>
          <p:nvPr/>
        </p:nvSpPr>
        <p:spPr>
          <a:xfrm>
            <a:off x="1259143" y="2403522"/>
            <a:ext cx="7679758" cy="240236"/>
          </a:xfrm>
          <a:prstGeom prst="roundRect">
            <a:avLst/>
          </a:prstGeom>
          <a:solidFill>
            <a:schemeClr val="accent1">
              <a:lumMod val="60000"/>
              <a:lumOff val="40000"/>
            </a:schemeClr>
          </a:solidFill>
          <a:ln>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AX201 </a:t>
            </a:r>
            <a:r>
              <a:rPr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C</a:t>
            </a:r>
            <a:r>
              <a:rPr kumimoji="1"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NVi</a:t>
            </a:r>
            <a:endParaRPr kumimoji="1" lang="en-US" altLang="ja-JP" sz="1000" dirty="0">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t>6</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(160MH</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z</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)2x2/IEEE802.11a ~2.4Gbps</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PDN Q4 2025,LastOrder Q1 2026,LastShip Q4 2026</a:t>
            </a:r>
          </a:p>
        </p:txBody>
      </p:sp>
      <p:sp>
        <p:nvSpPr>
          <p:cNvPr id="34" name="角丸四角形 76">
            <a:extLst>
              <a:ext uri="{FF2B5EF4-FFF2-40B4-BE49-F238E27FC236}">
                <a16:creationId xmlns:a16="http://schemas.microsoft.com/office/drawing/2014/main" id="{3EC073CB-1051-4A6D-B43B-6BFC42F02AF2}"/>
              </a:ext>
            </a:extLst>
          </p:cNvPr>
          <p:cNvSpPr/>
          <p:nvPr/>
        </p:nvSpPr>
        <p:spPr>
          <a:xfrm>
            <a:off x="1266942" y="4397708"/>
            <a:ext cx="7664161" cy="240236"/>
          </a:xfrm>
          <a:prstGeom prst="roundRect">
            <a:avLst/>
          </a:prstGeom>
          <a:solidFill>
            <a:schemeClr val="accent1">
              <a:lumMod val="75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AMD RZ616</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(MediaTek MT7922)</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PCIE</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(HE160)/IEEE802.11ax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160</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MHz ~2.4Gbps</a:t>
            </a:r>
          </a:p>
        </p:txBody>
      </p:sp>
      <p:sp>
        <p:nvSpPr>
          <p:cNvPr id="39" name="角丸四角形 76">
            <a:extLst>
              <a:ext uri="{FF2B5EF4-FFF2-40B4-BE49-F238E27FC236}">
                <a16:creationId xmlns:a16="http://schemas.microsoft.com/office/drawing/2014/main" id="{2FE015E4-9D08-45A9-8A97-B9715AEFAAEF}"/>
              </a:ext>
            </a:extLst>
          </p:cNvPr>
          <p:cNvSpPr/>
          <p:nvPr/>
        </p:nvSpPr>
        <p:spPr>
          <a:xfrm>
            <a:off x="1259632" y="4707778"/>
            <a:ext cx="7665340" cy="240236"/>
          </a:xfrm>
          <a:prstGeom prst="roundRect">
            <a:avLst/>
          </a:prstGeom>
          <a:solidFill>
            <a:schemeClr val="accent1">
              <a:lumMod val="75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AMD RZ608</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(MediaTek</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MT7921K)</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PCIE</a:t>
            </a: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(HE80)/IEEE802.11ax 80MHz ~1.2Gbps</a:t>
            </a:r>
          </a:p>
        </p:txBody>
      </p:sp>
      <p:sp>
        <p:nvSpPr>
          <p:cNvPr id="41" name="角丸四角形 76">
            <a:extLst>
              <a:ext uri="{FF2B5EF4-FFF2-40B4-BE49-F238E27FC236}">
                <a16:creationId xmlns:a16="http://schemas.microsoft.com/office/drawing/2014/main" id="{FF896C66-81CB-46DF-B461-B58C9C3DCD43}"/>
              </a:ext>
            </a:extLst>
          </p:cNvPr>
          <p:cNvSpPr/>
          <p:nvPr/>
        </p:nvSpPr>
        <p:spPr>
          <a:xfrm>
            <a:off x="1256191" y="723126"/>
            <a:ext cx="7674912"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BE200/Killer1750x PCIE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(320MHz)2x2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/IEEEP802.11be ~5.8Gbps</a:t>
            </a:r>
          </a:p>
        </p:txBody>
      </p:sp>
      <p:sp>
        <p:nvSpPr>
          <p:cNvPr id="42" name="角丸四角形 76">
            <a:extLst>
              <a:ext uri="{FF2B5EF4-FFF2-40B4-BE49-F238E27FC236}">
                <a16:creationId xmlns:a16="http://schemas.microsoft.com/office/drawing/2014/main" id="{C45A887B-21D4-4BCE-8824-C6463E2A8A0E}"/>
              </a:ext>
            </a:extLst>
          </p:cNvPr>
          <p:cNvSpPr/>
          <p:nvPr/>
        </p:nvSpPr>
        <p:spPr>
          <a:xfrm>
            <a:off x="1253892" y="1035370"/>
            <a:ext cx="7679758"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BE202 PCIE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/IEEEP802.11be ~2.4Gbps</a:t>
            </a:r>
          </a:p>
        </p:txBody>
      </p:sp>
      <p:sp>
        <p:nvSpPr>
          <p:cNvPr id="19" name="角丸四角形 76">
            <a:extLst>
              <a:ext uri="{FF2B5EF4-FFF2-40B4-BE49-F238E27FC236}">
                <a16:creationId xmlns:a16="http://schemas.microsoft.com/office/drawing/2014/main" id="{11014D9D-EAAF-4674-9B64-BFC10E11FD10}"/>
              </a:ext>
            </a:extLst>
          </p:cNvPr>
          <p:cNvSpPr/>
          <p:nvPr/>
        </p:nvSpPr>
        <p:spPr>
          <a:xfrm>
            <a:off x="1265877" y="420505"/>
            <a:ext cx="7682975"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BE201/Killer1750i </a:t>
            </a:r>
            <a:r>
              <a:rPr kumimoji="1"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CNV</a:t>
            </a:r>
            <a:r>
              <a:rPr lang="en-US" altLang="ja-JP" sz="1000"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i</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(320MHz)2x2</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/IEEEP802.11be ~5.8Gbps</a:t>
            </a:r>
          </a:p>
        </p:txBody>
      </p:sp>
      <p:sp>
        <p:nvSpPr>
          <p:cNvPr id="21" name="角丸四角形 76">
            <a:extLst>
              <a:ext uri="{FF2B5EF4-FFF2-40B4-BE49-F238E27FC236}">
                <a16:creationId xmlns:a16="http://schemas.microsoft.com/office/drawing/2014/main" id="{0C621031-246D-4E07-8CF2-8D0A61DAB48C}"/>
              </a:ext>
            </a:extLst>
          </p:cNvPr>
          <p:cNvSpPr/>
          <p:nvPr/>
        </p:nvSpPr>
        <p:spPr>
          <a:xfrm>
            <a:off x="1265878" y="3381172"/>
            <a:ext cx="7650488" cy="222902"/>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Qualcomm QCNCM865</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(320MHz)</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ｖ</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2x2/IEEEP802.11be</a:t>
            </a:r>
            <a:r>
              <a:rPr lang="ja-JP" altLang="en-US" sz="800"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~5.8Gbps</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角丸四角形 76">
            <a:extLst>
              <a:ext uri="{FF2B5EF4-FFF2-40B4-BE49-F238E27FC236}">
                <a16:creationId xmlns:a16="http://schemas.microsoft.com/office/drawing/2014/main" id="{547510A0-349C-4A38-A696-9BC82C408345}"/>
              </a:ext>
            </a:extLst>
          </p:cNvPr>
          <p:cNvSpPr/>
          <p:nvPr/>
        </p:nvSpPr>
        <p:spPr>
          <a:xfrm>
            <a:off x="1265878" y="3685077"/>
            <a:ext cx="7666292"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AMD RZ738(MediaTek MT7927)</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(320MHz)</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ｖ</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2x2/IEEEP802.11be</a:t>
            </a:r>
            <a:r>
              <a:rPr lang="ja-JP" altLang="en-US" sz="800"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~5.8Gbps</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76">
            <a:extLst>
              <a:ext uri="{FF2B5EF4-FFF2-40B4-BE49-F238E27FC236}">
                <a16:creationId xmlns:a16="http://schemas.microsoft.com/office/drawing/2014/main" id="{7865C374-72DD-4875-9CD9-801691169382}"/>
              </a:ext>
            </a:extLst>
          </p:cNvPr>
          <p:cNvSpPr/>
          <p:nvPr/>
        </p:nvSpPr>
        <p:spPr>
          <a:xfrm>
            <a:off x="1265877" y="3987698"/>
            <a:ext cx="7666293"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AMD RZ717(MediaTek MT7925)</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ｖ</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2x2/IEEEP802.11be</a:t>
            </a:r>
            <a:r>
              <a:rPr lang="ja-JP" altLang="en-US" sz="800"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~2.4Gbps</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6C1B8186-3997-45A3-BB39-00A262DA773A}"/>
              </a:ext>
            </a:extLst>
          </p:cNvPr>
          <p:cNvSpPr>
            <a:spLocks noGrp="1"/>
          </p:cNvSpPr>
          <p:nvPr>
            <p:ph type="sldNum" sz="quarter" idx="12"/>
          </p:nvPr>
        </p:nvSpPr>
        <p:spPr/>
        <p:txBody>
          <a:bodyPr/>
          <a:lstStyle/>
          <a:p>
            <a:fld id="{F9DFCEB9-CAE4-4F3C-93D0-85C4724A0355}" type="slidenum">
              <a:rPr kumimoji="1" lang="ja-JP" altLang="en-US" smtClean="0"/>
              <a:t>12</a:t>
            </a:fld>
            <a:endParaRPr kumimoji="1" lang="ja-JP" altLang="en-US"/>
          </a:p>
        </p:txBody>
      </p:sp>
      <p:sp>
        <p:nvSpPr>
          <p:cNvPr id="20" name="角丸四角形 76">
            <a:extLst>
              <a:ext uri="{FF2B5EF4-FFF2-40B4-BE49-F238E27FC236}">
                <a16:creationId xmlns:a16="http://schemas.microsoft.com/office/drawing/2014/main" id="{07DB1D33-1AAA-4962-8929-BFC343A4903A}"/>
              </a:ext>
            </a:extLst>
          </p:cNvPr>
          <p:cNvSpPr/>
          <p:nvPr/>
        </p:nvSpPr>
        <p:spPr>
          <a:xfrm>
            <a:off x="1252206" y="3071102"/>
            <a:ext cx="7664160" cy="240236"/>
          </a:xfrm>
          <a:prstGeom prst="roundRect">
            <a:avLst/>
          </a:prstGeom>
          <a:solidFill>
            <a:schemeClr val="accent1">
              <a:lumMod val="5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Realtek</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RTL8922A</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Wi-Fi</a:t>
            </a:r>
            <a:r>
              <a:rPr lang="en-US" altLang="ja-JP" sz="800" b="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7</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(160MHz)/IEEEP802.11be</a:t>
            </a:r>
            <a:r>
              <a:rPr lang="ja-JP" altLang="en-US" sz="800"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~2.8Gbps</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404474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4168547064"/>
              </p:ext>
            </p:extLst>
          </p:nvPr>
        </p:nvGraphicFramePr>
        <p:xfrm>
          <a:off x="35496" y="34567"/>
          <a:ext cx="8928982" cy="5059158"/>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41206">
                <a:tc>
                  <a:txBody>
                    <a:bodyPr/>
                    <a:lstStyle/>
                    <a:p>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M.2SSD</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製品</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取り扱いメーカーのみ</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716258">
                <a:tc>
                  <a:txBody>
                    <a:bodyPr/>
                    <a:lstStyle/>
                    <a:p>
                      <a:pPr algn="l"/>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NVMe</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6" name="角丸四角形 25"/>
          <p:cNvSpPr/>
          <p:nvPr/>
        </p:nvSpPr>
        <p:spPr>
          <a:xfrm>
            <a:off x="1279709" y="2004423"/>
            <a:ext cx="7686738" cy="112546"/>
          </a:xfrm>
          <a:prstGeom prst="roundRect">
            <a:avLst/>
          </a:prstGeom>
          <a:solidFill>
            <a:schemeClr val="tx2">
              <a:lumMod val="40000"/>
              <a:lumOff val="6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ja-JP" altLang="en-US" sz="900" dirty="0">
                <a:latin typeface="Meiryo UI" panose="020B0604030504040204" pitchFamily="50" charset="-128"/>
                <a:ea typeface="Meiryo UI" panose="020B0604030504040204" pitchFamily="50" charset="-128"/>
                <a:cs typeface="Meiryo UI" panose="020B0604030504040204" pitchFamily="50" charset="-128"/>
              </a:rPr>
              <a:t>各社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E18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CFD/PNY/CORSAIR</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等</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角丸四角形 70">
            <a:extLst>
              <a:ext uri="{FF2B5EF4-FFF2-40B4-BE49-F238E27FC236}">
                <a16:creationId xmlns:a16="http://schemas.microsoft.com/office/drawing/2014/main" id="{BDCB9B1A-9E75-46B9-9A6E-8422678B2875}"/>
              </a:ext>
            </a:extLst>
          </p:cNvPr>
          <p:cNvSpPr/>
          <p:nvPr/>
        </p:nvSpPr>
        <p:spPr>
          <a:xfrm>
            <a:off x="1281230" y="2165758"/>
            <a:ext cx="7686738" cy="112256"/>
          </a:xfrm>
          <a:prstGeom prst="roundRect">
            <a:avLst/>
          </a:prstGeom>
          <a:solidFill>
            <a:schemeClr val="tx2">
              <a:lumMod val="40000"/>
              <a:lumOff val="6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/WD</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Black SN850X</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Optimus GX PRO</a:t>
            </a:r>
            <a:r>
              <a:rPr lang="ja-JP" altLang="en-US"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850X</a:t>
            </a:r>
          </a:p>
        </p:txBody>
      </p:sp>
      <p:sp>
        <p:nvSpPr>
          <p:cNvPr id="65" name="角丸四角形 34">
            <a:extLst>
              <a:ext uri="{FF2B5EF4-FFF2-40B4-BE49-F238E27FC236}">
                <a16:creationId xmlns:a16="http://schemas.microsoft.com/office/drawing/2014/main" id="{79C51908-E60F-412E-8E16-567A199BBA20}"/>
              </a:ext>
            </a:extLst>
          </p:cNvPr>
          <p:cNvSpPr/>
          <p:nvPr/>
        </p:nvSpPr>
        <p:spPr>
          <a:xfrm>
            <a:off x="1259634" y="1336841"/>
            <a:ext cx="7689314" cy="99675"/>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Seagate FireCuda540(</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E26) </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角丸四角形 34">
            <a:extLst>
              <a:ext uri="{FF2B5EF4-FFF2-40B4-BE49-F238E27FC236}">
                <a16:creationId xmlns:a16="http://schemas.microsoft.com/office/drawing/2014/main" id="{E0490EDA-561D-4C4D-B5FB-0495BE4F8963}"/>
              </a:ext>
            </a:extLst>
          </p:cNvPr>
          <p:cNvSpPr/>
          <p:nvPr/>
        </p:nvSpPr>
        <p:spPr>
          <a:xfrm>
            <a:off x="1256715" y="3722108"/>
            <a:ext cx="7688028" cy="114127"/>
          </a:xfrm>
          <a:prstGeom prst="roundRect">
            <a:avLst/>
          </a:prstGeom>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Seagate FireCuda520Refresh(PhisonE16)</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テキスト ボックス 56">
            <a:extLst>
              <a:ext uri="{FF2B5EF4-FFF2-40B4-BE49-F238E27FC236}">
                <a16:creationId xmlns:a16="http://schemas.microsoft.com/office/drawing/2014/main" id="{5E97425E-B28E-484F-ACEB-3130786C3FB2}"/>
              </a:ext>
            </a:extLst>
          </p:cNvPr>
          <p:cNvSpPr txBox="1"/>
          <p:nvPr/>
        </p:nvSpPr>
        <p:spPr>
          <a:xfrm>
            <a:off x="366009" y="3374871"/>
            <a:ext cx="585575" cy="276999"/>
          </a:xfrm>
          <a:prstGeom prst="rect">
            <a:avLst/>
          </a:prstGeom>
          <a:no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rPr>
              <a:t>Gen4</a:t>
            </a:r>
            <a:endParaRPr kumimoji="1" lang="ja-JP" altLang="en-US" sz="1400" dirty="0">
              <a:latin typeface="Meiryo UI" panose="020B0604030504040204" pitchFamily="50" charset="-128"/>
              <a:ea typeface="Meiryo UI" panose="020B0604030504040204" pitchFamily="50" charset="-128"/>
            </a:endParaRPr>
          </a:p>
        </p:txBody>
      </p:sp>
      <p:sp>
        <p:nvSpPr>
          <p:cNvPr id="68" name="テキスト ボックス 67">
            <a:extLst>
              <a:ext uri="{FF2B5EF4-FFF2-40B4-BE49-F238E27FC236}">
                <a16:creationId xmlns:a16="http://schemas.microsoft.com/office/drawing/2014/main" id="{3AE3E738-A4DD-44F5-9318-522DD51DBB88}"/>
              </a:ext>
            </a:extLst>
          </p:cNvPr>
          <p:cNvSpPr txBox="1"/>
          <p:nvPr/>
        </p:nvSpPr>
        <p:spPr>
          <a:xfrm>
            <a:off x="399678" y="769528"/>
            <a:ext cx="585575" cy="276999"/>
          </a:xfrm>
          <a:prstGeom prst="rect">
            <a:avLst/>
          </a:prstGeom>
          <a:no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rPr>
              <a:t>Gen5</a:t>
            </a:r>
            <a:endParaRPr kumimoji="1" lang="ja-JP" altLang="en-US" sz="1400" dirty="0">
              <a:latin typeface="Meiryo UI" panose="020B0604030504040204" pitchFamily="50" charset="-128"/>
              <a:ea typeface="Meiryo UI" panose="020B0604030504040204" pitchFamily="50" charset="-128"/>
            </a:endParaRPr>
          </a:p>
        </p:txBody>
      </p:sp>
      <p:cxnSp>
        <p:nvCxnSpPr>
          <p:cNvPr id="69" name="直線コネクタ 68">
            <a:extLst>
              <a:ext uri="{FF2B5EF4-FFF2-40B4-BE49-F238E27FC236}">
                <a16:creationId xmlns:a16="http://schemas.microsoft.com/office/drawing/2014/main" id="{DA174DA2-70BF-483F-A97E-793B1EBA4001}"/>
              </a:ext>
            </a:extLst>
          </p:cNvPr>
          <p:cNvCxnSpPr>
            <a:cxnSpLocks/>
          </p:cNvCxnSpPr>
          <p:nvPr/>
        </p:nvCxnSpPr>
        <p:spPr>
          <a:xfrm>
            <a:off x="382103" y="1923678"/>
            <a:ext cx="8593650" cy="0"/>
          </a:xfrm>
          <a:prstGeom prst="line">
            <a:avLst/>
          </a:prstGeom>
          <a:ln w="1905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74BF3DD3-0FA2-477D-94CC-EEA9BC4CE91B}"/>
              </a:ext>
            </a:extLst>
          </p:cNvPr>
          <p:cNvCxnSpPr>
            <a:cxnSpLocks/>
          </p:cNvCxnSpPr>
          <p:nvPr/>
        </p:nvCxnSpPr>
        <p:spPr>
          <a:xfrm>
            <a:off x="959468" y="4587974"/>
            <a:ext cx="7992479" cy="0"/>
          </a:xfrm>
          <a:prstGeom prst="line">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FB8C7E89-7B23-483A-96FC-862ED6295495}"/>
              </a:ext>
            </a:extLst>
          </p:cNvPr>
          <p:cNvCxnSpPr>
            <a:cxnSpLocks/>
          </p:cNvCxnSpPr>
          <p:nvPr/>
        </p:nvCxnSpPr>
        <p:spPr>
          <a:xfrm>
            <a:off x="968832" y="3502858"/>
            <a:ext cx="8006921" cy="0"/>
          </a:xfrm>
          <a:prstGeom prst="line">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F0766A3D-B478-4B46-857E-E256EEEDFCF6}"/>
              </a:ext>
            </a:extLst>
          </p:cNvPr>
          <p:cNvSpPr txBox="1"/>
          <p:nvPr/>
        </p:nvSpPr>
        <p:spPr>
          <a:xfrm>
            <a:off x="539553" y="2571750"/>
            <a:ext cx="682362" cy="276999"/>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rPr>
              <a:t>7000MB/s</a:t>
            </a:r>
            <a:r>
              <a:rPr kumimoji="1" lang="ja-JP" altLang="en-US" sz="600" dirty="0">
                <a:latin typeface="Meiryo UI" panose="020B0604030504040204" pitchFamily="50" charset="-128"/>
                <a:ea typeface="Meiryo UI" panose="020B0604030504040204" pitchFamily="50" charset="-128"/>
              </a:rPr>
              <a:t>～</a:t>
            </a:r>
            <a:endParaRPr kumimoji="1" lang="en-US" altLang="ja-JP" sz="600" dirty="0">
              <a:latin typeface="Meiryo UI" panose="020B0604030504040204" pitchFamily="50" charset="-128"/>
              <a:ea typeface="Meiryo UI" panose="020B0604030504040204" pitchFamily="50" charset="-128"/>
            </a:endParaRPr>
          </a:p>
          <a:p>
            <a:r>
              <a:rPr kumimoji="1" lang="ja-JP" altLang="en-US" sz="600" dirty="0">
                <a:latin typeface="Meiryo UI" panose="020B0604030504040204" pitchFamily="50" charset="-128"/>
                <a:ea typeface="Meiryo UI" panose="020B0604030504040204" pitchFamily="50" charset="-128"/>
              </a:rPr>
              <a:t>クラス</a:t>
            </a:r>
          </a:p>
        </p:txBody>
      </p:sp>
      <p:sp>
        <p:nvSpPr>
          <p:cNvPr id="73" name="テキスト ボックス 72">
            <a:extLst>
              <a:ext uri="{FF2B5EF4-FFF2-40B4-BE49-F238E27FC236}">
                <a16:creationId xmlns:a16="http://schemas.microsoft.com/office/drawing/2014/main" id="{FD275AE3-81A9-46A3-A16A-896DEB057B4C}"/>
              </a:ext>
            </a:extLst>
          </p:cNvPr>
          <p:cNvSpPr txBox="1"/>
          <p:nvPr/>
        </p:nvSpPr>
        <p:spPr>
          <a:xfrm>
            <a:off x="539552" y="3798036"/>
            <a:ext cx="662333" cy="369332"/>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rPr>
              <a:t>5000MB/s</a:t>
            </a:r>
          </a:p>
          <a:p>
            <a:r>
              <a:rPr kumimoji="1" lang="ja-JP" altLang="en-US" sz="600" dirty="0">
                <a:latin typeface="Meiryo UI" panose="020B0604030504040204" pitchFamily="50" charset="-128"/>
                <a:ea typeface="Meiryo UI" panose="020B0604030504040204" pitchFamily="50" charset="-128"/>
              </a:rPr>
              <a:t>～</a:t>
            </a:r>
            <a:r>
              <a:rPr kumimoji="1" lang="en-US" altLang="ja-JP" sz="600" dirty="0">
                <a:latin typeface="Meiryo UI" panose="020B0604030504040204" pitchFamily="50" charset="-128"/>
                <a:ea typeface="Meiryo UI" panose="020B0604030504040204" pitchFamily="50" charset="-128"/>
              </a:rPr>
              <a:t>6999MB/s</a:t>
            </a:r>
          </a:p>
          <a:p>
            <a:r>
              <a:rPr kumimoji="1" lang="ja-JP" altLang="en-US" sz="600" dirty="0">
                <a:latin typeface="Meiryo UI" panose="020B0604030504040204" pitchFamily="50" charset="-128"/>
                <a:ea typeface="Meiryo UI" panose="020B0604030504040204" pitchFamily="50" charset="-128"/>
              </a:rPr>
              <a:t>クラス</a:t>
            </a:r>
          </a:p>
        </p:txBody>
      </p:sp>
      <p:sp>
        <p:nvSpPr>
          <p:cNvPr id="74" name="テキスト ボックス 73">
            <a:extLst>
              <a:ext uri="{FF2B5EF4-FFF2-40B4-BE49-F238E27FC236}">
                <a16:creationId xmlns:a16="http://schemas.microsoft.com/office/drawing/2014/main" id="{54A54D57-4DEE-4282-965F-240915A2703B}"/>
              </a:ext>
            </a:extLst>
          </p:cNvPr>
          <p:cNvSpPr txBox="1"/>
          <p:nvPr/>
        </p:nvSpPr>
        <p:spPr>
          <a:xfrm>
            <a:off x="539553" y="4599007"/>
            <a:ext cx="667092" cy="276999"/>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rPr>
              <a:t>5000MB/s</a:t>
            </a:r>
          </a:p>
          <a:p>
            <a:r>
              <a:rPr kumimoji="1" lang="ja-JP" altLang="en-US" sz="600" dirty="0">
                <a:latin typeface="Meiryo UI" panose="020B0604030504040204" pitchFamily="50" charset="-128"/>
                <a:ea typeface="Meiryo UI" panose="020B0604030504040204" pitchFamily="50" charset="-128"/>
              </a:rPr>
              <a:t>以下クラス</a:t>
            </a:r>
          </a:p>
        </p:txBody>
      </p:sp>
      <p:sp>
        <p:nvSpPr>
          <p:cNvPr id="77" name="角丸四角形 70">
            <a:extLst>
              <a:ext uri="{FF2B5EF4-FFF2-40B4-BE49-F238E27FC236}">
                <a16:creationId xmlns:a16="http://schemas.microsoft.com/office/drawing/2014/main" id="{E9299CE4-9E78-4B7E-A80C-E338D52CEEA9}"/>
              </a:ext>
            </a:extLst>
          </p:cNvPr>
          <p:cNvSpPr/>
          <p:nvPr/>
        </p:nvSpPr>
        <p:spPr>
          <a:xfrm>
            <a:off x="1267349" y="2843827"/>
            <a:ext cx="7691796" cy="111746"/>
          </a:xfrm>
          <a:prstGeom prst="roundRect">
            <a:avLst/>
          </a:prstGeom>
          <a:solidFill>
            <a:schemeClr val="tx2">
              <a:lumMod val="40000"/>
              <a:lumOff val="60000"/>
            </a:schemeClr>
          </a:solidFill>
          <a:ln>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Hynix PC801 TLC</a:t>
            </a:r>
          </a:p>
        </p:txBody>
      </p:sp>
      <p:sp>
        <p:nvSpPr>
          <p:cNvPr id="79" name="角丸四角形 70">
            <a:extLst>
              <a:ext uri="{FF2B5EF4-FFF2-40B4-BE49-F238E27FC236}">
                <a16:creationId xmlns:a16="http://schemas.microsoft.com/office/drawing/2014/main" id="{95AB63A0-A9A0-4F3B-BABA-DC831D416AF2}"/>
              </a:ext>
            </a:extLst>
          </p:cNvPr>
          <p:cNvSpPr/>
          <p:nvPr/>
        </p:nvSpPr>
        <p:spPr>
          <a:xfrm>
            <a:off x="1253698" y="1205980"/>
            <a:ext cx="7710644" cy="88085"/>
          </a:xfrm>
          <a:prstGeom prst="roundRect">
            <a:avLst/>
          </a:prstGeom>
          <a:solidFill>
            <a:schemeClr val="tx1">
              <a:lumMod val="65000"/>
              <a:lumOff val="35000"/>
            </a:schemeClr>
          </a:solidFill>
          <a:ln>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Nextorage</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NN5PRO</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角丸四角形 70">
            <a:extLst>
              <a:ext uri="{FF2B5EF4-FFF2-40B4-BE49-F238E27FC236}">
                <a16:creationId xmlns:a16="http://schemas.microsoft.com/office/drawing/2014/main" id="{8311A763-D711-4E86-B9E5-C656CAA38723}"/>
              </a:ext>
            </a:extLst>
          </p:cNvPr>
          <p:cNvSpPr/>
          <p:nvPr/>
        </p:nvSpPr>
        <p:spPr>
          <a:xfrm>
            <a:off x="1279739" y="4673207"/>
            <a:ext cx="7672209" cy="114903"/>
          </a:xfrm>
          <a:prstGeom prst="roundRect">
            <a:avLst/>
          </a:prstGeom>
          <a:solidFill>
            <a:schemeClr val="accent3"/>
          </a:solidFill>
          <a:ln>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Hynix BC901</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角丸四角形 34">
            <a:extLst>
              <a:ext uri="{FF2B5EF4-FFF2-40B4-BE49-F238E27FC236}">
                <a16:creationId xmlns:a16="http://schemas.microsoft.com/office/drawing/2014/main" id="{4110251D-E74D-4F89-A850-5B2930EE1E6B}"/>
              </a:ext>
            </a:extLst>
          </p:cNvPr>
          <p:cNvSpPr/>
          <p:nvPr/>
        </p:nvSpPr>
        <p:spPr>
          <a:xfrm>
            <a:off x="1269653" y="2481283"/>
            <a:ext cx="3806403" cy="90467"/>
          </a:xfrm>
          <a:prstGeom prst="roundRect">
            <a:avLst/>
          </a:prstGeom>
          <a:solidFill>
            <a:schemeClr val="tx2">
              <a:lumMod val="40000"/>
              <a:lumOff val="6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SAMSUNG 990PRO(</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PM9A1)</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角丸四角形 34">
            <a:extLst>
              <a:ext uri="{FF2B5EF4-FFF2-40B4-BE49-F238E27FC236}">
                <a16:creationId xmlns:a16="http://schemas.microsoft.com/office/drawing/2014/main" id="{5EC93729-7181-44C1-9BB8-4E4336FC5BFE}"/>
              </a:ext>
            </a:extLst>
          </p:cNvPr>
          <p:cNvSpPr/>
          <p:nvPr/>
        </p:nvSpPr>
        <p:spPr>
          <a:xfrm>
            <a:off x="1252982" y="3906848"/>
            <a:ext cx="7687189" cy="116888"/>
          </a:xfrm>
          <a:prstGeom prst="roundRect">
            <a:avLst/>
          </a:prstGeom>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SAMSUNG 990EVO</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角丸四角形 34">
            <a:extLst>
              <a:ext uri="{FF2B5EF4-FFF2-40B4-BE49-F238E27FC236}">
                <a16:creationId xmlns:a16="http://schemas.microsoft.com/office/drawing/2014/main" id="{D85B03F8-0341-41C2-8F08-A284FF4B5337}"/>
              </a:ext>
            </a:extLst>
          </p:cNvPr>
          <p:cNvSpPr/>
          <p:nvPr/>
        </p:nvSpPr>
        <p:spPr>
          <a:xfrm>
            <a:off x="1269652" y="531205"/>
            <a:ext cx="7660394" cy="78869"/>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SAMSUNG 9100 PRO(</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PM9E1)</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34">
            <a:extLst>
              <a:ext uri="{FF2B5EF4-FFF2-40B4-BE49-F238E27FC236}">
                <a16:creationId xmlns:a16="http://schemas.microsoft.com/office/drawing/2014/main" id="{20B70CBB-6B21-4459-B147-F9CE602B96DF}"/>
              </a:ext>
            </a:extLst>
          </p:cNvPr>
          <p:cNvSpPr/>
          <p:nvPr/>
        </p:nvSpPr>
        <p:spPr>
          <a:xfrm>
            <a:off x="1253698" y="774951"/>
            <a:ext cx="7676348" cy="82287"/>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Micron 4600</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角丸四角形 68">
            <a:extLst>
              <a:ext uri="{FF2B5EF4-FFF2-40B4-BE49-F238E27FC236}">
                <a16:creationId xmlns:a16="http://schemas.microsoft.com/office/drawing/2014/main" id="{135C13DB-C312-4BDC-B001-D094BA9C883C}"/>
              </a:ext>
            </a:extLst>
          </p:cNvPr>
          <p:cNvSpPr/>
          <p:nvPr/>
        </p:nvSpPr>
        <p:spPr>
          <a:xfrm>
            <a:off x="1252982" y="2991250"/>
            <a:ext cx="7691796" cy="104886"/>
          </a:xfrm>
          <a:prstGeom prst="roundRect">
            <a:avLst/>
          </a:prstGeom>
          <a:solidFill>
            <a:schemeClr val="tx2">
              <a:lumMod val="40000"/>
              <a:lumOff val="60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Micron 2600</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2" name="角丸四角形 70">
            <a:extLst>
              <a:ext uri="{FF2B5EF4-FFF2-40B4-BE49-F238E27FC236}">
                <a16:creationId xmlns:a16="http://schemas.microsoft.com/office/drawing/2014/main" id="{01C3B201-567B-4A20-9B3B-AC067B479B90}"/>
              </a:ext>
            </a:extLst>
          </p:cNvPr>
          <p:cNvSpPr/>
          <p:nvPr/>
        </p:nvSpPr>
        <p:spPr>
          <a:xfrm>
            <a:off x="1265153" y="2689966"/>
            <a:ext cx="7677758" cy="110167"/>
          </a:xfrm>
          <a:prstGeom prst="roundRect">
            <a:avLst/>
          </a:prstGeom>
          <a:solidFill>
            <a:schemeClr val="tx2">
              <a:lumMod val="40000"/>
              <a:lumOff val="60000"/>
            </a:schemeClr>
          </a:solidFill>
          <a:ln>
            <a:prstDash val="solid"/>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Nextorage</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GSeriesLE</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(PhisonE27T)</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角丸四角形 68">
            <a:extLst>
              <a:ext uri="{FF2B5EF4-FFF2-40B4-BE49-F238E27FC236}">
                <a16:creationId xmlns:a16="http://schemas.microsoft.com/office/drawing/2014/main" id="{D659C5C8-52AD-4691-88BD-2FDC23691187}"/>
              </a:ext>
            </a:extLst>
          </p:cNvPr>
          <p:cNvSpPr/>
          <p:nvPr/>
        </p:nvSpPr>
        <p:spPr>
          <a:xfrm>
            <a:off x="1266154" y="3335214"/>
            <a:ext cx="7678589" cy="100632"/>
          </a:xfrm>
          <a:prstGeom prst="roundRect">
            <a:avLst/>
          </a:prstGeom>
          <a:solidFill>
            <a:schemeClr val="tx2">
              <a:lumMod val="40000"/>
              <a:lumOff val="60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E19T/E27T</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TLC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角丸四角形 68">
            <a:extLst>
              <a:ext uri="{FF2B5EF4-FFF2-40B4-BE49-F238E27FC236}">
                <a16:creationId xmlns:a16="http://schemas.microsoft.com/office/drawing/2014/main" id="{49F4AB95-82FA-40F0-82F1-5255D7093C82}"/>
              </a:ext>
            </a:extLst>
          </p:cNvPr>
          <p:cNvSpPr/>
          <p:nvPr/>
        </p:nvSpPr>
        <p:spPr>
          <a:xfrm>
            <a:off x="1253699" y="4843194"/>
            <a:ext cx="1230069" cy="104820"/>
          </a:xfrm>
          <a:prstGeom prst="roundRect">
            <a:avLst/>
          </a:prstGeom>
          <a:solidFill>
            <a:schemeClr val="accent3"/>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Micron 2500</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角丸四角形 34">
            <a:extLst>
              <a:ext uri="{FF2B5EF4-FFF2-40B4-BE49-F238E27FC236}">
                <a16:creationId xmlns:a16="http://schemas.microsoft.com/office/drawing/2014/main" id="{0B8200BA-2C80-4B1A-A0E5-50130B2A2C99}"/>
              </a:ext>
            </a:extLst>
          </p:cNvPr>
          <p:cNvSpPr/>
          <p:nvPr/>
        </p:nvSpPr>
        <p:spPr>
          <a:xfrm>
            <a:off x="1253698" y="4084319"/>
            <a:ext cx="3606334" cy="96135"/>
          </a:xfrm>
          <a:prstGeom prst="roundRect">
            <a:avLst/>
          </a:prstGeom>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SAMSUNG PM9C1</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角丸四角形 34">
            <a:extLst>
              <a:ext uri="{FF2B5EF4-FFF2-40B4-BE49-F238E27FC236}">
                <a16:creationId xmlns:a16="http://schemas.microsoft.com/office/drawing/2014/main" id="{D717A211-48C1-4917-A66F-AB9F5A463E3D}"/>
              </a:ext>
            </a:extLst>
          </p:cNvPr>
          <p:cNvSpPr/>
          <p:nvPr/>
        </p:nvSpPr>
        <p:spPr>
          <a:xfrm>
            <a:off x="1253698" y="4998730"/>
            <a:ext cx="7676349" cy="93761"/>
          </a:xfrm>
          <a:prstGeom prst="roundRect">
            <a:avLst/>
          </a:prstGeom>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SAMSUNG BM9C1/BM9C1a</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p>
        </p:txBody>
      </p:sp>
      <p:sp>
        <p:nvSpPr>
          <p:cNvPr id="85" name="角丸四角形 68">
            <a:extLst>
              <a:ext uri="{FF2B5EF4-FFF2-40B4-BE49-F238E27FC236}">
                <a16:creationId xmlns:a16="http://schemas.microsoft.com/office/drawing/2014/main" id="{A2E1DAA8-ABD4-4C9F-ADB5-431DD17A1581}"/>
              </a:ext>
            </a:extLst>
          </p:cNvPr>
          <p:cNvSpPr/>
          <p:nvPr/>
        </p:nvSpPr>
        <p:spPr>
          <a:xfrm>
            <a:off x="1265972" y="3562272"/>
            <a:ext cx="7671881" cy="105450"/>
          </a:xfrm>
          <a:prstGeom prst="roundRect">
            <a:avLst/>
          </a:prstGeom>
          <a:solidFill>
            <a:schemeClr val="accent3"/>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E21T/E27T</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CC27D003-35DB-44A0-B30A-D51A9052CE5E}"/>
              </a:ext>
            </a:extLst>
          </p:cNvPr>
          <p:cNvSpPr>
            <a:spLocks noGrp="1"/>
          </p:cNvSpPr>
          <p:nvPr>
            <p:ph type="sldNum" sz="quarter" idx="12"/>
          </p:nvPr>
        </p:nvSpPr>
        <p:spPr/>
        <p:txBody>
          <a:bodyPr/>
          <a:lstStyle/>
          <a:p>
            <a:fld id="{F9DFCEB9-CAE4-4F3C-93D0-85C4724A0355}" type="slidenum">
              <a:rPr kumimoji="1" lang="ja-JP" altLang="en-US" sz="1100" smtClean="0"/>
              <a:t>13</a:t>
            </a:fld>
            <a:endParaRPr kumimoji="1" lang="ja-JP" altLang="en-US" sz="1100"/>
          </a:p>
        </p:txBody>
      </p:sp>
      <p:sp>
        <p:nvSpPr>
          <p:cNvPr id="59" name="角丸四角形 34">
            <a:extLst>
              <a:ext uri="{FF2B5EF4-FFF2-40B4-BE49-F238E27FC236}">
                <a16:creationId xmlns:a16="http://schemas.microsoft.com/office/drawing/2014/main" id="{2AB3CD82-2D62-41D8-97D4-64DCF1C7180C}"/>
              </a:ext>
            </a:extLst>
          </p:cNvPr>
          <p:cNvSpPr/>
          <p:nvPr/>
        </p:nvSpPr>
        <p:spPr>
          <a:xfrm>
            <a:off x="1272992" y="388140"/>
            <a:ext cx="7657053" cy="102239"/>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ja-JP" altLang="en-US" sz="900" dirty="0">
                <a:latin typeface="Meiryo UI" panose="020B0604030504040204" pitchFamily="50" charset="-128"/>
                <a:ea typeface="Meiryo UI" panose="020B0604030504040204" pitchFamily="50" charset="-128"/>
                <a:cs typeface="Meiryo UI" panose="020B0604030504040204" pitchFamily="50" charset="-128"/>
              </a:rPr>
              <a:t>各社</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Phison</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E28</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34">
            <a:extLst>
              <a:ext uri="{FF2B5EF4-FFF2-40B4-BE49-F238E27FC236}">
                <a16:creationId xmlns:a16="http://schemas.microsoft.com/office/drawing/2014/main" id="{F2F40B21-DAD2-4643-AC4A-1B4365BED8F6}"/>
              </a:ext>
            </a:extLst>
          </p:cNvPr>
          <p:cNvSpPr/>
          <p:nvPr/>
        </p:nvSpPr>
        <p:spPr>
          <a:xfrm>
            <a:off x="1263209" y="647204"/>
            <a:ext cx="7666838" cy="83512"/>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/WD SN8100</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Optimus GX PRO 8100</a:t>
            </a:r>
          </a:p>
        </p:txBody>
      </p:sp>
      <p:cxnSp>
        <p:nvCxnSpPr>
          <p:cNvPr id="64" name="直線コネクタ 63">
            <a:extLst>
              <a:ext uri="{FF2B5EF4-FFF2-40B4-BE49-F238E27FC236}">
                <a16:creationId xmlns:a16="http://schemas.microsoft.com/office/drawing/2014/main" id="{8DF9A6E8-551F-48FB-AB4C-085D4D93CF81}"/>
              </a:ext>
            </a:extLst>
          </p:cNvPr>
          <p:cNvCxnSpPr>
            <a:cxnSpLocks/>
          </p:cNvCxnSpPr>
          <p:nvPr/>
        </p:nvCxnSpPr>
        <p:spPr>
          <a:xfrm>
            <a:off x="937822" y="1013710"/>
            <a:ext cx="8006921" cy="0"/>
          </a:xfrm>
          <a:prstGeom prst="line">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A9A6E0D5-0FA9-44E1-ADB1-7B4DE3DC3B3C}"/>
              </a:ext>
            </a:extLst>
          </p:cNvPr>
          <p:cNvSpPr txBox="1"/>
          <p:nvPr/>
        </p:nvSpPr>
        <p:spPr>
          <a:xfrm>
            <a:off x="636339" y="1387615"/>
            <a:ext cx="636653" cy="276999"/>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rPr>
              <a:t>13000MB/s</a:t>
            </a:r>
            <a:r>
              <a:rPr kumimoji="1" lang="ja-JP" altLang="en-US" sz="600" dirty="0">
                <a:latin typeface="Meiryo UI" panose="020B0604030504040204" pitchFamily="50" charset="-128"/>
                <a:ea typeface="Meiryo UI" panose="020B0604030504040204" pitchFamily="50" charset="-128"/>
              </a:rPr>
              <a:t>以下クラス</a:t>
            </a:r>
          </a:p>
        </p:txBody>
      </p:sp>
      <p:sp>
        <p:nvSpPr>
          <p:cNvPr id="78" name="テキスト ボックス 77">
            <a:extLst>
              <a:ext uri="{FF2B5EF4-FFF2-40B4-BE49-F238E27FC236}">
                <a16:creationId xmlns:a16="http://schemas.microsoft.com/office/drawing/2014/main" id="{0D6B1733-4858-4E7E-ADBE-476304E20E4D}"/>
              </a:ext>
            </a:extLst>
          </p:cNvPr>
          <p:cNvSpPr txBox="1"/>
          <p:nvPr/>
        </p:nvSpPr>
        <p:spPr>
          <a:xfrm>
            <a:off x="636339" y="502075"/>
            <a:ext cx="655935" cy="276999"/>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rPr>
              <a:t>14000MB/s</a:t>
            </a:r>
            <a:r>
              <a:rPr lang="ja-JP" altLang="en-US" sz="600" dirty="0">
                <a:latin typeface="Meiryo UI" panose="020B0604030504040204" pitchFamily="50" charset="-128"/>
                <a:ea typeface="Meiryo UI" panose="020B0604030504040204" pitchFamily="50" charset="-128"/>
              </a:rPr>
              <a:t>以上</a:t>
            </a:r>
            <a:r>
              <a:rPr kumimoji="1" lang="ja-JP" altLang="en-US" sz="600" dirty="0">
                <a:latin typeface="Meiryo UI" panose="020B0604030504040204" pitchFamily="50" charset="-128"/>
                <a:ea typeface="Meiryo UI" panose="020B0604030504040204" pitchFamily="50" charset="-128"/>
              </a:rPr>
              <a:t>クラス</a:t>
            </a:r>
          </a:p>
        </p:txBody>
      </p:sp>
      <p:sp>
        <p:nvSpPr>
          <p:cNvPr id="49" name="角丸四角形 25">
            <a:extLst>
              <a:ext uri="{FF2B5EF4-FFF2-40B4-BE49-F238E27FC236}">
                <a16:creationId xmlns:a16="http://schemas.microsoft.com/office/drawing/2014/main" id="{78D835CC-8F98-463A-9C20-AC06B5E7E49E}"/>
              </a:ext>
            </a:extLst>
          </p:cNvPr>
          <p:cNvSpPr/>
          <p:nvPr/>
        </p:nvSpPr>
        <p:spPr>
          <a:xfrm>
            <a:off x="1252982" y="1061962"/>
            <a:ext cx="7722771" cy="86514"/>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ja-JP" altLang="en-US" sz="900" dirty="0">
                <a:latin typeface="Meiryo UI" panose="020B0604030504040204" pitchFamily="50" charset="-128"/>
                <a:ea typeface="Meiryo UI" panose="020B0604030504040204" pitchFamily="50" charset="-128"/>
                <a:cs typeface="Meiryo UI" panose="020B0604030504040204" pitchFamily="50" charset="-128"/>
              </a:rPr>
              <a:t>各社</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Phson</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E31T </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6" name="角丸四角形 68">
            <a:extLst>
              <a:ext uri="{FF2B5EF4-FFF2-40B4-BE49-F238E27FC236}">
                <a16:creationId xmlns:a16="http://schemas.microsoft.com/office/drawing/2014/main" id="{28185680-93AF-43EF-94CF-07103C0831B0}"/>
              </a:ext>
            </a:extLst>
          </p:cNvPr>
          <p:cNvSpPr/>
          <p:nvPr/>
        </p:nvSpPr>
        <p:spPr>
          <a:xfrm>
            <a:off x="1272992" y="4238756"/>
            <a:ext cx="7686153" cy="114904"/>
          </a:xfrm>
          <a:prstGeom prst="roundRect">
            <a:avLst/>
          </a:prstGeom>
          <a:solidFill>
            <a:schemeClr val="accent3"/>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rPr>
              <a:t>Sandisk</a:t>
            </a:r>
            <a:r>
              <a:rPr lang="en-US" altLang="ja-JP" sz="900" dirty="0">
                <a:latin typeface="Meiryo UI" panose="020B0604030504040204" pitchFamily="50" charset="-128"/>
                <a:ea typeface="Meiryo UI" panose="020B0604030504040204" pitchFamily="50" charset="-128"/>
              </a:rPr>
              <a:t>/SN5100</a:t>
            </a:r>
            <a:r>
              <a:rPr lang="ja-JP" altLang="en-US" sz="900" dirty="0">
                <a:latin typeface="Meiryo UI" panose="020B0604030504040204" pitchFamily="50" charset="-128"/>
                <a:ea typeface="Meiryo UI" panose="020B0604030504040204" pitchFamily="50" charset="-128"/>
              </a:rPr>
              <a:t>→</a:t>
            </a:r>
            <a:r>
              <a:rPr lang="en-US" altLang="ja-JP" sz="900" dirty="0">
                <a:solidFill>
                  <a:srgbClr val="FF0000"/>
                </a:solidFill>
                <a:latin typeface="Meiryo UI" panose="020B0604030504040204" pitchFamily="50" charset="-128"/>
                <a:ea typeface="Meiryo UI" panose="020B0604030504040204" pitchFamily="50" charset="-128"/>
              </a:rPr>
              <a:t>Optimus 5100</a:t>
            </a:r>
            <a:endParaRPr lang="en-US" altLang="ja-JP" sz="900" dirty="0">
              <a:latin typeface="Meiryo UI" panose="020B0604030504040204" pitchFamily="50" charset="-128"/>
              <a:ea typeface="Meiryo UI" panose="020B0604030504040204" pitchFamily="50" charset="-128"/>
            </a:endParaRPr>
          </a:p>
        </p:txBody>
      </p:sp>
      <p:sp>
        <p:nvSpPr>
          <p:cNvPr id="87" name="角丸四角形 68">
            <a:extLst>
              <a:ext uri="{FF2B5EF4-FFF2-40B4-BE49-F238E27FC236}">
                <a16:creationId xmlns:a16="http://schemas.microsoft.com/office/drawing/2014/main" id="{1F373233-47C4-47B7-B538-9E0F1CA5527D}"/>
              </a:ext>
            </a:extLst>
          </p:cNvPr>
          <p:cNvSpPr/>
          <p:nvPr/>
        </p:nvSpPr>
        <p:spPr>
          <a:xfrm>
            <a:off x="1253698" y="2315144"/>
            <a:ext cx="7722055" cy="112590"/>
          </a:xfrm>
          <a:prstGeom prst="roundRect">
            <a:avLst/>
          </a:prstGeom>
          <a:solidFill>
            <a:schemeClr val="tx2">
              <a:lumMod val="40000"/>
              <a:lumOff val="60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/WD SN7100</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Optimus GX 7100 </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角丸四角形 34">
            <a:extLst>
              <a:ext uri="{FF2B5EF4-FFF2-40B4-BE49-F238E27FC236}">
                <a16:creationId xmlns:a16="http://schemas.microsoft.com/office/drawing/2014/main" id="{4644FB83-2270-4AD2-91B2-D9578519288B}"/>
              </a:ext>
            </a:extLst>
          </p:cNvPr>
          <p:cNvSpPr/>
          <p:nvPr/>
        </p:nvSpPr>
        <p:spPr>
          <a:xfrm>
            <a:off x="1272992" y="4397178"/>
            <a:ext cx="7656338" cy="118788"/>
          </a:xfrm>
          <a:prstGeom prst="roundRect">
            <a:avLst/>
          </a:prstGeom>
          <a:solidFill>
            <a:srgbClr val="9BBB5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KIOXIA</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EXCERIA PLUS G3</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角丸四角形 34">
            <a:extLst>
              <a:ext uri="{FF2B5EF4-FFF2-40B4-BE49-F238E27FC236}">
                <a16:creationId xmlns:a16="http://schemas.microsoft.com/office/drawing/2014/main" id="{3473B800-3DF6-4E03-838D-B42DB981A9E6}"/>
              </a:ext>
            </a:extLst>
          </p:cNvPr>
          <p:cNvSpPr/>
          <p:nvPr/>
        </p:nvSpPr>
        <p:spPr>
          <a:xfrm>
            <a:off x="3851920" y="1622656"/>
            <a:ext cx="5092823" cy="67701"/>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Optimus GX 7150</a:t>
            </a:r>
          </a:p>
        </p:txBody>
      </p:sp>
      <p:sp>
        <p:nvSpPr>
          <p:cNvPr id="44" name="角丸四角形 34">
            <a:extLst>
              <a:ext uri="{FF2B5EF4-FFF2-40B4-BE49-F238E27FC236}">
                <a16:creationId xmlns:a16="http://schemas.microsoft.com/office/drawing/2014/main" id="{CA169E48-84C2-476A-8F07-D604F2AA264F}"/>
              </a:ext>
            </a:extLst>
          </p:cNvPr>
          <p:cNvSpPr/>
          <p:nvPr/>
        </p:nvSpPr>
        <p:spPr>
          <a:xfrm>
            <a:off x="1268395" y="886993"/>
            <a:ext cx="7676348" cy="82287"/>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KIOXIA EXCERIA PRO G2</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34">
            <a:extLst>
              <a:ext uri="{FF2B5EF4-FFF2-40B4-BE49-F238E27FC236}">
                <a16:creationId xmlns:a16="http://schemas.microsoft.com/office/drawing/2014/main" id="{775B65A6-91D5-4531-AE9A-4FF5ECE56F0D}"/>
              </a:ext>
            </a:extLst>
          </p:cNvPr>
          <p:cNvSpPr/>
          <p:nvPr/>
        </p:nvSpPr>
        <p:spPr>
          <a:xfrm>
            <a:off x="1268395" y="1756063"/>
            <a:ext cx="7676348" cy="95607"/>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KIOXIA EXCERIA PLUS G4</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err="1">
                <a:latin typeface="Meiryo UI" panose="020B0604030504040204" pitchFamily="50" charset="-128"/>
                <a:ea typeface="Meiryo UI" panose="020B0604030504040204" pitchFamily="50" charset="-128"/>
                <a:cs typeface="Meiryo UI" panose="020B0604030504040204" pitchFamily="50" charset="-128"/>
              </a:rPr>
              <a:t>DRAMLess</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34">
            <a:extLst>
              <a:ext uri="{FF2B5EF4-FFF2-40B4-BE49-F238E27FC236}">
                <a16:creationId xmlns:a16="http://schemas.microsoft.com/office/drawing/2014/main" id="{355382EB-4029-4865-B3A3-40B9E3714718}"/>
              </a:ext>
            </a:extLst>
          </p:cNvPr>
          <p:cNvSpPr/>
          <p:nvPr/>
        </p:nvSpPr>
        <p:spPr>
          <a:xfrm>
            <a:off x="1252981" y="1463963"/>
            <a:ext cx="7684871" cy="99676"/>
          </a:xfrm>
          <a:prstGeom prst="roundRect">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KIOXIA EXCERIA G3</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角丸四角形 34">
            <a:extLst>
              <a:ext uri="{FF2B5EF4-FFF2-40B4-BE49-F238E27FC236}">
                <a16:creationId xmlns:a16="http://schemas.microsoft.com/office/drawing/2014/main" id="{4C346DE4-BD51-450B-A826-1327A0A10166}"/>
              </a:ext>
            </a:extLst>
          </p:cNvPr>
          <p:cNvSpPr/>
          <p:nvPr/>
        </p:nvSpPr>
        <p:spPr>
          <a:xfrm>
            <a:off x="1279709" y="3163383"/>
            <a:ext cx="7675867" cy="100632"/>
          </a:xfrm>
          <a:prstGeom prst="roundRect">
            <a:avLst/>
          </a:prstGeom>
          <a:solidFill>
            <a:srgbClr val="8EB4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KIOXIA</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EXCERIA BASIC</a:t>
            </a: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QLC</a:t>
            </a:r>
          </a:p>
        </p:txBody>
      </p:sp>
    </p:spTree>
    <p:extLst>
      <p:ext uri="{BB962C8B-B14F-4D97-AF65-F5344CB8AC3E}">
        <p14:creationId xmlns:p14="http://schemas.microsoft.com/office/powerpoint/2010/main" val="838133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2195736" y="2189747"/>
            <a:ext cx="5616624" cy="400110"/>
          </a:xfrm>
          <a:prstGeom prst="rect">
            <a:avLst/>
          </a:prstGeom>
          <a:noFill/>
        </p:spPr>
        <p:txBody>
          <a:bodyPr wrap="square" rtlCol="0">
            <a:spAutoFit/>
          </a:bodyPr>
          <a:lstStyle/>
          <a:p>
            <a:r>
              <a:rPr lang="en-US" altLang="ja-JP" sz="2000" b="1" dirty="0">
                <a:latin typeface="メイリオ" panose="020B0604030504040204" pitchFamily="50" charset="-128"/>
                <a:ea typeface="メイリオ" panose="020B0604030504040204" pitchFamily="50" charset="-128"/>
              </a:rPr>
              <a:t>THIRDWAVE</a:t>
            </a:r>
            <a:r>
              <a:rPr lang="ja-JP" altLang="en-US" sz="2000" b="1" dirty="0">
                <a:latin typeface="メイリオ" panose="020B0604030504040204" pitchFamily="50" charset="-128"/>
                <a:ea typeface="メイリオ" panose="020B0604030504040204" pitchFamily="50" charset="-128"/>
              </a:rPr>
              <a:t>内　部品ロードマップ　（</a:t>
            </a:r>
            <a:r>
              <a:rPr lang="en-US" altLang="ja-JP" sz="2000" b="1" dirty="0">
                <a:latin typeface="メイリオ" panose="020B0604030504040204" pitchFamily="50" charset="-128"/>
                <a:ea typeface="メイリオ" panose="020B0604030504040204" pitchFamily="50" charset="-128"/>
              </a:rPr>
              <a:t>B</a:t>
            </a:r>
            <a:r>
              <a:rPr lang="ja-JP" altLang="en-US" sz="2000" b="1" dirty="0">
                <a:latin typeface="メイリオ" panose="020B0604030504040204" pitchFamily="50" charset="-128"/>
                <a:ea typeface="メイリオ" panose="020B0604030504040204" pitchFamily="50" charset="-128"/>
              </a:rPr>
              <a:t>郡）</a:t>
            </a:r>
            <a:endParaRPr kumimoji="1" lang="ja-JP" altLang="en-US" sz="2000" b="1"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D8F53FED-B584-4E45-839E-53BE6561631E}"/>
              </a:ext>
            </a:extLst>
          </p:cNvPr>
          <p:cNvSpPr>
            <a:spLocks noGrp="1"/>
          </p:cNvSpPr>
          <p:nvPr>
            <p:ph type="sldNum" sz="quarter" idx="12"/>
          </p:nvPr>
        </p:nvSpPr>
        <p:spPr/>
        <p:txBody>
          <a:bodyPr/>
          <a:lstStyle/>
          <a:p>
            <a:fld id="{F9DFCEB9-CAE4-4F3C-93D0-85C4724A0355}" type="slidenum">
              <a:rPr kumimoji="1" lang="ja-JP" altLang="en-US" smtClean="0"/>
              <a:t>14</a:t>
            </a:fld>
            <a:endParaRPr kumimoji="1" lang="ja-JP" altLang="en-US" dirty="0"/>
          </a:p>
        </p:txBody>
      </p:sp>
    </p:spTree>
    <p:extLst>
      <p:ext uri="{BB962C8B-B14F-4D97-AF65-F5344CB8AC3E}">
        <p14:creationId xmlns:p14="http://schemas.microsoft.com/office/powerpoint/2010/main" val="3014832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34D76D55-D657-49D1-8ED7-2016B1683F79}"/>
              </a:ext>
            </a:extLst>
          </p:cNvPr>
          <p:cNvSpPr/>
          <p:nvPr/>
        </p:nvSpPr>
        <p:spPr>
          <a:xfrm>
            <a:off x="750096" y="843559"/>
            <a:ext cx="2664296" cy="15435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 name="四角形: 角を丸くする 3">
            <a:extLst>
              <a:ext uri="{FF2B5EF4-FFF2-40B4-BE49-F238E27FC236}">
                <a16:creationId xmlns:a16="http://schemas.microsoft.com/office/drawing/2014/main" id="{7D6183E7-9DFD-43CD-8B31-F1EBBECB7802}"/>
              </a:ext>
            </a:extLst>
          </p:cNvPr>
          <p:cNvSpPr/>
          <p:nvPr/>
        </p:nvSpPr>
        <p:spPr>
          <a:xfrm>
            <a:off x="750096" y="3071261"/>
            <a:ext cx="2664296" cy="15375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 name="テキスト ボックス 4">
            <a:extLst>
              <a:ext uri="{FF2B5EF4-FFF2-40B4-BE49-F238E27FC236}">
                <a16:creationId xmlns:a16="http://schemas.microsoft.com/office/drawing/2014/main" id="{76BE1CC9-B28B-4B28-8777-8764F21D010D}"/>
              </a:ext>
            </a:extLst>
          </p:cNvPr>
          <p:cNvSpPr txBox="1"/>
          <p:nvPr/>
        </p:nvSpPr>
        <p:spPr>
          <a:xfrm>
            <a:off x="534072" y="195486"/>
            <a:ext cx="3029816" cy="461665"/>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rPr>
              <a:t>パーツ</a:t>
            </a:r>
            <a:r>
              <a:rPr kumimoji="1" lang="ja-JP" altLang="en-US" sz="2400" b="1" dirty="0">
                <a:latin typeface="メイリオ" panose="020B0604030504040204" pitchFamily="50" charset="-128"/>
                <a:ea typeface="メイリオ" panose="020B0604030504040204" pitchFamily="50" charset="-128"/>
              </a:rPr>
              <a:t>ロードマップ</a:t>
            </a:r>
          </a:p>
        </p:txBody>
      </p:sp>
      <p:sp>
        <p:nvSpPr>
          <p:cNvPr id="6" name="テキスト ボックス 5">
            <a:extLst>
              <a:ext uri="{FF2B5EF4-FFF2-40B4-BE49-F238E27FC236}">
                <a16:creationId xmlns:a16="http://schemas.microsoft.com/office/drawing/2014/main" id="{24E6CF3E-F1F2-4A1D-B73A-8583512184D8}"/>
              </a:ext>
            </a:extLst>
          </p:cNvPr>
          <p:cNvSpPr txBox="1"/>
          <p:nvPr/>
        </p:nvSpPr>
        <p:spPr>
          <a:xfrm>
            <a:off x="919156" y="1023448"/>
            <a:ext cx="2716741" cy="138499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rPr>
              <a:t>・供給元が明確な</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ロードマップを有する</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・品名指定購入品</a:t>
            </a:r>
          </a:p>
          <a:p>
            <a:r>
              <a:rPr lang="ja-JP" altLang="en-US" sz="1400" dirty="0">
                <a:latin typeface="メイリオ" panose="020B0604030504040204" pitchFamily="50" charset="-128"/>
                <a:ea typeface="メイリオ" panose="020B0604030504040204" pitchFamily="50" charset="-128"/>
              </a:rPr>
              <a:t>・マザーボード</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CPU</a:t>
            </a:r>
          </a:p>
          <a:p>
            <a:r>
              <a:rPr lang="ja-JP" altLang="en-US" sz="1400" dirty="0">
                <a:latin typeface="メイリオ" panose="020B0604030504040204" pitchFamily="50" charset="-128"/>
                <a:ea typeface="メイリオ" panose="020B0604030504040204" pitchFamily="50" charset="-128"/>
              </a:rPr>
              <a:t>　グラフィックカード</a:t>
            </a:r>
            <a:endParaRPr lang="en-US" altLang="ja-JP" sz="1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6CCBFFA9-0DB9-47E9-9251-9CFA0DADFD1A}"/>
              </a:ext>
            </a:extLst>
          </p:cNvPr>
          <p:cNvSpPr txBox="1"/>
          <p:nvPr/>
        </p:nvSpPr>
        <p:spPr>
          <a:xfrm>
            <a:off x="954888" y="3285359"/>
            <a:ext cx="2495235" cy="1661993"/>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TW</a:t>
            </a:r>
            <a:r>
              <a:rPr lang="ja-JP" altLang="en-US" sz="1400" dirty="0">
                <a:latin typeface="メイリオ" panose="020B0604030504040204" pitchFamily="50" charset="-128"/>
                <a:ea typeface="メイリオ" panose="020B0604030504040204" pitchFamily="50" charset="-128"/>
              </a:rPr>
              <a:t>として機能面から　</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希望仕様を定める</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・戦略的マルチ購買</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・電源、ストレージ、</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メモリ、</a:t>
            </a:r>
            <a:r>
              <a:rPr lang="en-US" altLang="ja-JP" sz="1400" dirty="0">
                <a:latin typeface="メイリオ" panose="020B0604030504040204" pitchFamily="50" charset="-128"/>
                <a:ea typeface="メイリオ" panose="020B0604030504040204" pitchFamily="50" charset="-128"/>
              </a:rPr>
              <a:t>CPU</a:t>
            </a:r>
            <a:r>
              <a:rPr lang="ja-JP" altLang="en-US" sz="1400" dirty="0">
                <a:latin typeface="メイリオ" panose="020B0604030504040204" pitchFamily="50" charset="-128"/>
                <a:ea typeface="メイリオ" panose="020B0604030504040204" pitchFamily="50" charset="-128"/>
              </a:rPr>
              <a:t>クーラー、</a:t>
            </a:r>
            <a:endParaRPr lang="en-US" altLang="ja-JP" sz="1400" dirty="0">
              <a:latin typeface="メイリオ" panose="020B0604030504040204" pitchFamily="50" charset="-128"/>
              <a:ea typeface="メイリオ" panose="020B0604030504040204" pitchFamily="50" charset="-128"/>
            </a:endParaRPr>
          </a:p>
          <a:p>
            <a:r>
              <a:rPr lang="en-US" altLang="ja-JP" sz="1400" dirty="0">
                <a:latin typeface="メイリオ" panose="020B0604030504040204" pitchFamily="50" charset="-128"/>
                <a:ea typeface="メイリオ" panose="020B0604030504040204" pitchFamily="50" charset="-128"/>
              </a:rPr>
              <a:t> </a:t>
            </a:r>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FAN</a:t>
            </a:r>
            <a:r>
              <a:rPr lang="ja-JP" altLang="en-US" sz="1400" dirty="0">
                <a:latin typeface="メイリオ" panose="020B0604030504040204" pitchFamily="50" charset="-128"/>
                <a:ea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rPr>
              <a:t>WiFi</a:t>
            </a:r>
            <a:r>
              <a:rPr lang="ja-JP" altLang="en-US" sz="1400" dirty="0">
                <a:latin typeface="メイリオ" panose="020B0604030504040204" pitchFamily="50" charset="-128"/>
                <a:ea typeface="メイリオ" panose="020B0604030504040204" pitchFamily="50" charset="-128"/>
              </a:rPr>
              <a:t>、ケース</a:t>
            </a:r>
            <a:r>
              <a:rPr lang="en-US" altLang="ja-JP" sz="1400" dirty="0">
                <a:latin typeface="メイリオ" panose="020B0604030504040204" pitchFamily="50" charset="-128"/>
                <a:ea typeface="メイリオ" panose="020B0604030504040204" pitchFamily="50" charset="-128"/>
              </a:rPr>
              <a:t>etc.</a:t>
            </a:r>
            <a:endParaRPr kumimoji="1" lang="en-US" altLang="ja-JP" sz="1400" dirty="0">
              <a:latin typeface="メイリオ" panose="020B0604030504040204" pitchFamily="50" charset="-128"/>
              <a:ea typeface="メイリオ" panose="020B0604030504040204" pitchFamily="50" charset="-128"/>
            </a:endParaRPr>
          </a:p>
          <a:p>
            <a:endParaRPr kumimoji="1" lang="ja-JP" altLang="en-US"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A292CB97-47A1-43CF-9B7F-371C143BDCEC}"/>
              </a:ext>
            </a:extLst>
          </p:cNvPr>
          <p:cNvSpPr txBox="1"/>
          <p:nvPr/>
        </p:nvSpPr>
        <p:spPr>
          <a:xfrm>
            <a:off x="482054" y="4617739"/>
            <a:ext cx="3600400" cy="338554"/>
          </a:xfrm>
          <a:prstGeom prst="rect">
            <a:avLst/>
          </a:prstGeom>
          <a:noFill/>
        </p:spPr>
        <p:txBody>
          <a:bodyPr wrap="square" rtlCol="0">
            <a:spAutoFit/>
          </a:bodyPr>
          <a:lstStyle/>
          <a:p>
            <a:r>
              <a:rPr kumimoji="1" lang="ja-JP" altLang="en-US" sz="1600" b="1" dirty="0">
                <a:solidFill>
                  <a:srgbClr val="FF0000"/>
                </a:solidFill>
                <a:latin typeface="メイリオ" panose="020B0604030504040204" pitchFamily="50" charset="-128"/>
                <a:ea typeface="メイリオ" panose="020B0604030504040204" pitchFamily="50" charset="-128"/>
              </a:rPr>
              <a:t>部品独自のロードマップ作製の対象</a:t>
            </a:r>
          </a:p>
        </p:txBody>
      </p:sp>
      <p:sp>
        <p:nvSpPr>
          <p:cNvPr id="9" name="テキスト ボックス 8">
            <a:extLst>
              <a:ext uri="{FF2B5EF4-FFF2-40B4-BE49-F238E27FC236}">
                <a16:creationId xmlns:a16="http://schemas.microsoft.com/office/drawing/2014/main" id="{B3913CE6-EA6F-483C-B195-147BD0B2CAAF}"/>
              </a:ext>
            </a:extLst>
          </p:cNvPr>
          <p:cNvSpPr txBox="1"/>
          <p:nvPr/>
        </p:nvSpPr>
        <p:spPr>
          <a:xfrm>
            <a:off x="770477" y="2387084"/>
            <a:ext cx="3600400" cy="523220"/>
          </a:xfrm>
          <a:prstGeom prst="rect">
            <a:avLst/>
          </a:prstGeom>
          <a:noFill/>
        </p:spPr>
        <p:txBody>
          <a:bodyPr wrap="square" rtlCol="0">
            <a:spAutoFit/>
          </a:bodyPr>
          <a:lstStyle/>
          <a:p>
            <a:r>
              <a:rPr kumimoji="1" lang="ja-JP" altLang="en-US" sz="1400" b="1" dirty="0">
                <a:latin typeface="メイリオ" panose="020B0604030504040204" pitchFamily="50" charset="-128"/>
                <a:ea typeface="メイリオ" panose="020B0604030504040204" pitchFamily="50" charset="-128"/>
              </a:rPr>
              <a:t>供給元情報をもとに製品企画と</a:t>
            </a:r>
            <a:endParaRPr kumimoji="1" lang="en-US" altLang="ja-JP" sz="1400" b="1" dirty="0">
              <a:latin typeface="メイリオ" panose="020B0604030504040204" pitchFamily="50" charset="-128"/>
              <a:ea typeface="メイリオ" panose="020B0604030504040204" pitchFamily="50" charset="-128"/>
            </a:endParaRPr>
          </a:p>
          <a:p>
            <a:r>
              <a:rPr kumimoji="1" lang="ja-JP" altLang="en-US" sz="1400" b="1" dirty="0">
                <a:latin typeface="メイリオ" panose="020B0604030504040204" pitchFamily="50" charset="-128"/>
                <a:ea typeface="メイリオ" panose="020B0604030504040204" pitchFamily="50" charset="-128"/>
              </a:rPr>
              <a:t>同期したロードマップ</a:t>
            </a:r>
          </a:p>
        </p:txBody>
      </p:sp>
      <p:sp>
        <p:nvSpPr>
          <p:cNvPr id="10" name="正方形/長方形 9">
            <a:extLst>
              <a:ext uri="{FF2B5EF4-FFF2-40B4-BE49-F238E27FC236}">
                <a16:creationId xmlns:a16="http://schemas.microsoft.com/office/drawing/2014/main" id="{0C2E996F-B5FF-4539-9257-5881E65329AB}"/>
              </a:ext>
            </a:extLst>
          </p:cNvPr>
          <p:cNvSpPr/>
          <p:nvPr/>
        </p:nvSpPr>
        <p:spPr>
          <a:xfrm>
            <a:off x="1767159" y="628595"/>
            <a:ext cx="572593" cy="369332"/>
          </a:xfrm>
          <a:prstGeom prst="rect">
            <a:avLst/>
          </a:prstGeom>
          <a:solidFill>
            <a:schemeClr val="bg1"/>
          </a:solidFill>
          <a:ln w="22225">
            <a:solidFill>
              <a:schemeClr val="accent1">
                <a:shade val="50000"/>
              </a:schemeClr>
            </a:solidFill>
          </a:ln>
        </p:spPr>
        <p:txBody>
          <a:bodyPr wrap="square">
            <a:spAutoFit/>
          </a:bodyPr>
          <a:lstStyle/>
          <a:p>
            <a:r>
              <a:rPr lang="en-US" altLang="ja-JP" dirty="0">
                <a:latin typeface="メイリオ" panose="020B0604030504040204" pitchFamily="50" charset="-128"/>
                <a:ea typeface="メイリオ" panose="020B0604030504040204" pitchFamily="50" charset="-128"/>
              </a:rPr>
              <a:t>A</a:t>
            </a:r>
            <a:r>
              <a:rPr lang="ja-JP" altLang="en-US" dirty="0">
                <a:latin typeface="メイリオ" panose="020B0604030504040204" pitchFamily="50" charset="-128"/>
                <a:ea typeface="メイリオ" panose="020B0604030504040204" pitchFamily="50" charset="-128"/>
              </a:rPr>
              <a:t>群</a:t>
            </a:r>
            <a:endParaRPr lang="en-US" altLang="ja-JP" dirty="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A82609C3-5017-4B3C-9DAD-88D0A45B4640}"/>
              </a:ext>
            </a:extLst>
          </p:cNvPr>
          <p:cNvSpPr/>
          <p:nvPr/>
        </p:nvSpPr>
        <p:spPr>
          <a:xfrm>
            <a:off x="1768762" y="2931790"/>
            <a:ext cx="570990" cy="369332"/>
          </a:xfrm>
          <a:prstGeom prst="rect">
            <a:avLst/>
          </a:prstGeom>
          <a:solidFill>
            <a:schemeClr val="bg1"/>
          </a:solidFill>
          <a:ln w="19050">
            <a:solidFill>
              <a:schemeClr val="accent1">
                <a:shade val="50000"/>
              </a:schemeClr>
            </a:solidFill>
          </a:ln>
        </p:spPr>
        <p:txBody>
          <a:bodyPr wrap="none">
            <a:spAutoFit/>
          </a:bodyPr>
          <a:lstStyle/>
          <a:p>
            <a:r>
              <a:rPr lang="en-US" altLang="ja-JP" dirty="0">
                <a:latin typeface="メイリオ" panose="020B0604030504040204" pitchFamily="50" charset="-128"/>
                <a:ea typeface="メイリオ" panose="020B0604030504040204" pitchFamily="50" charset="-128"/>
              </a:rPr>
              <a:t>B</a:t>
            </a:r>
            <a:r>
              <a:rPr lang="ja-JP" altLang="en-US" dirty="0">
                <a:latin typeface="メイリオ" panose="020B0604030504040204" pitchFamily="50" charset="-128"/>
                <a:ea typeface="メイリオ" panose="020B0604030504040204" pitchFamily="50" charset="-128"/>
              </a:rPr>
              <a:t>群</a:t>
            </a:r>
            <a:endParaRPr lang="en-US" altLang="ja-JP" dirty="0">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0DB3CF13-5FB7-41A0-903D-2A072748768C}"/>
              </a:ext>
            </a:extLst>
          </p:cNvPr>
          <p:cNvSpPr/>
          <p:nvPr/>
        </p:nvSpPr>
        <p:spPr>
          <a:xfrm>
            <a:off x="4555287" y="730432"/>
            <a:ext cx="4583895" cy="3785652"/>
          </a:xfrm>
          <a:prstGeom prst="rect">
            <a:avLst/>
          </a:prstGeom>
        </p:spPr>
        <p:txBody>
          <a:bodyPr wrap="square">
            <a:spAutoFit/>
          </a:bodyPr>
          <a:lstStyle/>
          <a:p>
            <a:r>
              <a:rPr lang="ja-JP" altLang="en-US" sz="1200" dirty="0">
                <a:latin typeface="メイリオ" panose="020B0604030504040204" pitchFamily="50" charset="-128"/>
                <a:ea typeface="メイリオ" panose="020B0604030504040204" pitchFamily="50" charset="-128"/>
              </a:rPr>
              <a:t>ストレージ　：</a:t>
            </a:r>
            <a:r>
              <a:rPr lang="en-US" altLang="ja-JP" sz="1200" dirty="0">
                <a:latin typeface="メイリオ" panose="020B0604030504040204" pitchFamily="50" charset="-128"/>
                <a:ea typeface="メイリオ" panose="020B0604030504040204" pitchFamily="50" charset="-128"/>
              </a:rPr>
              <a:t>SSD</a:t>
            </a:r>
            <a:r>
              <a:rPr lang="ja-JP" altLang="en-US" sz="1200" dirty="0">
                <a:latin typeface="メイリオ" panose="020B0604030504040204" pitchFamily="50" charset="-128"/>
                <a:ea typeface="メイリオ" panose="020B0604030504040204" pitchFamily="50" charset="-128"/>
              </a:rPr>
              <a:t>大容量化進む</a:t>
            </a:r>
            <a:r>
              <a:rPr lang="en-US" altLang="ja-JP" sz="1200" dirty="0">
                <a:latin typeface="メイリオ" panose="020B0604030504040204" pitchFamily="50" charset="-128"/>
                <a:ea typeface="メイリオ" panose="020B0604030504040204" pitchFamily="50" charset="-128"/>
              </a:rPr>
              <a:t>(2TB</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4TB</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8TB)</a:t>
            </a:r>
          </a:p>
          <a:p>
            <a:r>
              <a:rPr lang="ja-JP" altLang="en-US" sz="1200" dirty="0">
                <a:latin typeface="メイリオ" panose="020B0604030504040204" pitchFamily="50" charset="-128"/>
                <a:ea typeface="メイリオ" panose="020B0604030504040204" pitchFamily="50" charset="-128"/>
              </a:rPr>
              <a:t>　　　　　　　 高速化進む</a:t>
            </a:r>
            <a:r>
              <a:rPr lang="en-US" altLang="ja-JP" sz="1200" dirty="0">
                <a:latin typeface="メイリオ" panose="020B0604030504040204" pitchFamily="50" charset="-128"/>
                <a:ea typeface="メイリオ" panose="020B0604030504040204" pitchFamily="50" charset="-128"/>
              </a:rPr>
              <a:t>(Gen5</a:t>
            </a:r>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2</a:t>
            </a:r>
            <a:r>
              <a:rPr lang="en-US" altLang="ja-JP" sz="1200" baseline="30000" dirty="0">
                <a:latin typeface="メイリオ" panose="020B0604030504040204" pitchFamily="50" charset="-128"/>
                <a:ea typeface="メイリオ" panose="020B0604030504040204" pitchFamily="50" charset="-128"/>
              </a:rPr>
              <a:t>nd</a:t>
            </a:r>
            <a:r>
              <a:rPr lang="en-US" altLang="ja-JP" sz="1200" dirty="0">
                <a:latin typeface="メイリオ" panose="020B0604030504040204" pitchFamily="50" charset="-128"/>
                <a:ea typeface="メイリオ" panose="020B0604030504040204" pitchFamily="50" charset="-128"/>
              </a:rPr>
              <a:t> Gen~3</a:t>
            </a:r>
            <a:r>
              <a:rPr lang="en-US" altLang="ja-JP" sz="1200" baseline="30000" dirty="0">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 Gen)</a:t>
            </a:r>
          </a:p>
          <a:p>
            <a:r>
              <a:rPr lang="ja-JP" altLang="en-US" sz="1200" dirty="0">
                <a:latin typeface="メイリオ" panose="020B0604030504040204" pitchFamily="50" charset="-128"/>
                <a:ea typeface="メイリオ" panose="020B0604030504040204" pitchFamily="50" charset="-128"/>
              </a:rPr>
              <a:t>　　　　　　　 低発熱化進む</a:t>
            </a:r>
            <a:r>
              <a:rPr lang="en-US" altLang="ja-JP" sz="1200" dirty="0">
                <a:latin typeface="メイリオ" panose="020B0604030504040204" pitchFamily="50" charset="-128"/>
                <a:ea typeface="メイリオ" panose="020B0604030504040204" pitchFamily="50" charset="-128"/>
              </a:rPr>
              <a:t>(Gen5</a:t>
            </a:r>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3</a:t>
            </a:r>
            <a:r>
              <a:rPr lang="en-US" altLang="ja-JP" sz="1200" baseline="30000" dirty="0">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 Gen)</a:t>
            </a: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TLC</a:t>
            </a:r>
            <a:r>
              <a:rPr lang="ja-JP" altLang="en-US"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DRAMLess</a:t>
            </a:r>
            <a:r>
              <a:rPr lang="en-US" altLang="ja-JP" sz="1200" dirty="0">
                <a:latin typeface="メイリオ" panose="020B0604030504040204" pitchFamily="50" charset="-128"/>
                <a:ea typeface="メイリオ" panose="020B0604030504040204" pitchFamily="50" charset="-128"/>
              </a:rPr>
              <a:t>/QLC</a:t>
            </a:r>
            <a:r>
              <a:rPr lang="ja-JP" altLang="en-US" sz="1200" dirty="0">
                <a:latin typeface="メイリオ" panose="020B0604030504040204" pitchFamily="50" charset="-128"/>
                <a:ea typeface="メイリオ" panose="020B0604030504040204" pitchFamily="50" charset="-128"/>
              </a:rPr>
              <a:t>への移行</a:t>
            </a:r>
            <a:r>
              <a:rPr lang="en-US" altLang="ja-JP" sz="800" dirty="0">
                <a:latin typeface="メイリオ" panose="020B0604030504040204" pitchFamily="50" charset="-128"/>
                <a:ea typeface="メイリオ" panose="020B0604030504040204" pitchFamily="50" charset="-128"/>
              </a:rPr>
              <a:t>(Gen4</a:t>
            </a:r>
            <a:r>
              <a:rPr lang="ja-JP" altLang="en-US" sz="800" dirty="0">
                <a:latin typeface="メイリオ" panose="020B0604030504040204" pitchFamily="50" charset="-128"/>
                <a:ea typeface="メイリオ" panose="020B0604030504040204" pitchFamily="50" charset="-128"/>
              </a:rPr>
              <a:t>低価格ライン</a:t>
            </a:r>
            <a:r>
              <a:rPr lang="en-US" altLang="ja-JP" sz="800" dirty="0">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　　　　　　　</a:t>
            </a:r>
            <a:r>
              <a:rPr lang="ja-JP" altLang="en-US" sz="1200" dirty="0">
                <a:solidFill>
                  <a:srgbClr val="FF0000"/>
                </a:solidFill>
                <a:latin typeface="メイリオ" panose="020B0604030504040204" pitchFamily="50" charset="-128"/>
                <a:ea typeface="メイリオ" panose="020B0604030504040204" pitchFamily="50" charset="-128"/>
              </a:rPr>
              <a:t>供給不足で価格高騰</a:t>
            </a:r>
            <a:r>
              <a:rPr lang="en-US" altLang="ja-JP" sz="1200" dirty="0">
                <a:solidFill>
                  <a:srgbClr val="FF0000"/>
                </a:solidFill>
                <a:latin typeface="メイリオ" panose="020B0604030504040204" pitchFamily="50" charset="-128"/>
                <a:ea typeface="メイリオ" panose="020B0604030504040204" pitchFamily="50" charset="-128"/>
              </a:rPr>
              <a:t>(2026</a:t>
            </a:r>
            <a:r>
              <a:rPr lang="ja-JP" altLang="en-US" sz="1200" dirty="0">
                <a:solidFill>
                  <a:srgbClr val="FF0000"/>
                </a:solidFill>
                <a:latin typeface="メイリオ" panose="020B0604030504040204" pitchFamily="50" charset="-128"/>
                <a:ea typeface="メイリオ" panose="020B0604030504040204" pitchFamily="50" charset="-128"/>
              </a:rPr>
              <a:t>通して</a:t>
            </a:r>
            <a:r>
              <a:rPr lang="en-US" altLang="ja-JP" sz="1200" dirty="0">
                <a:solidFill>
                  <a:srgbClr val="FF0000"/>
                </a:solidFill>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メモリ　　　：</a:t>
            </a:r>
            <a:r>
              <a:rPr lang="en-US" altLang="ja-JP" sz="1200" dirty="0">
                <a:latin typeface="メイリオ" panose="020B0604030504040204" pitchFamily="50" charset="-128"/>
                <a:ea typeface="メイリオ" panose="020B0604030504040204" pitchFamily="50" charset="-128"/>
              </a:rPr>
              <a:t>DDR4</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DDR5</a:t>
            </a:r>
            <a:r>
              <a:rPr lang="ja-JP" altLang="en-US" sz="1200" dirty="0">
                <a:latin typeface="メイリオ" panose="020B0604030504040204" pitchFamily="50" charset="-128"/>
                <a:ea typeface="メイリオ" panose="020B0604030504040204" pitchFamily="50" charset="-128"/>
              </a:rPr>
              <a:t>へ移行</a:t>
            </a:r>
            <a:r>
              <a:rPr lang="en-US" altLang="ja-JP" sz="1200" dirty="0">
                <a:latin typeface="メイリオ" panose="020B0604030504040204" pitchFamily="50" charset="-128"/>
                <a:ea typeface="メイリオ" panose="020B0604030504040204" pitchFamily="50" charset="-128"/>
              </a:rPr>
              <a:t>(MB/</a:t>
            </a:r>
            <a:r>
              <a:rPr lang="ja-JP" altLang="en-US" sz="1200" dirty="0">
                <a:latin typeface="メイリオ" panose="020B0604030504040204" pitchFamily="50" charset="-128"/>
                <a:ea typeface="メイリオ" panose="020B0604030504040204" pitchFamily="50" charset="-128"/>
              </a:rPr>
              <a:t>ベアに依存</a:t>
            </a:r>
            <a:r>
              <a:rPr lang="en-US" altLang="ja-JP" sz="1200" dirty="0">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AMD AM5/ Intel U200</a:t>
            </a:r>
            <a:r>
              <a:rPr lang="ja-JP" altLang="en-US" sz="1200" dirty="0">
                <a:latin typeface="メイリオ" panose="020B0604030504040204" pitchFamily="50" charset="-128"/>
                <a:ea typeface="メイリオ" panose="020B0604030504040204" pitchFamily="50" charset="-128"/>
              </a:rPr>
              <a:t>世代以降は</a:t>
            </a:r>
            <a:r>
              <a:rPr lang="en-US" altLang="ja-JP" sz="1200" dirty="0">
                <a:latin typeface="メイリオ" panose="020B0604030504040204" pitchFamily="50" charset="-128"/>
                <a:ea typeface="メイリオ" panose="020B0604030504040204" pitchFamily="50" charset="-128"/>
              </a:rPr>
              <a:t>DDR5</a:t>
            </a:r>
            <a:r>
              <a:rPr lang="ja-JP" altLang="en-US" sz="1200" dirty="0">
                <a:latin typeface="メイリオ" panose="020B0604030504040204" pitchFamily="50" charset="-128"/>
                <a:ea typeface="メイリオ" panose="020B0604030504040204" pitchFamily="50" charset="-128"/>
              </a:rPr>
              <a:t>専用</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DDR5-5600→6400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7200</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へ推移</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AMD:5200/5600 Intel:5600/6400/7200</a:t>
            </a:r>
          </a:p>
          <a:p>
            <a:r>
              <a:rPr lang="ja-JP" altLang="en-US" sz="1200" dirty="0">
                <a:latin typeface="メイリオ" panose="020B0604030504040204" pitchFamily="50" charset="-128"/>
                <a:ea typeface="メイリオ" panose="020B0604030504040204" pitchFamily="50" charset="-128"/>
              </a:rPr>
              <a:t>　　　　　　　</a:t>
            </a:r>
            <a:r>
              <a:rPr lang="ja-JP" altLang="en-US" sz="1200" dirty="0">
                <a:solidFill>
                  <a:srgbClr val="FF0000"/>
                </a:solidFill>
                <a:latin typeface="メイリオ" panose="020B0604030504040204" pitchFamily="50" charset="-128"/>
                <a:ea typeface="メイリオ" panose="020B0604030504040204" pitchFamily="50" charset="-128"/>
              </a:rPr>
              <a:t>供給不足で価格高騰</a:t>
            </a:r>
            <a:r>
              <a:rPr lang="en-US" altLang="ja-JP" sz="1200" dirty="0">
                <a:solidFill>
                  <a:srgbClr val="FF0000"/>
                </a:solidFill>
                <a:latin typeface="メイリオ" panose="020B0604030504040204" pitchFamily="50" charset="-128"/>
                <a:ea typeface="メイリオ" panose="020B0604030504040204" pitchFamily="50" charset="-128"/>
              </a:rPr>
              <a:t>(2026</a:t>
            </a:r>
            <a:r>
              <a:rPr lang="ja-JP" altLang="en-US" sz="1200" dirty="0">
                <a:solidFill>
                  <a:srgbClr val="FF0000"/>
                </a:solidFill>
                <a:latin typeface="メイリオ" panose="020B0604030504040204" pitchFamily="50" charset="-128"/>
                <a:ea typeface="メイリオ" panose="020B0604030504040204" pitchFamily="50" charset="-128"/>
              </a:rPr>
              <a:t>通して</a:t>
            </a:r>
            <a:r>
              <a:rPr lang="en-US" altLang="ja-JP" sz="1200" dirty="0">
                <a:solidFill>
                  <a:srgbClr val="FF0000"/>
                </a:solidFill>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電源　　　　：電源は高容量帯へ偏重</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新規メーカー開拓</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ラインナップ整理</a:t>
            </a:r>
            <a:r>
              <a:rPr lang="en-US" altLang="ja-JP" sz="1200" dirty="0">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ATX3.1/12V-2x6</a:t>
            </a:r>
            <a:r>
              <a:rPr lang="ja-JP" altLang="en-US" sz="1200" dirty="0">
                <a:latin typeface="メイリオ" panose="020B0604030504040204" pitchFamily="50" charset="-128"/>
                <a:ea typeface="メイリオ" panose="020B0604030504040204" pitchFamily="50" charset="-128"/>
              </a:rPr>
              <a:t>電源普及</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ATX2.</a:t>
            </a:r>
            <a:r>
              <a:rPr lang="ja-JP" altLang="en-US" sz="1200" dirty="0">
                <a:latin typeface="メイリオ" panose="020B0604030504040204" pitchFamily="50" charset="-128"/>
                <a:ea typeface="メイリオ" panose="020B0604030504040204" pitchFamily="50" charset="-128"/>
              </a:rPr>
              <a:t>ｘも仕様は</a:t>
            </a:r>
            <a:r>
              <a:rPr lang="en-US" altLang="ja-JP" sz="1200" dirty="0">
                <a:latin typeface="メイリオ" panose="020B0604030504040204" pitchFamily="50" charset="-128"/>
                <a:ea typeface="メイリオ" panose="020B0604030504040204" pitchFamily="50" charset="-128"/>
              </a:rPr>
              <a:t>ATX3.1</a:t>
            </a:r>
            <a:r>
              <a:rPr lang="ja-JP" altLang="en-US" sz="1200" dirty="0">
                <a:latin typeface="メイリオ" panose="020B0604030504040204" pitchFamily="50" charset="-128"/>
                <a:ea typeface="メイリオ" panose="020B0604030504040204" pitchFamily="50" charset="-128"/>
              </a:rPr>
              <a:t>化されていく</a:t>
            </a:r>
            <a:r>
              <a:rPr lang="en-US" altLang="ja-JP" sz="600" dirty="0">
                <a:latin typeface="メイリオ" panose="020B0604030504040204" pitchFamily="50" charset="-128"/>
                <a:ea typeface="メイリオ" panose="020B0604030504040204" pitchFamily="50" charset="-128"/>
              </a:rPr>
              <a:t>(12V-2x6</a:t>
            </a:r>
            <a:r>
              <a:rPr lang="ja-JP" altLang="en-US" sz="600" dirty="0">
                <a:latin typeface="メイリオ" panose="020B0604030504040204" pitchFamily="50" charset="-128"/>
                <a:ea typeface="メイリオ" panose="020B0604030504040204" pitchFamily="50" charset="-128"/>
              </a:rPr>
              <a:t>非搭載</a:t>
            </a:r>
            <a:r>
              <a:rPr lang="en-US" altLang="ja-JP" sz="600" dirty="0">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ケース　　　：</a:t>
            </a:r>
            <a:r>
              <a:rPr lang="en-US" altLang="ja-JP" sz="1200" dirty="0">
                <a:latin typeface="メイリオ" panose="020B0604030504040204" pitchFamily="50" charset="-128"/>
                <a:ea typeface="メイリオ" panose="020B0604030504040204" pitchFamily="50" charset="-128"/>
              </a:rPr>
              <a:t>Next</a:t>
            </a:r>
            <a:r>
              <a:rPr lang="ja-JP" altLang="en-US" sz="1200" dirty="0">
                <a:latin typeface="メイリオ" panose="020B0604030504040204" pitchFamily="50" charset="-128"/>
                <a:ea typeface="メイリオ" panose="020B0604030504040204" pitchFamily="50" charset="-128"/>
              </a:rPr>
              <a:t>ケース開発</a:t>
            </a:r>
            <a:endParaRPr lang="en-US" altLang="ja-JP" sz="1200" dirty="0">
              <a:latin typeface="メイリオ" panose="020B0604030504040204" pitchFamily="50" charset="-128"/>
              <a:ea typeface="メイリオ" panose="020B0604030504040204" pitchFamily="50" charset="-128"/>
            </a:endParaRPr>
          </a:p>
          <a:p>
            <a:r>
              <a:rPr lang="en-US" altLang="ja-JP" sz="1200" dirty="0">
                <a:latin typeface="メイリオ" panose="020B0604030504040204" pitchFamily="50" charset="-128"/>
                <a:ea typeface="メイリオ" panose="020B0604030504040204" pitchFamily="50" charset="-128"/>
              </a:rPr>
              <a:t>MB</a:t>
            </a:r>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Intel</a:t>
            </a:r>
            <a:r>
              <a:rPr lang="ja-JP" altLang="en-US" sz="1200" dirty="0">
                <a:latin typeface="メイリオ" panose="020B0604030504040204" pitchFamily="50" charset="-128"/>
                <a:ea typeface="メイリオ" panose="020B0604030504040204" pitchFamily="50" charset="-128"/>
              </a:rPr>
              <a:t>次世代準備</a:t>
            </a:r>
            <a:r>
              <a:rPr lang="en-US" altLang="ja-JP" sz="1200" dirty="0">
                <a:latin typeface="メイリオ" panose="020B0604030504040204" pitchFamily="50" charset="-128"/>
                <a:ea typeface="メイリオ" panose="020B0604030504040204" pitchFamily="50" charset="-128"/>
              </a:rPr>
              <a:t>(2027 Q2</a:t>
            </a:r>
            <a:r>
              <a:rPr lang="ja-JP" altLang="en-US" sz="1200" dirty="0">
                <a:latin typeface="メイリオ" panose="020B0604030504040204" pitchFamily="50" charset="-128"/>
                <a:ea typeface="メイリオ" panose="020B0604030504040204" pitchFamily="50" charset="-128"/>
              </a:rPr>
              <a:t>へ向けて</a:t>
            </a:r>
            <a:r>
              <a:rPr lang="en-US" altLang="ja-JP" sz="1200" dirty="0">
                <a:latin typeface="メイリオ" panose="020B0604030504040204" pitchFamily="50" charset="-128"/>
                <a:ea typeface="メイリオ" panose="020B0604030504040204" pitchFamily="50" charset="-128"/>
              </a:rPr>
              <a:t>)</a:t>
            </a:r>
          </a:p>
          <a:p>
            <a:r>
              <a:rPr lang="ja-JP" altLang="en-US" sz="1200" dirty="0">
                <a:latin typeface="メイリオ" panose="020B0604030504040204" pitchFamily="50" charset="-128"/>
                <a:ea typeface="メイリオ" panose="020B0604030504040204" pitchFamily="50" charset="-128"/>
              </a:rPr>
              <a:t>　　　　　　　</a:t>
            </a:r>
            <a:r>
              <a:rPr lang="en-US" altLang="ja-JP" sz="1200" dirty="0" err="1">
                <a:latin typeface="メイリオ" panose="020B0604030504040204" pitchFamily="50" charset="-128"/>
                <a:ea typeface="メイリオ" panose="020B0604030504040204" pitchFamily="50" charset="-128"/>
              </a:rPr>
              <a:t>MiniITX</a:t>
            </a:r>
            <a:r>
              <a:rPr lang="ja-JP" altLang="en-US" sz="1200" dirty="0">
                <a:latin typeface="メイリオ" panose="020B0604030504040204" pitchFamily="50" charset="-128"/>
                <a:ea typeface="メイリオ" panose="020B0604030504040204" pitchFamily="50" charset="-128"/>
              </a:rPr>
              <a:t>追加</a:t>
            </a:r>
            <a:br>
              <a:rPr lang="en-US" altLang="ja-JP" sz="1200" dirty="0">
                <a:latin typeface="メイリオ" panose="020B0604030504040204" pitchFamily="50" charset="-128"/>
                <a:ea typeface="メイリオ" panose="020B0604030504040204" pitchFamily="50" charset="-128"/>
              </a:rPr>
            </a:br>
            <a:r>
              <a:rPr lang="en-US" altLang="ja-JP" sz="1200" dirty="0">
                <a:latin typeface="メイリオ" panose="020B0604030504040204" pitchFamily="50" charset="-128"/>
                <a:ea typeface="メイリオ" panose="020B0604030504040204" pitchFamily="50" charset="-128"/>
              </a:rPr>
              <a:t>CPU</a:t>
            </a:r>
            <a:r>
              <a:rPr lang="ja-JP" altLang="en-US" sz="1200" dirty="0">
                <a:latin typeface="メイリオ" panose="020B0604030504040204" pitchFamily="50" charset="-128"/>
                <a:ea typeface="メイリオ" panose="020B0604030504040204" pitchFamily="50" charset="-128"/>
              </a:rPr>
              <a:t>クーラー：特殊用途</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カスタマイズモデルの投入</a:t>
            </a:r>
            <a:endParaRPr lang="en-US" altLang="ja-JP" sz="1200" dirty="0">
              <a:latin typeface="メイリオ" panose="020B0604030504040204" pitchFamily="50" charset="-128"/>
              <a:ea typeface="メイリオ" panose="020B0604030504040204" pitchFamily="50" charset="-128"/>
            </a:endParaRPr>
          </a:p>
          <a:p>
            <a:r>
              <a:rPr lang="en-US" altLang="ja-JP" sz="1200" dirty="0">
                <a:latin typeface="メイリオ" panose="020B0604030504040204" pitchFamily="50" charset="-128"/>
                <a:ea typeface="メイリオ" panose="020B0604030504040204" pitchFamily="50" charset="-128"/>
              </a:rPr>
              <a:t>FAN </a:t>
            </a:r>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静音</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高速</a:t>
            </a:r>
            <a:r>
              <a:rPr lang="en-US" altLang="ja-JP" sz="1200" dirty="0">
                <a:latin typeface="メイリオ" panose="020B0604030504040204" pitchFamily="50" charset="-128"/>
                <a:ea typeface="メイリオ" panose="020B0604030504040204" pitchFamily="50" charset="-128"/>
              </a:rPr>
              <a:t>FAN</a:t>
            </a:r>
            <a:r>
              <a:rPr lang="ja-JP" altLang="en-US" sz="1200" dirty="0">
                <a:latin typeface="メイリオ" panose="020B0604030504040204" pitchFamily="50" charset="-128"/>
                <a:ea typeface="メイリオ" panose="020B0604030504040204" pitchFamily="50" charset="-128"/>
              </a:rPr>
              <a:t>の追加</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その他　　　：</a:t>
            </a:r>
            <a:r>
              <a:rPr lang="en-US" altLang="ja-JP" sz="1200" dirty="0">
                <a:latin typeface="メイリオ" panose="020B0604030504040204" pitchFamily="50" charset="-128"/>
                <a:ea typeface="メイリオ" panose="020B0604030504040204" pitchFamily="50" charset="-128"/>
              </a:rPr>
              <a:t>Wi-Fi6(E)</a:t>
            </a:r>
            <a:r>
              <a:rPr lang="ja-JP" altLang="en-US" sz="1200" dirty="0">
                <a:latin typeface="メイリオ" panose="020B0604030504040204" pitchFamily="50" charset="-128"/>
                <a:ea typeface="メイリオ" panose="020B0604030504040204" pitchFamily="50" charset="-128"/>
              </a:rPr>
              <a:t>普及、</a:t>
            </a:r>
            <a:r>
              <a:rPr lang="en-US" altLang="ja-JP" sz="1200" dirty="0">
                <a:latin typeface="メイリオ" panose="020B0604030504040204" pitchFamily="50" charset="-128"/>
                <a:ea typeface="メイリオ" panose="020B0604030504040204" pitchFamily="50" charset="-128"/>
              </a:rPr>
              <a:t>Wi-Fi7</a:t>
            </a:r>
            <a:r>
              <a:rPr lang="ja-JP" altLang="en-US" sz="1200" dirty="0">
                <a:latin typeface="メイリオ" panose="020B0604030504040204" pitchFamily="50" charset="-128"/>
                <a:ea typeface="メイリオ" panose="020B0604030504040204" pitchFamily="50" charset="-128"/>
              </a:rPr>
              <a:t>へ移行期</a:t>
            </a:r>
            <a:endParaRPr lang="en-US" altLang="ja-JP" sz="12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2E07C749-0B7A-4D37-AC8A-C1A74F16124F}"/>
              </a:ext>
            </a:extLst>
          </p:cNvPr>
          <p:cNvSpPr txBox="1"/>
          <p:nvPr/>
        </p:nvSpPr>
        <p:spPr>
          <a:xfrm>
            <a:off x="4469470" y="267494"/>
            <a:ext cx="4351002" cy="400110"/>
          </a:xfrm>
          <a:prstGeom prst="rect">
            <a:avLst/>
          </a:prstGeom>
          <a:noFill/>
        </p:spPr>
        <p:txBody>
          <a:bodyPr wrap="square" rtlCol="0">
            <a:spAutoFit/>
          </a:bodyPr>
          <a:lstStyle/>
          <a:p>
            <a:r>
              <a:rPr kumimoji="1" lang="en-US" altLang="ja-JP" sz="2000" b="1" dirty="0">
                <a:latin typeface="メイリオ" panose="020B0604030504040204" pitchFamily="50" charset="-128"/>
                <a:ea typeface="メイリオ" panose="020B0604030504040204" pitchFamily="50" charset="-128"/>
              </a:rPr>
              <a:t>B</a:t>
            </a:r>
            <a:r>
              <a:rPr kumimoji="1" lang="ja-JP" altLang="en-US" sz="2000" b="1" dirty="0">
                <a:latin typeface="メイリオ" panose="020B0604030504040204" pitchFamily="50" charset="-128"/>
                <a:ea typeface="メイリオ" panose="020B0604030504040204" pitchFamily="50" charset="-128"/>
              </a:rPr>
              <a:t>群のトピックス</a:t>
            </a:r>
            <a:r>
              <a:rPr kumimoji="1" lang="en-US" altLang="ja-JP" sz="1200" b="1" dirty="0">
                <a:latin typeface="メイリオ" panose="020B0604030504040204" pitchFamily="50" charset="-128"/>
                <a:ea typeface="メイリオ" panose="020B0604030504040204" pitchFamily="50" charset="-128"/>
              </a:rPr>
              <a:t>(Q2’26-Q1’27)</a:t>
            </a:r>
            <a:endParaRPr kumimoji="1" lang="ja-JP" altLang="en-US" sz="2000" b="1"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B3B912FC-4207-47C8-BB18-25C93291E51B}"/>
              </a:ext>
            </a:extLst>
          </p:cNvPr>
          <p:cNvSpPr>
            <a:spLocks noGrp="1"/>
          </p:cNvSpPr>
          <p:nvPr>
            <p:ph type="sldNum" sz="quarter" idx="12"/>
          </p:nvPr>
        </p:nvSpPr>
        <p:spPr/>
        <p:txBody>
          <a:bodyPr/>
          <a:lstStyle/>
          <a:p>
            <a:fld id="{F9DFCEB9-CAE4-4F3C-93D0-85C4724A0355}" type="slidenum">
              <a:rPr kumimoji="1" lang="ja-JP" altLang="en-US" smtClean="0"/>
              <a:t>15</a:t>
            </a:fld>
            <a:endParaRPr kumimoji="1" lang="ja-JP" altLang="en-US"/>
          </a:p>
        </p:txBody>
      </p:sp>
    </p:spTree>
    <p:extLst>
      <p:ext uri="{BB962C8B-B14F-4D97-AF65-F5344CB8AC3E}">
        <p14:creationId xmlns:p14="http://schemas.microsoft.com/office/powerpoint/2010/main" val="2255328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782582165"/>
              </p:ext>
            </p:extLst>
          </p:nvPr>
        </p:nvGraphicFramePr>
        <p:xfrm>
          <a:off x="49529" y="51468"/>
          <a:ext cx="8928982" cy="4896548"/>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36074">
                <a:tc>
                  <a:txBody>
                    <a:bodyPr/>
                    <a:lstStyle/>
                    <a:p>
                      <a:r>
                        <a:rPr kumimoji="1" lang="en-US" altLang="ja-JP" sz="1000" kern="1200" dirty="0">
                          <a:solidFill>
                            <a:schemeClr val="lt1"/>
                          </a:solidFill>
                          <a:latin typeface="Meiryo UI" panose="020B0604030504040204" pitchFamily="50" charset="-128"/>
                          <a:ea typeface="Meiryo UI" panose="020B0604030504040204" pitchFamily="50" charset="-128"/>
                          <a:cs typeface="+mn-cs"/>
                        </a:rPr>
                        <a:t>Standard SSD</a:t>
                      </a:r>
                      <a:r>
                        <a:rPr kumimoji="1" lang="ja-JP" altLang="en-US" sz="1000" kern="1200" dirty="0">
                          <a:solidFill>
                            <a:schemeClr val="lt1"/>
                          </a:solidFill>
                          <a:latin typeface="Meiryo UI" panose="020B0604030504040204" pitchFamily="50" charset="-128"/>
                          <a:ea typeface="Meiryo UI" panose="020B0604030504040204" pitchFamily="50" charset="-128"/>
                          <a:cs typeface="+mn-cs"/>
                        </a:rPr>
                        <a:t> </a:t>
                      </a:r>
                      <a:r>
                        <a:rPr kumimoji="1" lang="en-US" altLang="ja-JP" sz="1000" kern="1200" dirty="0">
                          <a:solidFill>
                            <a:schemeClr val="lt1"/>
                          </a:solidFill>
                          <a:latin typeface="Meiryo UI" panose="020B0604030504040204" pitchFamily="50" charset="-128"/>
                          <a:ea typeface="Meiryo UI" panose="020B0604030504040204" pitchFamily="50" charset="-128"/>
                          <a:cs typeface="+mn-cs"/>
                        </a:rPr>
                        <a:t>Lineup</a:t>
                      </a:r>
                      <a:r>
                        <a:rPr kumimoji="1" lang="ja-JP" altLang="en-US" sz="1000" kern="1200" dirty="0">
                          <a:solidFill>
                            <a:schemeClr val="lt1"/>
                          </a:solidFill>
                          <a:latin typeface="Meiryo UI" panose="020B0604030504040204" pitchFamily="50" charset="-128"/>
                          <a:ea typeface="Meiryo UI" panose="020B0604030504040204" pitchFamily="50" charset="-128"/>
                          <a:cs typeface="+mn-cs"/>
                        </a:rPr>
                        <a:t> </a:t>
                      </a:r>
                      <a:endParaRPr kumimoji="1" lang="en-US" altLang="ja-JP"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60474">
                <a:tc>
                  <a:txBody>
                    <a:bodyPr/>
                    <a:lstStyle/>
                    <a:p>
                      <a:pPr algn="l"/>
                      <a:r>
                        <a:rPr kumimoji="1" lang="en-US" altLang="ja-JP" sz="1000" kern="1200" dirty="0" err="1">
                          <a:solidFill>
                            <a:schemeClr val="tx1"/>
                          </a:solidFill>
                          <a:latin typeface="Meiryo UI" panose="020B0604030504040204" pitchFamily="50" charset="-128"/>
                          <a:ea typeface="Meiryo UI" panose="020B0604030504040204" pitchFamily="50" charset="-128"/>
                          <a:cs typeface="+mn-cs"/>
                        </a:rPr>
                        <a:t>NVMe</a:t>
                      </a:r>
                      <a:endParaRPr kumimoji="1" lang="en-US" altLang="ja-JP" sz="10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lt1"/>
                        </a:solidFill>
                        <a:latin typeface="Meiryo UI" panose="020B0604030504040204" pitchFamily="50" charset="-128"/>
                        <a:ea typeface="Meiryo UI" panose="020B0604030504040204" pitchFamily="50" charset="-128"/>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31" name="角丸四角形 50">
            <a:extLst>
              <a:ext uri="{FF2B5EF4-FFF2-40B4-BE49-F238E27FC236}">
                <a16:creationId xmlns:a16="http://schemas.microsoft.com/office/drawing/2014/main" id="{D94211E3-EAA4-4C3A-B8A6-91DBA7954F03}"/>
              </a:ext>
            </a:extLst>
          </p:cNvPr>
          <p:cNvSpPr/>
          <p:nvPr/>
        </p:nvSpPr>
        <p:spPr>
          <a:xfrm>
            <a:off x="323528" y="1534126"/>
            <a:ext cx="896967" cy="57773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ハイエンド</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デスク</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一部ノート</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900" b="1" dirty="0">
                <a:solidFill>
                  <a:schemeClr val="bg1"/>
                </a:solidFill>
                <a:latin typeface="Meiryo UI" panose="020B0604030504040204" pitchFamily="50" charset="-128"/>
                <a:ea typeface="Meiryo UI" panose="020B0604030504040204" pitchFamily="50" charset="-128"/>
              </a:rPr>
              <a:t>Gen4</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汎用</a:t>
            </a:r>
            <a:r>
              <a:rPr kumimoji="1" lang="en-US" altLang="ja-JP" sz="900" b="1" dirty="0">
                <a:solidFill>
                  <a:schemeClr val="bg1"/>
                </a:solidFill>
                <a:latin typeface="Meiryo UI" panose="020B0604030504040204" pitchFamily="50" charset="-128"/>
                <a:ea typeface="Meiryo UI" panose="020B0604030504040204" pitchFamily="50" charset="-128"/>
              </a:rPr>
              <a:t>H</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cxnSp>
        <p:nvCxnSpPr>
          <p:cNvPr id="55" name="直線コネクタ 54">
            <a:extLst>
              <a:ext uri="{FF2B5EF4-FFF2-40B4-BE49-F238E27FC236}">
                <a16:creationId xmlns:a16="http://schemas.microsoft.com/office/drawing/2014/main" id="{B56EA19F-962E-484C-967B-AE7ED5007E93}"/>
              </a:ext>
            </a:extLst>
          </p:cNvPr>
          <p:cNvCxnSpPr>
            <a:cxnSpLocks/>
          </p:cNvCxnSpPr>
          <p:nvPr/>
        </p:nvCxnSpPr>
        <p:spPr>
          <a:xfrm>
            <a:off x="1101583" y="2427734"/>
            <a:ext cx="7862905" cy="0"/>
          </a:xfrm>
          <a:prstGeom prst="line">
            <a:avLst/>
          </a:prstGeom>
          <a:ln w="12700">
            <a:solidFill>
              <a:srgbClr val="4F81BD"/>
            </a:solidFill>
            <a:prstDash val="sysDash"/>
          </a:ln>
        </p:spPr>
        <p:style>
          <a:lnRef idx="1">
            <a:schemeClr val="accent1"/>
          </a:lnRef>
          <a:fillRef idx="0">
            <a:schemeClr val="accent1"/>
          </a:fillRef>
          <a:effectRef idx="0">
            <a:schemeClr val="accent1"/>
          </a:effectRef>
          <a:fontRef idx="minor">
            <a:schemeClr val="tx1"/>
          </a:fontRef>
        </p:style>
      </p:cxnSp>
      <p:sp>
        <p:nvSpPr>
          <p:cNvPr id="59" name="角丸四角形 66">
            <a:extLst>
              <a:ext uri="{FF2B5EF4-FFF2-40B4-BE49-F238E27FC236}">
                <a16:creationId xmlns:a16="http://schemas.microsoft.com/office/drawing/2014/main" id="{8911F359-2C91-4320-AD97-15E5C2AA30A6}"/>
              </a:ext>
            </a:extLst>
          </p:cNvPr>
          <p:cNvSpPr/>
          <p:nvPr/>
        </p:nvSpPr>
        <p:spPr>
          <a:xfrm>
            <a:off x="1273111" y="1459816"/>
            <a:ext cx="7699648" cy="175830"/>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WD SN850X</a:t>
            </a:r>
            <a:r>
              <a:rPr lang="en-US" altLang="ja-JP" sz="800" dirty="0">
                <a:solidFill>
                  <a:srgbClr val="FFC000"/>
                </a:solidFill>
                <a:latin typeface="Meiryo UI" panose="020B0604030504040204" pitchFamily="50" charset="-128"/>
                <a:ea typeface="Meiryo UI" panose="020B0604030504040204" pitchFamily="50" charset="-128"/>
              </a:rPr>
              <a:t>(Optimus GX PRO 850)</a:t>
            </a:r>
            <a:r>
              <a:rPr lang="en-US" altLang="ja-JP" sz="1000" dirty="0">
                <a:solidFill>
                  <a:schemeClr val="bg1"/>
                </a:solidFill>
                <a:latin typeface="Meiryo UI" panose="020B0604030504040204" pitchFamily="50" charset="-128"/>
                <a:ea typeface="Meiryo UI" panose="020B0604030504040204" pitchFamily="50" charset="-128"/>
              </a:rPr>
              <a:t> Gen4 1TB/2TB/4TB</a:t>
            </a:r>
            <a:r>
              <a:rPr lang="ja-JP" altLang="en-US" sz="1000" dirty="0">
                <a:solidFill>
                  <a:schemeClr val="bg1"/>
                </a:solidFill>
                <a:latin typeface="Meiryo UI" panose="020B0604030504040204" pitchFamily="50" charset="-128"/>
                <a:ea typeface="Meiryo UI" panose="020B0604030504040204" pitchFamily="50" charset="-128"/>
              </a:rPr>
              <a:t>　</a:t>
            </a:r>
            <a:r>
              <a:rPr kumimoji="1" lang="ja-JP" altLang="en-US"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カスタムから振替含む</a:t>
            </a: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実質</a:t>
            </a:r>
            <a:r>
              <a:rPr kumimoji="1"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SN850X</a:t>
            </a:r>
            <a:r>
              <a:rPr kumimoji="1" lang="ja-JP" altLang="en-US"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一択</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(Seagate FC530R</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は在庫限りのため</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20" name="角丸四角形 50">
            <a:extLst>
              <a:ext uri="{FF2B5EF4-FFF2-40B4-BE49-F238E27FC236}">
                <a16:creationId xmlns:a16="http://schemas.microsoft.com/office/drawing/2014/main" id="{664BF773-88AE-4497-BDE9-65547EDA5E76}"/>
              </a:ext>
            </a:extLst>
          </p:cNvPr>
          <p:cNvSpPr/>
          <p:nvPr/>
        </p:nvSpPr>
        <p:spPr>
          <a:xfrm>
            <a:off x="323528" y="2786103"/>
            <a:ext cx="892900" cy="57773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バリュー・ミドル</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デスク</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ノート</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900" b="1" dirty="0">
                <a:latin typeface="Meiryo UI" panose="020B0604030504040204" pitchFamily="50" charset="-128"/>
                <a:ea typeface="Meiryo UI" panose="020B0604030504040204" pitchFamily="50" charset="-128"/>
                <a:cs typeface="Meiryo UI" panose="020B0604030504040204" pitchFamily="50" charset="-128"/>
              </a:rPr>
              <a:t>Gen4</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汎用</a:t>
            </a:r>
            <a:r>
              <a:rPr lang="en-US" altLang="ja-JP" sz="900" b="1" dirty="0">
                <a:latin typeface="Meiryo UI" panose="020B0604030504040204" pitchFamily="50" charset="-128"/>
                <a:ea typeface="Meiryo UI" panose="020B0604030504040204" pitchFamily="50" charset="-128"/>
                <a:cs typeface="Meiryo UI" panose="020B0604030504040204" pitchFamily="50" charset="-128"/>
              </a:rPr>
              <a:t>M</a:t>
            </a:r>
            <a:endParaRPr kumimoji="1" lang="en-US" altLang="ja-JP" sz="9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27">
            <a:extLst>
              <a:ext uri="{FF2B5EF4-FFF2-40B4-BE49-F238E27FC236}">
                <a16:creationId xmlns:a16="http://schemas.microsoft.com/office/drawing/2014/main" id="{2A019640-96ED-4F2F-B1A5-8D4F81E7055F}"/>
              </a:ext>
            </a:extLst>
          </p:cNvPr>
          <p:cNvSpPr/>
          <p:nvPr/>
        </p:nvSpPr>
        <p:spPr>
          <a:xfrm>
            <a:off x="1259632" y="2760522"/>
            <a:ext cx="7698488" cy="179874"/>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SAMSUNG PM9C1a</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TLC DRAM Less</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角丸四角形 50">
            <a:extLst>
              <a:ext uri="{FF2B5EF4-FFF2-40B4-BE49-F238E27FC236}">
                <a16:creationId xmlns:a16="http://schemas.microsoft.com/office/drawing/2014/main" id="{27342E1B-EB81-4A75-8BCD-C8DE576ECF62}"/>
              </a:ext>
            </a:extLst>
          </p:cNvPr>
          <p:cNvSpPr/>
          <p:nvPr/>
        </p:nvSpPr>
        <p:spPr>
          <a:xfrm>
            <a:off x="312076" y="4094949"/>
            <a:ext cx="895890" cy="57773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a:latin typeface="Meiryo UI" panose="020B0604030504040204" pitchFamily="50" charset="-128"/>
                <a:ea typeface="Meiryo UI" panose="020B0604030504040204" pitchFamily="50" charset="-128"/>
                <a:cs typeface="Meiryo UI" panose="020B0604030504040204" pitchFamily="50" charset="-128"/>
              </a:rPr>
              <a:t>TW</a:t>
            </a:r>
            <a:r>
              <a:rPr lang="en-US" altLang="ja-JP" sz="600" dirty="0">
                <a:latin typeface="Meiryo UI" panose="020B0604030504040204" pitchFamily="50" charset="-128"/>
                <a:ea typeface="Meiryo UI" panose="020B0604030504040204" pitchFamily="50" charset="-128"/>
                <a:cs typeface="Meiryo UI" panose="020B0604030504040204" pitchFamily="50" charset="-128"/>
              </a:rPr>
              <a:t>(QNT</a:t>
            </a:r>
            <a:r>
              <a:rPr lang="ja-JP" altLang="en-US" sz="600" dirty="0">
                <a:latin typeface="Meiryo UI" panose="020B0604030504040204" pitchFamily="50" charset="-128"/>
                <a:ea typeface="Meiryo UI" panose="020B0604030504040204" pitchFamily="50" charset="-128"/>
                <a:cs typeface="Meiryo UI" panose="020B0604030504040204" pitchFamily="50" charset="-128"/>
              </a:rPr>
              <a:t>対応</a:t>
            </a:r>
            <a:r>
              <a:rPr lang="en-US" altLang="ja-JP" sz="600"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ノート</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900" b="1" dirty="0">
                <a:latin typeface="Meiryo UI" panose="020B0604030504040204" pitchFamily="50" charset="-128"/>
                <a:ea typeface="Meiryo UI" panose="020B0604030504040204" pitchFamily="50" charset="-128"/>
                <a:cs typeface="Meiryo UI" panose="020B0604030504040204" pitchFamily="50" charset="-128"/>
              </a:rPr>
              <a:t>Gen4</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汎用</a:t>
            </a:r>
            <a:r>
              <a:rPr lang="en-US" altLang="ja-JP" sz="900" b="1" dirty="0">
                <a:latin typeface="Meiryo UI" panose="020B0604030504040204" pitchFamily="50" charset="-128"/>
                <a:ea typeface="Meiryo UI" panose="020B0604030504040204" pitchFamily="50" charset="-128"/>
                <a:cs typeface="Meiryo UI" panose="020B0604030504040204" pitchFamily="50" charset="-128"/>
              </a:rPr>
              <a:t>S</a:t>
            </a:r>
            <a:endParaRPr kumimoji="1" lang="en-US" altLang="ja-JP" sz="900" b="1"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6" name="直線コネクタ 25">
            <a:extLst>
              <a:ext uri="{FF2B5EF4-FFF2-40B4-BE49-F238E27FC236}">
                <a16:creationId xmlns:a16="http://schemas.microsoft.com/office/drawing/2014/main" id="{93F7DE46-97E7-40B3-B1CC-1CAFCAD5E9D2}"/>
              </a:ext>
            </a:extLst>
          </p:cNvPr>
          <p:cNvCxnSpPr>
            <a:cxnSpLocks/>
          </p:cNvCxnSpPr>
          <p:nvPr/>
        </p:nvCxnSpPr>
        <p:spPr>
          <a:xfrm>
            <a:off x="1104080" y="3939902"/>
            <a:ext cx="7862905" cy="0"/>
          </a:xfrm>
          <a:prstGeom prst="line">
            <a:avLst/>
          </a:prstGeom>
          <a:ln w="12700">
            <a:solidFill>
              <a:srgbClr val="4F81BD"/>
            </a:solidFill>
            <a:prstDash val="sysDash"/>
          </a:ln>
        </p:spPr>
        <p:style>
          <a:lnRef idx="1">
            <a:schemeClr val="accent1"/>
          </a:lnRef>
          <a:fillRef idx="0">
            <a:schemeClr val="accent1"/>
          </a:fillRef>
          <a:effectRef idx="0">
            <a:schemeClr val="accent1"/>
          </a:effectRef>
          <a:fontRef idx="minor">
            <a:schemeClr val="tx1"/>
          </a:fontRef>
        </p:style>
      </p:cxnSp>
      <p:sp>
        <p:nvSpPr>
          <p:cNvPr id="27" name="角丸四角形 27">
            <a:extLst>
              <a:ext uri="{FF2B5EF4-FFF2-40B4-BE49-F238E27FC236}">
                <a16:creationId xmlns:a16="http://schemas.microsoft.com/office/drawing/2014/main" id="{5E6E146E-B67C-45CD-8BD2-1E0735664810}"/>
              </a:ext>
            </a:extLst>
          </p:cNvPr>
          <p:cNvSpPr/>
          <p:nvPr/>
        </p:nvSpPr>
        <p:spPr>
          <a:xfrm>
            <a:off x="1287040" y="2526897"/>
            <a:ext cx="7662560" cy="182014"/>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E27T(E19T)</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TLC DRAM Less</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500GB/1TB/2TB</a:t>
            </a:r>
          </a:p>
        </p:txBody>
      </p:sp>
      <p:sp>
        <p:nvSpPr>
          <p:cNvPr id="30" name="角丸四角形 27">
            <a:extLst>
              <a:ext uri="{FF2B5EF4-FFF2-40B4-BE49-F238E27FC236}">
                <a16:creationId xmlns:a16="http://schemas.microsoft.com/office/drawing/2014/main" id="{648E2742-7682-4315-ABDB-843BECD91054}"/>
              </a:ext>
            </a:extLst>
          </p:cNvPr>
          <p:cNvSpPr/>
          <p:nvPr/>
        </p:nvSpPr>
        <p:spPr>
          <a:xfrm>
            <a:off x="1284045" y="3239453"/>
            <a:ext cx="7665555" cy="196393"/>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Micron2500 Gen4x4 QLC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500GB/1TB/2TB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Micron2600</a:t>
            </a:r>
            <a:r>
              <a:rPr kumimoji="1" lang="ja-JP" altLang="en-US"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予定あり　</a:t>
            </a:r>
            <a:endParaRPr kumimoji="1" lang="en-US" altLang="ja-JP"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角丸四角形 27">
            <a:extLst>
              <a:ext uri="{FF2B5EF4-FFF2-40B4-BE49-F238E27FC236}">
                <a16:creationId xmlns:a16="http://schemas.microsoft.com/office/drawing/2014/main" id="{B8394751-5C25-4FAF-9360-E4F345C7EBE2}"/>
              </a:ext>
            </a:extLst>
          </p:cNvPr>
          <p:cNvSpPr/>
          <p:nvPr/>
        </p:nvSpPr>
        <p:spPr>
          <a:xfrm>
            <a:off x="1285470" y="4083918"/>
            <a:ext cx="7666660" cy="169415"/>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Phison</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E27T(E21T/E33T)</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QLC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500GB/1TB/2TB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角丸四角形 27">
            <a:extLst>
              <a:ext uri="{FF2B5EF4-FFF2-40B4-BE49-F238E27FC236}">
                <a16:creationId xmlns:a16="http://schemas.microsoft.com/office/drawing/2014/main" id="{DE736E97-E1E4-4ED9-B79A-3165ECD12454}"/>
              </a:ext>
            </a:extLst>
          </p:cNvPr>
          <p:cNvSpPr/>
          <p:nvPr/>
        </p:nvSpPr>
        <p:spPr>
          <a:xfrm>
            <a:off x="1284045" y="2984601"/>
            <a:ext cx="7680443" cy="198902"/>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SAMSUNG</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BM9C1</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QLC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500GB/1TB/2TB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BM9c1a</a:t>
            </a:r>
            <a:r>
              <a:rPr kumimoji="1" lang="ja-JP" altLang="en-US"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予定あり</a:t>
            </a:r>
            <a:endParaRPr kumimoji="1" lang="en-US" altLang="ja-JP" sz="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テキスト ボックス 1">
            <a:extLst>
              <a:ext uri="{FF2B5EF4-FFF2-40B4-BE49-F238E27FC236}">
                <a16:creationId xmlns:a16="http://schemas.microsoft.com/office/drawing/2014/main" id="{D5E2B7A8-8E0B-4315-90BC-8AC344E8715F}"/>
              </a:ext>
            </a:extLst>
          </p:cNvPr>
          <p:cNvSpPr txBox="1"/>
          <p:nvPr/>
        </p:nvSpPr>
        <p:spPr>
          <a:xfrm>
            <a:off x="30022" y="4671014"/>
            <a:ext cx="1259675" cy="276999"/>
          </a:xfrm>
          <a:prstGeom prst="rect">
            <a:avLst/>
          </a:prstGeom>
          <a:noFill/>
        </p:spPr>
        <p:txBody>
          <a:bodyPr wrap="square" rtlCol="0">
            <a:spAutoFit/>
          </a:bodyPr>
          <a:lstStyle/>
          <a:p>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Gen4</a:t>
            </a:r>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汎用</a:t>
            </a:r>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M</a:t>
            </a:r>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対応できるデスク・ノートベアは</a:t>
            </a:r>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Gen4</a:t>
            </a:r>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汎用</a:t>
            </a:r>
            <a:r>
              <a:rPr kumimoji="1" lang="en-US" altLang="ja-JP" sz="600" dirty="0">
                <a:latin typeface="Meiryo UI" panose="020B0604030504040204" pitchFamily="50" charset="-128"/>
                <a:ea typeface="Meiryo UI" panose="020B0604030504040204" pitchFamily="50" charset="-128"/>
                <a:cs typeface="Meiryo UI" panose="020B0604030504040204" pitchFamily="50" charset="-128"/>
              </a:rPr>
              <a:t>S</a:t>
            </a:r>
            <a:r>
              <a:rPr kumimoji="1" lang="ja-JP" altLang="en-US" sz="600" dirty="0">
                <a:latin typeface="Meiryo UI" panose="020B0604030504040204" pitchFamily="50" charset="-128"/>
                <a:ea typeface="Meiryo UI" panose="020B0604030504040204" pitchFamily="50" charset="-128"/>
                <a:cs typeface="Meiryo UI" panose="020B0604030504040204" pitchFamily="50" charset="-128"/>
              </a:rPr>
              <a:t>も対応可能</a:t>
            </a:r>
            <a:endParaRPr kumimoji="1" lang="en-US" altLang="ja-JP" sz="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2CFF4F04-2A60-48B0-8224-E1531D825468}"/>
              </a:ext>
            </a:extLst>
          </p:cNvPr>
          <p:cNvSpPr>
            <a:spLocks noGrp="1"/>
          </p:cNvSpPr>
          <p:nvPr>
            <p:ph type="sldNum" sz="quarter" idx="12"/>
          </p:nvPr>
        </p:nvSpPr>
        <p:spPr/>
        <p:txBody>
          <a:bodyPr/>
          <a:lstStyle/>
          <a:p>
            <a:fld id="{F9DFCEB9-CAE4-4F3C-93D0-85C4724A0355}" type="slidenum">
              <a:rPr kumimoji="1" lang="ja-JP" altLang="en-US" smtClean="0"/>
              <a:t>16</a:t>
            </a:fld>
            <a:endParaRPr kumimoji="1" lang="ja-JP" altLang="en-US"/>
          </a:p>
        </p:txBody>
      </p:sp>
      <p:sp>
        <p:nvSpPr>
          <p:cNvPr id="35" name="角丸四角形 50">
            <a:extLst>
              <a:ext uri="{FF2B5EF4-FFF2-40B4-BE49-F238E27FC236}">
                <a16:creationId xmlns:a16="http://schemas.microsoft.com/office/drawing/2014/main" id="{E60D2B0F-4B1B-4549-A024-1F2DE1F40BAA}"/>
              </a:ext>
            </a:extLst>
          </p:cNvPr>
          <p:cNvSpPr/>
          <p:nvPr/>
        </p:nvSpPr>
        <p:spPr>
          <a:xfrm>
            <a:off x="323528" y="627534"/>
            <a:ext cx="895814" cy="57773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ハイエンド</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デスク</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一部ノート</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900" b="1" dirty="0">
                <a:solidFill>
                  <a:schemeClr val="bg1"/>
                </a:solidFill>
                <a:latin typeface="Meiryo UI" panose="020B0604030504040204" pitchFamily="50" charset="-128"/>
                <a:ea typeface="Meiryo UI" panose="020B0604030504040204" pitchFamily="50" charset="-128"/>
              </a:rPr>
              <a:t>Gen5</a:t>
            </a:r>
            <a:endParaRPr kumimoji="1" lang="ja-JP" altLang="en-US" sz="1000" b="1" dirty="0">
              <a:solidFill>
                <a:schemeClr val="bg1"/>
              </a:solidFill>
              <a:latin typeface="Meiryo UI" panose="020B0604030504040204" pitchFamily="50" charset="-128"/>
              <a:ea typeface="Meiryo UI" panose="020B0604030504040204" pitchFamily="50" charset="-128"/>
            </a:endParaRPr>
          </a:p>
        </p:txBody>
      </p:sp>
      <p:cxnSp>
        <p:nvCxnSpPr>
          <p:cNvPr id="39" name="直線コネクタ 38">
            <a:extLst>
              <a:ext uri="{FF2B5EF4-FFF2-40B4-BE49-F238E27FC236}">
                <a16:creationId xmlns:a16="http://schemas.microsoft.com/office/drawing/2014/main" id="{A47B8B2D-7A70-40CB-8B3A-3F645E938169}"/>
              </a:ext>
            </a:extLst>
          </p:cNvPr>
          <p:cNvCxnSpPr>
            <a:cxnSpLocks/>
          </p:cNvCxnSpPr>
          <p:nvPr/>
        </p:nvCxnSpPr>
        <p:spPr>
          <a:xfrm>
            <a:off x="1130142" y="1347614"/>
            <a:ext cx="7862905" cy="0"/>
          </a:xfrm>
          <a:prstGeom prst="line">
            <a:avLst/>
          </a:prstGeom>
          <a:ln w="12700">
            <a:solidFill>
              <a:srgbClr val="4F81BD"/>
            </a:solidFill>
            <a:prstDash val="sysDash"/>
          </a:ln>
        </p:spPr>
        <p:style>
          <a:lnRef idx="1">
            <a:schemeClr val="accent1"/>
          </a:lnRef>
          <a:fillRef idx="0">
            <a:schemeClr val="accent1"/>
          </a:fillRef>
          <a:effectRef idx="0">
            <a:schemeClr val="accent1"/>
          </a:effectRef>
          <a:fontRef idx="minor">
            <a:schemeClr val="tx1"/>
          </a:fontRef>
        </p:style>
      </p:cxnSp>
      <p:sp>
        <p:nvSpPr>
          <p:cNvPr id="40" name="角丸四角形 66">
            <a:extLst>
              <a:ext uri="{FF2B5EF4-FFF2-40B4-BE49-F238E27FC236}">
                <a16:creationId xmlns:a16="http://schemas.microsoft.com/office/drawing/2014/main" id="{79C6EA82-F66E-437D-BA60-4163CFB93AE9}"/>
              </a:ext>
            </a:extLst>
          </p:cNvPr>
          <p:cNvSpPr/>
          <p:nvPr/>
        </p:nvSpPr>
        <p:spPr>
          <a:xfrm>
            <a:off x="1271411" y="615051"/>
            <a:ext cx="7699648" cy="175830"/>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latin typeface="Meiryo UI" panose="020B0604030504040204" pitchFamily="50" charset="-128"/>
                <a:ea typeface="Meiryo UI" panose="020B0604030504040204" pitchFamily="50" charset="-128"/>
              </a:rPr>
              <a:t>一部モデル　</a:t>
            </a:r>
            <a:r>
              <a:rPr lang="en-US" altLang="ja-JP" sz="1000" dirty="0" err="1">
                <a:solidFill>
                  <a:schemeClr val="bg1"/>
                </a:solidFill>
                <a:latin typeface="Meiryo UI" panose="020B0604030504040204" pitchFamily="50" charset="-128"/>
                <a:ea typeface="Meiryo UI" panose="020B0604030504040204" pitchFamily="50" charset="-128"/>
              </a:rPr>
              <a:t>Sandisk</a:t>
            </a:r>
            <a:r>
              <a:rPr lang="en-US" altLang="ja-JP" sz="1000" dirty="0">
                <a:solidFill>
                  <a:schemeClr val="bg1"/>
                </a:solidFill>
                <a:latin typeface="Meiryo UI" panose="020B0604030504040204" pitchFamily="50" charset="-128"/>
                <a:ea typeface="Meiryo UI" panose="020B0604030504040204" pitchFamily="50" charset="-128"/>
              </a:rPr>
              <a:t>/WD SN8100</a:t>
            </a:r>
            <a:r>
              <a:rPr lang="en-US" altLang="ja-JP" sz="800" dirty="0">
                <a:solidFill>
                  <a:srgbClr val="FFC000"/>
                </a:solidFill>
                <a:latin typeface="Meiryo UI" panose="020B0604030504040204" pitchFamily="50" charset="-128"/>
                <a:ea typeface="Meiryo UI" panose="020B0604030504040204" pitchFamily="50" charset="-128"/>
              </a:rPr>
              <a:t>(Optimus GX PRO 8100)</a:t>
            </a:r>
            <a:r>
              <a:rPr lang="en-US" altLang="ja-JP" sz="8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Gen5 1TB/2TB/4TB</a:t>
            </a:r>
          </a:p>
        </p:txBody>
      </p:sp>
      <p:sp>
        <p:nvSpPr>
          <p:cNvPr id="42" name="角丸四角形 27">
            <a:extLst>
              <a:ext uri="{FF2B5EF4-FFF2-40B4-BE49-F238E27FC236}">
                <a16:creationId xmlns:a16="http://schemas.microsoft.com/office/drawing/2014/main" id="{E4B115CB-9365-4D5A-88CA-3F45F72E7D50}"/>
              </a:ext>
            </a:extLst>
          </p:cNvPr>
          <p:cNvSpPr/>
          <p:nvPr/>
        </p:nvSpPr>
        <p:spPr>
          <a:xfrm>
            <a:off x="1403648" y="3479034"/>
            <a:ext cx="7560840" cy="196393"/>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/WD SN5100</a:t>
            </a:r>
            <a:r>
              <a:rPr kumimoji="1"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5100)</a:t>
            </a:r>
            <a:r>
              <a:rPr kumimoji="1" lang="ja-JP" altLang="en-US"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(5150?)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QLC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500GB/1TB/2TB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カスタムから振替含む</a:t>
            </a:r>
            <a:endParaRPr kumimoji="1"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角丸四角形 66">
            <a:extLst>
              <a:ext uri="{FF2B5EF4-FFF2-40B4-BE49-F238E27FC236}">
                <a16:creationId xmlns:a16="http://schemas.microsoft.com/office/drawing/2014/main" id="{81D77134-E8CA-4265-8D42-6C7ADB82C161}"/>
              </a:ext>
            </a:extLst>
          </p:cNvPr>
          <p:cNvSpPr/>
          <p:nvPr/>
        </p:nvSpPr>
        <p:spPr>
          <a:xfrm>
            <a:off x="1267485" y="832210"/>
            <a:ext cx="7699648" cy="718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rPr>
              <a:t>他候補品　</a:t>
            </a:r>
            <a:r>
              <a:rPr lang="en-US" altLang="ja-JP" sz="700" dirty="0">
                <a:solidFill>
                  <a:schemeClr val="tx1"/>
                </a:solidFill>
                <a:latin typeface="Meiryo UI" panose="020B0604030504040204" pitchFamily="50" charset="-128"/>
                <a:ea typeface="Meiryo UI" panose="020B0604030504040204" pitchFamily="50" charset="-128"/>
              </a:rPr>
              <a:t>SAMSUNG 9100 PRO</a:t>
            </a:r>
            <a:r>
              <a:rPr lang="ja-JP" altLang="en-US" sz="700" dirty="0">
                <a:solidFill>
                  <a:schemeClr val="tx1"/>
                </a:solidFill>
                <a:latin typeface="Meiryo UI" panose="020B0604030504040204" pitchFamily="50" charset="-128"/>
                <a:ea typeface="Meiryo UI" panose="020B0604030504040204" pitchFamily="50" charset="-128"/>
              </a:rPr>
              <a:t>、</a:t>
            </a:r>
            <a:r>
              <a:rPr lang="en-US" altLang="ja-JP" sz="700" dirty="0">
                <a:solidFill>
                  <a:schemeClr val="tx1"/>
                </a:solidFill>
                <a:latin typeface="Meiryo UI" panose="020B0604030504040204" pitchFamily="50" charset="-128"/>
                <a:ea typeface="Meiryo UI" panose="020B0604030504040204" pitchFamily="50" charset="-128"/>
              </a:rPr>
              <a:t>Micron 4600</a:t>
            </a:r>
            <a:r>
              <a:rPr lang="ja-JP" altLang="en-US" sz="700" dirty="0">
                <a:solidFill>
                  <a:schemeClr val="tx1"/>
                </a:solidFill>
                <a:latin typeface="Meiryo UI" panose="020B0604030504040204" pitchFamily="50" charset="-128"/>
                <a:ea typeface="Meiryo UI" panose="020B0604030504040204" pitchFamily="50" charset="-128"/>
              </a:rPr>
              <a:t>、</a:t>
            </a:r>
            <a:r>
              <a:rPr lang="en-US" altLang="ja-JP" sz="700" dirty="0">
                <a:solidFill>
                  <a:schemeClr val="tx1"/>
                </a:solidFill>
                <a:latin typeface="Meiryo UI" panose="020B0604030504040204" pitchFamily="50" charset="-128"/>
                <a:ea typeface="Meiryo UI" panose="020B0604030504040204" pitchFamily="50" charset="-128"/>
              </a:rPr>
              <a:t>(KIOXIA EXCERIA PRO G2)</a:t>
            </a:r>
            <a:r>
              <a:rPr lang="ja-JP" altLang="en-US" sz="700" dirty="0">
                <a:solidFill>
                  <a:schemeClr val="tx1"/>
                </a:solidFill>
                <a:latin typeface="Meiryo UI" panose="020B0604030504040204" pitchFamily="50" charset="-128"/>
                <a:ea typeface="Meiryo UI" panose="020B0604030504040204" pitchFamily="50" charset="-128"/>
              </a:rPr>
              <a:t>など</a:t>
            </a:r>
            <a:endParaRPr lang="en-US" altLang="ja-JP" sz="700" dirty="0">
              <a:solidFill>
                <a:schemeClr val="tx1"/>
              </a:solidFill>
              <a:latin typeface="Meiryo UI" panose="020B0604030504040204" pitchFamily="50" charset="-128"/>
              <a:ea typeface="Meiryo UI" panose="020B0604030504040204" pitchFamily="50" charset="-128"/>
            </a:endParaRPr>
          </a:p>
        </p:txBody>
      </p:sp>
      <p:sp>
        <p:nvSpPr>
          <p:cNvPr id="36" name="角丸四角形 66">
            <a:extLst>
              <a:ext uri="{FF2B5EF4-FFF2-40B4-BE49-F238E27FC236}">
                <a16:creationId xmlns:a16="http://schemas.microsoft.com/office/drawing/2014/main" id="{64F68926-A366-457D-9761-D87E466F777B}"/>
              </a:ext>
            </a:extLst>
          </p:cNvPr>
          <p:cNvSpPr/>
          <p:nvPr/>
        </p:nvSpPr>
        <p:spPr>
          <a:xfrm>
            <a:off x="1271411" y="3823828"/>
            <a:ext cx="7699648" cy="71865"/>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bg1"/>
                </a:solidFill>
                <a:latin typeface="Meiryo UI" panose="020B0604030504040204" pitchFamily="50" charset="-128"/>
                <a:ea typeface="Meiryo UI" panose="020B0604030504040204" pitchFamily="50" charset="-128"/>
              </a:rPr>
              <a:t>他候補品　</a:t>
            </a:r>
            <a:r>
              <a:rPr lang="en-US" altLang="ja-JP" sz="700" dirty="0">
                <a:solidFill>
                  <a:schemeClr val="bg1"/>
                </a:solidFill>
                <a:latin typeface="Meiryo UI" panose="020B0604030504040204" pitchFamily="50" charset="-128"/>
                <a:ea typeface="Meiryo UI" panose="020B0604030504040204" pitchFamily="50" charset="-128"/>
              </a:rPr>
              <a:t>SAMSUNG BM9C1a , Kingston</a:t>
            </a:r>
            <a:r>
              <a:rPr lang="ja-JP" altLang="en-US" sz="700" dirty="0">
                <a:solidFill>
                  <a:schemeClr val="bg1"/>
                </a:solidFill>
                <a:latin typeface="Meiryo UI" panose="020B0604030504040204" pitchFamily="50" charset="-128"/>
                <a:ea typeface="Meiryo UI" panose="020B0604030504040204" pitchFamily="50" charset="-128"/>
              </a:rPr>
              <a:t>など</a:t>
            </a:r>
            <a:endParaRPr lang="en-US" altLang="ja-JP" sz="700" dirty="0">
              <a:solidFill>
                <a:schemeClr val="bg1"/>
              </a:solidFill>
              <a:latin typeface="Meiryo UI" panose="020B0604030504040204" pitchFamily="50" charset="-128"/>
              <a:ea typeface="Meiryo UI" panose="020B0604030504040204" pitchFamily="50" charset="-128"/>
            </a:endParaRPr>
          </a:p>
        </p:txBody>
      </p:sp>
      <p:sp>
        <p:nvSpPr>
          <p:cNvPr id="37" name="角丸四角形 66">
            <a:extLst>
              <a:ext uri="{FF2B5EF4-FFF2-40B4-BE49-F238E27FC236}">
                <a16:creationId xmlns:a16="http://schemas.microsoft.com/office/drawing/2014/main" id="{312CA1D7-6A65-45EB-9283-82A8D9E336E2}"/>
              </a:ext>
            </a:extLst>
          </p:cNvPr>
          <p:cNvSpPr/>
          <p:nvPr/>
        </p:nvSpPr>
        <p:spPr>
          <a:xfrm>
            <a:off x="1271475" y="4833952"/>
            <a:ext cx="7699648" cy="71865"/>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bg1"/>
                </a:solidFill>
                <a:latin typeface="Meiryo UI" panose="020B0604030504040204" pitchFamily="50" charset="-128"/>
                <a:ea typeface="Meiryo UI" panose="020B0604030504040204" pitchFamily="50" charset="-128"/>
              </a:rPr>
              <a:t>他候補品　など</a:t>
            </a:r>
            <a:endParaRPr lang="en-US" altLang="ja-JP" sz="700" dirty="0">
              <a:solidFill>
                <a:schemeClr val="bg1"/>
              </a:solidFill>
              <a:latin typeface="Meiryo UI" panose="020B0604030504040204" pitchFamily="50" charset="-128"/>
              <a:ea typeface="Meiryo UI" panose="020B0604030504040204" pitchFamily="50" charset="-128"/>
            </a:endParaRPr>
          </a:p>
        </p:txBody>
      </p:sp>
      <p:sp>
        <p:nvSpPr>
          <p:cNvPr id="38" name="角丸四角形 66">
            <a:extLst>
              <a:ext uri="{FF2B5EF4-FFF2-40B4-BE49-F238E27FC236}">
                <a16:creationId xmlns:a16="http://schemas.microsoft.com/office/drawing/2014/main" id="{297A9B3D-41B1-47A1-AF49-DB1711639CDC}"/>
              </a:ext>
            </a:extLst>
          </p:cNvPr>
          <p:cNvSpPr/>
          <p:nvPr/>
        </p:nvSpPr>
        <p:spPr>
          <a:xfrm>
            <a:off x="1286131" y="1010406"/>
            <a:ext cx="7699648" cy="176935"/>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latin typeface="Meiryo UI" panose="020B0604030504040204" pitchFamily="50" charset="-128"/>
                <a:ea typeface="Meiryo UI" panose="020B0604030504040204" pitchFamily="50" charset="-128"/>
              </a:rPr>
              <a:t>一部モデル　</a:t>
            </a:r>
            <a:r>
              <a:rPr lang="en-US" altLang="ja-JP" sz="1000" dirty="0" err="1">
                <a:solidFill>
                  <a:schemeClr val="bg1"/>
                </a:solidFill>
                <a:latin typeface="Meiryo UI" panose="020B0604030504040204" pitchFamily="50" charset="-128"/>
                <a:ea typeface="Meiryo UI" panose="020B0604030504040204" pitchFamily="50" charset="-128"/>
              </a:rPr>
              <a:t>Phison</a:t>
            </a:r>
            <a:r>
              <a:rPr lang="en-US" altLang="ja-JP" sz="1000" dirty="0">
                <a:solidFill>
                  <a:schemeClr val="bg1"/>
                </a:solidFill>
                <a:latin typeface="Meiryo UI" panose="020B0604030504040204" pitchFamily="50" charset="-128"/>
                <a:ea typeface="Meiryo UI" panose="020B0604030504040204" pitchFamily="50" charset="-128"/>
              </a:rPr>
              <a:t> E31T</a:t>
            </a:r>
            <a:r>
              <a:rPr lang="en-US" altLang="ja-JP" sz="8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Gen5 1TB/2TB</a:t>
            </a:r>
            <a:r>
              <a:rPr lang="ja-JP" altLang="en-US" sz="1000" dirty="0">
                <a:solidFill>
                  <a:schemeClr val="bg1"/>
                </a:solidFill>
                <a:latin typeface="Meiryo UI" panose="020B0604030504040204" pitchFamily="50" charset="-128"/>
                <a:ea typeface="Meiryo UI" panose="020B0604030504040204" pitchFamily="50" charset="-128"/>
              </a:rPr>
              <a:t>　キャッシュレス</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43" name="角丸四角形 66">
            <a:extLst>
              <a:ext uri="{FF2B5EF4-FFF2-40B4-BE49-F238E27FC236}">
                <a16:creationId xmlns:a16="http://schemas.microsoft.com/office/drawing/2014/main" id="{1CB77498-901A-470A-B7D2-827C60270111}"/>
              </a:ext>
            </a:extLst>
          </p:cNvPr>
          <p:cNvSpPr/>
          <p:nvPr/>
        </p:nvSpPr>
        <p:spPr>
          <a:xfrm>
            <a:off x="1278863" y="1224037"/>
            <a:ext cx="7699648" cy="718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rPr>
              <a:t>他候補品　</a:t>
            </a:r>
            <a:r>
              <a:rPr lang="en-US" altLang="ja-JP" sz="700" dirty="0">
                <a:solidFill>
                  <a:schemeClr val="tx1"/>
                </a:solidFill>
                <a:latin typeface="Meiryo UI" panose="020B0604030504040204" pitchFamily="50" charset="-128"/>
                <a:ea typeface="Meiryo UI" panose="020B0604030504040204" pitchFamily="50" charset="-128"/>
              </a:rPr>
              <a:t>(KIOXIA EXCERIA G3/PLUS G4)</a:t>
            </a:r>
            <a:r>
              <a:rPr lang="ja-JP" altLang="en-US" sz="700" dirty="0">
                <a:solidFill>
                  <a:schemeClr val="tx1"/>
                </a:solidFill>
                <a:latin typeface="Meiryo UI" panose="020B0604030504040204" pitchFamily="50" charset="-128"/>
                <a:ea typeface="Meiryo UI" panose="020B0604030504040204" pitchFamily="50" charset="-128"/>
              </a:rPr>
              <a:t>など</a:t>
            </a:r>
            <a:endParaRPr lang="en-US" altLang="ja-JP" sz="700" dirty="0">
              <a:solidFill>
                <a:schemeClr val="tx1"/>
              </a:solidFill>
              <a:latin typeface="Meiryo UI" panose="020B0604030504040204" pitchFamily="50" charset="-128"/>
              <a:ea typeface="Meiryo UI" panose="020B0604030504040204" pitchFamily="50" charset="-128"/>
            </a:endParaRPr>
          </a:p>
        </p:txBody>
      </p:sp>
      <p:sp>
        <p:nvSpPr>
          <p:cNvPr id="29" name="角丸四角形 66">
            <a:extLst>
              <a:ext uri="{FF2B5EF4-FFF2-40B4-BE49-F238E27FC236}">
                <a16:creationId xmlns:a16="http://schemas.microsoft.com/office/drawing/2014/main" id="{0E7B986E-D5F4-4BF2-A053-9AB0D924084F}"/>
              </a:ext>
            </a:extLst>
          </p:cNvPr>
          <p:cNvSpPr/>
          <p:nvPr/>
        </p:nvSpPr>
        <p:spPr>
          <a:xfrm>
            <a:off x="1274326" y="1736040"/>
            <a:ext cx="2433578" cy="187638"/>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Seagate FC530 Gen4 </a:t>
            </a:r>
            <a:r>
              <a:rPr kumimoji="1" lang="ja-JP" altLang="en-US"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カスタムから振替含む</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41" name="テキスト ボックス 40">
            <a:extLst>
              <a:ext uri="{FF2B5EF4-FFF2-40B4-BE49-F238E27FC236}">
                <a16:creationId xmlns:a16="http://schemas.microsoft.com/office/drawing/2014/main" id="{D3B6E8E4-4DD0-419B-98B9-06C40EB484A0}"/>
              </a:ext>
            </a:extLst>
          </p:cNvPr>
          <p:cNvSpPr txBox="1"/>
          <p:nvPr/>
        </p:nvSpPr>
        <p:spPr>
          <a:xfrm>
            <a:off x="2483768" y="1893481"/>
            <a:ext cx="654720" cy="246221"/>
          </a:xfrm>
          <a:prstGeom prst="rect">
            <a:avLst/>
          </a:prstGeom>
          <a:noFill/>
        </p:spPr>
        <p:txBody>
          <a:bodyPr wrap="square" rtlCol="0">
            <a:spAutoFit/>
          </a:bodyPr>
          <a:lstStyle/>
          <a:p>
            <a:r>
              <a:rPr kumimoji="1" lang="en-US" altLang="ja-JP" sz="1000" dirty="0">
                <a:highlight>
                  <a:srgbClr val="FFFF00"/>
                </a:highlight>
                <a:latin typeface="Meiryo UI" panose="020B0604030504040204" pitchFamily="50" charset="-128"/>
                <a:ea typeface="Meiryo UI" panose="020B0604030504040204" pitchFamily="50" charset="-128"/>
              </a:rPr>
              <a:t>|</a:t>
            </a:r>
            <a:r>
              <a:rPr kumimoji="1" lang="ja-JP" altLang="en-US" sz="1000" dirty="0">
                <a:highlight>
                  <a:srgbClr val="FFFF00"/>
                </a:highlight>
                <a:latin typeface="Meiryo UI" panose="020B0604030504040204" pitchFamily="50" charset="-128"/>
                <a:ea typeface="Meiryo UI" panose="020B0604030504040204" pitchFamily="50" charset="-128"/>
              </a:rPr>
              <a:t>→</a:t>
            </a:r>
            <a:r>
              <a:rPr kumimoji="1" lang="en-US" altLang="ja-JP" sz="1000" dirty="0">
                <a:highlight>
                  <a:srgbClr val="FFFF00"/>
                </a:highlight>
                <a:latin typeface="Meiryo UI" panose="020B0604030504040204" pitchFamily="50" charset="-128"/>
                <a:ea typeface="Meiryo UI" panose="020B0604030504040204" pitchFamily="50" charset="-128"/>
              </a:rPr>
              <a:t>EOL</a:t>
            </a:r>
            <a:endParaRPr kumimoji="1" lang="ja-JP" altLang="en-US" sz="1000" dirty="0">
              <a:highlight>
                <a:srgbClr val="FFFF00"/>
              </a:highlight>
              <a:latin typeface="Meiryo UI" panose="020B0604030504040204" pitchFamily="50" charset="-128"/>
              <a:ea typeface="Meiryo UI" panose="020B0604030504040204" pitchFamily="50" charset="-128"/>
            </a:endParaRPr>
          </a:p>
        </p:txBody>
      </p:sp>
      <p:sp>
        <p:nvSpPr>
          <p:cNvPr id="44" name="テキスト ボックス 43">
            <a:extLst>
              <a:ext uri="{FF2B5EF4-FFF2-40B4-BE49-F238E27FC236}">
                <a16:creationId xmlns:a16="http://schemas.microsoft.com/office/drawing/2014/main" id="{F5EF71E7-FA1D-4CB7-835B-871DF5BD22FB}"/>
              </a:ext>
            </a:extLst>
          </p:cNvPr>
          <p:cNvSpPr txBox="1"/>
          <p:nvPr/>
        </p:nvSpPr>
        <p:spPr>
          <a:xfrm>
            <a:off x="2912842" y="1893481"/>
            <a:ext cx="638632" cy="230832"/>
          </a:xfrm>
          <a:prstGeom prst="rect">
            <a:avLst/>
          </a:prstGeom>
          <a:noFill/>
        </p:spPr>
        <p:txBody>
          <a:bodyPr wrap="square" rtlCol="0">
            <a:spAutoFit/>
          </a:bodyPr>
          <a:lstStyle/>
          <a:p>
            <a:r>
              <a:rPr kumimoji="1" lang="ja-JP" altLang="en-US" sz="900" i="1" dirty="0">
                <a:solidFill>
                  <a:srgbClr val="FF0000"/>
                </a:solidFill>
                <a:highlight>
                  <a:srgbClr val="000000"/>
                </a:highlight>
              </a:rPr>
              <a:t>在庫限り</a:t>
            </a:r>
          </a:p>
        </p:txBody>
      </p:sp>
      <p:sp>
        <p:nvSpPr>
          <p:cNvPr id="34" name="角丸四角形 66">
            <a:extLst>
              <a:ext uri="{FF2B5EF4-FFF2-40B4-BE49-F238E27FC236}">
                <a16:creationId xmlns:a16="http://schemas.microsoft.com/office/drawing/2014/main" id="{E263BD3E-AEBA-4DBE-B04A-81526BE8BB65}"/>
              </a:ext>
            </a:extLst>
          </p:cNvPr>
          <p:cNvSpPr/>
          <p:nvPr/>
        </p:nvSpPr>
        <p:spPr>
          <a:xfrm>
            <a:off x="2851076" y="4343070"/>
            <a:ext cx="6134703" cy="158383"/>
          </a:xfrm>
          <a:prstGeom prst="roundRect">
            <a:avLst/>
          </a:prstGeom>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KIOXIA EXCERIA BASIC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Gen4x4 QLC</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1TB/2TB</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10217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476206323"/>
              </p:ext>
            </p:extLst>
          </p:nvPr>
        </p:nvGraphicFramePr>
        <p:xfrm>
          <a:off x="35496" y="51468"/>
          <a:ext cx="8928982" cy="4896546"/>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99724">
                <a:tc>
                  <a:txBody>
                    <a:bodyPr/>
                    <a:lstStyle/>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Custom</a:t>
                      </a:r>
                    </a:p>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SSD 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6994">
                <a:tc>
                  <a:txBody>
                    <a:bodyPr/>
                    <a:lstStyle/>
                    <a:p>
                      <a:pPr algn="l"/>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NVMe</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648072">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r>
                        <a:rPr kumimoji="1" lang="ja-JP" altLang="en-US" sz="700" b="1"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46" name="角丸四角形 59">
            <a:extLst>
              <a:ext uri="{FF2B5EF4-FFF2-40B4-BE49-F238E27FC236}">
                <a16:creationId xmlns:a16="http://schemas.microsoft.com/office/drawing/2014/main" id="{763AAB8F-6BC6-4390-AB8A-147C7373CB75}"/>
              </a:ext>
            </a:extLst>
          </p:cNvPr>
          <p:cNvSpPr/>
          <p:nvPr/>
        </p:nvSpPr>
        <p:spPr>
          <a:xfrm>
            <a:off x="658319" y="4519360"/>
            <a:ext cx="564818"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角丸四角形 70">
            <a:extLst>
              <a:ext uri="{FF2B5EF4-FFF2-40B4-BE49-F238E27FC236}">
                <a16:creationId xmlns:a16="http://schemas.microsoft.com/office/drawing/2014/main" id="{FEAACCAB-BB94-4B9D-B700-303F94F61F32}"/>
              </a:ext>
            </a:extLst>
          </p:cNvPr>
          <p:cNvSpPr/>
          <p:nvPr/>
        </p:nvSpPr>
        <p:spPr>
          <a:xfrm>
            <a:off x="1266229" y="2427734"/>
            <a:ext cx="7670643" cy="201906"/>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Sandisk</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/WD</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SN850X</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GX PRO 850)</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Gen4</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1TB/2TB/4TB/8TB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汎用</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H</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へ代替可</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テキスト ボックス 65">
            <a:extLst>
              <a:ext uri="{FF2B5EF4-FFF2-40B4-BE49-F238E27FC236}">
                <a16:creationId xmlns:a16="http://schemas.microsoft.com/office/drawing/2014/main" id="{1454BBEB-4A04-4A12-911A-610211F6B613}"/>
              </a:ext>
            </a:extLst>
          </p:cNvPr>
          <p:cNvSpPr txBox="1"/>
          <p:nvPr/>
        </p:nvSpPr>
        <p:spPr>
          <a:xfrm>
            <a:off x="755576" y="3237727"/>
            <a:ext cx="585575" cy="276999"/>
          </a:xfrm>
          <a:prstGeom prst="rect">
            <a:avLst/>
          </a:prstGeom>
          <a:no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rPr>
              <a:t>Gen4</a:t>
            </a:r>
            <a:endParaRPr kumimoji="1" lang="ja-JP" altLang="en-US" sz="1400" dirty="0">
              <a:latin typeface="Meiryo UI" panose="020B0604030504040204" pitchFamily="50" charset="-128"/>
              <a:ea typeface="Meiryo UI" panose="020B0604030504040204" pitchFamily="50" charset="-128"/>
            </a:endParaRPr>
          </a:p>
        </p:txBody>
      </p:sp>
      <p:sp>
        <p:nvSpPr>
          <p:cNvPr id="41" name="角丸四角形 44">
            <a:extLst>
              <a:ext uri="{FF2B5EF4-FFF2-40B4-BE49-F238E27FC236}">
                <a16:creationId xmlns:a16="http://schemas.microsoft.com/office/drawing/2014/main" id="{2815197F-DE1A-4F2B-9BA5-DAECD4AB8F9C}"/>
              </a:ext>
            </a:extLst>
          </p:cNvPr>
          <p:cNvSpPr/>
          <p:nvPr/>
        </p:nvSpPr>
        <p:spPr>
          <a:xfrm>
            <a:off x="1258677" y="4371950"/>
            <a:ext cx="7693792" cy="20978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WD</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Blue</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SA510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1TB/2TB/4TB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　</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Sandisk</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520 SATA</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へ移行</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テキスト ボックス 49">
            <a:extLst>
              <a:ext uri="{FF2B5EF4-FFF2-40B4-BE49-F238E27FC236}">
                <a16:creationId xmlns:a16="http://schemas.microsoft.com/office/drawing/2014/main" id="{6CC98BF1-D926-4564-87CA-A4A0A3F150CA}"/>
              </a:ext>
            </a:extLst>
          </p:cNvPr>
          <p:cNvSpPr txBox="1"/>
          <p:nvPr/>
        </p:nvSpPr>
        <p:spPr>
          <a:xfrm>
            <a:off x="668957" y="1070615"/>
            <a:ext cx="585575" cy="276999"/>
          </a:xfrm>
          <a:prstGeom prst="rect">
            <a:avLst/>
          </a:prstGeom>
          <a:no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rPr>
              <a:t>Gen5</a:t>
            </a:r>
            <a:endParaRPr kumimoji="1" lang="ja-JP" altLang="en-US" sz="1400" dirty="0">
              <a:latin typeface="Meiryo UI" panose="020B0604030504040204" pitchFamily="50" charset="-128"/>
              <a:ea typeface="Meiryo UI" panose="020B0604030504040204" pitchFamily="50" charset="-128"/>
            </a:endParaRPr>
          </a:p>
        </p:txBody>
      </p:sp>
      <p:cxnSp>
        <p:nvCxnSpPr>
          <p:cNvPr id="60" name="直線コネクタ 59">
            <a:extLst>
              <a:ext uri="{FF2B5EF4-FFF2-40B4-BE49-F238E27FC236}">
                <a16:creationId xmlns:a16="http://schemas.microsoft.com/office/drawing/2014/main" id="{03DDA970-0963-4C58-97F3-27E6D66E8002}"/>
              </a:ext>
            </a:extLst>
          </p:cNvPr>
          <p:cNvCxnSpPr>
            <a:cxnSpLocks/>
          </p:cNvCxnSpPr>
          <p:nvPr/>
        </p:nvCxnSpPr>
        <p:spPr>
          <a:xfrm>
            <a:off x="827585" y="2283718"/>
            <a:ext cx="8136893" cy="0"/>
          </a:xfrm>
          <a:prstGeom prst="line">
            <a:avLst/>
          </a:prstGeom>
          <a:ln w="1905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sp>
        <p:nvSpPr>
          <p:cNvPr id="64" name="角丸四角形 66">
            <a:extLst>
              <a:ext uri="{FF2B5EF4-FFF2-40B4-BE49-F238E27FC236}">
                <a16:creationId xmlns:a16="http://schemas.microsoft.com/office/drawing/2014/main" id="{EA44645A-54C2-4CFF-A95B-750FF5F5EB5B}"/>
              </a:ext>
            </a:extLst>
          </p:cNvPr>
          <p:cNvSpPr/>
          <p:nvPr/>
        </p:nvSpPr>
        <p:spPr>
          <a:xfrm>
            <a:off x="1273957" y="2715766"/>
            <a:ext cx="2361939" cy="201906"/>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Seagate FireCuda530R Gen4</a:t>
            </a:r>
          </a:p>
        </p:txBody>
      </p:sp>
      <p:sp>
        <p:nvSpPr>
          <p:cNvPr id="67" name="角丸四角形 27">
            <a:extLst>
              <a:ext uri="{FF2B5EF4-FFF2-40B4-BE49-F238E27FC236}">
                <a16:creationId xmlns:a16="http://schemas.microsoft.com/office/drawing/2014/main" id="{56EEBCB8-CE21-4422-A403-90C9FA341B8B}"/>
              </a:ext>
            </a:extLst>
          </p:cNvPr>
          <p:cNvSpPr/>
          <p:nvPr/>
        </p:nvSpPr>
        <p:spPr>
          <a:xfrm>
            <a:off x="1258677" y="1563638"/>
            <a:ext cx="7685745" cy="22384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PhisonE31T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1TB/2TB</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(/4TB)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キャッシュレス</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DB3384E9-52E4-422F-BA6E-17EB7D6C7E54}"/>
              </a:ext>
            </a:extLst>
          </p:cNvPr>
          <p:cNvSpPr>
            <a:spLocks noGrp="1"/>
          </p:cNvSpPr>
          <p:nvPr>
            <p:ph type="sldNum" sz="quarter" idx="12"/>
          </p:nvPr>
        </p:nvSpPr>
        <p:spPr/>
        <p:txBody>
          <a:bodyPr/>
          <a:lstStyle/>
          <a:p>
            <a:fld id="{F9DFCEB9-CAE4-4F3C-93D0-85C4724A0355}" type="slidenum">
              <a:rPr kumimoji="1" lang="ja-JP" altLang="en-US" smtClean="0"/>
              <a:t>17</a:t>
            </a:fld>
            <a:endParaRPr kumimoji="1" lang="ja-JP" altLang="en-US"/>
          </a:p>
        </p:txBody>
      </p:sp>
      <p:sp>
        <p:nvSpPr>
          <p:cNvPr id="53" name="角丸四角形 27">
            <a:extLst>
              <a:ext uri="{FF2B5EF4-FFF2-40B4-BE49-F238E27FC236}">
                <a16:creationId xmlns:a16="http://schemas.microsoft.com/office/drawing/2014/main" id="{EA652909-01D6-4405-B2B8-401ED28DF2F7}"/>
              </a:ext>
            </a:extLst>
          </p:cNvPr>
          <p:cNvSpPr/>
          <p:nvPr/>
        </p:nvSpPr>
        <p:spPr>
          <a:xfrm>
            <a:off x="1279458" y="535501"/>
            <a:ext cx="7673011" cy="236049"/>
          </a:xfrm>
          <a:prstGeom prst="roundRect">
            <a:avLst/>
          </a:prstGeom>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PhisonE28</a:t>
            </a:r>
            <a:r>
              <a:rPr lang="ja-JP" altLang="en-US" sz="1000" dirty="0">
                <a:latin typeface="Meiryo UI" panose="020B0604030504040204" pitchFamily="50" charset="-128"/>
                <a:ea typeface="Meiryo UI" panose="020B0604030504040204" pitchFamily="50" charset="-128"/>
              </a:rPr>
              <a:t>系　</a:t>
            </a:r>
            <a:r>
              <a:rPr lang="en-US" altLang="ja-JP" sz="1000" dirty="0">
                <a:latin typeface="Meiryo UI" panose="020B0604030504040204" pitchFamily="50" charset="-128"/>
                <a:ea typeface="Meiryo UI" panose="020B0604030504040204" pitchFamily="50" charset="-128"/>
              </a:rPr>
              <a:t>1TB/2TB(/4TB)</a:t>
            </a:r>
          </a:p>
        </p:txBody>
      </p:sp>
      <p:sp>
        <p:nvSpPr>
          <p:cNvPr id="56" name="角丸四角形 27">
            <a:extLst>
              <a:ext uri="{FF2B5EF4-FFF2-40B4-BE49-F238E27FC236}">
                <a16:creationId xmlns:a16="http://schemas.microsoft.com/office/drawing/2014/main" id="{65A571E7-B132-4574-A180-CDD42511511D}"/>
              </a:ext>
            </a:extLst>
          </p:cNvPr>
          <p:cNvSpPr/>
          <p:nvPr/>
        </p:nvSpPr>
        <p:spPr>
          <a:xfrm>
            <a:off x="1271412" y="1023579"/>
            <a:ext cx="7673012" cy="217647"/>
          </a:xfrm>
          <a:prstGeom prst="roundRect">
            <a:avLst/>
          </a:prstGeom>
          <a:solidFill>
            <a:srgbClr val="9BBB59"/>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Sandisk</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/WD SN8100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GX PRO 8100)</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1TB/2TB/4TB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or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PhisonE26</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系</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/SM2508</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系</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標準搭載モデルも有り　</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角丸四角形 27">
            <a:extLst>
              <a:ext uri="{FF2B5EF4-FFF2-40B4-BE49-F238E27FC236}">
                <a16:creationId xmlns:a16="http://schemas.microsoft.com/office/drawing/2014/main" id="{2D975E8C-507D-437F-A557-07E9324F1B13}"/>
              </a:ext>
            </a:extLst>
          </p:cNvPr>
          <p:cNvSpPr/>
          <p:nvPr/>
        </p:nvSpPr>
        <p:spPr>
          <a:xfrm>
            <a:off x="1271411" y="3384078"/>
            <a:ext cx="7666729" cy="217862"/>
          </a:xfrm>
          <a:prstGeom prst="roundRect">
            <a:avLst/>
          </a:prstGeom>
          <a:solidFill>
            <a:srgbClr val="9BBB59"/>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err="1">
                <a:latin typeface="Meiryo UI" panose="020B0604030504040204" pitchFamily="50" charset="-128"/>
                <a:ea typeface="Meiryo UI" panose="020B0604030504040204" pitchFamily="50" charset="-128"/>
              </a:rPr>
              <a:t>Sandisk</a:t>
            </a:r>
            <a:r>
              <a:rPr lang="en-US" altLang="ja-JP" sz="1000" dirty="0">
                <a:latin typeface="Meiryo UI" panose="020B0604030504040204" pitchFamily="50" charset="-128"/>
                <a:ea typeface="Meiryo UI" panose="020B0604030504040204" pitchFamily="50" charset="-128"/>
              </a:rPr>
              <a:t>/WD SN5100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5100)</a:t>
            </a:r>
            <a:r>
              <a:rPr lang="en-US" altLang="ja-JP" sz="1000" dirty="0">
                <a:solidFill>
                  <a:srgbClr val="FFC000"/>
                </a:solidFill>
                <a:latin typeface="Meiryo UI" panose="020B0604030504040204" pitchFamily="50" charset="-128"/>
                <a:ea typeface="Meiryo UI" panose="020B0604030504040204" pitchFamily="50" charset="-128"/>
              </a:rPr>
              <a:t> </a:t>
            </a:r>
            <a:r>
              <a:rPr lang="ja-JP" altLang="en-US" sz="1000" dirty="0">
                <a:solidFill>
                  <a:srgbClr val="FFC000"/>
                </a:solidFill>
                <a:latin typeface="Meiryo UI" panose="020B0604030504040204" pitchFamily="50" charset="-128"/>
                <a:ea typeface="Meiryo UI" panose="020B0604030504040204" pitchFamily="50" charset="-128"/>
              </a:rPr>
              <a:t>→</a:t>
            </a:r>
            <a:r>
              <a:rPr lang="en-US" altLang="ja-JP" sz="10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 Optimus 5150 </a:t>
            </a:r>
            <a:r>
              <a:rPr lang="en-US" altLang="ja-JP" sz="1000" dirty="0">
                <a:latin typeface="Meiryo UI" panose="020B0604030504040204" pitchFamily="50" charset="-128"/>
                <a:ea typeface="Meiryo UI" panose="020B0604030504040204" pitchFamily="50" charset="-128"/>
              </a:rPr>
              <a:t>Gen4 500GB/1TB/2TB/4TB</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汎用</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M</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へ代替可</a:t>
            </a:r>
            <a:endParaRPr lang="en-US" altLang="ja-JP" sz="800" dirty="0">
              <a:latin typeface="Meiryo UI" panose="020B0604030504040204" pitchFamily="50" charset="-128"/>
              <a:ea typeface="Meiryo UI" panose="020B0604030504040204" pitchFamily="50" charset="-128"/>
            </a:endParaRPr>
          </a:p>
        </p:txBody>
      </p:sp>
      <p:sp>
        <p:nvSpPr>
          <p:cNvPr id="71" name="角丸四角形 44">
            <a:extLst>
              <a:ext uri="{FF2B5EF4-FFF2-40B4-BE49-F238E27FC236}">
                <a16:creationId xmlns:a16="http://schemas.microsoft.com/office/drawing/2014/main" id="{AB7712DA-F432-44FE-9D7C-EBBD729AA762}"/>
              </a:ext>
            </a:extLst>
          </p:cNvPr>
          <p:cNvSpPr/>
          <p:nvPr/>
        </p:nvSpPr>
        <p:spPr>
          <a:xfrm>
            <a:off x="1258677" y="4666219"/>
            <a:ext cx="7693792" cy="20978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SAMSUNG 870EVO</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角丸四角形 51"/>
          <p:cNvSpPr/>
          <p:nvPr/>
        </p:nvSpPr>
        <p:spPr>
          <a:xfrm>
            <a:off x="628622" y="2160589"/>
            <a:ext cx="585575"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角丸四角形 27">
            <a:extLst>
              <a:ext uri="{FF2B5EF4-FFF2-40B4-BE49-F238E27FC236}">
                <a16:creationId xmlns:a16="http://schemas.microsoft.com/office/drawing/2014/main" id="{4ADACF37-E830-4471-A6BD-733B6DAD9C19}"/>
              </a:ext>
            </a:extLst>
          </p:cNvPr>
          <p:cNvSpPr/>
          <p:nvPr/>
        </p:nvSpPr>
        <p:spPr>
          <a:xfrm>
            <a:off x="1271411" y="3075806"/>
            <a:ext cx="7666729" cy="217862"/>
          </a:xfrm>
          <a:prstGeom prst="roundRect">
            <a:avLst/>
          </a:prstGeom>
          <a:solidFill>
            <a:srgbClr val="9BBB59"/>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err="1">
                <a:latin typeface="Meiryo UI" panose="020B0604030504040204" pitchFamily="50" charset="-128"/>
                <a:ea typeface="Meiryo UI" panose="020B0604030504040204" pitchFamily="50" charset="-128"/>
              </a:rPr>
              <a:t>Sandisk</a:t>
            </a:r>
            <a:r>
              <a:rPr lang="en-US" altLang="ja-JP" sz="1000" dirty="0">
                <a:latin typeface="Meiryo UI" panose="020B0604030504040204" pitchFamily="50" charset="-128"/>
                <a:ea typeface="Meiryo UI" panose="020B0604030504040204" pitchFamily="50" charset="-128"/>
              </a:rPr>
              <a:t>/WD SN7100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GX 7100)</a:t>
            </a:r>
            <a:r>
              <a:rPr lang="en-US" altLang="ja-JP" sz="1000" dirty="0">
                <a:latin typeface="Meiryo UI" panose="020B0604030504040204" pitchFamily="50" charset="-128"/>
                <a:ea typeface="Meiryo UI" panose="020B0604030504040204" pitchFamily="50" charset="-128"/>
              </a:rPr>
              <a:t> Gen4 (500GB/)1TB/2TB/4TB</a:t>
            </a:r>
          </a:p>
        </p:txBody>
      </p:sp>
      <p:sp>
        <p:nvSpPr>
          <p:cNvPr id="20" name="角丸四角形 66">
            <a:extLst>
              <a:ext uri="{FF2B5EF4-FFF2-40B4-BE49-F238E27FC236}">
                <a16:creationId xmlns:a16="http://schemas.microsoft.com/office/drawing/2014/main" id="{581C9BCE-66F4-46DB-AFC5-8326484B91B3}"/>
              </a:ext>
            </a:extLst>
          </p:cNvPr>
          <p:cNvSpPr/>
          <p:nvPr/>
        </p:nvSpPr>
        <p:spPr>
          <a:xfrm>
            <a:off x="1271411" y="1275749"/>
            <a:ext cx="7699648" cy="71865"/>
          </a:xfrm>
          <a:prstGeom prst="round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rPr>
              <a:t>他候補品　</a:t>
            </a:r>
            <a:r>
              <a:rPr lang="en-US" altLang="ja-JP" sz="700" dirty="0">
                <a:solidFill>
                  <a:schemeClr val="tx1"/>
                </a:solidFill>
                <a:latin typeface="Meiryo UI" panose="020B0604030504040204" pitchFamily="50" charset="-128"/>
                <a:ea typeface="Meiryo UI" panose="020B0604030504040204" pitchFamily="50" charset="-128"/>
              </a:rPr>
              <a:t>SAMSUNG 9100 PRO</a:t>
            </a:r>
            <a:r>
              <a:rPr lang="ja-JP" altLang="en-US" sz="700" dirty="0">
                <a:solidFill>
                  <a:schemeClr val="tx1"/>
                </a:solidFill>
                <a:latin typeface="Meiryo UI" panose="020B0604030504040204" pitchFamily="50" charset="-128"/>
                <a:ea typeface="Meiryo UI" panose="020B0604030504040204" pitchFamily="50" charset="-128"/>
              </a:rPr>
              <a:t>、</a:t>
            </a:r>
            <a:r>
              <a:rPr lang="en-US" altLang="ja-JP" sz="700" dirty="0">
                <a:solidFill>
                  <a:schemeClr val="tx1"/>
                </a:solidFill>
                <a:latin typeface="Meiryo UI" panose="020B0604030504040204" pitchFamily="50" charset="-128"/>
                <a:ea typeface="Meiryo UI" panose="020B0604030504040204" pitchFamily="50" charset="-128"/>
              </a:rPr>
              <a:t>Micron 4600</a:t>
            </a:r>
            <a:r>
              <a:rPr lang="ja-JP" altLang="en-US" sz="700" dirty="0">
                <a:solidFill>
                  <a:schemeClr val="tx1"/>
                </a:solidFill>
                <a:latin typeface="Meiryo UI" panose="020B0604030504040204" pitchFamily="50" charset="-128"/>
                <a:ea typeface="Meiryo UI" panose="020B0604030504040204" pitchFamily="50" charset="-128"/>
              </a:rPr>
              <a:t>、</a:t>
            </a:r>
            <a:r>
              <a:rPr lang="en-US" altLang="ja-JP" sz="700" dirty="0">
                <a:solidFill>
                  <a:schemeClr val="tx1"/>
                </a:solidFill>
                <a:latin typeface="Meiryo UI" panose="020B0604030504040204" pitchFamily="50" charset="-128"/>
                <a:ea typeface="Meiryo UI" panose="020B0604030504040204" pitchFamily="50" charset="-128"/>
              </a:rPr>
              <a:t>(KIOXIA EXCERIA PRO G2)</a:t>
            </a:r>
            <a:r>
              <a:rPr lang="ja-JP" altLang="en-US" sz="700" dirty="0">
                <a:solidFill>
                  <a:schemeClr val="tx1"/>
                </a:solidFill>
                <a:latin typeface="Meiryo UI" panose="020B0604030504040204" pitchFamily="50" charset="-128"/>
                <a:ea typeface="Meiryo UI" panose="020B0604030504040204" pitchFamily="50" charset="-128"/>
              </a:rPr>
              <a:t>など</a:t>
            </a:r>
            <a:endParaRPr lang="en-US" altLang="ja-JP" sz="700" dirty="0">
              <a:solidFill>
                <a:schemeClr val="tx1"/>
              </a:solidFill>
              <a:latin typeface="Meiryo UI" panose="020B0604030504040204" pitchFamily="50" charset="-128"/>
              <a:ea typeface="Meiryo UI" panose="020B0604030504040204" pitchFamily="50" charset="-128"/>
            </a:endParaRPr>
          </a:p>
        </p:txBody>
      </p:sp>
      <p:sp>
        <p:nvSpPr>
          <p:cNvPr id="24" name="角丸四角形 66">
            <a:extLst>
              <a:ext uri="{FF2B5EF4-FFF2-40B4-BE49-F238E27FC236}">
                <a16:creationId xmlns:a16="http://schemas.microsoft.com/office/drawing/2014/main" id="{28ABB38C-568B-4305-A6FA-3757FF3F706E}"/>
              </a:ext>
            </a:extLst>
          </p:cNvPr>
          <p:cNvSpPr/>
          <p:nvPr/>
        </p:nvSpPr>
        <p:spPr>
          <a:xfrm>
            <a:off x="1264830" y="1818646"/>
            <a:ext cx="7699648" cy="71865"/>
          </a:xfrm>
          <a:prstGeom prst="round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rPr>
              <a:t>他候補品　</a:t>
            </a:r>
            <a:r>
              <a:rPr lang="en-US" altLang="ja-JP" sz="700" dirty="0">
                <a:solidFill>
                  <a:schemeClr val="tx1"/>
                </a:solidFill>
                <a:latin typeface="Meiryo UI" panose="020B0604030504040204" pitchFamily="50" charset="-128"/>
                <a:ea typeface="Meiryo UI" panose="020B0604030504040204" pitchFamily="50" charset="-128"/>
              </a:rPr>
              <a:t>(KIOXIA EXCERIA G3/PLUS G4)</a:t>
            </a:r>
          </a:p>
        </p:txBody>
      </p:sp>
      <p:sp>
        <p:nvSpPr>
          <p:cNvPr id="29" name="テキスト ボックス 28">
            <a:extLst>
              <a:ext uri="{FF2B5EF4-FFF2-40B4-BE49-F238E27FC236}">
                <a16:creationId xmlns:a16="http://schemas.microsoft.com/office/drawing/2014/main" id="{CE3EEE0C-79F8-4180-A942-8A3804810124}"/>
              </a:ext>
            </a:extLst>
          </p:cNvPr>
          <p:cNvSpPr txBox="1"/>
          <p:nvPr/>
        </p:nvSpPr>
        <p:spPr>
          <a:xfrm>
            <a:off x="2429505" y="2818587"/>
            <a:ext cx="654720" cy="246221"/>
          </a:xfrm>
          <a:prstGeom prst="rect">
            <a:avLst/>
          </a:prstGeom>
          <a:noFill/>
        </p:spPr>
        <p:txBody>
          <a:bodyPr wrap="square" rtlCol="0">
            <a:spAutoFit/>
          </a:bodyPr>
          <a:lstStyle/>
          <a:p>
            <a:r>
              <a:rPr kumimoji="1" lang="en-US" altLang="ja-JP" sz="1000" dirty="0">
                <a:highlight>
                  <a:srgbClr val="FFFF00"/>
                </a:highlight>
                <a:latin typeface="Meiryo UI" panose="020B0604030504040204" pitchFamily="50" charset="-128"/>
                <a:ea typeface="Meiryo UI" panose="020B0604030504040204" pitchFamily="50" charset="-128"/>
              </a:rPr>
              <a:t>|</a:t>
            </a:r>
            <a:r>
              <a:rPr kumimoji="1" lang="ja-JP" altLang="en-US" sz="1000" dirty="0">
                <a:highlight>
                  <a:srgbClr val="FFFF00"/>
                </a:highlight>
                <a:latin typeface="Meiryo UI" panose="020B0604030504040204" pitchFamily="50" charset="-128"/>
                <a:ea typeface="Meiryo UI" panose="020B0604030504040204" pitchFamily="50" charset="-128"/>
              </a:rPr>
              <a:t>→</a:t>
            </a:r>
            <a:r>
              <a:rPr kumimoji="1" lang="en-US" altLang="ja-JP" sz="1000" dirty="0">
                <a:highlight>
                  <a:srgbClr val="FFFF00"/>
                </a:highlight>
                <a:latin typeface="Meiryo UI" panose="020B0604030504040204" pitchFamily="50" charset="-128"/>
                <a:ea typeface="Meiryo UI" panose="020B0604030504040204" pitchFamily="50" charset="-128"/>
              </a:rPr>
              <a:t>EOL</a:t>
            </a:r>
            <a:endParaRPr kumimoji="1" lang="ja-JP" altLang="en-US" sz="1000" dirty="0">
              <a:highlight>
                <a:srgbClr val="FFFF00"/>
              </a:highlight>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714A8B33-092D-4599-A65E-35A011B848A8}"/>
              </a:ext>
            </a:extLst>
          </p:cNvPr>
          <p:cNvSpPr txBox="1"/>
          <p:nvPr/>
        </p:nvSpPr>
        <p:spPr>
          <a:xfrm>
            <a:off x="2854670" y="2823452"/>
            <a:ext cx="638632" cy="230832"/>
          </a:xfrm>
          <a:prstGeom prst="rect">
            <a:avLst/>
          </a:prstGeom>
          <a:noFill/>
        </p:spPr>
        <p:txBody>
          <a:bodyPr wrap="square" rtlCol="0">
            <a:spAutoFit/>
          </a:bodyPr>
          <a:lstStyle/>
          <a:p>
            <a:r>
              <a:rPr kumimoji="1" lang="ja-JP" altLang="en-US" sz="900" i="1" dirty="0">
                <a:solidFill>
                  <a:srgbClr val="FF0000"/>
                </a:solidFill>
                <a:highlight>
                  <a:srgbClr val="000000"/>
                </a:highlight>
              </a:rPr>
              <a:t>在庫限り</a:t>
            </a:r>
          </a:p>
        </p:txBody>
      </p:sp>
    </p:spTree>
    <p:extLst>
      <p:ext uri="{BB962C8B-B14F-4D97-AF65-F5344CB8AC3E}">
        <p14:creationId xmlns:p14="http://schemas.microsoft.com/office/powerpoint/2010/main" val="3268200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84953637"/>
              </p:ext>
            </p:extLst>
          </p:nvPr>
        </p:nvGraphicFramePr>
        <p:xfrm>
          <a:off x="35496" y="51468"/>
          <a:ext cx="8928982" cy="4680522"/>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514350">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Standard SSD </a:t>
                      </a:r>
                      <a:r>
                        <a:rPr kumimoji="1" lang="en-US" altLang="ja-JP" sz="1050" i="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66172">
                <a:tc>
                  <a:txBody>
                    <a:bodyPr/>
                    <a:lstStyle/>
                    <a:p>
                      <a:pPr algn="l"/>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NVMe</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9" name="角丸四角形 50">
            <a:extLst>
              <a:ext uri="{FF2B5EF4-FFF2-40B4-BE49-F238E27FC236}">
                <a16:creationId xmlns:a16="http://schemas.microsoft.com/office/drawing/2014/main" id="{620CD22F-4611-4F67-B6F6-C2328CC78293}"/>
              </a:ext>
            </a:extLst>
          </p:cNvPr>
          <p:cNvSpPr/>
          <p:nvPr/>
        </p:nvSpPr>
        <p:spPr>
          <a:xfrm>
            <a:off x="525243" y="2496262"/>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標準</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27">
            <a:extLst>
              <a:ext uri="{FF2B5EF4-FFF2-40B4-BE49-F238E27FC236}">
                <a16:creationId xmlns:a16="http://schemas.microsoft.com/office/drawing/2014/main" id="{1DCD318F-A9D3-420F-A239-DE7A318231BB}"/>
              </a:ext>
            </a:extLst>
          </p:cNvPr>
          <p:cNvSpPr/>
          <p:nvPr/>
        </p:nvSpPr>
        <p:spPr>
          <a:xfrm>
            <a:off x="1259633" y="1619095"/>
            <a:ext cx="7712936" cy="88557"/>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2TB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Seagate</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FC530R</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カスタム併用</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WD SN850X</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カスタム併用</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Gen4x4</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角丸四角形 27"/>
          <p:cNvSpPr/>
          <p:nvPr/>
        </p:nvSpPr>
        <p:spPr>
          <a:xfrm>
            <a:off x="1259632" y="1923680"/>
            <a:ext cx="7704846" cy="16840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1TB</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Seagate</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FC530R</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カスタム併用</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WD SN850X</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カスタム併用</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900" dirty="0">
                <a:latin typeface="Meiryo UI" panose="020B0604030504040204" pitchFamily="50" charset="-128"/>
                <a:ea typeface="Meiryo UI" panose="020B0604030504040204" pitchFamily="50" charset="-128"/>
                <a:cs typeface="Meiryo UI" panose="020B0604030504040204" pitchFamily="50" charset="-128"/>
              </a:rPr>
              <a:t> Gen4x4</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5" name="直線コネクタ 34">
            <a:extLst>
              <a:ext uri="{FF2B5EF4-FFF2-40B4-BE49-F238E27FC236}">
                <a16:creationId xmlns:a16="http://schemas.microsoft.com/office/drawing/2014/main" id="{DBD8D8EE-B2E4-46B9-8DD0-8A79984DDCF7}"/>
              </a:ext>
            </a:extLst>
          </p:cNvPr>
          <p:cNvCxnSpPr>
            <a:cxnSpLocks/>
          </p:cNvCxnSpPr>
          <p:nvPr/>
        </p:nvCxnSpPr>
        <p:spPr>
          <a:xfrm>
            <a:off x="1173314" y="2283718"/>
            <a:ext cx="7799254" cy="0"/>
          </a:xfrm>
          <a:prstGeom prst="line">
            <a:avLst/>
          </a:prstGeom>
          <a:ln w="1905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7521C747-D81F-4FC4-82AE-7987EC8BB14D}"/>
              </a:ext>
            </a:extLst>
          </p:cNvPr>
          <p:cNvSpPr txBox="1"/>
          <p:nvPr/>
        </p:nvSpPr>
        <p:spPr>
          <a:xfrm>
            <a:off x="17747" y="3305629"/>
            <a:ext cx="1331639" cy="400110"/>
          </a:xfrm>
          <a:prstGeom prst="rect">
            <a:avLst/>
          </a:prstGeom>
          <a:noFill/>
        </p:spPr>
        <p:txBody>
          <a:bodyPr wrap="square" rtlCol="0">
            <a:spAutoFit/>
          </a:bodyPr>
          <a:lstStyle/>
          <a:p>
            <a:r>
              <a:rPr kumimoji="1" lang="ja-JP" altLang="en-US" sz="1000" b="1" dirty="0">
                <a:solidFill>
                  <a:schemeClr val="accent1"/>
                </a:solidFill>
                <a:latin typeface="Meiryo UI" panose="020B0604030504040204" pitchFamily="50" charset="-128"/>
                <a:ea typeface="Meiryo UI" panose="020B0604030504040204" pitchFamily="50" charset="-128"/>
              </a:rPr>
              <a:t>汎用</a:t>
            </a:r>
            <a:r>
              <a:rPr kumimoji="1" lang="en-US" altLang="ja-JP" sz="1000" b="1" dirty="0">
                <a:solidFill>
                  <a:schemeClr val="accent1"/>
                </a:solidFill>
                <a:latin typeface="Meiryo UI" panose="020B0604030504040204" pitchFamily="50" charset="-128"/>
                <a:ea typeface="Meiryo UI" panose="020B0604030504040204" pitchFamily="50" charset="-128"/>
              </a:rPr>
              <a:t>Gen4SSD_M</a:t>
            </a:r>
          </a:p>
          <a:p>
            <a:r>
              <a:rPr kumimoji="1" lang="ja-JP" altLang="en-US" sz="1000" b="1" dirty="0">
                <a:solidFill>
                  <a:schemeClr val="accent1"/>
                </a:solidFill>
                <a:latin typeface="Meiryo UI" panose="020B0604030504040204" pitchFamily="50" charset="-128"/>
                <a:ea typeface="Meiryo UI" panose="020B0604030504040204" pitchFamily="50" charset="-128"/>
              </a:rPr>
              <a:t>汎用</a:t>
            </a:r>
            <a:r>
              <a:rPr kumimoji="1" lang="en-US" altLang="ja-JP" sz="1000" b="1" dirty="0">
                <a:solidFill>
                  <a:schemeClr val="accent1"/>
                </a:solidFill>
                <a:latin typeface="Meiryo UI" panose="020B0604030504040204" pitchFamily="50" charset="-128"/>
                <a:ea typeface="Meiryo UI" panose="020B0604030504040204" pitchFamily="50" charset="-128"/>
              </a:rPr>
              <a:t>Gen4SSD_S</a:t>
            </a:r>
            <a:endParaRPr kumimoji="1" lang="ja-JP" altLang="en-US" sz="1050" b="1" dirty="0">
              <a:solidFill>
                <a:schemeClr val="accent1"/>
              </a:solidFill>
              <a:latin typeface="Meiryo UI" panose="020B0604030504040204" pitchFamily="50" charset="-128"/>
              <a:ea typeface="Meiryo UI" panose="020B0604030504040204" pitchFamily="50" charset="-128"/>
            </a:endParaRPr>
          </a:p>
        </p:txBody>
      </p:sp>
      <p:sp>
        <p:nvSpPr>
          <p:cNvPr id="44" name="テキスト ボックス 43">
            <a:extLst>
              <a:ext uri="{FF2B5EF4-FFF2-40B4-BE49-F238E27FC236}">
                <a16:creationId xmlns:a16="http://schemas.microsoft.com/office/drawing/2014/main" id="{D5219A87-C576-4B3D-9C91-7263992A20DB}"/>
              </a:ext>
            </a:extLst>
          </p:cNvPr>
          <p:cNvSpPr txBox="1"/>
          <p:nvPr/>
        </p:nvSpPr>
        <p:spPr>
          <a:xfrm>
            <a:off x="35496" y="1749464"/>
            <a:ext cx="1296143" cy="246221"/>
          </a:xfrm>
          <a:prstGeom prst="rect">
            <a:avLst/>
          </a:prstGeom>
          <a:noFill/>
        </p:spPr>
        <p:txBody>
          <a:bodyPr wrap="square" rtlCol="0">
            <a:spAutoFit/>
          </a:bodyPr>
          <a:lstStyle/>
          <a:p>
            <a:r>
              <a:rPr kumimoji="1" lang="ja-JP" altLang="en-US" sz="1000" b="1" dirty="0">
                <a:solidFill>
                  <a:schemeClr val="accent1"/>
                </a:solidFill>
                <a:latin typeface="Meiryo UI" panose="020B0604030504040204" pitchFamily="50" charset="-128"/>
                <a:ea typeface="Meiryo UI" panose="020B0604030504040204" pitchFamily="50" charset="-128"/>
              </a:rPr>
              <a:t>汎用</a:t>
            </a:r>
            <a:r>
              <a:rPr kumimoji="1" lang="en-US" altLang="ja-JP" sz="1000" b="1" dirty="0">
                <a:solidFill>
                  <a:schemeClr val="accent1"/>
                </a:solidFill>
                <a:latin typeface="Meiryo UI" panose="020B0604030504040204" pitchFamily="50" charset="-128"/>
                <a:ea typeface="Meiryo UI" panose="020B0604030504040204" pitchFamily="50" charset="-128"/>
              </a:rPr>
              <a:t>Gen4SSD_H</a:t>
            </a:r>
            <a:endParaRPr kumimoji="1" lang="ja-JP" altLang="en-US" sz="1050" b="1" dirty="0">
              <a:solidFill>
                <a:schemeClr val="accent1"/>
              </a:solidFill>
              <a:latin typeface="Meiryo UI" panose="020B0604030504040204" pitchFamily="50" charset="-128"/>
              <a:ea typeface="Meiryo UI" panose="020B0604030504040204" pitchFamily="50" charset="-128"/>
            </a:endParaRPr>
          </a:p>
        </p:txBody>
      </p:sp>
      <p:sp>
        <p:nvSpPr>
          <p:cNvPr id="39" name="角丸四角形 27">
            <a:extLst>
              <a:ext uri="{FF2B5EF4-FFF2-40B4-BE49-F238E27FC236}">
                <a16:creationId xmlns:a16="http://schemas.microsoft.com/office/drawing/2014/main" id="{9D37CBE8-DE73-4DEA-9EBD-853D44CF90C9}"/>
              </a:ext>
            </a:extLst>
          </p:cNvPr>
          <p:cNvSpPr/>
          <p:nvPr/>
        </p:nvSpPr>
        <p:spPr>
          <a:xfrm>
            <a:off x="1251542" y="3191665"/>
            <a:ext cx="7712936" cy="318572"/>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低冷却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1TB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PhisonE27T QLC/E33T QLC,KIOXIA EXCERIA BASIC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
        <p:nvSpPr>
          <p:cNvPr id="56" name="テキスト ボックス 55">
            <a:extLst>
              <a:ext uri="{FF2B5EF4-FFF2-40B4-BE49-F238E27FC236}">
                <a16:creationId xmlns:a16="http://schemas.microsoft.com/office/drawing/2014/main" id="{25F2B053-9115-4843-B51A-308BB5FA7683}"/>
              </a:ext>
            </a:extLst>
          </p:cNvPr>
          <p:cNvSpPr txBox="1"/>
          <p:nvPr/>
        </p:nvSpPr>
        <p:spPr>
          <a:xfrm>
            <a:off x="1331639" y="4242644"/>
            <a:ext cx="7147964" cy="6617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ja-JP" sz="1000" dirty="0">
                <a:solidFill>
                  <a:schemeClr val="tx1"/>
                </a:solidFill>
                <a:latin typeface="Meiryo UI" panose="020B0604030504040204" pitchFamily="50" charset="-128"/>
                <a:ea typeface="Meiryo UI" panose="020B0604030504040204" pitchFamily="50" charset="-128"/>
              </a:rPr>
              <a:t>Gen4</a:t>
            </a:r>
            <a:r>
              <a:rPr lang="ja-JP" altLang="en-US" sz="1000" dirty="0">
                <a:solidFill>
                  <a:schemeClr val="tx1"/>
                </a:solidFill>
                <a:latin typeface="Meiryo UI" panose="020B0604030504040204" pitchFamily="50" charset="-128"/>
                <a:ea typeface="Meiryo UI" panose="020B0604030504040204" pitchFamily="50" charset="-128"/>
              </a:rPr>
              <a:t>標準は性能差</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発熱差</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で上下をつける</a:t>
            </a:r>
            <a:endParaRPr lang="en-US" altLang="ja-JP" sz="1000" dirty="0">
              <a:solidFill>
                <a:schemeClr val="tx1"/>
              </a:solidFill>
              <a:latin typeface="Meiryo UI" panose="020B0604030504040204" pitchFamily="50" charset="-128"/>
              <a:ea typeface="Meiryo UI" panose="020B0604030504040204" pitchFamily="50" charset="-128"/>
            </a:endParaRPr>
          </a:p>
          <a:p>
            <a:r>
              <a:rPr lang="en-US" altLang="ja-JP" sz="900" dirty="0">
                <a:solidFill>
                  <a:schemeClr val="tx1"/>
                </a:solidFill>
                <a:latin typeface="Meiryo UI" panose="020B0604030504040204" pitchFamily="50" charset="-128"/>
                <a:ea typeface="Meiryo UI" panose="020B0604030504040204" pitchFamily="50" charset="-128"/>
              </a:rPr>
              <a:t>Gen4H</a:t>
            </a:r>
            <a:r>
              <a:rPr lang="ja-JP" altLang="en-US" sz="900" dirty="0">
                <a:solidFill>
                  <a:schemeClr val="tx1"/>
                </a:solidFill>
                <a:latin typeface="Meiryo UI" panose="020B0604030504040204" pitchFamily="50" charset="-128"/>
                <a:ea typeface="Meiryo UI" panose="020B0604030504040204" pitchFamily="50" charset="-128"/>
              </a:rPr>
              <a:t> </a:t>
            </a:r>
            <a:r>
              <a:rPr kumimoji="1" lang="en-US" altLang="ja-JP" sz="900" dirty="0">
                <a:solidFill>
                  <a:schemeClr val="tx1"/>
                </a:solidFill>
                <a:latin typeface="Meiryo UI" panose="020B0604030504040204" pitchFamily="50" charset="-128"/>
                <a:ea typeface="Meiryo UI" panose="020B0604030504040204" pitchFamily="50" charset="-128"/>
              </a:rPr>
              <a:t>TLC</a:t>
            </a:r>
            <a:r>
              <a:rPr kumimoji="1" lang="ja-JP" altLang="en-US" sz="900" dirty="0">
                <a:solidFill>
                  <a:schemeClr val="tx1"/>
                </a:solidFill>
                <a:latin typeface="Meiryo UI" panose="020B0604030504040204" pitchFamily="50" charset="-128"/>
                <a:ea typeface="Meiryo UI" panose="020B0604030504040204" pitchFamily="50" charset="-128"/>
              </a:rPr>
              <a:t>キャッシュ有り　</a:t>
            </a:r>
            <a:r>
              <a:rPr kumimoji="1" lang="en-US" altLang="ja-JP" sz="900" dirty="0">
                <a:solidFill>
                  <a:schemeClr val="tx1"/>
                </a:solidFill>
                <a:latin typeface="Meiryo UI" panose="020B0604030504040204" pitchFamily="50" charset="-128"/>
                <a:ea typeface="Meiryo UI" panose="020B0604030504040204" pitchFamily="50" charset="-128"/>
              </a:rPr>
              <a:t>(PhisonE18/SAMSUNG/Micron/Seagate/</a:t>
            </a:r>
            <a:r>
              <a:rPr kumimoji="1" lang="ja-JP" altLang="en-US" sz="900" dirty="0">
                <a:solidFill>
                  <a:schemeClr val="tx1"/>
                </a:solidFill>
                <a:latin typeface="Meiryo UI" panose="020B0604030504040204" pitchFamily="50" charset="-128"/>
                <a:ea typeface="Meiryo UI" panose="020B0604030504040204" pitchFamily="50" charset="-128"/>
              </a:rPr>
              <a:t>カスタマイズ系含む</a:t>
            </a:r>
            <a:r>
              <a:rPr kumimoji="1" lang="en-US" altLang="ja-JP" sz="900" dirty="0">
                <a:solidFill>
                  <a:schemeClr val="tx1"/>
                </a:solidFill>
                <a:latin typeface="Meiryo UI" panose="020B0604030504040204" pitchFamily="50" charset="-128"/>
                <a:ea typeface="Meiryo UI" panose="020B0604030504040204" pitchFamily="50" charset="-128"/>
              </a:rPr>
              <a:t>)</a:t>
            </a:r>
          </a:p>
          <a:p>
            <a:r>
              <a:rPr lang="en-US" altLang="ja-JP" sz="900" dirty="0">
                <a:solidFill>
                  <a:schemeClr val="tx1"/>
                </a:solidFill>
                <a:latin typeface="Meiryo UI" panose="020B0604030504040204" pitchFamily="50" charset="-128"/>
                <a:ea typeface="Meiryo UI" panose="020B0604030504040204" pitchFamily="50" charset="-128"/>
              </a:rPr>
              <a:t>Gen4M</a:t>
            </a:r>
            <a:r>
              <a:rPr lang="ja-JP" altLang="en-US" sz="900" dirty="0">
                <a:solidFill>
                  <a:schemeClr val="tx1"/>
                </a:solidFill>
                <a:latin typeface="Meiryo UI" panose="020B0604030504040204" pitchFamily="50" charset="-128"/>
                <a:ea typeface="Meiryo UI" panose="020B0604030504040204" pitchFamily="50" charset="-128"/>
              </a:rPr>
              <a:t> </a:t>
            </a:r>
            <a:r>
              <a:rPr lang="en-US" altLang="ja-JP" sz="900" dirty="0">
                <a:solidFill>
                  <a:schemeClr val="tx1"/>
                </a:solidFill>
                <a:latin typeface="Meiryo UI" panose="020B0604030504040204" pitchFamily="50" charset="-128"/>
                <a:ea typeface="Meiryo UI" panose="020B0604030504040204" pitchFamily="50" charset="-128"/>
              </a:rPr>
              <a:t>TLC</a:t>
            </a:r>
            <a:r>
              <a:rPr lang="ja-JP" altLang="en-US" sz="900" dirty="0">
                <a:solidFill>
                  <a:schemeClr val="tx1"/>
                </a:solidFill>
                <a:latin typeface="Meiryo UI" panose="020B0604030504040204" pitchFamily="50" charset="-128"/>
                <a:ea typeface="Meiryo UI" panose="020B0604030504040204" pitchFamily="50" charset="-128"/>
              </a:rPr>
              <a:t>キャッシュレス </a:t>
            </a:r>
            <a:r>
              <a:rPr lang="en-US" altLang="ja-JP" sz="900" dirty="0">
                <a:solidFill>
                  <a:schemeClr val="tx1"/>
                </a:solidFill>
                <a:latin typeface="Meiryo UI" panose="020B0604030504040204" pitchFamily="50" charset="-128"/>
                <a:ea typeface="Meiryo UI" panose="020B0604030504040204" pitchFamily="50" charset="-128"/>
              </a:rPr>
              <a:t>or QLC (Micron/Hynix/SAMSUNGPM9C1</a:t>
            </a:r>
            <a:r>
              <a:rPr lang="ja-JP" altLang="en-US" sz="900" dirty="0">
                <a:solidFill>
                  <a:schemeClr val="tx1"/>
                </a:solidFill>
                <a:latin typeface="Meiryo UI" panose="020B0604030504040204" pitchFamily="50" charset="-128"/>
                <a:ea typeface="Meiryo UI" panose="020B0604030504040204" pitchFamily="50" charset="-128"/>
              </a:rPr>
              <a:t>・</a:t>
            </a:r>
            <a:r>
              <a:rPr lang="en-US" altLang="ja-JP" sz="900" dirty="0">
                <a:solidFill>
                  <a:schemeClr val="tx1"/>
                </a:solidFill>
                <a:latin typeface="Meiryo UI" panose="020B0604030504040204" pitchFamily="50" charset="-128"/>
                <a:ea typeface="Meiryo UI" panose="020B0604030504040204" pitchFamily="50" charset="-128"/>
              </a:rPr>
              <a:t>BM9C1/PhisonE19T/WDSN5100)</a:t>
            </a:r>
          </a:p>
          <a:p>
            <a:r>
              <a:rPr lang="en-US" altLang="ja-JP" sz="900" dirty="0">
                <a:solidFill>
                  <a:schemeClr val="tx1"/>
                </a:solidFill>
                <a:latin typeface="Meiryo UI" panose="020B0604030504040204" pitchFamily="50" charset="-128"/>
                <a:ea typeface="Meiryo UI" panose="020B0604030504040204" pitchFamily="50" charset="-128"/>
              </a:rPr>
              <a:t>Gen4S TLC</a:t>
            </a:r>
            <a:r>
              <a:rPr lang="ja-JP" altLang="en-US" sz="900" dirty="0">
                <a:solidFill>
                  <a:schemeClr val="tx1"/>
                </a:solidFill>
                <a:latin typeface="Meiryo UI" panose="020B0604030504040204" pitchFamily="50" charset="-128"/>
                <a:ea typeface="Meiryo UI" panose="020B0604030504040204" pitchFamily="50" charset="-128"/>
              </a:rPr>
              <a:t>キャッシュレス </a:t>
            </a:r>
            <a:r>
              <a:rPr lang="en-US" altLang="ja-JP" sz="900" dirty="0">
                <a:solidFill>
                  <a:schemeClr val="tx1"/>
                </a:solidFill>
                <a:latin typeface="Meiryo UI" panose="020B0604030504040204" pitchFamily="50" charset="-128"/>
                <a:ea typeface="Meiryo UI" panose="020B0604030504040204" pitchFamily="50" charset="-128"/>
              </a:rPr>
              <a:t>or QLC (SolidigmP41Plus/Miceon2400</a:t>
            </a:r>
            <a:r>
              <a:rPr lang="ja-JP" altLang="en-US" sz="900" dirty="0">
                <a:solidFill>
                  <a:schemeClr val="tx1"/>
                </a:solidFill>
                <a:latin typeface="Meiryo UI" panose="020B0604030504040204" pitchFamily="50" charset="-128"/>
                <a:ea typeface="Meiryo UI" panose="020B0604030504040204" pitchFamily="50" charset="-128"/>
              </a:rPr>
              <a:t>・</a:t>
            </a:r>
            <a:r>
              <a:rPr lang="en-US" altLang="ja-JP" sz="900" dirty="0">
                <a:solidFill>
                  <a:schemeClr val="tx1"/>
                </a:solidFill>
                <a:latin typeface="Meiryo UI" panose="020B0604030504040204" pitchFamily="50" charset="-128"/>
                <a:ea typeface="Meiryo UI" panose="020B0604030504040204" pitchFamily="50" charset="-128"/>
              </a:rPr>
              <a:t>2550/WDSN5000/HynixBC901/PhisonE27T</a:t>
            </a:r>
            <a:r>
              <a:rPr lang="ja-JP" altLang="en-US" sz="900" dirty="0">
                <a:solidFill>
                  <a:schemeClr val="tx1"/>
                </a:solidFill>
                <a:latin typeface="Meiryo UI" panose="020B0604030504040204" pitchFamily="50" charset="-128"/>
                <a:ea typeface="Meiryo UI" panose="020B0604030504040204" pitchFamily="50" charset="-128"/>
              </a:rPr>
              <a:t>・</a:t>
            </a:r>
            <a:r>
              <a:rPr lang="en-US" altLang="ja-JP" sz="900" dirty="0">
                <a:solidFill>
                  <a:schemeClr val="tx1"/>
                </a:solidFill>
                <a:latin typeface="Meiryo UI" panose="020B0604030504040204" pitchFamily="50" charset="-128"/>
                <a:ea typeface="Meiryo UI" panose="020B0604030504040204" pitchFamily="50" charset="-128"/>
              </a:rPr>
              <a:t>E21T</a:t>
            </a:r>
            <a:r>
              <a:rPr lang="ja-JP" altLang="en-US" sz="900" dirty="0">
                <a:solidFill>
                  <a:schemeClr val="tx1"/>
                </a:solidFill>
                <a:latin typeface="Meiryo UI" panose="020B0604030504040204" pitchFamily="50" charset="-128"/>
                <a:ea typeface="Meiryo UI" panose="020B0604030504040204" pitchFamily="50" charset="-128"/>
              </a:rPr>
              <a:t>・</a:t>
            </a:r>
            <a:r>
              <a:rPr lang="en-US" altLang="ja-JP" sz="900" dirty="0">
                <a:solidFill>
                  <a:schemeClr val="tx1"/>
                </a:solidFill>
                <a:latin typeface="Meiryo UI" panose="020B0604030504040204" pitchFamily="50" charset="-128"/>
                <a:ea typeface="Meiryo UI" panose="020B0604030504040204" pitchFamily="50" charset="-128"/>
              </a:rPr>
              <a:t>E33T)</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5" name="角丸四角形 27">
            <a:extLst>
              <a:ext uri="{FF2B5EF4-FFF2-40B4-BE49-F238E27FC236}">
                <a16:creationId xmlns:a16="http://schemas.microsoft.com/office/drawing/2014/main" id="{2296F8C7-E466-46D1-855F-473C9C60A972}"/>
              </a:ext>
            </a:extLst>
          </p:cNvPr>
          <p:cNvSpPr/>
          <p:nvPr/>
        </p:nvSpPr>
        <p:spPr>
          <a:xfrm>
            <a:off x="1251541" y="3867895"/>
            <a:ext cx="7721027" cy="27811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低冷却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512GB,PhisonE27T QLC/E33T QLC,KIOXIA</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EXCERIA BASIC</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
        <p:nvSpPr>
          <p:cNvPr id="20" name="角丸四角形 27">
            <a:extLst>
              <a:ext uri="{FF2B5EF4-FFF2-40B4-BE49-F238E27FC236}">
                <a16:creationId xmlns:a16="http://schemas.microsoft.com/office/drawing/2014/main" id="{917DA944-3ACD-4842-A4C6-B626D9DE71C5}"/>
              </a:ext>
            </a:extLst>
          </p:cNvPr>
          <p:cNvSpPr/>
          <p:nvPr/>
        </p:nvSpPr>
        <p:spPr>
          <a:xfrm>
            <a:off x="1251541" y="3726844"/>
            <a:ext cx="7721027" cy="233603"/>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高冷却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512GB SAMSUNG PM9C1a/BM9C1,PhisonE27T(E19T),Micron2500/2600,Sandisk/WD SN5100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5100)</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カスタム併用</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
        <p:nvSpPr>
          <p:cNvPr id="21" name="角丸四角形 27">
            <a:extLst>
              <a:ext uri="{FF2B5EF4-FFF2-40B4-BE49-F238E27FC236}">
                <a16:creationId xmlns:a16="http://schemas.microsoft.com/office/drawing/2014/main" id="{2C91F61D-E010-4E38-B1C0-4BAF10D32F31}"/>
              </a:ext>
            </a:extLst>
          </p:cNvPr>
          <p:cNvSpPr/>
          <p:nvPr/>
        </p:nvSpPr>
        <p:spPr>
          <a:xfrm>
            <a:off x="1251542" y="3026929"/>
            <a:ext cx="7712936" cy="192894"/>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高冷却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1TB SAMSUNG PM9C1a/BM9C1,PhisonE27T(E19T),Micron2500/2600,Sandisk/WD SN5100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5100)</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カスタム併用</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
        <p:nvSpPr>
          <p:cNvPr id="23" name="角丸四角形 27">
            <a:extLst>
              <a:ext uri="{FF2B5EF4-FFF2-40B4-BE49-F238E27FC236}">
                <a16:creationId xmlns:a16="http://schemas.microsoft.com/office/drawing/2014/main" id="{83C46213-6B9F-4631-B979-6780530B758E}"/>
              </a:ext>
            </a:extLst>
          </p:cNvPr>
          <p:cNvSpPr/>
          <p:nvPr/>
        </p:nvSpPr>
        <p:spPr>
          <a:xfrm>
            <a:off x="1251541" y="2427735"/>
            <a:ext cx="7712956" cy="2147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高冷却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TB SAMSUNG PM9C1a/BM9C1,PhisonE27T(E19T),Micron2500/2600,Sandisk/WD SN5100</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(Optimus 5100)</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カスタム併用</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
        <p:nvSpPr>
          <p:cNvPr id="2" name="スライド番号プレースホルダー 1">
            <a:extLst>
              <a:ext uri="{FF2B5EF4-FFF2-40B4-BE49-F238E27FC236}">
                <a16:creationId xmlns:a16="http://schemas.microsoft.com/office/drawing/2014/main" id="{D6A69DFD-031D-4D33-930D-6FDB8D3D71A3}"/>
              </a:ext>
            </a:extLst>
          </p:cNvPr>
          <p:cNvSpPr>
            <a:spLocks noGrp="1"/>
          </p:cNvSpPr>
          <p:nvPr>
            <p:ph type="sldNum" sz="quarter" idx="12"/>
          </p:nvPr>
        </p:nvSpPr>
        <p:spPr/>
        <p:txBody>
          <a:bodyPr/>
          <a:lstStyle/>
          <a:p>
            <a:fld id="{F9DFCEB9-CAE4-4F3C-93D0-85C4724A0355}" type="slidenum">
              <a:rPr kumimoji="1" lang="ja-JP" altLang="en-US" smtClean="0"/>
              <a:t>18</a:t>
            </a:fld>
            <a:endParaRPr kumimoji="1" lang="ja-JP" altLang="en-US" dirty="0"/>
          </a:p>
        </p:txBody>
      </p:sp>
      <p:cxnSp>
        <p:nvCxnSpPr>
          <p:cNvPr id="24" name="直線コネクタ 23">
            <a:extLst>
              <a:ext uri="{FF2B5EF4-FFF2-40B4-BE49-F238E27FC236}">
                <a16:creationId xmlns:a16="http://schemas.microsoft.com/office/drawing/2014/main" id="{35E1079A-70A5-480E-B2AC-6E267B5D32DF}"/>
              </a:ext>
            </a:extLst>
          </p:cNvPr>
          <p:cNvCxnSpPr>
            <a:cxnSpLocks/>
          </p:cNvCxnSpPr>
          <p:nvPr/>
        </p:nvCxnSpPr>
        <p:spPr>
          <a:xfrm>
            <a:off x="1173314" y="1419622"/>
            <a:ext cx="7799254" cy="0"/>
          </a:xfrm>
          <a:prstGeom prst="line">
            <a:avLst/>
          </a:prstGeom>
          <a:ln w="1905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sp>
        <p:nvSpPr>
          <p:cNvPr id="27" name="角丸四角形 27">
            <a:extLst>
              <a:ext uri="{FF2B5EF4-FFF2-40B4-BE49-F238E27FC236}">
                <a16:creationId xmlns:a16="http://schemas.microsoft.com/office/drawing/2014/main" id="{05181CE3-1927-4808-999F-BA87A904CB79}"/>
              </a:ext>
            </a:extLst>
          </p:cNvPr>
          <p:cNvSpPr/>
          <p:nvPr/>
        </p:nvSpPr>
        <p:spPr>
          <a:xfrm>
            <a:off x="1259632" y="915566"/>
            <a:ext cx="7712936" cy="7582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2TB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SN8100/E31T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Gen5x4</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角丸四角形 27">
            <a:extLst>
              <a:ext uri="{FF2B5EF4-FFF2-40B4-BE49-F238E27FC236}">
                <a16:creationId xmlns:a16="http://schemas.microsoft.com/office/drawing/2014/main" id="{C0C963CF-9393-4CF2-A859-5D6D13F86F9D}"/>
              </a:ext>
            </a:extLst>
          </p:cNvPr>
          <p:cNvSpPr/>
          <p:nvPr/>
        </p:nvSpPr>
        <p:spPr>
          <a:xfrm>
            <a:off x="1259632" y="1059582"/>
            <a:ext cx="7712936" cy="7582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1TB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SN8100/E31T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Gen5x4</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E037F40D-ABB0-4456-9F15-371DAC4C0930}"/>
              </a:ext>
            </a:extLst>
          </p:cNvPr>
          <p:cNvSpPr txBox="1"/>
          <p:nvPr/>
        </p:nvSpPr>
        <p:spPr>
          <a:xfrm>
            <a:off x="35496" y="928304"/>
            <a:ext cx="1296143" cy="246221"/>
          </a:xfrm>
          <a:prstGeom prst="rect">
            <a:avLst/>
          </a:prstGeom>
          <a:noFill/>
        </p:spPr>
        <p:txBody>
          <a:bodyPr wrap="square" rtlCol="0">
            <a:spAutoFit/>
          </a:bodyPr>
          <a:lstStyle/>
          <a:p>
            <a:r>
              <a:rPr kumimoji="1" lang="en-US" altLang="ja-JP" sz="1000" b="1" dirty="0">
                <a:solidFill>
                  <a:schemeClr val="accent1"/>
                </a:solidFill>
                <a:latin typeface="Meiryo UI" panose="020B0604030504040204" pitchFamily="50" charset="-128"/>
                <a:ea typeface="Meiryo UI" panose="020B0604030504040204" pitchFamily="50" charset="-128"/>
              </a:rPr>
              <a:t>Gen5SSD</a:t>
            </a:r>
            <a:endParaRPr kumimoji="1" lang="ja-JP" altLang="en-US" sz="1050" b="1" dirty="0">
              <a:solidFill>
                <a:schemeClr val="accent1"/>
              </a:solidFill>
              <a:latin typeface="Meiryo UI" panose="020B0604030504040204" pitchFamily="50" charset="-128"/>
              <a:ea typeface="Meiryo UI" panose="020B0604030504040204" pitchFamily="50" charset="-128"/>
            </a:endParaRPr>
          </a:p>
        </p:txBody>
      </p:sp>
      <p:sp>
        <p:nvSpPr>
          <p:cNvPr id="26" name="角丸四角形 27">
            <a:extLst>
              <a:ext uri="{FF2B5EF4-FFF2-40B4-BE49-F238E27FC236}">
                <a16:creationId xmlns:a16="http://schemas.microsoft.com/office/drawing/2014/main" id="{03E425FB-307E-4EDE-9A58-80A42B07B5B8}"/>
              </a:ext>
            </a:extLst>
          </p:cNvPr>
          <p:cNvSpPr/>
          <p:nvPr/>
        </p:nvSpPr>
        <p:spPr>
          <a:xfrm>
            <a:off x="1251541" y="2542069"/>
            <a:ext cx="7704846" cy="199357"/>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低冷却</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NB </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2TB</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err="1">
                <a:latin typeface="Meiryo UI" panose="020B0604030504040204" pitchFamily="50" charset="-128"/>
                <a:ea typeface="Meiryo UI" panose="020B0604030504040204" pitchFamily="50" charset="-128"/>
                <a:cs typeface="Meiryo UI" panose="020B0604030504040204" pitchFamily="50" charset="-128"/>
              </a:rPr>
              <a:t>Phison</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E27T QLC/E33T QLC,KIOXIA EXCERIA BASIC</a:t>
            </a:r>
            <a:r>
              <a:rPr lang="ja-JP" altLang="en-US" sz="7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Gen4x4</a:t>
            </a:r>
          </a:p>
        </p:txBody>
      </p:sp>
    </p:spTree>
    <p:extLst>
      <p:ext uri="{BB962C8B-B14F-4D97-AF65-F5344CB8AC3E}">
        <p14:creationId xmlns:p14="http://schemas.microsoft.com/office/powerpoint/2010/main" val="1515627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375785909"/>
              </p:ext>
            </p:extLst>
          </p:nvPr>
        </p:nvGraphicFramePr>
        <p:xfrm>
          <a:off x="35496" y="51468"/>
          <a:ext cx="8928982" cy="4464498"/>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10917">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D/N HDD 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7289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1080120">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85" name="角丸四角形 84"/>
          <p:cNvSpPr/>
          <p:nvPr/>
        </p:nvSpPr>
        <p:spPr>
          <a:xfrm>
            <a:off x="539550" y="1784683"/>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角丸四角形 34"/>
          <p:cNvSpPr/>
          <p:nvPr/>
        </p:nvSpPr>
        <p:spPr>
          <a:xfrm>
            <a:off x="1272323" y="2427734"/>
            <a:ext cx="7677847"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4TB</a:t>
            </a:r>
          </a:p>
        </p:txBody>
      </p:sp>
      <p:sp>
        <p:nvSpPr>
          <p:cNvPr id="38" name="角丸四角形 37"/>
          <p:cNvSpPr/>
          <p:nvPr/>
        </p:nvSpPr>
        <p:spPr>
          <a:xfrm>
            <a:off x="1272324" y="4070023"/>
            <a:ext cx="648072"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en-US" altLang="ja-JP" sz="1000">
                <a:latin typeface="Meiryo UI" panose="020B0604030504040204" pitchFamily="50" charset="-128"/>
                <a:ea typeface="Meiryo UI" panose="020B0604030504040204" pitchFamily="50" charset="-128"/>
                <a:cs typeface="Meiryo UI" panose="020B0604030504040204" pitchFamily="50" charset="-128"/>
              </a:rPr>
              <a:t>TB</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38"/>
          <p:cNvSpPr/>
          <p:nvPr/>
        </p:nvSpPr>
        <p:spPr>
          <a:xfrm>
            <a:off x="539550" y="3872915"/>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角丸四角形 15"/>
          <p:cNvSpPr/>
          <p:nvPr/>
        </p:nvSpPr>
        <p:spPr>
          <a:xfrm>
            <a:off x="1272323" y="1923678"/>
            <a:ext cx="7681409"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8</a:t>
            </a:r>
            <a:r>
              <a:rPr kumimoji="1" lang="en-US" altLang="ja-JP" sz="1000">
                <a:latin typeface="Meiryo UI" panose="020B0604030504040204" pitchFamily="50" charset="-128"/>
                <a:ea typeface="Meiryo UI" panose="020B0604030504040204" pitchFamily="50" charset="-128"/>
                <a:cs typeface="Meiryo UI" panose="020B0604030504040204" pitchFamily="50" charset="-128"/>
              </a:rPr>
              <a:t>TB</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テキスト ボックス 4">
            <a:extLst>
              <a:ext uri="{FF2B5EF4-FFF2-40B4-BE49-F238E27FC236}">
                <a16:creationId xmlns:a16="http://schemas.microsoft.com/office/drawing/2014/main" id="{C22AF946-5BFC-405A-ACB4-70F091B72864}"/>
              </a:ext>
            </a:extLst>
          </p:cNvPr>
          <p:cNvSpPr txBox="1"/>
          <p:nvPr/>
        </p:nvSpPr>
        <p:spPr>
          <a:xfrm>
            <a:off x="17748" y="4515966"/>
            <a:ext cx="9108504" cy="507831"/>
          </a:xfrm>
          <a:prstGeom prst="rect">
            <a:avLst/>
          </a:prstGeom>
          <a:noFill/>
        </p:spPr>
        <p:txBody>
          <a:bodyPr wrap="square" rtlCol="0">
            <a:spAutoFit/>
          </a:bodyPr>
          <a:lstStyle/>
          <a:p>
            <a:r>
              <a:rPr lang="ja-JP" altLang="en-US" sz="900" dirty="0">
                <a:latin typeface="メイリオ" panose="020B0604030504040204" pitchFamily="50" charset="-128"/>
                <a:ea typeface="メイリオ" panose="020B0604030504040204" pitchFamily="50" charset="-128"/>
              </a:rPr>
              <a:t>順次</a:t>
            </a:r>
            <a:r>
              <a:rPr lang="en-US" altLang="ja-JP" sz="900" dirty="0">
                <a:latin typeface="メイリオ" panose="020B0604030504040204" pitchFamily="50" charset="-128"/>
                <a:ea typeface="メイリオ" panose="020B0604030504040204" pitchFamily="50" charset="-128"/>
              </a:rPr>
              <a:t>CMR</a:t>
            </a:r>
            <a:r>
              <a:rPr lang="ja-JP" altLang="en-US" sz="900">
                <a:latin typeface="メイリオ" panose="020B0604030504040204" pitchFamily="50" charset="-128"/>
                <a:ea typeface="メイリオ" panose="020B0604030504040204" pitchFamily="50" charset="-128"/>
              </a:rPr>
              <a:t>方式→</a:t>
            </a:r>
            <a:r>
              <a:rPr lang="en-US" altLang="ja-JP" sz="900" dirty="0">
                <a:latin typeface="メイリオ" panose="020B0604030504040204" pitchFamily="50" charset="-128"/>
                <a:ea typeface="メイリオ" panose="020B0604030504040204" pitchFamily="50" charset="-128"/>
              </a:rPr>
              <a:t>SMR</a:t>
            </a:r>
            <a:r>
              <a:rPr lang="ja-JP" altLang="en-US" sz="900" dirty="0">
                <a:latin typeface="メイリオ" panose="020B0604030504040204" pitchFamily="50" charset="-128"/>
                <a:ea typeface="メイリオ" panose="020B0604030504040204" pitchFamily="50" charset="-128"/>
              </a:rPr>
              <a:t>方式に物に置き換わっていますため基本的に</a:t>
            </a:r>
            <a:r>
              <a:rPr lang="en-US" altLang="ja-JP" sz="900" dirty="0">
                <a:latin typeface="メイリオ" panose="020B0604030504040204" pitchFamily="50" charset="-128"/>
                <a:ea typeface="メイリオ" panose="020B0604030504040204" pitchFamily="50" charset="-128"/>
              </a:rPr>
              <a:t>SMR</a:t>
            </a:r>
            <a:r>
              <a:rPr lang="ja-JP" altLang="en-US" sz="900" dirty="0">
                <a:latin typeface="メイリオ" panose="020B0604030504040204" pitchFamily="50" charset="-128"/>
                <a:ea typeface="メイリオ" panose="020B0604030504040204" pitchFamily="50" charset="-128"/>
              </a:rPr>
              <a:t>方式だと考えてください。</a:t>
            </a:r>
            <a:r>
              <a:rPr lang="en-US" altLang="ja-JP" sz="900" dirty="0">
                <a:latin typeface="メイリオ" panose="020B0604030504040204" pitchFamily="50" charset="-128"/>
                <a:ea typeface="メイリオ" panose="020B0604030504040204" pitchFamily="50" charset="-128"/>
              </a:rPr>
              <a:t>※SMR</a:t>
            </a:r>
            <a:r>
              <a:rPr lang="ja-JP" altLang="en-US" sz="900" dirty="0">
                <a:latin typeface="メイリオ" panose="020B0604030504040204" pitchFamily="50" charset="-128"/>
                <a:ea typeface="メイリオ" panose="020B0604030504040204" pitchFamily="50" charset="-128"/>
              </a:rPr>
              <a:t>方式のものは</a:t>
            </a:r>
            <a:r>
              <a:rPr lang="en-US" altLang="ja-JP" sz="900" dirty="0">
                <a:latin typeface="メイリオ" panose="020B0604030504040204" pitchFamily="50" charset="-128"/>
                <a:ea typeface="メイリオ" panose="020B0604030504040204" pitchFamily="50" charset="-128"/>
              </a:rPr>
              <a:t>RAID</a:t>
            </a:r>
            <a:r>
              <a:rPr lang="ja-JP" altLang="en-US" sz="900" dirty="0">
                <a:latin typeface="メイリオ" panose="020B0604030504040204" pitchFamily="50" charset="-128"/>
                <a:ea typeface="メイリオ" panose="020B0604030504040204" pitchFamily="50" charset="-128"/>
              </a:rPr>
              <a:t>には不向きと言われています。</a:t>
            </a:r>
            <a:endParaRPr lang="en-US" altLang="ja-JP" sz="900" dirty="0">
              <a:latin typeface="メイリオ" panose="020B0604030504040204" pitchFamily="50" charset="-128"/>
              <a:ea typeface="メイリオ" panose="020B0604030504040204" pitchFamily="50" charset="-128"/>
            </a:endParaRPr>
          </a:p>
          <a:p>
            <a:r>
              <a:rPr lang="en-US" altLang="ja-JP" sz="900" dirty="0">
                <a:latin typeface="メイリオ" panose="020B0604030504040204" pitchFamily="50" charset="-128"/>
                <a:ea typeface="メイリオ" panose="020B0604030504040204" pitchFamily="50" charset="-128"/>
              </a:rPr>
              <a:t>RAID</a:t>
            </a:r>
            <a:r>
              <a:rPr lang="ja-JP" altLang="en-US" sz="900" dirty="0">
                <a:latin typeface="メイリオ" panose="020B0604030504040204" pitchFamily="50" charset="-128"/>
                <a:ea typeface="メイリオ" panose="020B0604030504040204" pitchFamily="50" charset="-128"/>
              </a:rPr>
              <a:t>構成などで従来の</a:t>
            </a:r>
            <a:r>
              <a:rPr lang="en-US" altLang="ja-JP" sz="900" dirty="0">
                <a:latin typeface="メイリオ" panose="020B0604030504040204" pitchFamily="50" charset="-128"/>
                <a:ea typeface="メイリオ" panose="020B0604030504040204" pitchFamily="50" charset="-128"/>
              </a:rPr>
              <a:t>CMR</a:t>
            </a:r>
            <a:r>
              <a:rPr lang="ja-JP" altLang="en-US" sz="900" dirty="0">
                <a:latin typeface="メイリオ" panose="020B0604030504040204" pitchFamily="50" charset="-128"/>
                <a:ea typeface="メイリオ" panose="020B0604030504040204" pitchFamily="50" charset="-128"/>
              </a:rPr>
              <a:t>方式のものが必要な時は特殊案件とし、在庫</a:t>
            </a:r>
            <a:r>
              <a:rPr lang="en-US" altLang="ja-JP" sz="900" dirty="0">
                <a:latin typeface="メイリオ" panose="020B0604030504040204" pitchFamily="50" charset="-128"/>
                <a:ea typeface="メイリオ" panose="020B0604030504040204" pitchFamily="50" charset="-128"/>
              </a:rPr>
              <a:t>HDD</a:t>
            </a:r>
            <a:r>
              <a:rPr lang="ja-JP" altLang="en-US" sz="900" dirty="0">
                <a:latin typeface="メイリオ" panose="020B0604030504040204" pitchFamily="50" charset="-128"/>
                <a:ea typeface="メイリオ" panose="020B0604030504040204" pitchFamily="50" charset="-128"/>
              </a:rPr>
              <a:t>から無作為に選ぶのではなく</a:t>
            </a:r>
            <a:r>
              <a:rPr lang="en-US" altLang="ja-JP" sz="900" dirty="0">
                <a:latin typeface="メイリオ" panose="020B0604030504040204" pitchFamily="50" charset="-128"/>
                <a:ea typeface="メイリオ" panose="020B0604030504040204" pitchFamily="50" charset="-128"/>
              </a:rPr>
              <a:t>CMR</a:t>
            </a:r>
            <a:r>
              <a:rPr lang="ja-JP" altLang="en-US" sz="900" dirty="0">
                <a:latin typeface="メイリオ" panose="020B0604030504040204" pitchFamily="50" charset="-128"/>
                <a:ea typeface="メイリオ" panose="020B0604030504040204" pitchFamily="50" charset="-128"/>
              </a:rPr>
              <a:t>方式の物を選び取り寄せ、検証</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採用願います。</a:t>
            </a:r>
            <a:endParaRPr lang="en-US" altLang="ja-JP" sz="900" dirty="0">
              <a:latin typeface="メイリオ" panose="020B0604030504040204" pitchFamily="50" charset="-128"/>
              <a:ea typeface="メイリオ" panose="020B0604030504040204" pitchFamily="50" charset="-128"/>
            </a:endParaRPr>
          </a:p>
          <a:p>
            <a:r>
              <a:rPr lang="ja-JP" altLang="en-US" sz="900" dirty="0">
                <a:latin typeface="メイリオ" panose="020B0604030504040204" pitchFamily="50" charset="-128"/>
                <a:ea typeface="メイリオ" panose="020B0604030504040204" pitchFamily="50" charset="-128"/>
              </a:rPr>
              <a:t>ざっくりな見分け方→キャッシュが多いものは疑ってください。</a:t>
            </a:r>
            <a:endParaRPr lang="en-US" altLang="ja-JP" sz="900" dirty="0">
              <a:latin typeface="メイリオ" panose="020B0604030504040204" pitchFamily="50" charset="-128"/>
              <a:ea typeface="メイリオ" panose="020B0604030504040204" pitchFamily="50" charset="-128"/>
            </a:endParaRPr>
          </a:p>
        </p:txBody>
      </p:sp>
      <p:sp>
        <p:nvSpPr>
          <p:cNvPr id="14" name="角丸四角形 37">
            <a:extLst>
              <a:ext uri="{FF2B5EF4-FFF2-40B4-BE49-F238E27FC236}">
                <a16:creationId xmlns:a16="http://schemas.microsoft.com/office/drawing/2014/main" id="{DB3A778E-97DC-4BB8-A962-B796AFA74989}"/>
              </a:ext>
            </a:extLst>
          </p:cNvPr>
          <p:cNvSpPr/>
          <p:nvPr/>
        </p:nvSpPr>
        <p:spPr>
          <a:xfrm>
            <a:off x="1273483" y="3703036"/>
            <a:ext cx="647282"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2TB</a:t>
            </a:r>
          </a:p>
        </p:txBody>
      </p:sp>
      <p:sp>
        <p:nvSpPr>
          <p:cNvPr id="22" name="角丸四角形 34">
            <a:extLst>
              <a:ext uri="{FF2B5EF4-FFF2-40B4-BE49-F238E27FC236}">
                <a16:creationId xmlns:a16="http://schemas.microsoft.com/office/drawing/2014/main" id="{6F5D6A04-B558-44C5-A2FB-64EA4FDD82AD}"/>
              </a:ext>
            </a:extLst>
          </p:cNvPr>
          <p:cNvSpPr/>
          <p:nvPr/>
        </p:nvSpPr>
        <p:spPr>
          <a:xfrm>
            <a:off x="1272324" y="2931790"/>
            <a:ext cx="7677564"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2TB</a:t>
            </a:r>
          </a:p>
        </p:txBody>
      </p:sp>
      <p:sp>
        <p:nvSpPr>
          <p:cNvPr id="18" name="角丸四角形 34">
            <a:extLst>
              <a:ext uri="{FF2B5EF4-FFF2-40B4-BE49-F238E27FC236}">
                <a16:creationId xmlns:a16="http://schemas.microsoft.com/office/drawing/2014/main" id="{088AC52A-FA84-46F5-A4C7-771C14554E70}"/>
              </a:ext>
            </a:extLst>
          </p:cNvPr>
          <p:cNvSpPr/>
          <p:nvPr/>
        </p:nvSpPr>
        <p:spPr>
          <a:xfrm>
            <a:off x="1268762" y="987574"/>
            <a:ext cx="7681409"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WD Red Plus 4TB</a:t>
            </a:r>
          </a:p>
        </p:txBody>
      </p:sp>
      <p:sp>
        <p:nvSpPr>
          <p:cNvPr id="19" name="角丸四角形 15">
            <a:extLst>
              <a:ext uri="{FF2B5EF4-FFF2-40B4-BE49-F238E27FC236}">
                <a16:creationId xmlns:a16="http://schemas.microsoft.com/office/drawing/2014/main" id="{66138502-AE64-4241-AFA6-15AF5D28B455}"/>
              </a:ext>
            </a:extLst>
          </p:cNvPr>
          <p:cNvSpPr/>
          <p:nvPr/>
        </p:nvSpPr>
        <p:spPr>
          <a:xfrm>
            <a:off x="1268761" y="541631"/>
            <a:ext cx="7684972"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WD Red Plus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8</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TB</a:t>
            </a:r>
          </a:p>
        </p:txBody>
      </p:sp>
      <p:sp>
        <p:nvSpPr>
          <p:cNvPr id="15" name="角丸四角形 15">
            <a:extLst>
              <a:ext uri="{FF2B5EF4-FFF2-40B4-BE49-F238E27FC236}">
                <a16:creationId xmlns:a16="http://schemas.microsoft.com/office/drawing/2014/main" id="{06D1C1F0-754A-498E-A790-0BF0E42E5BF7}"/>
              </a:ext>
            </a:extLst>
          </p:cNvPr>
          <p:cNvSpPr/>
          <p:nvPr/>
        </p:nvSpPr>
        <p:spPr>
          <a:xfrm>
            <a:off x="1272323" y="1477735"/>
            <a:ext cx="7681408" cy="3019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16TB</a:t>
            </a:r>
          </a:p>
        </p:txBody>
      </p:sp>
      <p:sp>
        <p:nvSpPr>
          <p:cNvPr id="2" name="スライド番号プレースホルダー 1">
            <a:extLst>
              <a:ext uri="{FF2B5EF4-FFF2-40B4-BE49-F238E27FC236}">
                <a16:creationId xmlns:a16="http://schemas.microsoft.com/office/drawing/2014/main" id="{041140B6-0A9A-491C-BA4F-21B264C063EC}"/>
              </a:ext>
            </a:extLst>
          </p:cNvPr>
          <p:cNvSpPr>
            <a:spLocks noGrp="1"/>
          </p:cNvSpPr>
          <p:nvPr>
            <p:ph type="sldNum" sz="quarter" idx="12"/>
          </p:nvPr>
        </p:nvSpPr>
        <p:spPr/>
        <p:txBody>
          <a:bodyPr/>
          <a:lstStyle/>
          <a:p>
            <a:fld id="{F9DFCEB9-CAE4-4F3C-93D0-85C4724A0355}" type="slidenum">
              <a:rPr kumimoji="1" lang="ja-JP" altLang="en-US" smtClean="0"/>
              <a:t>19</a:t>
            </a:fld>
            <a:endParaRPr kumimoji="1" lang="ja-JP" altLang="en-US"/>
          </a:p>
        </p:txBody>
      </p:sp>
      <p:sp>
        <p:nvSpPr>
          <p:cNvPr id="20" name="テキスト ボックス 19">
            <a:extLst>
              <a:ext uri="{FF2B5EF4-FFF2-40B4-BE49-F238E27FC236}">
                <a16:creationId xmlns:a16="http://schemas.microsoft.com/office/drawing/2014/main" id="{6C86B0E9-3932-4E2A-A555-D19ADBC1C329}"/>
              </a:ext>
            </a:extLst>
          </p:cNvPr>
          <p:cNvSpPr txBox="1"/>
          <p:nvPr/>
        </p:nvSpPr>
        <p:spPr>
          <a:xfrm>
            <a:off x="1268761" y="3558113"/>
            <a:ext cx="1293684" cy="86177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altLang="ja-JP" sz="1000" dirty="0">
              <a:solidFill>
                <a:schemeClr val="tx1"/>
              </a:solidFill>
              <a:latin typeface="Meiryo UI" panose="020B0604030504040204" pitchFamily="50" charset="-128"/>
              <a:ea typeface="Meiryo UI" panose="020B0604030504040204" pitchFamily="50" charset="-128"/>
            </a:endParaRPr>
          </a:p>
          <a:p>
            <a:endParaRPr lang="en-US" altLang="ja-JP" sz="1000" dirty="0">
              <a:solidFill>
                <a:schemeClr val="tx1"/>
              </a:solidFill>
              <a:latin typeface="Meiryo UI" panose="020B0604030504040204" pitchFamily="50" charset="-128"/>
              <a:ea typeface="Meiryo UI" panose="020B0604030504040204" pitchFamily="50" charset="-128"/>
            </a:endParaRPr>
          </a:p>
          <a:p>
            <a:r>
              <a:rPr lang="en-US" altLang="ja-JP" sz="1000" dirty="0">
                <a:solidFill>
                  <a:schemeClr val="tx1"/>
                </a:solidFill>
                <a:latin typeface="Meiryo UI" panose="020B0604030504040204" pitchFamily="50" charset="-128"/>
                <a:ea typeface="Meiryo UI" panose="020B0604030504040204" pitchFamily="50" charset="-128"/>
              </a:rPr>
              <a:t>2.5”</a:t>
            </a:r>
            <a:r>
              <a:rPr lang="ja-JP" altLang="en-US" sz="1000" dirty="0">
                <a:solidFill>
                  <a:schemeClr val="tx1"/>
                </a:solidFill>
                <a:latin typeface="Meiryo UI" panose="020B0604030504040204" pitchFamily="50" charset="-128"/>
                <a:ea typeface="Meiryo UI" panose="020B0604030504040204" pitchFamily="50" charset="-128"/>
              </a:rPr>
              <a:t>は</a:t>
            </a:r>
            <a:r>
              <a:rPr lang="en-US" altLang="ja-JP" sz="1000" dirty="0">
                <a:solidFill>
                  <a:schemeClr val="tx1"/>
                </a:solidFill>
                <a:latin typeface="Meiryo UI" panose="020B0604030504040204" pitchFamily="50" charset="-128"/>
                <a:ea typeface="Meiryo UI" panose="020B0604030504040204" pitchFamily="50" charset="-128"/>
              </a:rPr>
              <a:t>SSD</a:t>
            </a:r>
            <a:r>
              <a:rPr lang="ja-JP" altLang="en-US" sz="1000" dirty="0">
                <a:solidFill>
                  <a:schemeClr val="tx1"/>
                </a:solidFill>
                <a:latin typeface="Meiryo UI" panose="020B0604030504040204" pitchFamily="50" charset="-128"/>
                <a:ea typeface="Meiryo UI" panose="020B0604030504040204" pitchFamily="50" charset="-128"/>
              </a:rPr>
              <a:t>のみに</a:t>
            </a:r>
            <a:endParaRPr lang="en-US" altLang="ja-JP" sz="1000" dirty="0">
              <a:solidFill>
                <a:schemeClr val="tx1"/>
              </a:solidFill>
              <a:latin typeface="Meiryo UI" panose="020B0604030504040204" pitchFamily="50" charset="-128"/>
              <a:ea typeface="Meiryo UI" panose="020B0604030504040204" pitchFamily="50" charset="-128"/>
            </a:endParaRPr>
          </a:p>
          <a:p>
            <a:endParaRPr lang="en-US" altLang="ja-JP" sz="1000" dirty="0">
              <a:solidFill>
                <a:schemeClr val="tx1"/>
              </a:solidFill>
              <a:latin typeface="Meiryo UI" panose="020B0604030504040204" pitchFamily="50" charset="-128"/>
              <a:ea typeface="Meiryo UI" panose="020B0604030504040204" pitchFamily="50" charset="-128"/>
            </a:endParaRPr>
          </a:p>
          <a:p>
            <a:endParaRPr lang="en-US" altLang="ja-JP" sz="1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86508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941815887"/>
              </p:ext>
            </p:extLst>
          </p:nvPr>
        </p:nvGraphicFramePr>
        <p:xfrm>
          <a:off x="35496" y="51468"/>
          <a:ext cx="8928982" cy="3988997"/>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10917">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D/N HDD </a:t>
                      </a:r>
                      <a:r>
                        <a:rPr kumimoji="1" lang="en-US" altLang="ja-JP" sz="1050" b="1" i="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69405">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1008112">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85" name="角丸四角形 84"/>
          <p:cNvSpPr/>
          <p:nvPr/>
        </p:nvSpPr>
        <p:spPr>
          <a:xfrm>
            <a:off x="539550" y="1653749"/>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38"/>
          <p:cNvSpPr/>
          <p:nvPr/>
        </p:nvSpPr>
        <p:spPr>
          <a:xfrm>
            <a:off x="539550" y="3435846"/>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角丸四角形 17"/>
          <p:cNvSpPr/>
          <p:nvPr/>
        </p:nvSpPr>
        <p:spPr>
          <a:xfrm>
            <a:off x="1261133" y="1662337"/>
            <a:ext cx="7689036" cy="52020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4TB</a:t>
            </a:r>
          </a:p>
        </p:txBody>
      </p:sp>
      <p:sp>
        <p:nvSpPr>
          <p:cNvPr id="19" name="角丸四角形 18"/>
          <p:cNvSpPr/>
          <p:nvPr/>
        </p:nvSpPr>
        <p:spPr>
          <a:xfrm>
            <a:off x="1261132" y="2283718"/>
            <a:ext cx="7689036" cy="66743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2TB</a:t>
            </a:r>
          </a:p>
        </p:txBody>
      </p:sp>
      <p:sp>
        <p:nvSpPr>
          <p:cNvPr id="21" name="角丸四角形 20"/>
          <p:cNvSpPr/>
          <p:nvPr/>
        </p:nvSpPr>
        <p:spPr>
          <a:xfrm>
            <a:off x="1272180" y="3646849"/>
            <a:ext cx="1211588" cy="11987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TB</a:t>
            </a:r>
          </a:p>
        </p:txBody>
      </p:sp>
      <p:sp>
        <p:nvSpPr>
          <p:cNvPr id="35" name="角丸四角形 34"/>
          <p:cNvSpPr/>
          <p:nvPr/>
        </p:nvSpPr>
        <p:spPr>
          <a:xfrm>
            <a:off x="1261134" y="1347614"/>
            <a:ext cx="7689034" cy="18877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8TB</a:t>
            </a:r>
          </a:p>
        </p:txBody>
      </p:sp>
      <p:sp>
        <p:nvSpPr>
          <p:cNvPr id="15" name="角丸四角形 20">
            <a:extLst>
              <a:ext uri="{FF2B5EF4-FFF2-40B4-BE49-F238E27FC236}">
                <a16:creationId xmlns:a16="http://schemas.microsoft.com/office/drawing/2014/main" id="{642D8F72-072F-466B-A701-EA1C966EA0D0}"/>
              </a:ext>
            </a:extLst>
          </p:cNvPr>
          <p:cNvSpPr/>
          <p:nvPr/>
        </p:nvSpPr>
        <p:spPr>
          <a:xfrm>
            <a:off x="1272181" y="3367935"/>
            <a:ext cx="1209847" cy="8547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2TB</a:t>
            </a:r>
          </a:p>
        </p:txBody>
      </p:sp>
      <p:sp>
        <p:nvSpPr>
          <p:cNvPr id="24" name="角丸四角形 34">
            <a:extLst>
              <a:ext uri="{FF2B5EF4-FFF2-40B4-BE49-F238E27FC236}">
                <a16:creationId xmlns:a16="http://schemas.microsoft.com/office/drawing/2014/main" id="{3C08C8B9-FFB6-4A0A-A958-9C8E285B1F28}"/>
              </a:ext>
            </a:extLst>
          </p:cNvPr>
          <p:cNvSpPr/>
          <p:nvPr/>
        </p:nvSpPr>
        <p:spPr>
          <a:xfrm>
            <a:off x="1272181" y="603648"/>
            <a:ext cx="7677988" cy="5663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WD Red Plus 8TB</a:t>
            </a:r>
          </a:p>
        </p:txBody>
      </p:sp>
      <p:sp>
        <p:nvSpPr>
          <p:cNvPr id="26" name="角丸四角形 17">
            <a:extLst>
              <a:ext uri="{FF2B5EF4-FFF2-40B4-BE49-F238E27FC236}">
                <a16:creationId xmlns:a16="http://schemas.microsoft.com/office/drawing/2014/main" id="{10305598-6F54-440E-BEC8-B70F0A94838F}"/>
              </a:ext>
            </a:extLst>
          </p:cNvPr>
          <p:cNvSpPr/>
          <p:nvPr/>
        </p:nvSpPr>
        <p:spPr>
          <a:xfrm>
            <a:off x="1272181" y="729598"/>
            <a:ext cx="7677988" cy="1139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WD Red Plus 4TB</a:t>
            </a:r>
          </a:p>
        </p:txBody>
      </p:sp>
      <p:sp>
        <p:nvSpPr>
          <p:cNvPr id="14" name="角丸四角形 34">
            <a:extLst>
              <a:ext uri="{FF2B5EF4-FFF2-40B4-BE49-F238E27FC236}">
                <a16:creationId xmlns:a16="http://schemas.microsoft.com/office/drawing/2014/main" id="{751E9E48-462E-426B-A28F-A3248A838A82}"/>
              </a:ext>
            </a:extLst>
          </p:cNvPr>
          <p:cNvSpPr/>
          <p:nvPr/>
        </p:nvSpPr>
        <p:spPr>
          <a:xfrm>
            <a:off x="1272180" y="1131591"/>
            <a:ext cx="7677988" cy="71786"/>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16TB</a:t>
            </a:r>
          </a:p>
        </p:txBody>
      </p:sp>
      <p:sp>
        <p:nvSpPr>
          <p:cNvPr id="2" name="スライド番号プレースホルダー 1">
            <a:extLst>
              <a:ext uri="{FF2B5EF4-FFF2-40B4-BE49-F238E27FC236}">
                <a16:creationId xmlns:a16="http://schemas.microsoft.com/office/drawing/2014/main" id="{A3A77006-D226-408C-9C30-F769441731D6}"/>
              </a:ext>
            </a:extLst>
          </p:cNvPr>
          <p:cNvSpPr>
            <a:spLocks noGrp="1"/>
          </p:cNvSpPr>
          <p:nvPr>
            <p:ph type="sldNum" sz="quarter" idx="12"/>
          </p:nvPr>
        </p:nvSpPr>
        <p:spPr/>
        <p:txBody>
          <a:bodyPr/>
          <a:lstStyle/>
          <a:p>
            <a:fld id="{F9DFCEB9-CAE4-4F3C-93D0-85C4724A0355}" type="slidenum">
              <a:rPr kumimoji="1" lang="ja-JP" altLang="en-US" smtClean="0"/>
              <a:t>20</a:t>
            </a:fld>
            <a:endParaRPr kumimoji="1" lang="ja-JP" altLang="en-US"/>
          </a:p>
        </p:txBody>
      </p:sp>
      <p:sp>
        <p:nvSpPr>
          <p:cNvPr id="17" name="テキスト ボックス 16">
            <a:extLst>
              <a:ext uri="{FF2B5EF4-FFF2-40B4-BE49-F238E27FC236}">
                <a16:creationId xmlns:a16="http://schemas.microsoft.com/office/drawing/2014/main" id="{3EAA47C2-3124-4077-8690-6688D2F07A48}"/>
              </a:ext>
            </a:extLst>
          </p:cNvPr>
          <p:cNvSpPr txBox="1"/>
          <p:nvPr/>
        </p:nvSpPr>
        <p:spPr>
          <a:xfrm>
            <a:off x="1282112" y="3281587"/>
            <a:ext cx="1293684" cy="55399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altLang="ja-JP" sz="1000" dirty="0">
              <a:solidFill>
                <a:schemeClr val="tx1"/>
              </a:solidFill>
              <a:latin typeface="Meiryo UI" panose="020B0604030504040204" pitchFamily="50" charset="-128"/>
              <a:ea typeface="Meiryo UI" panose="020B0604030504040204" pitchFamily="50" charset="-128"/>
            </a:endParaRPr>
          </a:p>
          <a:p>
            <a:r>
              <a:rPr lang="en-US" altLang="ja-JP" sz="1000" dirty="0">
                <a:solidFill>
                  <a:schemeClr val="tx1"/>
                </a:solidFill>
                <a:latin typeface="Meiryo UI" panose="020B0604030504040204" pitchFamily="50" charset="-128"/>
                <a:ea typeface="Meiryo UI" panose="020B0604030504040204" pitchFamily="50" charset="-128"/>
              </a:rPr>
              <a:t>2.5”</a:t>
            </a:r>
            <a:r>
              <a:rPr lang="ja-JP" altLang="en-US" sz="1000" dirty="0">
                <a:solidFill>
                  <a:schemeClr val="tx1"/>
                </a:solidFill>
                <a:latin typeface="Meiryo UI" panose="020B0604030504040204" pitchFamily="50" charset="-128"/>
                <a:ea typeface="Meiryo UI" panose="020B0604030504040204" pitchFamily="50" charset="-128"/>
              </a:rPr>
              <a:t>は</a:t>
            </a:r>
            <a:r>
              <a:rPr lang="en-US" altLang="ja-JP" sz="1000" dirty="0">
                <a:solidFill>
                  <a:schemeClr val="tx1"/>
                </a:solidFill>
                <a:latin typeface="Meiryo UI" panose="020B0604030504040204" pitchFamily="50" charset="-128"/>
                <a:ea typeface="Meiryo UI" panose="020B0604030504040204" pitchFamily="50" charset="-128"/>
              </a:rPr>
              <a:t>SSD</a:t>
            </a:r>
            <a:r>
              <a:rPr lang="ja-JP" altLang="en-US" sz="1000" dirty="0">
                <a:solidFill>
                  <a:schemeClr val="tx1"/>
                </a:solidFill>
                <a:latin typeface="Meiryo UI" panose="020B0604030504040204" pitchFamily="50" charset="-128"/>
                <a:ea typeface="Meiryo UI" panose="020B0604030504040204" pitchFamily="50" charset="-128"/>
              </a:rPr>
              <a:t>のみに</a:t>
            </a:r>
            <a:endParaRPr lang="en-US" altLang="ja-JP" sz="1000" dirty="0">
              <a:solidFill>
                <a:schemeClr val="tx1"/>
              </a:solidFill>
              <a:latin typeface="Meiryo UI" panose="020B0604030504040204" pitchFamily="50" charset="-128"/>
              <a:ea typeface="Meiryo UI" panose="020B0604030504040204" pitchFamily="50" charset="-128"/>
            </a:endParaRPr>
          </a:p>
          <a:p>
            <a:endParaRPr lang="en-US" altLang="ja-JP" sz="1000" dirty="0">
              <a:solidFill>
                <a:schemeClr val="tx1"/>
              </a:solidFill>
              <a:latin typeface="Meiryo UI" panose="020B0604030504040204" pitchFamily="50" charset="-128"/>
              <a:ea typeface="Meiryo UI" panose="020B0604030504040204" pitchFamily="50" charset="-128"/>
            </a:endParaRPr>
          </a:p>
        </p:txBody>
      </p:sp>
      <p:sp>
        <p:nvSpPr>
          <p:cNvPr id="20" name="角丸四角形 34">
            <a:extLst>
              <a:ext uri="{FF2B5EF4-FFF2-40B4-BE49-F238E27FC236}">
                <a16:creationId xmlns:a16="http://schemas.microsoft.com/office/drawing/2014/main" id="{F56D6185-7C5F-407D-A150-01E658DDD204}"/>
              </a:ext>
            </a:extLst>
          </p:cNvPr>
          <p:cNvSpPr/>
          <p:nvPr/>
        </p:nvSpPr>
        <p:spPr>
          <a:xfrm>
            <a:off x="5004048" y="962060"/>
            <a:ext cx="3935072" cy="11617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TBD 24TB</a:t>
            </a:r>
          </a:p>
        </p:txBody>
      </p:sp>
    </p:spTree>
    <p:extLst>
      <p:ext uri="{BB962C8B-B14F-4D97-AF65-F5344CB8AC3E}">
        <p14:creationId xmlns:p14="http://schemas.microsoft.com/office/powerpoint/2010/main" val="519849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142299552"/>
              </p:ext>
            </p:extLst>
          </p:nvPr>
        </p:nvGraphicFramePr>
        <p:xfrm>
          <a:off x="35496" y="51466"/>
          <a:ext cx="8928982" cy="4915023"/>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56344">
                <a:tc>
                  <a:txBody>
                    <a:bodyPr/>
                    <a:lstStyle/>
                    <a:p>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メモリ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43744">
                <a:tc>
                  <a:txBody>
                    <a:bodyPr/>
                    <a:lstStyle/>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デスク</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1614935">
                <a:tc>
                  <a:txBody>
                    <a:bodyPr/>
                    <a:lstStyle/>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ノート</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/mini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86" name="角丸四角形 85"/>
          <p:cNvSpPr/>
          <p:nvPr/>
        </p:nvSpPr>
        <p:spPr>
          <a:xfrm>
            <a:off x="532625" y="1189811"/>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標準</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6" name="直線コネクタ 35"/>
          <p:cNvCxnSpPr/>
          <p:nvPr/>
        </p:nvCxnSpPr>
        <p:spPr>
          <a:xfrm>
            <a:off x="1284469" y="2283718"/>
            <a:ext cx="7689035" cy="0"/>
          </a:xfrm>
          <a:prstGeom prst="line">
            <a:avLst/>
          </a:prstGeom>
          <a:ln>
            <a:solidFill>
              <a:srgbClr val="C00000"/>
            </a:solidFill>
            <a:prstDash val="lgDashDotDot"/>
          </a:ln>
        </p:spPr>
        <p:style>
          <a:lnRef idx="2">
            <a:schemeClr val="accent3">
              <a:shade val="50000"/>
            </a:schemeClr>
          </a:lnRef>
          <a:fillRef idx="1">
            <a:schemeClr val="accent3"/>
          </a:fillRef>
          <a:effectRef idx="0">
            <a:schemeClr val="accent3"/>
          </a:effectRef>
          <a:fontRef idx="minor">
            <a:schemeClr val="lt1"/>
          </a:fontRef>
        </p:style>
      </p:cxnSp>
      <p:sp>
        <p:nvSpPr>
          <p:cNvPr id="38" name="角丸四角形 37"/>
          <p:cNvSpPr/>
          <p:nvPr/>
        </p:nvSpPr>
        <p:spPr>
          <a:xfrm>
            <a:off x="1260954" y="3103469"/>
            <a:ext cx="6407389" cy="2154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8GB/16GB/</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DDR4-3200/PC4-25600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38"/>
          <p:cNvSpPr/>
          <p:nvPr/>
        </p:nvSpPr>
        <p:spPr>
          <a:xfrm>
            <a:off x="547860" y="2720787"/>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角丸四角形 39"/>
          <p:cNvSpPr/>
          <p:nvPr/>
        </p:nvSpPr>
        <p:spPr>
          <a:xfrm>
            <a:off x="510054" y="3919111"/>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標準</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角丸四角形 15"/>
          <p:cNvSpPr/>
          <p:nvPr/>
        </p:nvSpPr>
        <p:spPr>
          <a:xfrm>
            <a:off x="1270556" y="1978050"/>
            <a:ext cx="7681398" cy="23366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DDR4-3200/PC4-25600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角丸四角形 16"/>
          <p:cNvSpPr/>
          <p:nvPr/>
        </p:nvSpPr>
        <p:spPr>
          <a:xfrm>
            <a:off x="1266836" y="1690018"/>
            <a:ext cx="7681398" cy="23366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16G</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DDR4-3200/PC4-25600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角丸四角形 37">
            <a:extLst>
              <a:ext uri="{FF2B5EF4-FFF2-40B4-BE49-F238E27FC236}">
                <a16:creationId xmlns:a16="http://schemas.microsoft.com/office/drawing/2014/main" id="{A2534A2A-78B1-4E9B-A531-27FDB5F3C212}"/>
              </a:ext>
            </a:extLst>
          </p:cNvPr>
          <p:cNvSpPr/>
          <p:nvPr/>
        </p:nvSpPr>
        <p:spPr>
          <a:xfrm>
            <a:off x="1268301" y="4623790"/>
            <a:ext cx="7668621" cy="234501"/>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8GB/16GB/32GB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DDR4-3200/PC4-25600</a:t>
            </a:r>
            <a:endParaRPr kumimoji="1" lang="en-US" altLang="ja-JP" sz="1000" strike="sngStrike"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38">
            <a:extLst>
              <a:ext uri="{FF2B5EF4-FFF2-40B4-BE49-F238E27FC236}">
                <a16:creationId xmlns:a16="http://schemas.microsoft.com/office/drawing/2014/main" id="{602FE7EC-36DF-4E40-A83D-8495905EE2F2}"/>
              </a:ext>
            </a:extLst>
          </p:cNvPr>
          <p:cNvSpPr/>
          <p:nvPr/>
        </p:nvSpPr>
        <p:spPr>
          <a:xfrm>
            <a:off x="524940" y="4515966"/>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4" name="直線コネクタ 23">
            <a:extLst>
              <a:ext uri="{FF2B5EF4-FFF2-40B4-BE49-F238E27FC236}">
                <a16:creationId xmlns:a16="http://schemas.microsoft.com/office/drawing/2014/main" id="{00363CB2-9010-436E-B973-06FCF1BD23DE}"/>
              </a:ext>
            </a:extLst>
          </p:cNvPr>
          <p:cNvCxnSpPr/>
          <p:nvPr/>
        </p:nvCxnSpPr>
        <p:spPr>
          <a:xfrm>
            <a:off x="1270321" y="4119734"/>
            <a:ext cx="7689035" cy="0"/>
          </a:xfrm>
          <a:prstGeom prst="line">
            <a:avLst/>
          </a:prstGeom>
          <a:ln>
            <a:solidFill>
              <a:srgbClr val="C00000"/>
            </a:solidFill>
            <a:prstDash val="lgDashDotDot"/>
          </a:ln>
        </p:spPr>
        <p:style>
          <a:lnRef idx="2">
            <a:schemeClr val="accent3">
              <a:shade val="50000"/>
            </a:schemeClr>
          </a:lnRef>
          <a:fillRef idx="1">
            <a:schemeClr val="accent3"/>
          </a:fillRef>
          <a:effectRef idx="0">
            <a:schemeClr val="accent3"/>
          </a:effectRef>
          <a:fontRef idx="minor">
            <a:schemeClr val="lt1"/>
          </a:fontRef>
        </p:style>
      </p:cxnSp>
      <p:sp>
        <p:nvSpPr>
          <p:cNvPr id="29" name="角丸四角形 17">
            <a:extLst>
              <a:ext uri="{FF2B5EF4-FFF2-40B4-BE49-F238E27FC236}">
                <a16:creationId xmlns:a16="http://schemas.microsoft.com/office/drawing/2014/main" id="{C7752BF4-D249-4F39-88C6-F5B368B71795}"/>
              </a:ext>
            </a:extLst>
          </p:cNvPr>
          <p:cNvSpPr/>
          <p:nvPr/>
        </p:nvSpPr>
        <p:spPr>
          <a:xfrm>
            <a:off x="1254260" y="3736024"/>
            <a:ext cx="7689035" cy="23969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8GB/16GB </a:t>
            </a:r>
            <a:r>
              <a:rPr lang="ja-JP" altLang="en-US" sz="1000" dirty="0">
                <a:latin typeface="Meiryo UI" panose="020B0604030504040204" pitchFamily="50" charset="-128"/>
                <a:ea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rPr>
              <a:t>DDR4-3200/PC4-25600</a:t>
            </a:r>
          </a:p>
        </p:txBody>
      </p:sp>
      <p:sp>
        <p:nvSpPr>
          <p:cNvPr id="31" name="角丸四角形 16">
            <a:extLst>
              <a:ext uri="{FF2B5EF4-FFF2-40B4-BE49-F238E27FC236}">
                <a16:creationId xmlns:a16="http://schemas.microsoft.com/office/drawing/2014/main" id="{D9361316-93EB-41D7-94F1-DD77D0633628}"/>
              </a:ext>
            </a:extLst>
          </p:cNvPr>
          <p:cNvSpPr/>
          <p:nvPr/>
        </p:nvSpPr>
        <p:spPr>
          <a:xfrm>
            <a:off x="1260954" y="2862749"/>
            <a:ext cx="7682341" cy="21305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8GB/16GB/32GB</a:t>
            </a:r>
            <a:r>
              <a:rPr lang="ja-JP" altLang="en-US" sz="1000" dirty="0">
                <a:latin typeface="Meiryo UI" panose="020B0604030504040204" pitchFamily="50" charset="-128"/>
                <a:ea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Micron/SAMSUNG/Hynix/A-DATA/</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lang="en-US" altLang="ja-JP" sz="1000" dirty="0">
              <a:latin typeface="Meiryo UI" panose="020B0604030504040204" pitchFamily="50" charset="-128"/>
              <a:ea typeface="Meiryo UI" panose="020B0604030504040204" pitchFamily="50" charset="-128"/>
            </a:endParaRPr>
          </a:p>
        </p:txBody>
      </p:sp>
      <p:sp>
        <p:nvSpPr>
          <p:cNvPr id="35" name="角丸四角形 16">
            <a:extLst>
              <a:ext uri="{FF2B5EF4-FFF2-40B4-BE49-F238E27FC236}">
                <a16:creationId xmlns:a16="http://schemas.microsoft.com/office/drawing/2014/main" id="{9AED4A1E-55A9-43CB-941B-5F385E8B9A67}"/>
              </a:ext>
            </a:extLst>
          </p:cNvPr>
          <p:cNvSpPr/>
          <p:nvPr/>
        </p:nvSpPr>
        <p:spPr>
          <a:xfrm>
            <a:off x="1247887" y="3435846"/>
            <a:ext cx="7689035" cy="213057"/>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/16GB/32GB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endParaRPr kumimoji="1" lang="en-US" altLang="ja-JP" sz="10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角丸四角形 16">
            <a:extLst>
              <a:ext uri="{FF2B5EF4-FFF2-40B4-BE49-F238E27FC236}">
                <a16:creationId xmlns:a16="http://schemas.microsoft.com/office/drawing/2014/main" id="{319E1AAE-CB86-4909-9644-F19CFA64E85B}"/>
              </a:ext>
            </a:extLst>
          </p:cNvPr>
          <p:cNvSpPr/>
          <p:nvPr/>
        </p:nvSpPr>
        <p:spPr>
          <a:xfrm>
            <a:off x="1254259" y="1059582"/>
            <a:ext cx="7689035" cy="22272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6GB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Micron/SAMSUNG/Hynix/A-DATA/ </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lang="en-US" altLang="ja-JP" sz="1000" dirty="0">
              <a:latin typeface="Meiryo UI" panose="020B0604030504040204" pitchFamily="50" charset="-128"/>
              <a:ea typeface="Meiryo UI" panose="020B0604030504040204" pitchFamily="50" charset="-128"/>
            </a:endParaRPr>
          </a:p>
        </p:txBody>
      </p:sp>
      <p:sp>
        <p:nvSpPr>
          <p:cNvPr id="27" name="角丸四角形 16">
            <a:extLst>
              <a:ext uri="{FF2B5EF4-FFF2-40B4-BE49-F238E27FC236}">
                <a16:creationId xmlns:a16="http://schemas.microsoft.com/office/drawing/2014/main" id="{39D3D56A-B4B5-41DA-B838-4774132618A2}"/>
              </a:ext>
            </a:extLst>
          </p:cNvPr>
          <p:cNvSpPr/>
          <p:nvPr/>
        </p:nvSpPr>
        <p:spPr>
          <a:xfrm>
            <a:off x="1262919" y="1340916"/>
            <a:ext cx="7689035" cy="22272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Micron/SAMSUNG/Hynix/A-DATA/ </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lang="en-US" altLang="ja-JP" sz="1000" dirty="0">
              <a:latin typeface="Meiryo UI" panose="020B0604030504040204" pitchFamily="50" charset="-128"/>
              <a:ea typeface="Meiryo UI" panose="020B0604030504040204" pitchFamily="50" charset="-128"/>
            </a:endParaRPr>
          </a:p>
        </p:txBody>
      </p:sp>
      <p:sp>
        <p:nvSpPr>
          <p:cNvPr id="34" name="角丸四角形 16">
            <a:extLst>
              <a:ext uri="{FF2B5EF4-FFF2-40B4-BE49-F238E27FC236}">
                <a16:creationId xmlns:a16="http://schemas.microsoft.com/office/drawing/2014/main" id="{524F66D6-6AE3-436C-866F-55516333322A}"/>
              </a:ext>
            </a:extLst>
          </p:cNvPr>
          <p:cNvSpPr/>
          <p:nvPr/>
        </p:nvSpPr>
        <p:spPr>
          <a:xfrm>
            <a:off x="5292080" y="2622634"/>
            <a:ext cx="3659874" cy="211002"/>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ja-JP" altLang="en-US" sz="1000" dirty="0">
                <a:latin typeface="Meiryo UI" panose="020B0604030504040204" pitchFamily="50" charset="-128"/>
                <a:ea typeface="Meiryo UI" panose="020B0604030504040204" pitchFamily="50" charset="-128"/>
              </a:rPr>
              <a:t>仮予定　</a:t>
            </a:r>
            <a:r>
              <a:rPr lang="en-US" altLang="ja-JP" sz="1000" dirty="0">
                <a:latin typeface="Meiryo UI" panose="020B0604030504040204" pitchFamily="50" charset="-128"/>
                <a:ea typeface="Meiryo UI" panose="020B0604030504040204" pitchFamily="50" charset="-128"/>
              </a:rPr>
              <a:t>64GB DDR5-6400 CUDIMM</a:t>
            </a:r>
          </a:p>
        </p:txBody>
      </p:sp>
      <p:sp>
        <p:nvSpPr>
          <p:cNvPr id="37" name="角丸四角形 16">
            <a:extLst>
              <a:ext uri="{FF2B5EF4-FFF2-40B4-BE49-F238E27FC236}">
                <a16:creationId xmlns:a16="http://schemas.microsoft.com/office/drawing/2014/main" id="{05786A12-A0C4-4E27-8A57-C73923E85F2F}"/>
              </a:ext>
            </a:extLst>
          </p:cNvPr>
          <p:cNvSpPr/>
          <p:nvPr/>
        </p:nvSpPr>
        <p:spPr>
          <a:xfrm>
            <a:off x="1269559" y="4263750"/>
            <a:ext cx="7674887" cy="22913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8GB/16GB/32GB</a:t>
            </a:r>
            <a:r>
              <a:rPr lang="ja-JP" altLang="en-US" sz="1000" dirty="0">
                <a:latin typeface="Meiryo UI" panose="020B0604030504040204" pitchFamily="50" charset="-128"/>
                <a:ea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p>
        </p:txBody>
      </p:sp>
      <p:sp>
        <p:nvSpPr>
          <p:cNvPr id="2" name="スライド番号プレースホルダー 1">
            <a:extLst>
              <a:ext uri="{FF2B5EF4-FFF2-40B4-BE49-F238E27FC236}">
                <a16:creationId xmlns:a16="http://schemas.microsoft.com/office/drawing/2014/main" id="{0EEB78FC-4A3C-42FE-9AA5-E34A0C193FCC}"/>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21</a:t>
            </a:fld>
            <a:endParaRPr kumimoji="1" lang="ja-JP" altLang="en-US" dirty="0"/>
          </a:p>
        </p:txBody>
      </p:sp>
      <p:sp>
        <p:nvSpPr>
          <p:cNvPr id="42" name="角丸四角形 16">
            <a:extLst>
              <a:ext uri="{FF2B5EF4-FFF2-40B4-BE49-F238E27FC236}">
                <a16:creationId xmlns:a16="http://schemas.microsoft.com/office/drawing/2014/main" id="{F4EA020F-C3A2-47FC-B4D3-4885F59BDA0D}"/>
              </a:ext>
            </a:extLst>
          </p:cNvPr>
          <p:cNvSpPr/>
          <p:nvPr/>
        </p:nvSpPr>
        <p:spPr>
          <a:xfrm>
            <a:off x="1268301" y="435843"/>
            <a:ext cx="7674993" cy="222721"/>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 RDIMM</a:t>
            </a:r>
            <a:r>
              <a:rPr lang="ja-JP" altLang="en-US" sz="10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TR</a:t>
            </a:r>
            <a:r>
              <a:rPr lang="ja-JP" altLang="en-US" sz="800" dirty="0">
                <a:latin typeface="Meiryo UI" panose="020B0604030504040204" pitchFamily="50" charset="-128"/>
                <a:ea typeface="Meiryo UI" panose="020B0604030504040204" pitchFamily="50" charset="-128"/>
              </a:rPr>
              <a:t>用</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法人モデルで先行使用中</a:t>
            </a:r>
            <a:endParaRPr lang="en-US" altLang="ja-JP" sz="800" dirty="0">
              <a:latin typeface="Meiryo UI" panose="020B0604030504040204" pitchFamily="50" charset="-128"/>
              <a:ea typeface="Meiryo UI" panose="020B0604030504040204" pitchFamily="50" charset="-128"/>
            </a:endParaRPr>
          </a:p>
        </p:txBody>
      </p:sp>
      <p:sp>
        <p:nvSpPr>
          <p:cNvPr id="43" name="角丸四角形 16">
            <a:extLst>
              <a:ext uri="{FF2B5EF4-FFF2-40B4-BE49-F238E27FC236}">
                <a16:creationId xmlns:a16="http://schemas.microsoft.com/office/drawing/2014/main" id="{FC2F8426-71E3-4F64-BBAD-8632E6547361}"/>
              </a:ext>
            </a:extLst>
          </p:cNvPr>
          <p:cNvSpPr/>
          <p:nvPr/>
        </p:nvSpPr>
        <p:spPr>
          <a:xfrm>
            <a:off x="1268302" y="2334601"/>
            <a:ext cx="7674992" cy="23714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16GB/32GB/64GB DDR5-5600 RDIMM</a:t>
            </a:r>
            <a:r>
              <a:rPr lang="ja-JP" altLang="en-US" sz="1100" dirty="0">
                <a:latin typeface="Meiryo UI" panose="020B0604030504040204" pitchFamily="50" charset="-128"/>
                <a:ea typeface="Meiryo UI" panose="020B0604030504040204" pitchFamily="50" charset="-128"/>
              </a:rPr>
              <a:t>　</a:t>
            </a:r>
            <a:r>
              <a:rPr lang="en-US" altLang="ja-JP" sz="800" dirty="0">
                <a:latin typeface="Meiryo UI" panose="020B0604030504040204" pitchFamily="50" charset="-128"/>
                <a:ea typeface="Meiryo UI" panose="020B0604030504040204" pitchFamily="50" charset="-128"/>
              </a:rPr>
              <a:t>TR</a:t>
            </a:r>
            <a:r>
              <a:rPr lang="ja-JP" altLang="en-US" sz="800" dirty="0">
                <a:latin typeface="Meiryo UI" panose="020B0604030504040204" pitchFamily="50" charset="-128"/>
                <a:ea typeface="Meiryo UI" panose="020B0604030504040204" pitchFamily="50" charset="-128"/>
              </a:rPr>
              <a:t>用</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法人モデルで先行使用中</a:t>
            </a:r>
            <a:endParaRPr lang="en-US" altLang="ja-JP" sz="8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56ACEA5D-9206-4444-AA4C-DEA8F039DC63}"/>
              </a:ext>
            </a:extLst>
          </p:cNvPr>
          <p:cNvSpPr txBox="1"/>
          <p:nvPr/>
        </p:nvSpPr>
        <p:spPr>
          <a:xfrm>
            <a:off x="6410968" y="1794689"/>
            <a:ext cx="2309658" cy="2462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ja-JP" altLang="en-US" sz="1000" dirty="0">
                <a:solidFill>
                  <a:schemeClr val="tx1"/>
                </a:solidFill>
                <a:latin typeface="Meiryo UI" panose="020B0604030504040204" pitchFamily="50" charset="-128"/>
                <a:ea typeface="Meiryo UI" panose="020B0604030504040204" pitchFamily="50" charset="-128"/>
              </a:rPr>
              <a:t>メモリ高騰・不足のため　</a:t>
            </a:r>
            <a:r>
              <a:rPr kumimoji="1" lang="en-US" altLang="ja-JP" sz="1000" dirty="0">
                <a:solidFill>
                  <a:schemeClr val="tx1"/>
                </a:solidFill>
                <a:latin typeface="Meiryo UI" panose="020B0604030504040204" pitchFamily="50" charset="-128"/>
                <a:ea typeface="Meiryo UI" panose="020B0604030504040204" pitchFamily="50" charset="-128"/>
              </a:rPr>
              <a:t>DDR4</a:t>
            </a:r>
            <a:r>
              <a:rPr kumimoji="1" lang="ja-JP" altLang="en-US" sz="1000" dirty="0">
                <a:solidFill>
                  <a:schemeClr val="tx1"/>
                </a:solidFill>
                <a:latin typeface="Meiryo UI" panose="020B0604030504040204" pitchFamily="50" charset="-128"/>
                <a:ea typeface="Meiryo UI" panose="020B0604030504040204" pitchFamily="50" charset="-128"/>
              </a:rPr>
              <a:t>使用延長</a:t>
            </a:r>
            <a:endParaRPr kumimoji="1" lang="en-US" altLang="ja-JP" sz="1000" dirty="0">
              <a:solidFill>
                <a:schemeClr val="tx1"/>
              </a:solidFill>
              <a:latin typeface="Meiryo UI" panose="020B0604030504040204" pitchFamily="50" charset="-128"/>
              <a:ea typeface="Meiryo UI" panose="020B0604030504040204" pitchFamily="50" charset="-128"/>
            </a:endParaRPr>
          </a:p>
        </p:txBody>
      </p:sp>
      <p:sp>
        <p:nvSpPr>
          <p:cNvPr id="28" name="角丸四角形 16">
            <a:extLst>
              <a:ext uri="{FF2B5EF4-FFF2-40B4-BE49-F238E27FC236}">
                <a16:creationId xmlns:a16="http://schemas.microsoft.com/office/drawing/2014/main" id="{722B9291-2F6B-44AB-B0DE-EA99DDE7B99B}"/>
              </a:ext>
            </a:extLst>
          </p:cNvPr>
          <p:cNvSpPr/>
          <p:nvPr/>
        </p:nvSpPr>
        <p:spPr>
          <a:xfrm>
            <a:off x="6722934" y="716642"/>
            <a:ext cx="2236422" cy="6722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latin typeface="Meiryo UI" panose="020B0604030504040204" pitchFamily="50" charset="-128"/>
                <a:ea typeface="Meiryo UI" panose="020B0604030504040204" pitchFamily="50" charset="-128"/>
                <a:cs typeface="Meiryo UI" panose="020B0604030504040204" pitchFamily="50" charset="-128"/>
              </a:rPr>
              <a:t>仮予定</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DDR5-6400 </a:t>
            </a:r>
            <a:r>
              <a:rPr lang="en-US" altLang="ja-JP" sz="700" dirty="0">
                <a:latin typeface="Meiryo UI" panose="020B0604030504040204" pitchFamily="50" charset="-128"/>
                <a:ea typeface="Meiryo UI" panose="020B0604030504040204" pitchFamily="50" charset="-128"/>
              </a:rPr>
              <a:t>CUDIMM</a:t>
            </a:r>
          </a:p>
        </p:txBody>
      </p:sp>
      <p:sp>
        <p:nvSpPr>
          <p:cNvPr id="32" name="角丸四角形 16">
            <a:extLst>
              <a:ext uri="{FF2B5EF4-FFF2-40B4-BE49-F238E27FC236}">
                <a16:creationId xmlns:a16="http://schemas.microsoft.com/office/drawing/2014/main" id="{A9E5D7C4-4DCA-47A7-8BCF-06BFE6E4E4CE}"/>
              </a:ext>
            </a:extLst>
          </p:cNvPr>
          <p:cNvSpPr/>
          <p:nvPr/>
        </p:nvSpPr>
        <p:spPr>
          <a:xfrm>
            <a:off x="1247886" y="832028"/>
            <a:ext cx="7689035" cy="19123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r>
              <a:rPr lang="en-US" altLang="ja-JP" sz="1000" dirty="0">
                <a:latin typeface="Meiryo UI" panose="020B0604030504040204" pitchFamily="50" charset="-128"/>
                <a:ea typeface="Meiryo UI" panose="020B0604030504040204" pitchFamily="50" charset="-128"/>
              </a:rPr>
              <a:t>/PC5-44800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Micron/SAMSUNG/Hynix/A-DATA/</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lang="en-US" altLang="ja-JP" sz="1000" dirty="0">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A43B127C-3294-4AAB-8947-9451DC92FFEC}"/>
              </a:ext>
            </a:extLst>
          </p:cNvPr>
          <p:cNvSpPr txBox="1"/>
          <p:nvPr/>
        </p:nvSpPr>
        <p:spPr>
          <a:xfrm>
            <a:off x="5869017" y="832028"/>
            <a:ext cx="3115451" cy="738664"/>
          </a:xfrm>
          <a:prstGeom prst="rect">
            <a:avLst/>
          </a:prstGeom>
          <a:solidFill>
            <a:srgbClr val="FFFFFF">
              <a:alpha val="69804"/>
            </a:srgbClr>
          </a:solidFill>
          <a:ln w="12700">
            <a:solidFill>
              <a:schemeClr val="tx1"/>
            </a:solidFill>
          </a:ln>
        </p:spPr>
        <p:txBody>
          <a:bodyPr wrap="square" rtlCol="0">
            <a:spAutoFit/>
          </a:bodyPr>
          <a:lstStyle/>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kumimoji="1" lang="ja-JP" altLang="en-US" sz="1050" b="1" dirty="0">
                <a:solidFill>
                  <a:srgbClr val="FF0000"/>
                </a:solidFill>
                <a:latin typeface="メイリオ" panose="020B0604030504040204" pitchFamily="50" charset="-128"/>
                <a:ea typeface="メイリオ" panose="020B0604030504040204" pitchFamily="50" charset="-128"/>
              </a:rPr>
              <a:t>供給・価格見つつ</a:t>
            </a:r>
            <a:r>
              <a:rPr kumimoji="1" lang="en-US" altLang="ja-JP" sz="1050" b="1" dirty="0">
                <a:solidFill>
                  <a:srgbClr val="FF0000"/>
                </a:solidFill>
                <a:latin typeface="メイリオ" panose="020B0604030504040204" pitchFamily="50" charset="-128"/>
                <a:ea typeface="メイリオ" panose="020B0604030504040204" pitchFamily="50" charset="-128"/>
              </a:rPr>
              <a:t>DDR5-5600</a:t>
            </a:r>
            <a:r>
              <a:rPr kumimoji="1" lang="ja-JP" altLang="en-US" sz="1050" b="1" dirty="0">
                <a:solidFill>
                  <a:srgbClr val="FF0000"/>
                </a:solidFill>
                <a:latin typeface="メイリオ" panose="020B0604030504040204" pitchFamily="50" charset="-128"/>
                <a:ea typeface="メイリオ" panose="020B0604030504040204" pitchFamily="50" charset="-128"/>
              </a:rPr>
              <a:t>使用継続</a:t>
            </a:r>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DDR5-6400(CUDIMM)</a:t>
            </a:r>
            <a:r>
              <a:rPr lang="ja-JP" altLang="en-US" sz="700" b="1" dirty="0">
                <a:solidFill>
                  <a:srgbClr val="FF0000"/>
                </a:solidFill>
                <a:latin typeface="メイリオ" panose="020B0604030504040204" pitchFamily="50" charset="-128"/>
                <a:ea typeface="メイリオ" panose="020B0604030504040204" pitchFamily="50" charset="-128"/>
              </a:rPr>
              <a:t>は供給・価格次第</a:t>
            </a:r>
            <a:endParaRPr lang="en-US" altLang="ja-JP" sz="70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※AMD Zen5</a:t>
            </a:r>
            <a:r>
              <a:rPr lang="ja-JP" altLang="en-US" sz="700" b="1" dirty="0">
                <a:solidFill>
                  <a:srgbClr val="FF0000"/>
                </a:solidFill>
                <a:latin typeface="メイリオ" panose="020B0604030504040204" pitchFamily="50" charset="-128"/>
                <a:ea typeface="メイリオ" panose="020B0604030504040204" pitchFamily="50" charset="-128"/>
              </a:rPr>
              <a:t>世代は</a:t>
            </a:r>
            <a:r>
              <a:rPr lang="en-US" altLang="ja-JP" sz="700" b="1" dirty="0">
                <a:solidFill>
                  <a:srgbClr val="FF0000"/>
                </a:solidFill>
                <a:latin typeface="メイリオ" panose="020B0604030504040204" pitchFamily="50" charset="-128"/>
                <a:ea typeface="メイリオ" panose="020B0604030504040204" pitchFamily="50" charset="-128"/>
              </a:rPr>
              <a:t>CUDIMM</a:t>
            </a:r>
            <a:r>
              <a:rPr lang="ja-JP" altLang="en-US" sz="700" b="1" dirty="0">
                <a:solidFill>
                  <a:srgbClr val="FF0000"/>
                </a:solidFill>
                <a:latin typeface="メイリオ" panose="020B0604030504040204" pitchFamily="50" charset="-128"/>
                <a:ea typeface="メイリオ" panose="020B0604030504040204" pitchFamily="50" charset="-128"/>
              </a:rPr>
              <a:t>非対応</a:t>
            </a:r>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19452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780744344"/>
              </p:ext>
            </p:extLst>
          </p:nvPr>
        </p:nvGraphicFramePr>
        <p:xfrm>
          <a:off x="35496" y="51466"/>
          <a:ext cx="8928982" cy="4315889"/>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64968">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Desk</a:t>
                      </a:r>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メモリ</a:t>
                      </a:r>
                      <a:endPar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50921">
                <a:tc>
                  <a:txBody>
                    <a:bodyPr/>
                    <a:lstStyle/>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デスク</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3" name="角丸四角形 2"/>
          <p:cNvSpPr/>
          <p:nvPr/>
        </p:nvSpPr>
        <p:spPr>
          <a:xfrm>
            <a:off x="1270174" y="2784289"/>
            <a:ext cx="551802" cy="878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 name="直線コネクタ 27">
            <a:extLst>
              <a:ext uri="{FF2B5EF4-FFF2-40B4-BE49-F238E27FC236}">
                <a16:creationId xmlns:a16="http://schemas.microsoft.com/office/drawing/2014/main" id="{FE537114-B53F-4DDB-827D-3D9B81542875}"/>
              </a:ext>
            </a:extLst>
          </p:cNvPr>
          <p:cNvCxnSpPr>
            <a:cxnSpLocks/>
          </p:cNvCxnSpPr>
          <p:nvPr/>
        </p:nvCxnSpPr>
        <p:spPr>
          <a:xfrm>
            <a:off x="1250599" y="2577358"/>
            <a:ext cx="7713889"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49" name="角丸四角形 29">
            <a:extLst>
              <a:ext uri="{FF2B5EF4-FFF2-40B4-BE49-F238E27FC236}">
                <a16:creationId xmlns:a16="http://schemas.microsoft.com/office/drawing/2014/main" id="{41C0E0FD-4823-45CA-A379-EACC85D8FA94}"/>
              </a:ext>
            </a:extLst>
          </p:cNvPr>
          <p:cNvSpPr/>
          <p:nvPr/>
        </p:nvSpPr>
        <p:spPr>
          <a:xfrm>
            <a:off x="1245804" y="3142143"/>
            <a:ext cx="480106" cy="29218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角丸四角形 16">
            <a:extLst>
              <a:ext uri="{FF2B5EF4-FFF2-40B4-BE49-F238E27FC236}">
                <a16:creationId xmlns:a16="http://schemas.microsoft.com/office/drawing/2014/main" id="{66DADDD8-DD8C-42C1-A32A-9B1DE961CE31}"/>
              </a:ext>
            </a:extLst>
          </p:cNvPr>
          <p:cNvSpPr/>
          <p:nvPr/>
        </p:nvSpPr>
        <p:spPr>
          <a:xfrm>
            <a:off x="1269681" y="872851"/>
            <a:ext cx="7695289" cy="11472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46" name="角丸四角形 85">
            <a:extLst>
              <a:ext uri="{FF2B5EF4-FFF2-40B4-BE49-F238E27FC236}">
                <a16:creationId xmlns:a16="http://schemas.microsoft.com/office/drawing/2014/main" id="{5914C16F-D002-4B8D-A7CF-4D3CD4C5A6F0}"/>
              </a:ext>
            </a:extLst>
          </p:cNvPr>
          <p:cNvSpPr/>
          <p:nvPr/>
        </p:nvSpPr>
        <p:spPr>
          <a:xfrm>
            <a:off x="532625" y="1464155"/>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a:t>
            </a:r>
          </a:p>
        </p:txBody>
      </p:sp>
      <p:sp>
        <p:nvSpPr>
          <p:cNvPr id="48" name="角丸四角形 85">
            <a:extLst>
              <a:ext uri="{FF2B5EF4-FFF2-40B4-BE49-F238E27FC236}">
                <a16:creationId xmlns:a16="http://schemas.microsoft.com/office/drawing/2014/main" id="{EC186260-9497-4E6F-B2F6-2F8C09D243F2}"/>
              </a:ext>
            </a:extLst>
          </p:cNvPr>
          <p:cNvSpPr/>
          <p:nvPr/>
        </p:nvSpPr>
        <p:spPr>
          <a:xfrm>
            <a:off x="467544" y="3342448"/>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DDR4</a:t>
            </a:r>
          </a:p>
        </p:txBody>
      </p:sp>
      <p:sp>
        <p:nvSpPr>
          <p:cNvPr id="36" name="角丸四角形 16">
            <a:extLst>
              <a:ext uri="{FF2B5EF4-FFF2-40B4-BE49-F238E27FC236}">
                <a16:creationId xmlns:a16="http://schemas.microsoft.com/office/drawing/2014/main" id="{C5332A09-7D03-4AFD-89C5-ED4C697F103B}"/>
              </a:ext>
            </a:extLst>
          </p:cNvPr>
          <p:cNvSpPr/>
          <p:nvPr/>
        </p:nvSpPr>
        <p:spPr>
          <a:xfrm>
            <a:off x="1249804" y="1887486"/>
            <a:ext cx="7713888" cy="3962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角丸四角形 16">
            <a:extLst>
              <a:ext uri="{FF2B5EF4-FFF2-40B4-BE49-F238E27FC236}">
                <a16:creationId xmlns:a16="http://schemas.microsoft.com/office/drawing/2014/main" id="{EF9E8F5C-0190-4A48-8033-2A7112C8AF0B}"/>
              </a:ext>
            </a:extLst>
          </p:cNvPr>
          <p:cNvSpPr/>
          <p:nvPr/>
        </p:nvSpPr>
        <p:spPr>
          <a:xfrm>
            <a:off x="1257124" y="1169233"/>
            <a:ext cx="7695289" cy="466413"/>
          </a:xfrm>
          <a:prstGeom prst="roundRect">
            <a:avLst>
              <a:gd name="adj" fmla="val 858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29">
            <a:extLst>
              <a:ext uri="{FF2B5EF4-FFF2-40B4-BE49-F238E27FC236}">
                <a16:creationId xmlns:a16="http://schemas.microsoft.com/office/drawing/2014/main" id="{62BB293D-7758-4DE3-8A5D-5A01B3118108}"/>
              </a:ext>
            </a:extLst>
          </p:cNvPr>
          <p:cNvSpPr/>
          <p:nvPr/>
        </p:nvSpPr>
        <p:spPr>
          <a:xfrm>
            <a:off x="1249805" y="3809595"/>
            <a:ext cx="499983" cy="322831"/>
          </a:xfrm>
          <a:prstGeom prst="roundRect">
            <a:avLst>
              <a:gd name="adj" fmla="val 685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16">
            <a:extLst>
              <a:ext uri="{FF2B5EF4-FFF2-40B4-BE49-F238E27FC236}">
                <a16:creationId xmlns:a16="http://schemas.microsoft.com/office/drawing/2014/main" id="{14AB7E4C-5724-493C-A4F7-AB26D6B3C618}"/>
              </a:ext>
            </a:extLst>
          </p:cNvPr>
          <p:cNvSpPr/>
          <p:nvPr/>
        </p:nvSpPr>
        <p:spPr>
          <a:xfrm>
            <a:off x="1269185" y="1942818"/>
            <a:ext cx="2571546" cy="25866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58" name="角丸四角形 16">
            <a:extLst>
              <a:ext uri="{FF2B5EF4-FFF2-40B4-BE49-F238E27FC236}">
                <a16:creationId xmlns:a16="http://schemas.microsoft.com/office/drawing/2014/main" id="{EE8E2D95-CF61-4EA6-A0D1-3DE182A4ABBD}"/>
              </a:ext>
            </a:extLst>
          </p:cNvPr>
          <p:cNvSpPr/>
          <p:nvPr/>
        </p:nvSpPr>
        <p:spPr>
          <a:xfrm>
            <a:off x="1269828" y="1304556"/>
            <a:ext cx="2366211" cy="19252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16GB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44" name="角丸四角形 2">
            <a:extLst>
              <a:ext uri="{FF2B5EF4-FFF2-40B4-BE49-F238E27FC236}">
                <a16:creationId xmlns:a16="http://schemas.microsoft.com/office/drawing/2014/main" id="{30A4D8CA-3579-4689-83BA-655D6ADD7297}"/>
              </a:ext>
            </a:extLst>
          </p:cNvPr>
          <p:cNvSpPr/>
          <p:nvPr/>
        </p:nvSpPr>
        <p:spPr>
          <a:xfrm>
            <a:off x="1249805" y="2818454"/>
            <a:ext cx="7691679" cy="5616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DDR4-3200/PC4-25600</a:t>
            </a:r>
          </a:p>
        </p:txBody>
      </p:sp>
      <p:sp>
        <p:nvSpPr>
          <p:cNvPr id="59" name="角丸四角形 37">
            <a:extLst>
              <a:ext uri="{FF2B5EF4-FFF2-40B4-BE49-F238E27FC236}">
                <a16:creationId xmlns:a16="http://schemas.microsoft.com/office/drawing/2014/main" id="{2CB614AF-C72E-49C0-A855-84CF13266A5E}"/>
              </a:ext>
            </a:extLst>
          </p:cNvPr>
          <p:cNvSpPr/>
          <p:nvPr/>
        </p:nvSpPr>
        <p:spPr>
          <a:xfrm>
            <a:off x="1250586" y="3904145"/>
            <a:ext cx="7690507" cy="228281"/>
          </a:xfrm>
          <a:prstGeom prst="roundRect">
            <a:avLst>
              <a:gd name="adj" fmla="val 1256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a:latin typeface="Meiryo UI" panose="020B0604030504040204" pitchFamily="50" charset="-128"/>
                <a:ea typeface="Meiryo UI" panose="020B0604030504040204" pitchFamily="50" charset="-128"/>
                <a:cs typeface="Meiryo UI" panose="020B0604030504040204" pitchFamily="50" charset="-128"/>
              </a:rPr>
              <a:t>8GB</a:t>
            </a:r>
            <a:r>
              <a:rPr lang="ja-JP" altLang="en-US" sz="1000">
                <a:latin typeface="Meiryo UI" panose="020B0604030504040204" pitchFamily="50" charset="-128"/>
                <a:ea typeface="Meiryo UI" panose="020B0604030504040204" pitchFamily="50" charset="-128"/>
                <a:cs typeface="Meiryo UI" panose="020B0604030504040204" pitchFamily="50" charset="-128"/>
              </a:rPr>
              <a:t>　</a:t>
            </a:r>
            <a:r>
              <a:rPr lang="en-US" altLang="ja-JP" sz="1000">
                <a:latin typeface="Meiryo UI" panose="020B0604030504040204" pitchFamily="50" charset="-128"/>
                <a:ea typeface="Meiryo UI" panose="020B0604030504040204" pitchFamily="50" charset="-128"/>
                <a:cs typeface="Meiryo UI" panose="020B0604030504040204" pitchFamily="50" charset="-128"/>
              </a:rPr>
              <a:t>DDR4-3200/PC4-25600</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37">
            <a:extLst>
              <a:ext uri="{FF2B5EF4-FFF2-40B4-BE49-F238E27FC236}">
                <a16:creationId xmlns:a16="http://schemas.microsoft.com/office/drawing/2014/main" id="{80B13B00-3ABC-4E67-9324-80207D88A5D8}"/>
              </a:ext>
            </a:extLst>
          </p:cNvPr>
          <p:cNvSpPr/>
          <p:nvPr/>
        </p:nvSpPr>
        <p:spPr>
          <a:xfrm>
            <a:off x="1250585" y="3236712"/>
            <a:ext cx="7690507" cy="199134"/>
          </a:xfrm>
          <a:prstGeom prst="roundRect">
            <a:avLst>
              <a:gd name="adj" fmla="val 1256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16GB DDR4-3200/PC4-25600</a:t>
            </a:r>
          </a:p>
        </p:txBody>
      </p:sp>
      <p:cxnSp>
        <p:nvCxnSpPr>
          <p:cNvPr id="55" name="直線コネクタ 54">
            <a:extLst>
              <a:ext uri="{FF2B5EF4-FFF2-40B4-BE49-F238E27FC236}">
                <a16:creationId xmlns:a16="http://schemas.microsoft.com/office/drawing/2014/main" id="{5A17BCE8-8D26-4986-8C02-003864DB7CF0}"/>
              </a:ext>
            </a:extLst>
          </p:cNvPr>
          <p:cNvCxnSpPr>
            <a:cxnSpLocks/>
          </p:cNvCxnSpPr>
          <p:nvPr/>
        </p:nvCxnSpPr>
        <p:spPr>
          <a:xfrm>
            <a:off x="1725910" y="3149565"/>
            <a:ext cx="7215182" cy="84619"/>
          </a:xfrm>
          <a:prstGeom prst="line">
            <a:avLst/>
          </a:prstGeom>
          <a:ln w="12700">
            <a:prstDash val="lgDash"/>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DE023CA3-3A05-4A6A-9507-918A93C6994A}"/>
              </a:ext>
            </a:extLst>
          </p:cNvPr>
          <p:cNvCxnSpPr>
            <a:cxnSpLocks/>
          </p:cNvCxnSpPr>
          <p:nvPr/>
        </p:nvCxnSpPr>
        <p:spPr>
          <a:xfrm>
            <a:off x="1270174" y="3809595"/>
            <a:ext cx="7657258" cy="94550"/>
          </a:xfrm>
          <a:prstGeom prst="line">
            <a:avLst/>
          </a:prstGeom>
          <a:ln w="12700">
            <a:prstDash val="lgDash"/>
          </a:ln>
        </p:spPr>
        <p:style>
          <a:lnRef idx="1">
            <a:schemeClr val="dk1"/>
          </a:lnRef>
          <a:fillRef idx="0">
            <a:schemeClr val="dk1"/>
          </a:fillRef>
          <a:effectRef idx="0">
            <a:schemeClr val="dk1"/>
          </a:effectRef>
          <a:fontRef idx="minor">
            <a:schemeClr val="tx1"/>
          </a:fontRef>
        </p:style>
      </p:cxnSp>
      <p:sp>
        <p:nvSpPr>
          <p:cNvPr id="37" name="テキスト ボックス 36">
            <a:extLst>
              <a:ext uri="{FF2B5EF4-FFF2-40B4-BE49-F238E27FC236}">
                <a16:creationId xmlns:a16="http://schemas.microsoft.com/office/drawing/2014/main" id="{6FB324CC-7BEE-4BDC-8B4E-133D63E56CAC}"/>
              </a:ext>
            </a:extLst>
          </p:cNvPr>
          <p:cNvSpPr txBox="1"/>
          <p:nvPr/>
        </p:nvSpPr>
        <p:spPr>
          <a:xfrm>
            <a:off x="1240434" y="4422687"/>
            <a:ext cx="7147990" cy="646331"/>
          </a:xfrm>
          <a:prstGeom prst="rect">
            <a:avLst/>
          </a:prstGeom>
          <a:solidFill>
            <a:schemeClr val="bg1"/>
          </a:solidFill>
          <a:ln w="12700">
            <a:solidFill>
              <a:schemeClr val="tx1"/>
            </a:solidFill>
          </a:ln>
        </p:spPr>
        <p:txBody>
          <a:bodyPr wrap="square" rtlCol="0">
            <a:spAutoFit/>
          </a:bodyPr>
          <a:lstStyle/>
          <a:p>
            <a:r>
              <a:rPr kumimoji="1" lang="ja-JP" altLang="en-US" sz="900" b="1" dirty="0">
                <a:latin typeface="メイリオ" panose="020B0604030504040204" pitchFamily="50" charset="-128"/>
                <a:ea typeface="メイリオ" panose="020B0604030504040204" pitchFamily="50" charset="-128"/>
              </a:rPr>
              <a:t>・</a:t>
            </a:r>
            <a:r>
              <a:rPr kumimoji="1" lang="en-US" altLang="ja-JP" sz="900" b="1" dirty="0">
                <a:latin typeface="メイリオ" panose="020B0604030504040204" pitchFamily="50" charset="-128"/>
                <a:ea typeface="メイリオ" panose="020B0604030504040204" pitchFamily="50" charset="-128"/>
              </a:rPr>
              <a:t>DDR5</a:t>
            </a:r>
          </a:p>
          <a:p>
            <a:r>
              <a:rPr lang="en-US" altLang="ja-JP" sz="900" b="1" dirty="0">
                <a:latin typeface="メイリオ" panose="020B0604030504040204" pitchFamily="50" charset="-128"/>
                <a:ea typeface="メイリオ" panose="020B0604030504040204" pitchFamily="50" charset="-128"/>
              </a:rPr>
              <a:t>Z890</a:t>
            </a:r>
            <a:r>
              <a:rPr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B860</a:t>
            </a:r>
            <a:r>
              <a:rPr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a:t>
            </a:r>
            <a:r>
              <a:rPr kumimoji="1" lang="en-US" altLang="ja-JP" sz="900" b="1" dirty="0">
                <a:latin typeface="メイリオ" panose="020B0604030504040204" pitchFamily="50" charset="-128"/>
                <a:ea typeface="メイリオ" panose="020B0604030504040204" pitchFamily="50" charset="-128"/>
              </a:rPr>
              <a:t>B760M D5”</a:t>
            </a:r>
            <a:r>
              <a:rPr kumimoji="1" lang="ja-JP" altLang="en-US" sz="900" b="1" dirty="0">
                <a:latin typeface="メイリオ" panose="020B0604030504040204" pitchFamily="50" charset="-128"/>
                <a:ea typeface="メイリオ" panose="020B0604030504040204" pitchFamily="50" charset="-128"/>
              </a:rPr>
              <a:t>　</a:t>
            </a:r>
            <a:r>
              <a:rPr kumimoji="1" lang="en-US" altLang="ja-JP" sz="900" b="1" dirty="0">
                <a:latin typeface="メイリオ" panose="020B0604030504040204" pitchFamily="50" charset="-128"/>
                <a:ea typeface="メイリオ" panose="020B0604030504040204" pitchFamily="50" charset="-128"/>
              </a:rPr>
              <a:t>“H610M D5”</a:t>
            </a:r>
            <a:r>
              <a:rPr kumimoji="1" lang="ja-JP" altLang="en-US" sz="900" b="1" dirty="0">
                <a:latin typeface="メイリオ" panose="020B0604030504040204" pitchFamily="50" charset="-128"/>
                <a:ea typeface="メイリオ" panose="020B0604030504040204" pitchFamily="50" charset="-128"/>
              </a:rPr>
              <a:t>　</a:t>
            </a:r>
            <a:r>
              <a:rPr kumimoji="1" lang="en-US" altLang="ja-JP" sz="900" b="1" dirty="0">
                <a:latin typeface="メイリオ" panose="020B0604030504040204" pitchFamily="50" charset="-128"/>
                <a:ea typeface="メイリオ" panose="020B0604030504040204" pitchFamily="50" charset="-128"/>
              </a:rPr>
              <a:t>H810</a:t>
            </a:r>
            <a:r>
              <a:rPr kumimoji="1"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X870E</a:t>
            </a:r>
            <a:r>
              <a:rPr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B650/B850</a:t>
            </a:r>
            <a:r>
              <a:rPr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A620/A620A</a:t>
            </a:r>
            <a:endParaRPr kumimoji="1" lang="en-US" altLang="ja-JP" sz="900" b="1" dirty="0">
              <a:latin typeface="メイリオ" panose="020B0604030504040204" pitchFamily="50" charset="-128"/>
              <a:ea typeface="メイリオ" panose="020B0604030504040204" pitchFamily="50" charset="-128"/>
            </a:endParaRPr>
          </a:p>
          <a:p>
            <a:r>
              <a:rPr kumimoji="1" lang="ja-JP" altLang="en-US" sz="900" b="1" dirty="0">
                <a:latin typeface="メイリオ" panose="020B0604030504040204" pitchFamily="50" charset="-128"/>
                <a:ea typeface="メイリオ" panose="020B0604030504040204" pitchFamily="50" charset="-128"/>
              </a:rPr>
              <a:t>・</a:t>
            </a:r>
            <a:r>
              <a:rPr kumimoji="1" lang="en-US" altLang="ja-JP" sz="900" b="1" dirty="0">
                <a:latin typeface="メイリオ" panose="020B0604030504040204" pitchFamily="50" charset="-128"/>
                <a:ea typeface="メイリオ" panose="020B0604030504040204" pitchFamily="50" charset="-128"/>
              </a:rPr>
              <a:t>DDR4</a:t>
            </a:r>
          </a:p>
          <a:p>
            <a:r>
              <a:rPr lang="en-US" altLang="ja-JP" sz="900" b="1" dirty="0">
                <a:latin typeface="メイリオ" panose="020B0604030504040204" pitchFamily="50" charset="-128"/>
                <a:ea typeface="メイリオ" panose="020B0604030504040204" pitchFamily="50" charset="-128"/>
              </a:rPr>
              <a:t>B550</a:t>
            </a:r>
            <a:r>
              <a:rPr lang="ja-JP" altLang="en-US" sz="900" b="1" dirty="0">
                <a:latin typeface="メイリオ" panose="020B0604030504040204" pitchFamily="50" charset="-128"/>
                <a:ea typeface="メイリオ" panose="020B0604030504040204" pitchFamily="50" charset="-128"/>
              </a:rPr>
              <a:t>　</a:t>
            </a:r>
            <a:r>
              <a:rPr kumimoji="1" lang="en-US" altLang="ja-JP" sz="900" b="1" dirty="0">
                <a:latin typeface="メイリオ" panose="020B0604030504040204" pitchFamily="50" charset="-128"/>
                <a:ea typeface="メイリオ" panose="020B0604030504040204" pitchFamily="50" charset="-128"/>
              </a:rPr>
              <a:t>A520</a:t>
            </a:r>
            <a:r>
              <a:rPr kumimoji="1" lang="ja-JP" altLang="en-US" sz="900" b="1" dirty="0">
                <a:latin typeface="メイリオ" panose="020B0604030504040204" pitchFamily="50" charset="-128"/>
                <a:ea typeface="メイリオ" panose="020B0604030504040204" pitchFamily="50" charset="-128"/>
              </a:rPr>
              <a:t>　</a:t>
            </a:r>
            <a:r>
              <a:rPr kumimoji="1" lang="en-US" altLang="ja-JP" sz="900" b="1" dirty="0">
                <a:latin typeface="メイリオ" panose="020B0604030504040204" pitchFamily="50" charset="-128"/>
                <a:ea typeface="メイリオ" panose="020B0604030504040204" pitchFamily="50" charset="-128"/>
              </a:rPr>
              <a:t>“B760 D4”</a:t>
            </a:r>
            <a:r>
              <a:rPr lang="ja-JP" altLang="en-US" sz="900" b="1" dirty="0">
                <a:latin typeface="メイリオ" panose="020B0604030504040204" pitchFamily="50" charset="-128"/>
                <a:ea typeface="メイリオ" panose="020B0604030504040204" pitchFamily="50" charset="-128"/>
              </a:rPr>
              <a:t>　</a:t>
            </a:r>
            <a:r>
              <a:rPr lang="en-US" altLang="ja-JP" sz="900" b="1" dirty="0">
                <a:latin typeface="メイリオ" panose="020B0604030504040204" pitchFamily="50" charset="-128"/>
                <a:ea typeface="メイリオ" panose="020B0604030504040204" pitchFamily="50" charset="-128"/>
              </a:rPr>
              <a:t>“H610M D4”</a:t>
            </a:r>
            <a:endParaRPr kumimoji="1" lang="ja-JP" altLang="en-US" sz="9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B0C12BA0-5FFF-46B3-90BA-5473620FCEA0}"/>
              </a:ext>
            </a:extLst>
          </p:cNvPr>
          <p:cNvSpPr txBox="1"/>
          <p:nvPr/>
        </p:nvSpPr>
        <p:spPr>
          <a:xfrm>
            <a:off x="5837294" y="860377"/>
            <a:ext cx="3115451" cy="1492716"/>
          </a:xfrm>
          <a:prstGeom prst="rect">
            <a:avLst/>
          </a:prstGeom>
          <a:solidFill>
            <a:srgbClr val="FFFFFF">
              <a:alpha val="69804"/>
            </a:srgbClr>
          </a:solidFill>
          <a:ln w="12700">
            <a:solidFill>
              <a:schemeClr val="tx1"/>
            </a:solidFill>
          </a:ln>
        </p:spPr>
        <p:txBody>
          <a:bodyPr wrap="square" rtlCol="0">
            <a:spAutoFit/>
          </a:bodyPr>
          <a:lstStyle/>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kumimoji="1" lang="ja-JP" altLang="en-US" sz="1050" b="1" dirty="0">
                <a:solidFill>
                  <a:srgbClr val="FF0000"/>
                </a:solidFill>
                <a:latin typeface="メイリオ" panose="020B0604030504040204" pitchFamily="50" charset="-128"/>
                <a:ea typeface="メイリオ" panose="020B0604030504040204" pitchFamily="50" charset="-128"/>
              </a:rPr>
              <a:t>供給・価格見つつ</a:t>
            </a:r>
            <a:r>
              <a:rPr kumimoji="1" lang="en-US" altLang="ja-JP" sz="1050" b="1" dirty="0">
                <a:solidFill>
                  <a:srgbClr val="FF0000"/>
                </a:solidFill>
                <a:latin typeface="メイリオ" panose="020B0604030504040204" pitchFamily="50" charset="-128"/>
                <a:ea typeface="メイリオ" panose="020B0604030504040204" pitchFamily="50" charset="-128"/>
              </a:rPr>
              <a:t>DDR5-5600</a:t>
            </a:r>
            <a:r>
              <a:rPr kumimoji="1" lang="ja-JP" altLang="en-US" sz="1050" b="1" dirty="0">
                <a:solidFill>
                  <a:srgbClr val="FF0000"/>
                </a:solidFill>
                <a:latin typeface="メイリオ" panose="020B0604030504040204" pitchFamily="50" charset="-128"/>
                <a:ea typeface="メイリオ" panose="020B0604030504040204" pitchFamily="50" charset="-128"/>
              </a:rPr>
              <a:t>使用継続</a:t>
            </a:r>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DDR5-6400(CUDIMM)</a:t>
            </a:r>
            <a:r>
              <a:rPr lang="ja-JP" altLang="en-US" sz="700" b="1" dirty="0">
                <a:solidFill>
                  <a:srgbClr val="FF0000"/>
                </a:solidFill>
                <a:latin typeface="メイリオ" panose="020B0604030504040204" pitchFamily="50" charset="-128"/>
                <a:ea typeface="メイリオ" panose="020B0604030504040204" pitchFamily="50" charset="-128"/>
              </a:rPr>
              <a:t>は供給・価格次第</a:t>
            </a:r>
            <a:endParaRPr lang="en-US" altLang="ja-JP" sz="70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※AMD Zen5</a:t>
            </a:r>
            <a:r>
              <a:rPr lang="ja-JP" altLang="en-US" sz="700" b="1" dirty="0">
                <a:solidFill>
                  <a:srgbClr val="FF0000"/>
                </a:solidFill>
                <a:latin typeface="メイリオ" panose="020B0604030504040204" pitchFamily="50" charset="-128"/>
                <a:ea typeface="メイリオ" panose="020B0604030504040204" pitchFamily="50" charset="-128"/>
              </a:rPr>
              <a:t>世代は</a:t>
            </a:r>
            <a:r>
              <a:rPr lang="en-US" altLang="ja-JP" sz="700" b="1" dirty="0">
                <a:solidFill>
                  <a:srgbClr val="FF0000"/>
                </a:solidFill>
                <a:latin typeface="メイリオ" panose="020B0604030504040204" pitchFamily="50" charset="-128"/>
                <a:ea typeface="メイリオ" panose="020B0604030504040204" pitchFamily="50" charset="-128"/>
              </a:rPr>
              <a:t>CUDIMM</a:t>
            </a:r>
            <a:r>
              <a:rPr lang="ja-JP" altLang="en-US" sz="700" b="1" dirty="0">
                <a:solidFill>
                  <a:srgbClr val="FF0000"/>
                </a:solidFill>
                <a:latin typeface="メイリオ" panose="020B0604030504040204" pitchFamily="50" charset="-128"/>
                <a:ea typeface="メイリオ" panose="020B0604030504040204" pitchFamily="50" charset="-128"/>
              </a:rPr>
              <a:t>非対応</a:t>
            </a:r>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kumimoji="1" lang="en-US" altLang="ja-JP" sz="700" b="1" dirty="0">
              <a:solidFill>
                <a:srgbClr val="FF0000"/>
              </a:solidFill>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F96BB411-AAA9-4990-8B6D-6B5298D0CA5E}"/>
              </a:ext>
            </a:extLst>
          </p:cNvPr>
          <p:cNvSpPr>
            <a:spLocks noGrp="1"/>
          </p:cNvSpPr>
          <p:nvPr>
            <p:ph type="sldNum" sz="quarter" idx="12"/>
          </p:nvPr>
        </p:nvSpPr>
        <p:spPr/>
        <p:txBody>
          <a:bodyPr/>
          <a:lstStyle/>
          <a:p>
            <a:fld id="{F9DFCEB9-CAE4-4F3C-93D0-85C4724A0355}" type="slidenum">
              <a:rPr kumimoji="1" lang="ja-JP" altLang="en-US" smtClean="0"/>
              <a:t>22</a:t>
            </a:fld>
            <a:endParaRPr kumimoji="1" lang="ja-JP" altLang="en-US"/>
          </a:p>
        </p:txBody>
      </p:sp>
      <p:sp>
        <p:nvSpPr>
          <p:cNvPr id="25" name="角丸四角形 16">
            <a:extLst>
              <a:ext uri="{FF2B5EF4-FFF2-40B4-BE49-F238E27FC236}">
                <a16:creationId xmlns:a16="http://schemas.microsoft.com/office/drawing/2014/main" id="{2760EEA9-B673-417E-8F6B-E192E99665A8}"/>
              </a:ext>
            </a:extLst>
          </p:cNvPr>
          <p:cNvSpPr/>
          <p:nvPr/>
        </p:nvSpPr>
        <p:spPr>
          <a:xfrm>
            <a:off x="1979712" y="601613"/>
            <a:ext cx="6961381" cy="4571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16/32GB</a:t>
            </a:r>
            <a:r>
              <a:rPr kumimoji="1" lang="ja-JP" altLang="en-US" sz="10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DDR5-5600 RDIMM</a:t>
            </a:r>
          </a:p>
        </p:txBody>
      </p:sp>
      <p:sp>
        <p:nvSpPr>
          <p:cNvPr id="23" name="角丸四角形 16">
            <a:extLst>
              <a:ext uri="{FF2B5EF4-FFF2-40B4-BE49-F238E27FC236}">
                <a16:creationId xmlns:a16="http://schemas.microsoft.com/office/drawing/2014/main" id="{6C7517A8-33CE-480D-AEA8-7C2A45C4E5CC}"/>
              </a:ext>
            </a:extLst>
          </p:cNvPr>
          <p:cNvSpPr/>
          <p:nvPr/>
        </p:nvSpPr>
        <p:spPr>
          <a:xfrm>
            <a:off x="6732240" y="767758"/>
            <a:ext cx="2220173" cy="4571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sz="10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33794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641242875"/>
              </p:ext>
            </p:extLst>
          </p:nvPr>
        </p:nvGraphicFramePr>
        <p:xfrm>
          <a:off x="35496" y="51466"/>
          <a:ext cx="8928982" cy="4320484"/>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65464">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Note</a:t>
                      </a:r>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メモリ</a:t>
                      </a:r>
                      <a:endPar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55020">
                <a:tc>
                  <a:txBody>
                    <a:bodyPr/>
                    <a:lstStyle/>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ノート</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1" name="角丸四角形 2">
            <a:extLst>
              <a:ext uri="{FF2B5EF4-FFF2-40B4-BE49-F238E27FC236}">
                <a16:creationId xmlns:a16="http://schemas.microsoft.com/office/drawing/2014/main" id="{6D48D6F6-97D9-4B15-A234-8405D2731155}"/>
              </a:ext>
            </a:extLst>
          </p:cNvPr>
          <p:cNvSpPr/>
          <p:nvPr/>
        </p:nvSpPr>
        <p:spPr>
          <a:xfrm>
            <a:off x="1229916" y="2771224"/>
            <a:ext cx="4710236" cy="1024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32GB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DDR4-3200/PC4-25600</a:t>
            </a:r>
          </a:p>
        </p:txBody>
      </p:sp>
      <p:sp>
        <p:nvSpPr>
          <p:cNvPr id="33" name="角丸四角形 2">
            <a:extLst>
              <a:ext uri="{FF2B5EF4-FFF2-40B4-BE49-F238E27FC236}">
                <a16:creationId xmlns:a16="http://schemas.microsoft.com/office/drawing/2014/main" id="{BF01694A-C8B5-4E37-A8A6-B2D236244E02}"/>
              </a:ext>
            </a:extLst>
          </p:cNvPr>
          <p:cNvSpPr/>
          <p:nvPr/>
        </p:nvSpPr>
        <p:spPr>
          <a:xfrm>
            <a:off x="1250577" y="3198300"/>
            <a:ext cx="3033391" cy="21100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2">
            <a:extLst>
              <a:ext uri="{FF2B5EF4-FFF2-40B4-BE49-F238E27FC236}">
                <a16:creationId xmlns:a16="http://schemas.microsoft.com/office/drawing/2014/main" id="{19635848-6173-4E27-90CE-8CEB77FAED93}"/>
              </a:ext>
            </a:extLst>
          </p:cNvPr>
          <p:cNvSpPr/>
          <p:nvPr/>
        </p:nvSpPr>
        <p:spPr>
          <a:xfrm>
            <a:off x="1250588" y="3705712"/>
            <a:ext cx="3033380" cy="30619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角丸四角形 2"/>
          <p:cNvSpPr/>
          <p:nvPr/>
        </p:nvSpPr>
        <p:spPr>
          <a:xfrm>
            <a:off x="1250588" y="3256989"/>
            <a:ext cx="4710236" cy="15454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16GB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DDR4-3200/PC4-25600</a:t>
            </a:r>
          </a:p>
        </p:txBody>
      </p:sp>
      <p:sp>
        <p:nvSpPr>
          <p:cNvPr id="40" name="角丸四角形 39"/>
          <p:cNvSpPr/>
          <p:nvPr/>
        </p:nvSpPr>
        <p:spPr>
          <a:xfrm>
            <a:off x="1250598" y="3810652"/>
            <a:ext cx="4710226" cy="19552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DDR4-3200/PC4-25600</a:t>
            </a:r>
          </a:p>
        </p:txBody>
      </p:sp>
      <p:cxnSp>
        <p:nvCxnSpPr>
          <p:cNvPr id="23" name="直線コネクタ 22">
            <a:extLst>
              <a:ext uri="{FF2B5EF4-FFF2-40B4-BE49-F238E27FC236}">
                <a16:creationId xmlns:a16="http://schemas.microsoft.com/office/drawing/2014/main" id="{33CD209B-B699-431A-A92D-1E2C82DE966D}"/>
              </a:ext>
            </a:extLst>
          </p:cNvPr>
          <p:cNvCxnSpPr>
            <a:cxnSpLocks/>
          </p:cNvCxnSpPr>
          <p:nvPr/>
        </p:nvCxnSpPr>
        <p:spPr>
          <a:xfrm>
            <a:off x="1250599" y="2355726"/>
            <a:ext cx="7713889"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24" name="角丸四角形 16">
            <a:extLst>
              <a:ext uri="{FF2B5EF4-FFF2-40B4-BE49-F238E27FC236}">
                <a16:creationId xmlns:a16="http://schemas.microsoft.com/office/drawing/2014/main" id="{9DB7EF73-5B4E-4F3D-92C3-FB555DBCB1B1}"/>
              </a:ext>
            </a:extLst>
          </p:cNvPr>
          <p:cNvSpPr/>
          <p:nvPr/>
        </p:nvSpPr>
        <p:spPr>
          <a:xfrm>
            <a:off x="1250578" y="855082"/>
            <a:ext cx="7692774" cy="4571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a:latin typeface="Meiryo UI" panose="020B0604030504040204" pitchFamily="50" charset="-128"/>
                <a:ea typeface="Meiryo UI" panose="020B0604030504040204" pitchFamily="50" charset="-128"/>
                <a:cs typeface="Meiryo UI" panose="020B0604030504040204" pitchFamily="50" charset="-128"/>
              </a:rPr>
              <a:t>32GB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20" name="角丸四角形 85">
            <a:extLst>
              <a:ext uri="{FF2B5EF4-FFF2-40B4-BE49-F238E27FC236}">
                <a16:creationId xmlns:a16="http://schemas.microsoft.com/office/drawing/2014/main" id="{1F15FF17-AF26-4C8A-B57A-F22A7626A6F7}"/>
              </a:ext>
            </a:extLst>
          </p:cNvPr>
          <p:cNvSpPr/>
          <p:nvPr/>
        </p:nvSpPr>
        <p:spPr>
          <a:xfrm>
            <a:off x="610396" y="1189811"/>
            <a:ext cx="586757"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a:t>
            </a:r>
          </a:p>
        </p:txBody>
      </p:sp>
      <p:sp>
        <p:nvSpPr>
          <p:cNvPr id="28" name="角丸四角形 85">
            <a:extLst>
              <a:ext uri="{FF2B5EF4-FFF2-40B4-BE49-F238E27FC236}">
                <a16:creationId xmlns:a16="http://schemas.microsoft.com/office/drawing/2014/main" id="{E24EADFB-10A3-4B8C-B485-BA39B82F19A4}"/>
              </a:ext>
            </a:extLst>
          </p:cNvPr>
          <p:cNvSpPr/>
          <p:nvPr/>
        </p:nvSpPr>
        <p:spPr>
          <a:xfrm>
            <a:off x="612959" y="3068104"/>
            <a:ext cx="586756"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DDR4</a:t>
            </a:r>
          </a:p>
        </p:txBody>
      </p:sp>
      <p:sp>
        <p:nvSpPr>
          <p:cNvPr id="19" name="テキスト ボックス 18">
            <a:extLst>
              <a:ext uri="{FF2B5EF4-FFF2-40B4-BE49-F238E27FC236}">
                <a16:creationId xmlns:a16="http://schemas.microsoft.com/office/drawing/2014/main" id="{C99A1A70-CF2C-4B64-A3E5-E3B8CDAE791A}"/>
              </a:ext>
            </a:extLst>
          </p:cNvPr>
          <p:cNvSpPr txBox="1"/>
          <p:nvPr/>
        </p:nvSpPr>
        <p:spPr>
          <a:xfrm>
            <a:off x="3237723" y="2231433"/>
            <a:ext cx="4221295" cy="253916"/>
          </a:xfrm>
          <a:prstGeom prst="rect">
            <a:avLst/>
          </a:prstGeom>
          <a:solidFill>
            <a:schemeClr val="bg1"/>
          </a:solidFill>
          <a:ln w="12700">
            <a:solidFill>
              <a:schemeClr val="tx1"/>
            </a:solidFill>
          </a:ln>
        </p:spPr>
        <p:txBody>
          <a:bodyPr wrap="square" rtlCol="0">
            <a:spAutoFit/>
          </a:bodyPr>
          <a:lstStyle/>
          <a:p>
            <a:r>
              <a:rPr lang="en-US" altLang="ja-JP" sz="1050" b="1" dirty="0">
                <a:solidFill>
                  <a:srgbClr val="FF0000"/>
                </a:solidFill>
                <a:latin typeface="メイリオ" panose="020B0604030504040204" pitchFamily="50" charset="-128"/>
                <a:ea typeface="メイリオ" panose="020B0604030504040204" pitchFamily="50" charset="-128"/>
              </a:rPr>
              <a:t>DDR5orDDR4</a:t>
            </a:r>
            <a:r>
              <a:rPr lang="ja-JP" altLang="en-US" sz="1050" b="1" dirty="0">
                <a:solidFill>
                  <a:srgbClr val="FF0000"/>
                </a:solidFill>
                <a:latin typeface="メイリオ" panose="020B0604030504040204" pitchFamily="50" charset="-128"/>
                <a:ea typeface="メイリオ" panose="020B0604030504040204" pitchFamily="50" charset="-128"/>
              </a:rPr>
              <a:t>はベアによるため、採用状況でバランス変化します。</a:t>
            </a:r>
            <a:endParaRPr kumimoji="1"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37" name="角丸四角形 16">
            <a:extLst>
              <a:ext uri="{FF2B5EF4-FFF2-40B4-BE49-F238E27FC236}">
                <a16:creationId xmlns:a16="http://schemas.microsoft.com/office/drawing/2014/main" id="{AF35C4C9-A65F-4C05-AC96-B502F1B95F0A}"/>
              </a:ext>
            </a:extLst>
          </p:cNvPr>
          <p:cNvSpPr/>
          <p:nvPr/>
        </p:nvSpPr>
        <p:spPr>
          <a:xfrm>
            <a:off x="1269162" y="1696891"/>
            <a:ext cx="7695321" cy="29088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16">
            <a:extLst>
              <a:ext uri="{FF2B5EF4-FFF2-40B4-BE49-F238E27FC236}">
                <a16:creationId xmlns:a16="http://schemas.microsoft.com/office/drawing/2014/main" id="{4E7D35D8-EEAC-4E6D-8A9C-575B3568035B}"/>
              </a:ext>
            </a:extLst>
          </p:cNvPr>
          <p:cNvSpPr/>
          <p:nvPr/>
        </p:nvSpPr>
        <p:spPr>
          <a:xfrm>
            <a:off x="1269162" y="1183378"/>
            <a:ext cx="7689000" cy="20318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2">
            <a:extLst>
              <a:ext uri="{FF2B5EF4-FFF2-40B4-BE49-F238E27FC236}">
                <a16:creationId xmlns:a16="http://schemas.microsoft.com/office/drawing/2014/main" id="{6F8F6ACA-BD31-4451-8385-F34640E439B3}"/>
              </a:ext>
            </a:extLst>
          </p:cNvPr>
          <p:cNvSpPr/>
          <p:nvPr/>
        </p:nvSpPr>
        <p:spPr>
          <a:xfrm>
            <a:off x="3303033" y="3357380"/>
            <a:ext cx="5655129" cy="5567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角丸四角形 2">
            <a:extLst>
              <a:ext uri="{FF2B5EF4-FFF2-40B4-BE49-F238E27FC236}">
                <a16:creationId xmlns:a16="http://schemas.microsoft.com/office/drawing/2014/main" id="{208DA72E-AA65-4CF9-85A5-F309A28E56A3}"/>
              </a:ext>
            </a:extLst>
          </p:cNvPr>
          <p:cNvSpPr/>
          <p:nvPr/>
        </p:nvSpPr>
        <p:spPr>
          <a:xfrm>
            <a:off x="3215938" y="3960122"/>
            <a:ext cx="5763160" cy="4605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2">
            <a:extLst>
              <a:ext uri="{FF2B5EF4-FFF2-40B4-BE49-F238E27FC236}">
                <a16:creationId xmlns:a16="http://schemas.microsoft.com/office/drawing/2014/main" id="{2D6C4B4D-3754-4F84-9400-D16EAFFBE61D}"/>
              </a:ext>
            </a:extLst>
          </p:cNvPr>
          <p:cNvSpPr/>
          <p:nvPr/>
        </p:nvSpPr>
        <p:spPr>
          <a:xfrm>
            <a:off x="3491880" y="2810311"/>
            <a:ext cx="5466282" cy="6135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角丸四角形 2">
            <a:extLst>
              <a:ext uri="{FF2B5EF4-FFF2-40B4-BE49-F238E27FC236}">
                <a16:creationId xmlns:a16="http://schemas.microsoft.com/office/drawing/2014/main" id="{A01D8E33-6A27-4856-A2C3-F696936FAB10}"/>
              </a:ext>
            </a:extLst>
          </p:cNvPr>
          <p:cNvSpPr/>
          <p:nvPr/>
        </p:nvSpPr>
        <p:spPr>
          <a:xfrm>
            <a:off x="5580112" y="3898781"/>
            <a:ext cx="1656184" cy="9106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5" name="直線コネクタ 44">
            <a:extLst>
              <a:ext uri="{FF2B5EF4-FFF2-40B4-BE49-F238E27FC236}">
                <a16:creationId xmlns:a16="http://schemas.microsoft.com/office/drawing/2014/main" id="{F5052B06-4E5D-4E61-A75A-B9B2E6AD92B1}"/>
              </a:ext>
            </a:extLst>
          </p:cNvPr>
          <p:cNvCxnSpPr>
            <a:cxnSpLocks/>
          </p:cNvCxnSpPr>
          <p:nvPr/>
        </p:nvCxnSpPr>
        <p:spPr>
          <a:xfrm flipV="1">
            <a:off x="1269162" y="808436"/>
            <a:ext cx="7709936" cy="43588"/>
          </a:xfrm>
          <a:prstGeom prst="line">
            <a:avLst/>
          </a:prstGeom>
          <a:ln w="12700">
            <a:prstDash val="lgDash"/>
          </a:ln>
        </p:spPr>
        <p:style>
          <a:lnRef idx="1">
            <a:schemeClr val="dk1"/>
          </a:lnRef>
          <a:fillRef idx="0">
            <a:schemeClr val="dk1"/>
          </a:fillRef>
          <a:effectRef idx="0">
            <a:schemeClr val="dk1"/>
          </a:effectRef>
          <a:fontRef idx="minor">
            <a:schemeClr val="tx1"/>
          </a:fontRef>
        </p:style>
      </p:cxnSp>
      <p:sp>
        <p:nvSpPr>
          <p:cNvPr id="27" name="角丸四角形 16">
            <a:extLst>
              <a:ext uri="{FF2B5EF4-FFF2-40B4-BE49-F238E27FC236}">
                <a16:creationId xmlns:a16="http://schemas.microsoft.com/office/drawing/2014/main" id="{CBB81F4A-3C01-4CAC-9BA5-3849A9AEDD3E}"/>
              </a:ext>
            </a:extLst>
          </p:cNvPr>
          <p:cNvSpPr/>
          <p:nvPr/>
        </p:nvSpPr>
        <p:spPr>
          <a:xfrm>
            <a:off x="1322586" y="1819722"/>
            <a:ext cx="1305198" cy="11391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26" name="角丸四角形 16">
            <a:extLst>
              <a:ext uri="{FF2B5EF4-FFF2-40B4-BE49-F238E27FC236}">
                <a16:creationId xmlns:a16="http://schemas.microsoft.com/office/drawing/2014/main" id="{D340A1F5-BE3E-4568-8ACA-A319B5721159}"/>
              </a:ext>
            </a:extLst>
          </p:cNvPr>
          <p:cNvSpPr/>
          <p:nvPr/>
        </p:nvSpPr>
        <p:spPr>
          <a:xfrm>
            <a:off x="1256042" y="1212426"/>
            <a:ext cx="1512158" cy="145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16GB</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DDR5-5600</a:t>
            </a:r>
          </a:p>
        </p:txBody>
      </p:sp>
      <p:sp>
        <p:nvSpPr>
          <p:cNvPr id="2" name="スライド番号プレースホルダー 1">
            <a:extLst>
              <a:ext uri="{FF2B5EF4-FFF2-40B4-BE49-F238E27FC236}">
                <a16:creationId xmlns:a16="http://schemas.microsoft.com/office/drawing/2014/main" id="{A8343063-EA9B-42F9-A1DE-901E30890B61}"/>
              </a:ext>
            </a:extLst>
          </p:cNvPr>
          <p:cNvSpPr>
            <a:spLocks noGrp="1"/>
          </p:cNvSpPr>
          <p:nvPr>
            <p:ph type="sldNum" sz="quarter" idx="12"/>
          </p:nvPr>
        </p:nvSpPr>
        <p:spPr/>
        <p:txBody>
          <a:bodyPr/>
          <a:lstStyle/>
          <a:p>
            <a:fld id="{F9DFCEB9-CAE4-4F3C-93D0-85C4724A0355}" type="slidenum">
              <a:rPr kumimoji="1" lang="ja-JP" altLang="en-US" smtClean="0"/>
              <a:t>23</a:t>
            </a:fld>
            <a:endParaRPr kumimoji="1" lang="ja-JP" altLang="en-US"/>
          </a:p>
        </p:txBody>
      </p:sp>
      <p:sp>
        <p:nvSpPr>
          <p:cNvPr id="35" name="角丸四角形 2">
            <a:extLst>
              <a:ext uri="{FF2B5EF4-FFF2-40B4-BE49-F238E27FC236}">
                <a16:creationId xmlns:a16="http://schemas.microsoft.com/office/drawing/2014/main" id="{68B787CE-754E-4A46-8FB7-F9FE639501BE}"/>
              </a:ext>
            </a:extLst>
          </p:cNvPr>
          <p:cNvSpPr/>
          <p:nvPr/>
        </p:nvSpPr>
        <p:spPr>
          <a:xfrm>
            <a:off x="5580112" y="3322458"/>
            <a:ext cx="1656184" cy="5567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0" name="直線コネクタ 29">
            <a:extLst>
              <a:ext uri="{FF2B5EF4-FFF2-40B4-BE49-F238E27FC236}">
                <a16:creationId xmlns:a16="http://schemas.microsoft.com/office/drawing/2014/main" id="{FBEF02E6-3640-4840-BC70-2C6D50098ECB}"/>
              </a:ext>
            </a:extLst>
          </p:cNvPr>
          <p:cNvCxnSpPr>
            <a:cxnSpLocks/>
          </p:cNvCxnSpPr>
          <p:nvPr/>
        </p:nvCxnSpPr>
        <p:spPr>
          <a:xfrm>
            <a:off x="5940152" y="2787774"/>
            <a:ext cx="3051756" cy="5040"/>
          </a:xfrm>
          <a:prstGeom prst="line">
            <a:avLst/>
          </a:prstGeom>
          <a:ln w="12700">
            <a:prstDash val="lgDash"/>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1A30771E-C1B8-4406-A9FA-CB7DC58DB43A}"/>
              </a:ext>
            </a:extLst>
          </p:cNvPr>
          <p:cNvCxnSpPr>
            <a:cxnSpLocks/>
          </p:cNvCxnSpPr>
          <p:nvPr/>
        </p:nvCxnSpPr>
        <p:spPr>
          <a:xfrm>
            <a:off x="4277022" y="3210769"/>
            <a:ext cx="4681140" cy="92321"/>
          </a:xfrm>
          <a:prstGeom prst="line">
            <a:avLst/>
          </a:prstGeom>
          <a:ln w="12700">
            <a:prstDash val="lgDash"/>
          </a:ln>
        </p:spPr>
        <p:style>
          <a:lnRef idx="1">
            <a:schemeClr val="dk1"/>
          </a:lnRef>
          <a:fillRef idx="0">
            <a:schemeClr val="dk1"/>
          </a:fillRef>
          <a:effectRef idx="0">
            <a:schemeClr val="dk1"/>
          </a:effectRef>
          <a:fontRef idx="minor">
            <a:schemeClr val="tx1"/>
          </a:fontRef>
        </p:style>
      </p:cxnSp>
      <p:cxnSp>
        <p:nvCxnSpPr>
          <p:cNvPr id="32" name="直線コネクタ 31">
            <a:extLst>
              <a:ext uri="{FF2B5EF4-FFF2-40B4-BE49-F238E27FC236}">
                <a16:creationId xmlns:a16="http://schemas.microsoft.com/office/drawing/2014/main" id="{6A13A44F-4A23-4316-9B3C-DCD3B4A95EC7}"/>
              </a:ext>
            </a:extLst>
          </p:cNvPr>
          <p:cNvCxnSpPr>
            <a:cxnSpLocks/>
          </p:cNvCxnSpPr>
          <p:nvPr/>
        </p:nvCxnSpPr>
        <p:spPr>
          <a:xfrm>
            <a:off x="4277022" y="3717005"/>
            <a:ext cx="4702076" cy="87912"/>
          </a:xfrm>
          <a:prstGeom prst="line">
            <a:avLst/>
          </a:prstGeom>
          <a:ln w="12700">
            <a:prstDash val="lgDash"/>
          </a:ln>
        </p:spPr>
        <p:style>
          <a:lnRef idx="1">
            <a:schemeClr val="dk1"/>
          </a:lnRef>
          <a:fillRef idx="0">
            <a:schemeClr val="dk1"/>
          </a:fillRef>
          <a:effectRef idx="0">
            <a:schemeClr val="dk1"/>
          </a:effectRef>
          <a:fontRef idx="minor">
            <a:schemeClr val="tx1"/>
          </a:fontRef>
        </p:style>
      </p:cxnSp>
      <p:sp>
        <p:nvSpPr>
          <p:cNvPr id="29" name="テキスト ボックス 28">
            <a:extLst>
              <a:ext uri="{FF2B5EF4-FFF2-40B4-BE49-F238E27FC236}">
                <a16:creationId xmlns:a16="http://schemas.microsoft.com/office/drawing/2014/main" id="{C7D925EB-C4BB-4F1D-826A-FFE88ACF1BC0}"/>
              </a:ext>
            </a:extLst>
          </p:cNvPr>
          <p:cNvSpPr txBox="1"/>
          <p:nvPr/>
        </p:nvSpPr>
        <p:spPr>
          <a:xfrm>
            <a:off x="5843267" y="724610"/>
            <a:ext cx="3115451" cy="1384995"/>
          </a:xfrm>
          <a:prstGeom prst="rect">
            <a:avLst/>
          </a:prstGeom>
          <a:solidFill>
            <a:srgbClr val="FFFFFF">
              <a:alpha val="69804"/>
            </a:srgbClr>
          </a:solidFill>
          <a:ln w="12700">
            <a:solidFill>
              <a:schemeClr val="tx1"/>
            </a:solidFill>
          </a:ln>
        </p:spPr>
        <p:txBody>
          <a:bodyPr wrap="square" rtlCol="0">
            <a:spAutoFit/>
          </a:bodyPr>
          <a:lstStyle/>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kumimoji="1" lang="ja-JP" altLang="en-US" sz="1050" b="1" dirty="0">
                <a:solidFill>
                  <a:srgbClr val="FF0000"/>
                </a:solidFill>
                <a:latin typeface="メイリオ" panose="020B0604030504040204" pitchFamily="50" charset="-128"/>
                <a:ea typeface="メイリオ" panose="020B0604030504040204" pitchFamily="50" charset="-128"/>
              </a:rPr>
              <a:t>供給・価格見つつ</a:t>
            </a:r>
            <a:r>
              <a:rPr kumimoji="1" lang="en-US" altLang="ja-JP" sz="1050" b="1" dirty="0">
                <a:solidFill>
                  <a:srgbClr val="FF0000"/>
                </a:solidFill>
                <a:latin typeface="メイリオ" panose="020B0604030504040204" pitchFamily="50" charset="-128"/>
                <a:ea typeface="メイリオ" panose="020B0604030504040204" pitchFamily="50" charset="-128"/>
              </a:rPr>
              <a:t>DDR5-5600</a:t>
            </a:r>
            <a:r>
              <a:rPr kumimoji="1" lang="ja-JP" altLang="en-US" sz="1050" b="1" dirty="0">
                <a:solidFill>
                  <a:srgbClr val="FF0000"/>
                </a:solidFill>
                <a:latin typeface="メイリオ" panose="020B0604030504040204" pitchFamily="50" charset="-128"/>
                <a:ea typeface="メイリオ" panose="020B0604030504040204" pitchFamily="50" charset="-128"/>
              </a:rPr>
              <a:t>使用継続</a:t>
            </a:r>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DDR5-6400(CUDIMM)</a:t>
            </a:r>
            <a:r>
              <a:rPr lang="ja-JP" altLang="en-US" sz="700" b="1" dirty="0">
                <a:solidFill>
                  <a:srgbClr val="FF0000"/>
                </a:solidFill>
                <a:latin typeface="メイリオ" panose="020B0604030504040204" pitchFamily="50" charset="-128"/>
                <a:ea typeface="メイリオ" panose="020B0604030504040204" pitchFamily="50" charset="-128"/>
              </a:rPr>
              <a:t>は供給・価格次第</a:t>
            </a:r>
            <a:endParaRPr lang="en-US" altLang="ja-JP" sz="700" b="1" dirty="0">
              <a:solidFill>
                <a:srgbClr val="FF0000"/>
              </a:solidFill>
              <a:latin typeface="メイリオ" panose="020B0604030504040204" pitchFamily="50" charset="-128"/>
              <a:ea typeface="メイリオ" panose="020B0604030504040204" pitchFamily="50" charset="-128"/>
            </a:endParaRPr>
          </a:p>
          <a:p>
            <a:r>
              <a:rPr lang="en-US" altLang="ja-JP" sz="700" b="1" dirty="0">
                <a:solidFill>
                  <a:srgbClr val="FF0000"/>
                </a:solidFill>
                <a:latin typeface="メイリオ" panose="020B0604030504040204" pitchFamily="50" charset="-128"/>
                <a:ea typeface="メイリオ" panose="020B0604030504040204" pitchFamily="50" charset="-128"/>
              </a:rPr>
              <a:t>※AMD Zen5</a:t>
            </a:r>
            <a:r>
              <a:rPr lang="ja-JP" altLang="en-US" sz="700" b="1" dirty="0">
                <a:solidFill>
                  <a:srgbClr val="FF0000"/>
                </a:solidFill>
                <a:latin typeface="メイリオ" panose="020B0604030504040204" pitchFamily="50" charset="-128"/>
                <a:ea typeface="メイリオ" panose="020B0604030504040204" pitchFamily="50" charset="-128"/>
              </a:rPr>
              <a:t>世代は</a:t>
            </a:r>
            <a:r>
              <a:rPr lang="en-US" altLang="ja-JP" sz="700" b="1" dirty="0">
                <a:solidFill>
                  <a:srgbClr val="FF0000"/>
                </a:solidFill>
                <a:latin typeface="メイリオ" panose="020B0604030504040204" pitchFamily="50" charset="-128"/>
                <a:ea typeface="メイリオ" panose="020B0604030504040204" pitchFamily="50" charset="-128"/>
              </a:rPr>
              <a:t>CUDIMM</a:t>
            </a:r>
            <a:r>
              <a:rPr lang="ja-JP" altLang="en-US" sz="700" b="1" dirty="0">
                <a:solidFill>
                  <a:srgbClr val="FF0000"/>
                </a:solidFill>
                <a:latin typeface="メイリオ" panose="020B0604030504040204" pitchFamily="50" charset="-128"/>
                <a:ea typeface="メイリオ" panose="020B0604030504040204" pitchFamily="50" charset="-128"/>
              </a:rPr>
              <a:t>非対応</a:t>
            </a:r>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lang="en-US" altLang="ja-JP" sz="700" b="1" dirty="0">
              <a:solidFill>
                <a:srgbClr val="FF0000"/>
              </a:solidFill>
              <a:latin typeface="メイリオ" panose="020B0604030504040204" pitchFamily="50" charset="-128"/>
              <a:ea typeface="メイリオ" panose="020B0604030504040204" pitchFamily="50" charset="-128"/>
            </a:endParaRPr>
          </a:p>
          <a:p>
            <a:endParaRPr kumimoji="1" lang="en-US" altLang="ja-JP" sz="700" b="1"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28787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4018240061"/>
              </p:ext>
            </p:extLst>
          </p:nvPr>
        </p:nvGraphicFramePr>
        <p:xfrm>
          <a:off x="35496" y="51468"/>
          <a:ext cx="8928982" cy="4901419"/>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04705">
                <a:tc>
                  <a:txBody>
                    <a:bodyPr/>
                    <a:lstStyle/>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PSU 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5287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3896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TFX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cxnSp>
        <p:nvCxnSpPr>
          <p:cNvPr id="3" name="直線コネクタ 2"/>
          <p:cNvCxnSpPr>
            <a:cxnSpLocks/>
          </p:cNvCxnSpPr>
          <p:nvPr/>
        </p:nvCxnSpPr>
        <p:spPr>
          <a:xfrm>
            <a:off x="539552" y="2283718"/>
            <a:ext cx="8424923" cy="0"/>
          </a:xfrm>
          <a:prstGeom prst="line">
            <a:avLst/>
          </a:prstGeom>
          <a:ln>
            <a:solidFill>
              <a:srgbClr val="C00000"/>
            </a:solidFill>
            <a:prstDash val="lgDashDotDot"/>
          </a:ln>
        </p:spPr>
        <p:style>
          <a:lnRef idx="2">
            <a:schemeClr val="accent3">
              <a:shade val="50000"/>
            </a:schemeClr>
          </a:lnRef>
          <a:fillRef idx="1">
            <a:schemeClr val="accent3"/>
          </a:fillRef>
          <a:effectRef idx="0">
            <a:schemeClr val="accent3"/>
          </a:effectRef>
          <a:fontRef idx="minor">
            <a:schemeClr val="lt1"/>
          </a:fontRef>
        </p:style>
      </p:cxnSp>
      <p:sp>
        <p:nvSpPr>
          <p:cNvPr id="52" name="角丸四角形 51"/>
          <p:cNvSpPr/>
          <p:nvPr/>
        </p:nvSpPr>
        <p:spPr>
          <a:xfrm>
            <a:off x="1268298" y="1225985"/>
            <a:ext cx="7668321" cy="16142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850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ENH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)&amp;FKI(LITEON)&amp;</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FSP,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5" name="角丸四角形 84"/>
          <p:cNvSpPr/>
          <p:nvPr/>
        </p:nvSpPr>
        <p:spPr>
          <a:xfrm>
            <a:off x="539552" y="3406145"/>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6" name="角丸四角形 85"/>
          <p:cNvSpPr/>
          <p:nvPr/>
        </p:nvSpPr>
        <p:spPr>
          <a:xfrm>
            <a:off x="539552" y="1220691"/>
            <a:ext cx="648071" cy="211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標準</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角丸四角形 63"/>
          <p:cNvSpPr/>
          <p:nvPr/>
        </p:nvSpPr>
        <p:spPr>
          <a:xfrm>
            <a:off x="1275443" y="2042292"/>
            <a:ext cx="7668321" cy="14917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450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DLT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&amp;FKI(LITEON)&amp;</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FSP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角丸四角形 57"/>
          <p:cNvSpPr/>
          <p:nvPr/>
        </p:nvSpPr>
        <p:spPr>
          <a:xfrm>
            <a:off x="1291401" y="1845753"/>
            <a:ext cx="7670956" cy="15357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550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)&amp;DLT&amp;FKI(LITEON)&amp;FSP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76">
            <a:extLst>
              <a:ext uri="{FF2B5EF4-FFF2-40B4-BE49-F238E27FC236}">
                <a16:creationId xmlns:a16="http://schemas.microsoft.com/office/drawing/2014/main" id="{29AFC85F-3F10-4639-83CD-EA1907C1A89E}"/>
              </a:ext>
            </a:extLst>
          </p:cNvPr>
          <p:cNvSpPr/>
          <p:nvPr/>
        </p:nvSpPr>
        <p:spPr>
          <a:xfrm>
            <a:off x="1250191" y="3810832"/>
            <a:ext cx="7686399" cy="10372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G850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汎用品流用</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ATX3.x 80PLUS</a:t>
            </a:r>
          </a:p>
        </p:txBody>
      </p:sp>
      <p:sp>
        <p:nvSpPr>
          <p:cNvPr id="40" name="角丸四角形 57">
            <a:extLst>
              <a:ext uri="{FF2B5EF4-FFF2-40B4-BE49-F238E27FC236}">
                <a16:creationId xmlns:a16="http://schemas.microsoft.com/office/drawing/2014/main" id="{544E6725-C59E-4103-8477-46D6B065D7AD}"/>
              </a:ext>
            </a:extLst>
          </p:cNvPr>
          <p:cNvSpPr/>
          <p:nvPr/>
        </p:nvSpPr>
        <p:spPr>
          <a:xfrm>
            <a:off x="1270641" y="1633739"/>
            <a:ext cx="7673122" cy="15544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650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)&amp;DLT&amp;FKI(LITEON)&amp;FSP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角丸四角形 57">
            <a:extLst>
              <a:ext uri="{FF2B5EF4-FFF2-40B4-BE49-F238E27FC236}">
                <a16:creationId xmlns:a16="http://schemas.microsoft.com/office/drawing/2014/main" id="{A66C5487-864C-422C-B146-2CE95619A263}"/>
              </a:ext>
            </a:extLst>
          </p:cNvPr>
          <p:cNvSpPr/>
          <p:nvPr/>
        </p:nvSpPr>
        <p:spPr>
          <a:xfrm>
            <a:off x="1261155" y="1429060"/>
            <a:ext cx="7673122" cy="16142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750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)&amp;ENH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DLT&amp;FKI(LITEON)&amp;</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FSP,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54">
            <a:extLst>
              <a:ext uri="{FF2B5EF4-FFF2-40B4-BE49-F238E27FC236}">
                <a16:creationId xmlns:a16="http://schemas.microsoft.com/office/drawing/2014/main" id="{E0A41770-CE57-49E4-A14D-6AA0E4A0C103}"/>
              </a:ext>
            </a:extLst>
          </p:cNvPr>
          <p:cNvSpPr/>
          <p:nvPr/>
        </p:nvSpPr>
        <p:spPr>
          <a:xfrm>
            <a:off x="1250345" y="4768730"/>
            <a:ext cx="7658781" cy="13875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FX 350W</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8pin</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対応版</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角丸四角形 77">
            <a:extLst>
              <a:ext uri="{FF2B5EF4-FFF2-40B4-BE49-F238E27FC236}">
                <a16:creationId xmlns:a16="http://schemas.microsoft.com/office/drawing/2014/main" id="{E26BAE85-C2BE-4702-A3C4-35D02A80A5C3}"/>
              </a:ext>
            </a:extLst>
          </p:cNvPr>
          <p:cNvSpPr/>
          <p:nvPr/>
        </p:nvSpPr>
        <p:spPr>
          <a:xfrm>
            <a:off x="1259632" y="2927918"/>
            <a:ext cx="7700218" cy="9803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G/P</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1000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汎用品流用</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ATX3.x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80PLUS</a:t>
            </a:r>
          </a:p>
        </p:txBody>
      </p:sp>
      <p:sp>
        <p:nvSpPr>
          <p:cNvPr id="29" name="角丸四角形 51">
            <a:extLst>
              <a:ext uri="{FF2B5EF4-FFF2-40B4-BE49-F238E27FC236}">
                <a16:creationId xmlns:a16="http://schemas.microsoft.com/office/drawing/2014/main" id="{41A7B5B6-2585-4D40-A163-8BCFF8FC214E}"/>
              </a:ext>
            </a:extLst>
          </p:cNvPr>
          <p:cNvSpPr/>
          <p:nvPr/>
        </p:nvSpPr>
        <p:spPr>
          <a:xfrm>
            <a:off x="1284986" y="785238"/>
            <a:ext cx="7658777" cy="16996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 1000W</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ENH&amp;YCC(CWT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)&amp;FKI(LITEON)&amp;</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FSP,</a:t>
            </a:r>
            <a:r>
              <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角丸四角形 60">
            <a:extLst>
              <a:ext uri="{FF2B5EF4-FFF2-40B4-BE49-F238E27FC236}">
                <a16:creationId xmlns:a16="http://schemas.microsoft.com/office/drawing/2014/main" id="{49BA7A86-1ED2-43B2-87E6-2538F12A38BF}"/>
              </a:ext>
            </a:extLst>
          </p:cNvPr>
          <p:cNvSpPr/>
          <p:nvPr/>
        </p:nvSpPr>
        <p:spPr>
          <a:xfrm>
            <a:off x="1250345" y="4268223"/>
            <a:ext cx="7709505" cy="1037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G750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汎用品流用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ｘ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80PLUS</a:t>
            </a:r>
          </a:p>
        </p:txBody>
      </p:sp>
      <p:sp>
        <p:nvSpPr>
          <p:cNvPr id="34" name="角丸四角形 77">
            <a:extLst>
              <a:ext uri="{FF2B5EF4-FFF2-40B4-BE49-F238E27FC236}">
                <a16:creationId xmlns:a16="http://schemas.microsoft.com/office/drawing/2014/main" id="{62778B7B-F3E9-48BF-9BDD-EBDBA6A201BE}"/>
              </a:ext>
            </a:extLst>
          </p:cNvPr>
          <p:cNvSpPr/>
          <p:nvPr/>
        </p:nvSpPr>
        <p:spPr>
          <a:xfrm>
            <a:off x="1259632" y="2617727"/>
            <a:ext cx="7700218" cy="9803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P1200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汎用品流用</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ATX3.x</a:t>
            </a:r>
          </a:p>
        </p:txBody>
      </p:sp>
      <p:sp>
        <p:nvSpPr>
          <p:cNvPr id="35" name="角丸四角形 60">
            <a:extLst>
              <a:ext uri="{FF2B5EF4-FFF2-40B4-BE49-F238E27FC236}">
                <a16:creationId xmlns:a16="http://schemas.microsoft.com/office/drawing/2014/main" id="{7CA904C0-6E53-4AF3-9522-92D80467FE42}"/>
              </a:ext>
            </a:extLst>
          </p:cNvPr>
          <p:cNvSpPr/>
          <p:nvPr/>
        </p:nvSpPr>
        <p:spPr>
          <a:xfrm>
            <a:off x="4702352" y="3544699"/>
            <a:ext cx="4241411" cy="120396"/>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G850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ATX3.x</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角丸四角形 60">
            <a:extLst>
              <a:ext uri="{FF2B5EF4-FFF2-40B4-BE49-F238E27FC236}">
                <a16:creationId xmlns:a16="http://schemas.microsoft.com/office/drawing/2014/main" id="{F3BA739D-E9E5-4CAA-A540-E2E23CEF3F75}"/>
              </a:ext>
            </a:extLst>
          </p:cNvPr>
          <p:cNvSpPr/>
          <p:nvPr/>
        </p:nvSpPr>
        <p:spPr>
          <a:xfrm>
            <a:off x="4714832" y="3094715"/>
            <a:ext cx="4237939" cy="11194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G1000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ATX3.x</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角丸四角形 75">
            <a:extLst>
              <a:ext uri="{FF2B5EF4-FFF2-40B4-BE49-F238E27FC236}">
                <a16:creationId xmlns:a16="http://schemas.microsoft.com/office/drawing/2014/main" id="{9888A183-87F0-44DB-93C7-31072931CC98}"/>
              </a:ext>
            </a:extLst>
          </p:cNvPr>
          <p:cNvSpPr/>
          <p:nvPr/>
        </p:nvSpPr>
        <p:spPr>
          <a:xfrm>
            <a:off x="1259633" y="3240446"/>
            <a:ext cx="7674646" cy="12209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T85</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0 ENH</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ATX3.x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T900</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へ移行検討</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77">
            <a:extLst>
              <a:ext uri="{FF2B5EF4-FFF2-40B4-BE49-F238E27FC236}">
                <a16:creationId xmlns:a16="http://schemas.microsoft.com/office/drawing/2014/main" id="{FCBE41FD-F107-4330-8B61-2EDE53AF9E78}"/>
              </a:ext>
            </a:extLst>
          </p:cNvPr>
          <p:cNvSpPr/>
          <p:nvPr/>
        </p:nvSpPr>
        <p:spPr>
          <a:xfrm>
            <a:off x="1259632" y="2485707"/>
            <a:ext cx="7686399" cy="9804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P1200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Seasonic</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PX-1200 ATX3.</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/80PLUS</a:t>
            </a:r>
          </a:p>
        </p:txBody>
      </p:sp>
      <p:sp>
        <p:nvSpPr>
          <p:cNvPr id="46" name="角丸四角形 77">
            <a:extLst>
              <a:ext uri="{FF2B5EF4-FFF2-40B4-BE49-F238E27FC236}">
                <a16:creationId xmlns:a16="http://schemas.microsoft.com/office/drawing/2014/main" id="{13E71690-0B7A-461D-B3B0-B003AD0F20C8}"/>
              </a:ext>
            </a:extLst>
          </p:cNvPr>
          <p:cNvSpPr/>
          <p:nvPr/>
        </p:nvSpPr>
        <p:spPr>
          <a:xfrm>
            <a:off x="1250191" y="2779883"/>
            <a:ext cx="7719887" cy="111075"/>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P1000</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Seasonic</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PX-1000 ATX3.</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/80PLUS</a:t>
            </a:r>
          </a:p>
        </p:txBody>
      </p:sp>
      <p:sp>
        <p:nvSpPr>
          <p:cNvPr id="37" name="角丸四角形 60">
            <a:extLst>
              <a:ext uri="{FF2B5EF4-FFF2-40B4-BE49-F238E27FC236}">
                <a16:creationId xmlns:a16="http://schemas.microsoft.com/office/drawing/2014/main" id="{6B65528D-C0EA-49A4-BE02-88E00225DEBD}"/>
              </a:ext>
            </a:extLst>
          </p:cNvPr>
          <p:cNvSpPr/>
          <p:nvPr/>
        </p:nvSpPr>
        <p:spPr>
          <a:xfrm>
            <a:off x="4716017" y="4571767"/>
            <a:ext cx="4227746" cy="96380"/>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G650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ASRock SL-650G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ATX2.4</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60">
            <a:extLst>
              <a:ext uri="{FF2B5EF4-FFF2-40B4-BE49-F238E27FC236}">
                <a16:creationId xmlns:a16="http://schemas.microsoft.com/office/drawing/2014/main" id="{1D8BB915-4C5A-4E39-9E84-C78DA73BD8C4}"/>
              </a:ext>
            </a:extLst>
          </p:cNvPr>
          <p:cNvSpPr/>
          <p:nvPr/>
        </p:nvSpPr>
        <p:spPr>
          <a:xfrm>
            <a:off x="4703482" y="3416453"/>
            <a:ext cx="4237800" cy="104626"/>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G850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ASRock SL-850G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角丸四角形 60">
            <a:extLst>
              <a:ext uri="{FF2B5EF4-FFF2-40B4-BE49-F238E27FC236}">
                <a16:creationId xmlns:a16="http://schemas.microsoft.com/office/drawing/2014/main" id="{55DD8800-5DE4-4DA6-AB51-2FC85B002EA0}"/>
              </a:ext>
            </a:extLst>
          </p:cNvPr>
          <p:cNvSpPr/>
          <p:nvPr/>
        </p:nvSpPr>
        <p:spPr>
          <a:xfrm>
            <a:off x="4714820" y="3984319"/>
            <a:ext cx="4237800" cy="9959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G750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ASRock SL-750G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60">
            <a:extLst>
              <a:ext uri="{FF2B5EF4-FFF2-40B4-BE49-F238E27FC236}">
                <a16:creationId xmlns:a16="http://schemas.microsoft.com/office/drawing/2014/main" id="{70DE4450-B24A-424F-9FB9-F1A68CA4D136}"/>
              </a:ext>
            </a:extLst>
          </p:cNvPr>
          <p:cNvSpPr/>
          <p:nvPr/>
        </p:nvSpPr>
        <p:spPr>
          <a:xfrm>
            <a:off x="1251157" y="2342111"/>
            <a:ext cx="7702601" cy="97027"/>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T1300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ASRock TC-1300T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ATX3.1</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err="1">
                <a:latin typeface="Meiryo UI" panose="020B0604030504040204" pitchFamily="50" charset="-128"/>
                <a:ea typeface="Meiryo UI" panose="020B0604030504040204" pitchFamily="50" charset="-128"/>
                <a:cs typeface="Meiryo UI" panose="020B0604030504040204" pitchFamily="50" charset="-128"/>
              </a:rPr>
              <a:t>Cybenetics</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/80PLUS</a:t>
            </a:r>
          </a:p>
        </p:txBody>
      </p:sp>
      <p:sp>
        <p:nvSpPr>
          <p:cNvPr id="43" name="角丸四角形 51">
            <a:extLst>
              <a:ext uri="{FF2B5EF4-FFF2-40B4-BE49-F238E27FC236}">
                <a16:creationId xmlns:a16="http://schemas.microsoft.com/office/drawing/2014/main" id="{5ADF7D6A-02C5-4B6C-AB76-6F9240CFE1EB}"/>
              </a:ext>
            </a:extLst>
          </p:cNvPr>
          <p:cNvSpPr/>
          <p:nvPr/>
        </p:nvSpPr>
        <p:spPr>
          <a:xfrm>
            <a:off x="1284986" y="555526"/>
            <a:ext cx="7658777" cy="16824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(P) 1200W</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ENH&amp;YCC(CWT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)&amp;FKI(LITEON)&amp;</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FSP &amp;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角丸四角形 51">
            <a:extLst>
              <a:ext uri="{FF2B5EF4-FFF2-40B4-BE49-F238E27FC236}">
                <a16:creationId xmlns:a16="http://schemas.microsoft.com/office/drawing/2014/main" id="{260157CE-FA43-4140-8342-7BC10CF2AC5F}"/>
              </a:ext>
            </a:extLst>
          </p:cNvPr>
          <p:cNvSpPr/>
          <p:nvPr/>
        </p:nvSpPr>
        <p:spPr>
          <a:xfrm>
            <a:off x="8294398" y="1210455"/>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6B6FB145-CEBF-457B-99E2-820D5AA1EAC2}"/>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24</a:t>
            </a:fld>
            <a:endParaRPr kumimoji="1" lang="ja-JP" altLang="en-US" dirty="0"/>
          </a:p>
        </p:txBody>
      </p:sp>
      <p:sp>
        <p:nvSpPr>
          <p:cNvPr id="42" name="角丸四角形 51">
            <a:extLst>
              <a:ext uri="{FF2B5EF4-FFF2-40B4-BE49-F238E27FC236}">
                <a16:creationId xmlns:a16="http://schemas.microsoft.com/office/drawing/2014/main" id="{1988D1E7-24F0-4989-AB1A-D5A57A027A81}"/>
              </a:ext>
            </a:extLst>
          </p:cNvPr>
          <p:cNvSpPr/>
          <p:nvPr/>
        </p:nvSpPr>
        <p:spPr>
          <a:xfrm>
            <a:off x="8297869" y="796095"/>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角丸四角形 51">
            <a:extLst>
              <a:ext uri="{FF2B5EF4-FFF2-40B4-BE49-F238E27FC236}">
                <a16:creationId xmlns:a16="http://schemas.microsoft.com/office/drawing/2014/main" id="{D0CAC011-8F98-4BDD-B0B7-E4BB2018279A}"/>
              </a:ext>
            </a:extLst>
          </p:cNvPr>
          <p:cNvSpPr/>
          <p:nvPr/>
        </p:nvSpPr>
        <p:spPr>
          <a:xfrm>
            <a:off x="8294398" y="565852"/>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60">
            <a:extLst>
              <a:ext uri="{FF2B5EF4-FFF2-40B4-BE49-F238E27FC236}">
                <a16:creationId xmlns:a16="http://schemas.microsoft.com/office/drawing/2014/main" id="{A22FE7C5-892E-4231-96D2-F7558E003746}"/>
              </a:ext>
            </a:extLst>
          </p:cNvPr>
          <p:cNvSpPr/>
          <p:nvPr/>
        </p:nvSpPr>
        <p:spPr>
          <a:xfrm>
            <a:off x="4702352" y="4397709"/>
            <a:ext cx="4241411" cy="118258"/>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G750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ATX3.x</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角丸四角形 51">
            <a:extLst>
              <a:ext uri="{FF2B5EF4-FFF2-40B4-BE49-F238E27FC236}">
                <a16:creationId xmlns:a16="http://schemas.microsoft.com/office/drawing/2014/main" id="{21EE1DB4-B573-4876-9E0C-4E20D20FD5DD}"/>
              </a:ext>
            </a:extLst>
          </p:cNvPr>
          <p:cNvSpPr/>
          <p:nvPr/>
        </p:nvSpPr>
        <p:spPr>
          <a:xfrm>
            <a:off x="3203848" y="1022516"/>
            <a:ext cx="5739031" cy="15550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(G) 1000W</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SFX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YCC(CWT)</a:t>
            </a:r>
          </a:p>
        </p:txBody>
      </p:sp>
      <p:sp>
        <p:nvSpPr>
          <p:cNvPr id="57" name="角丸四角形 51">
            <a:extLst>
              <a:ext uri="{FF2B5EF4-FFF2-40B4-BE49-F238E27FC236}">
                <a16:creationId xmlns:a16="http://schemas.microsoft.com/office/drawing/2014/main" id="{4909C28F-FA5C-444C-BE7E-CFA04552EFF4}"/>
              </a:ext>
            </a:extLst>
          </p:cNvPr>
          <p:cNvSpPr/>
          <p:nvPr/>
        </p:nvSpPr>
        <p:spPr>
          <a:xfrm>
            <a:off x="8294398" y="1027267"/>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角丸四角形 51">
            <a:extLst>
              <a:ext uri="{FF2B5EF4-FFF2-40B4-BE49-F238E27FC236}">
                <a16:creationId xmlns:a16="http://schemas.microsoft.com/office/drawing/2014/main" id="{4D5459B3-1E87-4EE8-A99D-0C792F29F7D5}"/>
              </a:ext>
            </a:extLst>
          </p:cNvPr>
          <p:cNvSpPr/>
          <p:nvPr/>
        </p:nvSpPr>
        <p:spPr>
          <a:xfrm>
            <a:off x="8297251" y="1426479"/>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51">
            <a:extLst>
              <a:ext uri="{FF2B5EF4-FFF2-40B4-BE49-F238E27FC236}">
                <a16:creationId xmlns:a16="http://schemas.microsoft.com/office/drawing/2014/main" id="{186AFDC3-9C27-4CD6-9F75-301F1C7FE8FD}"/>
              </a:ext>
            </a:extLst>
          </p:cNvPr>
          <p:cNvSpPr/>
          <p:nvPr/>
        </p:nvSpPr>
        <p:spPr>
          <a:xfrm>
            <a:off x="7740353" y="1637180"/>
            <a:ext cx="1274126" cy="16587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ATX2.x/ATX3.</a:t>
            </a:r>
            <a:r>
              <a:rPr lang="en-US" altLang="ja-JP" sz="1000" b="1" dirty="0">
                <a:solidFill>
                  <a:schemeClr val="bg1"/>
                </a:solidFill>
                <a:latin typeface="メイリオ" panose="020B0604030504040204" pitchFamily="50" charset="-128"/>
                <a:ea typeface="メイリオ" panose="020B0604030504040204" pitchFamily="50" charset="-128"/>
              </a:rPr>
              <a:t>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角丸四角形 60">
            <a:extLst>
              <a:ext uri="{FF2B5EF4-FFF2-40B4-BE49-F238E27FC236}">
                <a16:creationId xmlns:a16="http://schemas.microsoft.com/office/drawing/2014/main" id="{0FC59AEA-7A8E-46A7-9C6B-417EA14560B0}"/>
              </a:ext>
            </a:extLst>
          </p:cNvPr>
          <p:cNvSpPr/>
          <p:nvPr/>
        </p:nvSpPr>
        <p:spPr>
          <a:xfrm>
            <a:off x="1270641" y="4124233"/>
            <a:ext cx="7663636" cy="106494"/>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G750 </a:t>
            </a:r>
            <a:r>
              <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WH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ENH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ATX3.1</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角丸四角形 60">
            <a:extLst>
              <a:ext uri="{FF2B5EF4-FFF2-40B4-BE49-F238E27FC236}">
                <a16:creationId xmlns:a16="http://schemas.microsoft.com/office/drawing/2014/main" id="{82F4EE59-0FD2-4FBD-AFE4-4B6E1939174A}"/>
              </a:ext>
            </a:extLst>
          </p:cNvPr>
          <p:cNvSpPr/>
          <p:nvPr/>
        </p:nvSpPr>
        <p:spPr>
          <a:xfrm>
            <a:off x="1250191" y="3659059"/>
            <a:ext cx="7702429" cy="12209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G850 </a:t>
            </a:r>
            <a:r>
              <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WH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ENH</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ATX3.1</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角丸四角形 51">
            <a:extLst>
              <a:ext uri="{FF2B5EF4-FFF2-40B4-BE49-F238E27FC236}">
                <a16:creationId xmlns:a16="http://schemas.microsoft.com/office/drawing/2014/main" id="{50D9ACF2-CBD4-4C33-8091-0406DC56951C}"/>
              </a:ext>
            </a:extLst>
          </p:cNvPr>
          <p:cNvSpPr/>
          <p:nvPr/>
        </p:nvSpPr>
        <p:spPr>
          <a:xfrm>
            <a:off x="1907704" y="399315"/>
            <a:ext cx="7052146" cy="12559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(T)1300W</a:t>
            </a:r>
          </a:p>
        </p:txBody>
      </p:sp>
      <p:sp>
        <p:nvSpPr>
          <p:cNvPr id="67" name="角丸四角形 51">
            <a:extLst>
              <a:ext uri="{FF2B5EF4-FFF2-40B4-BE49-F238E27FC236}">
                <a16:creationId xmlns:a16="http://schemas.microsoft.com/office/drawing/2014/main" id="{E12C9F77-D005-4C4F-A1EC-7DB7D430C9D1}"/>
              </a:ext>
            </a:extLst>
          </p:cNvPr>
          <p:cNvSpPr/>
          <p:nvPr/>
        </p:nvSpPr>
        <p:spPr>
          <a:xfrm>
            <a:off x="8316416" y="374161"/>
            <a:ext cx="720080" cy="1768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ATX3.1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51">
            <a:extLst>
              <a:ext uri="{FF2B5EF4-FFF2-40B4-BE49-F238E27FC236}">
                <a16:creationId xmlns:a16="http://schemas.microsoft.com/office/drawing/2014/main" id="{8DFCFE96-BDF6-4AAC-BE42-6268600BAD93}"/>
              </a:ext>
            </a:extLst>
          </p:cNvPr>
          <p:cNvSpPr/>
          <p:nvPr/>
        </p:nvSpPr>
        <p:spPr>
          <a:xfrm>
            <a:off x="7740352" y="1851670"/>
            <a:ext cx="1284276" cy="14867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ATX2.x/ATX3.</a:t>
            </a:r>
            <a:r>
              <a:rPr lang="en-US" altLang="ja-JP" sz="1000" b="1" dirty="0">
                <a:solidFill>
                  <a:schemeClr val="bg1"/>
                </a:solidFill>
                <a:latin typeface="メイリオ" panose="020B0604030504040204" pitchFamily="50" charset="-128"/>
                <a:ea typeface="メイリオ" panose="020B0604030504040204" pitchFamily="50" charset="-128"/>
              </a:rPr>
              <a:t>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角丸四角形 51">
            <a:extLst>
              <a:ext uri="{FF2B5EF4-FFF2-40B4-BE49-F238E27FC236}">
                <a16:creationId xmlns:a16="http://schemas.microsoft.com/office/drawing/2014/main" id="{CD0F88FE-5D01-41DE-A2E9-D6355BD6B43A}"/>
              </a:ext>
            </a:extLst>
          </p:cNvPr>
          <p:cNvSpPr/>
          <p:nvPr/>
        </p:nvSpPr>
        <p:spPr>
          <a:xfrm>
            <a:off x="7747582" y="2041952"/>
            <a:ext cx="1284276" cy="14867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b="1" dirty="0">
                <a:solidFill>
                  <a:schemeClr val="bg1"/>
                </a:solidFill>
                <a:latin typeface="メイリオ" panose="020B0604030504040204" pitchFamily="50" charset="-128"/>
                <a:ea typeface="メイリオ" panose="020B0604030504040204" pitchFamily="50" charset="-128"/>
              </a:rPr>
              <a:t>ATX2.x/ATX3.</a:t>
            </a:r>
            <a:r>
              <a:rPr lang="en-US" altLang="ja-JP" sz="1000" b="1" dirty="0">
                <a:solidFill>
                  <a:schemeClr val="bg1"/>
                </a:solidFill>
                <a:latin typeface="メイリオ" panose="020B0604030504040204" pitchFamily="50" charset="-128"/>
                <a:ea typeface="メイリオ" panose="020B0604030504040204" pitchFamily="50" charset="-128"/>
              </a:rPr>
              <a:t>1</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127470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778424198"/>
              </p:ext>
            </p:extLst>
          </p:nvPr>
        </p:nvGraphicFramePr>
        <p:xfrm>
          <a:off x="35496" y="51470"/>
          <a:ext cx="8928982" cy="4880168"/>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295155">
                <a:tc>
                  <a:txBody>
                    <a:bodyPr/>
                    <a:lstStyle/>
                    <a:p>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PSU</a:t>
                      </a:r>
                      <a:r>
                        <a:rPr kumimoji="1" lang="ja-JP" altLang="en-US"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97333">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3896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30800151"/>
                  </a:ext>
                </a:extLst>
              </a:tr>
              <a:tr h="238968">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TFX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72108127"/>
                  </a:ext>
                </a:extLst>
              </a:tr>
            </a:tbl>
          </a:graphicData>
        </a:graphic>
      </p:graphicFrame>
      <p:sp>
        <p:nvSpPr>
          <p:cNvPr id="86" name="角丸四角形 85"/>
          <p:cNvSpPr/>
          <p:nvPr/>
        </p:nvSpPr>
        <p:spPr>
          <a:xfrm>
            <a:off x="494042" y="2466248"/>
            <a:ext cx="648071" cy="211003"/>
          </a:xfrm>
          <a:prstGeom prst="roundRect">
            <a:avLst/>
          </a:prstGeom>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標準</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53">
            <a:extLst>
              <a:ext uri="{FF2B5EF4-FFF2-40B4-BE49-F238E27FC236}">
                <a16:creationId xmlns:a16="http://schemas.microsoft.com/office/drawing/2014/main" id="{0717F97D-3CCC-4147-A7BC-689B72082395}"/>
              </a:ext>
            </a:extLst>
          </p:cNvPr>
          <p:cNvSpPr/>
          <p:nvPr/>
        </p:nvSpPr>
        <p:spPr>
          <a:xfrm>
            <a:off x="1276682" y="4725596"/>
            <a:ext cx="7667080" cy="13757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B350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角丸四角形 32">
            <a:extLst>
              <a:ext uri="{FF2B5EF4-FFF2-40B4-BE49-F238E27FC236}">
                <a16:creationId xmlns:a16="http://schemas.microsoft.com/office/drawing/2014/main" id="{0FD61A2C-F3CD-4371-9B2A-7A42F5C45FA2}"/>
              </a:ext>
            </a:extLst>
          </p:cNvPr>
          <p:cNvSpPr/>
          <p:nvPr/>
        </p:nvSpPr>
        <p:spPr>
          <a:xfrm>
            <a:off x="1259632" y="3992805"/>
            <a:ext cx="7701568" cy="318492"/>
          </a:xfrm>
          <a:prstGeom prst="roundRect">
            <a:avLst>
              <a:gd name="adj" fmla="val 9168"/>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B450</a:t>
            </a:r>
          </a:p>
        </p:txBody>
      </p:sp>
      <p:sp>
        <p:nvSpPr>
          <p:cNvPr id="36" name="テキスト ボックス 35"/>
          <p:cNvSpPr txBox="1"/>
          <p:nvPr/>
        </p:nvSpPr>
        <p:spPr>
          <a:xfrm>
            <a:off x="5567352" y="3962524"/>
            <a:ext cx="3296071"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オンボード ～ ローエンド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YCC</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)&amp;DLT”&amp;FKI(LITEON)&amp;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角丸四角形 63">
            <a:extLst>
              <a:ext uri="{FF2B5EF4-FFF2-40B4-BE49-F238E27FC236}">
                <a16:creationId xmlns:a16="http://schemas.microsoft.com/office/drawing/2014/main" id="{F7879242-29FA-4EA3-A485-AB5D19A05C2C}"/>
              </a:ext>
            </a:extLst>
          </p:cNvPr>
          <p:cNvSpPr/>
          <p:nvPr/>
        </p:nvSpPr>
        <p:spPr>
          <a:xfrm>
            <a:off x="1259632" y="1949163"/>
            <a:ext cx="895551" cy="744243"/>
          </a:xfrm>
          <a:prstGeom prst="roundRect">
            <a:avLst>
              <a:gd name="adj" fmla="val 517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1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角丸四角形 32">
            <a:extLst>
              <a:ext uri="{FF2B5EF4-FFF2-40B4-BE49-F238E27FC236}">
                <a16:creationId xmlns:a16="http://schemas.microsoft.com/office/drawing/2014/main" id="{685FEA4E-872E-4009-90BE-197BDAD275AA}"/>
              </a:ext>
            </a:extLst>
          </p:cNvPr>
          <p:cNvSpPr/>
          <p:nvPr/>
        </p:nvSpPr>
        <p:spPr>
          <a:xfrm>
            <a:off x="1262911" y="3447201"/>
            <a:ext cx="7701568" cy="464711"/>
          </a:xfrm>
          <a:prstGeom prst="roundRect">
            <a:avLst>
              <a:gd name="adj" fmla="val 9168"/>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a:latin typeface="Meiryo UI" panose="020B0604030504040204" pitchFamily="50" charset="-128"/>
                <a:ea typeface="Meiryo UI" panose="020B0604030504040204" pitchFamily="50" charset="-128"/>
                <a:cs typeface="Meiryo UI" panose="020B0604030504040204" pitchFamily="50" charset="-128"/>
              </a:rPr>
              <a:t>B550</a:t>
            </a:r>
            <a:endParaRPr lang="en-US" altLang="ja-JP" sz="1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テキスト ボックス 34"/>
          <p:cNvSpPr txBox="1"/>
          <p:nvPr/>
        </p:nvSpPr>
        <p:spPr>
          <a:xfrm>
            <a:off x="5574409" y="3465578"/>
            <a:ext cx="3278888"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ローエンド ～ ミドル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YCC(</a:t>
            </a:r>
            <a:r>
              <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)&amp;DLT”&amp;FKI(LITEON)&amp;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FSP&amp;etc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32">
            <a:extLst>
              <a:ext uri="{FF2B5EF4-FFF2-40B4-BE49-F238E27FC236}">
                <a16:creationId xmlns:a16="http://schemas.microsoft.com/office/drawing/2014/main" id="{46C34553-0FD3-46F1-9836-A685D2022EFE}"/>
              </a:ext>
            </a:extLst>
          </p:cNvPr>
          <p:cNvSpPr/>
          <p:nvPr/>
        </p:nvSpPr>
        <p:spPr>
          <a:xfrm>
            <a:off x="1259632" y="2767974"/>
            <a:ext cx="7702949" cy="602274"/>
          </a:xfrm>
          <a:prstGeom prst="roundRect">
            <a:avLst>
              <a:gd name="adj" fmla="val 9168"/>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a:latin typeface="Meiryo UI" panose="020B0604030504040204" pitchFamily="50" charset="-128"/>
                <a:ea typeface="Meiryo UI" panose="020B0604030504040204" pitchFamily="50" charset="-128"/>
                <a:cs typeface="Meiryo UI" panose="020B0604030504040204" pitchFamily="50" charset="-128"/>
              </a:rPr>
              <a:t>B650</a:t>
            </a:r>
            <a:endParaRPr lang="en-US" altLang="ja-JP" sz="1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テキスト ボックス 36"/>
          <p:cNvSpPr txBox="1"/>
          <p:nvPr/>
        </p:nvSpPr>
        <p:spPr>
          <a:xfrm>
            <a:off x="5575216" y="2869056"/>
            <a:ext cx="3278888"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ミドル ～ ミドルハイ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YCC(</a:t>
            </a:r>
            <a:r>
              <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)&amp;</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DLT”&amp;FKI(LITEON)&amp;FSP</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63">
            <a:extLst>
              <a:ext uri="{FF2B5EF4-FFF2-40B4-BE49-F238E27FC236}">
                <a16:creationId xmlns:a16="http://schemas.microsoft.com/office/drawing/2014/main" id="{F58E247B-1CFE-4680-A5A6-E37BB1125CBE}"/>
              </a:ext>
            </a:extLst>
          </p:cNvPr>
          <p:cNvSpPr/>
          <p:nvPr/>
        </p:nvSpPr>
        <p:spPr>
          <a:xfrm>
            <a:off x="1276682" y="2006744"/>
            <a:ext cx="7687798" cy="686662"/>
          </a:xfrm>
          <a:prstGeom prst="roundRect">
            <a:avLst>
              <a:gd name="adj" fmla="val 1164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G750</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ATX3.1(12V-2x6)</a:t>
            </a:r>
          </a:p>
        </p:txBody>
      </p:sp>
      <p:sp>
        <p:nvSpPr>
          <p:cNvPr id="51" name="角丸四角形 63">
            <a:extLst>
              <a:ext uri="{FF2B5EF4-FFF2-40B4-BE49-F238E27FC236}">
                <a16:creationId xmlns:a16="http://schemas.microsoft.com/office/drawing/2014/main" id="{7D5367D3-51CF-49A1-B6F5-A52B417CAD17}"/>
              </a:ext>
            </a:extLst>
          </p:cNvPr>
          <p:cNvSpPr/>
          <p:nvPr/>
        </p:nvSpPr>
        <p:spPr>
          <a:xfrm>
            <a:off x="1252790" y="1368701"/>
            <a:ext cx="7709791" cy="497604"/>
          </a:xfrm>
          <a:prstGeom prst="roundRect">
            <a:avLst>
              <a:gd name="adj" fmla="val 1439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G850</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ATX3.1(12V-2x6)</a:t>
            </a:r>
          </a:p>
        </p:txBody>
      </p:sp>
      <p:sp>
        <p:nvSpPr>
          <p:cNvPr id="40" name="テキスト ボックス 39"/>
          <p:cNvSpPr txBox="1"/>
          <p:nvPr/>
        </p:nvSpPr>
        <p:spPr>
          <a:xfrm>
            <a:off x="5556692" y="1512717"/>
            <a:ext cx="3302627" cy="2462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ハイ</a:t>
            </a:r>
            <a:r>
              <a:rPr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エンド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ENH&amp;YCC(CWT)”&amp;FKI(LITEON)&amp;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52" name="角丸四角形 63">
            <a:extLst>
              <a:ext uri="{FF2B5EF4-FFF2-40B4-BE49-F238E27FC236}">
                <a16:creationId xmlns:a16="http://schemas.microsoft.com/office/drawing/2014/main" id="{38D41E8D-7D68-479B-A735-E2505A560BCD}"/>
              </a:ext>
            </a:extLst>
          </p:cNvPr>
          <p:cNvSpPr/>
          <p:nvPr/>
        </p:nvSpPr>
        <p:spPr>
          <a:xfrm>
            <a:off x="1259632" y="987574"/>
            <a:ext cx="7718855" cy="311494"/>
          </a:xfrm>
          <a:prstGeom prst="roundRect">
            <a:avLst>
              <a:gd name="adj" fmla="val 1439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G1000 ATX3.1(12V-2x6)</a:t>
            </a:r>
          </a:p>
        </p:txBody>
      </p:sp>
      <p:sp>
        <p:nvSpPr>
          <p:cNvPr id="53" name="角丸四角形 63">
            <a:extLst>
              <a:ext uri="{FF2B5EF4-FFF2-40B4-BE49-F238E27FC236}">
                <a16:creationId xmlns:a16="http://schemas.microsoft.com/office/drawing/2014/main" id="{4E971B56-0ED4-4CF8-AC87-E03A13146B3D}"/>
              </a:ext>
            </a:extLst>
          </p:cNvPr>
          <p:cNvSpPr/>
          <p:nvPr/>
        </p:nvSpPr>
        <p:spPr>
          <a:xfrm>
            <a:off x="1261529" y="792047"/>
            <a:ext cx="7702949" cy="145454"/>
          </a:xfrm>
          <a:prstGeom prst="roundRect">
            <a:avLst>
              <a:gd name="adj" fmla="val 1439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P1200</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ATX3.1(12V-2x6)</a:t>
            </a:r>
          </a:p>
        </p:txBody>
      </p:sp>
      <p:sp>
        <p:nvSpPr>
          <p:cNvPr id="64" name="テキスト ボックス 63">
            <a:extLst>
              <a:ext uri="{FF2B5EF4-FFF2-40B4-BE49-F238E27FC236}">
                <a16:creationId xmlns:a16="http://schemas.microsoft.com/office/drawing/2014/main" id="{232B0363-8E51-4E6D-B249-B38E6B8552A6}"/>
              </a:ext>
            </a:extLst>
          </p:cNvPr>
          <p:cNvSpPr txBox="1"/>
          <p:nvPr/>
        </p:nvSpPr>
        <p:spPr>
          <a:xfrm>
            <a:off x="5575217" y="699542"/>
            <a:ext cx="3302627" cy="2462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フラグシップ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ENH&amp;YCC(CWT)”&amp;FKI(LITEON)&amp;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2" name="スライド番号プレースホルダー 1">
            <a:extLst>
              <a:ext uri="{FF2B5EF4-FFF2-40B4-BE49-F238E27FC236}">
                <a16:creationId xmlns:a16="http://schemas.microsoft.com/office/drawing/2014/main" id="{A29F0378-9C1F-4254-A438-C6BC878D5C4F}"/>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25</a:t>
            </a:fld>
            <a:endParaRPr kumimoji="1" lang="ja-JP" altLang="en-US" dirty="0"/>
          </a:p>
        </p:txBody>
      </p:sp>
      <p:sp>
        <p:nvSpPr>
          <p:cNvPr id="38" name="テキスト ボックス 37"/>
          <p:cNvSpPr txBox="1"/>
          <p:nvPr/>
        </p:nvSpPr>
        <p:spPr>
          <a:xfrm>
            <a:off x="5566630" y="2230126"/>
            <a:ext cx="3296061" cy="2462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ハイ</a:t>
            </a:r>
            <a:r>
              <a:rPr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エンド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YCC</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CWT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)&amp;ENH”</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60" name="テキスト ボックス 59">
            <a:extLst>
              <a:ext uri="{FF2B5EF4-FFF2-40B4-BE49-F238E27FC236}">
                <a16:creationId xmlns:a16="http://schemas.microsoft.com/office/drawing/2014/main" id="{13A7D62B-3515-4D31-BC35-C81BB44D4813}"/>
              </a:ext>
            </a:extLst>
          </p:cNvPr>
          <p:cNvSpPr txBox="1"/>
          <p:nvPr/>
        </p:nvSpPr>
        <p:spPr>
          <a:xfrm>
            <a:off x="5568647" y="1004417"/>
            <a:ext cx="3302627" cy="2462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ハイ</a:t>
            </a:r>
            <a:r>
              <a:rPr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エンド超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ENH&amp;YCC(CWT)”&amp;FKI(LITEON)&amp;</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etc</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26" name="角丸四角形 60">
            <a:extLst>
              <a:ext uri="{FF2B5EF4-FFF2-40B4-BE49-F238E27FC236}">
                <a16:creationId xmlns:a16="http://schemas.microsoft.com/office/drawing/2014/main" id="{DAE6FA43-F5DE-47AA-B0E9-BCA594FF66D3}"/>
              </a:ext>
            </a:extLst>
          </p:cNvPr>
          <p:cNvSpPr/>
          <p:nvPr/>
        </p:nvSpPr>
        <p:spPr>
          <a:xfrm>
            <a:off x="2051720" y="439708"/>
            <a:ext cx="6885039" cy="112993"/>
          </a:xfrm>
          <a:prstGeom prst="roundRect">
            <a:avLst/>
          </a:prstGeom>
          <a:solidFill>
            <a:srgbClr val="0070C0"/>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T1300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ATX3.1(</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12V-2x6</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テキスト ボックス 26">
            <a:extLst>
              <a:ext uri="{FF2B5EF4-FFF2-40B4-BE49-F238E27FC236}">
                <a16:creationId xmlns:a16="http://schemas.microsoft.com/office/drawing/2014/main" id="{1BDCDA1A-1460-4EFB-8624-CD2991CA59C9}"/>
              </a:ext>
            </a:extLst>
          </p:cNvPr>
          <p:cNvSpPr txBox="1"/>
          <p:nvPr/>
        </p:nvSpPr>
        <p:spPr>
          <a:xfrm>
            <a:off x="7026363" y="381516"/>
            <a:ext cx="1851481" cy="2462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特殊</a:t>
            </a:r>
            <a:r>
              <a:rPr lang="ja-JP" altLang="en-US" sz="10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ASRock TC-1300T</a:t>
            </a:r>
          </a:p>
        </p:txBody>
      </p:sp>
      <p:sp>
        <p:nvSpPr>
          <p:cNvPr id="23" name="角丸四角形 53">
            <a:extLst>
              <a:ext uri="{FF2B5EF4-FFF2-40B4-BE49-F238E27FC236}">
                <a16:creationId xmlns:a16="http://schemas.microsoft.com/office/drawing/2014/main" id="{94E5D0E1-6D5A-4236-BA65-2C7EDF0AF035}"/>
              </a:ext>
            </a:extLst>
          </p:cNvPr>
          <p:cNvSpPr/>
          <p:nvPr/>
        </p:nvSpPr>
        <p:spPr>
          <a:xfrm>
            <a:off x="3275856" y="4522701"/>
            <a:ext cx="5667906" cy="11524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b="1" dirty="0">
                <a:latin typeface="Meiryo UI" panose="020B0604030504040204" pitchFamily="50" charset="-128"/>
                <a:ea typeface="Meiryo UI" panose="020B0604030504040204" pitchFamily="50" charset="-128"/>
                <a:cs typeface="Meiryo UI" panose="020B0604030504040204" pitchFamily="50" charset="-128"/>
              </a:rPr>
              <a:t>G1000</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YCC(CWT)</a:t>
            </a:r>
          </a:p>
        </p:txBody>
      </p:sp>
    </p:spTree>
    <p:extLst>
      <p:ext uri="{BB962C8B-B14F-4D97-AF65-F5344CB8AC3E}">
        <p14:creationId xmlns:p14="http://schemas.microsoft.com/office/powerpoint/2010/main" val="4160843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582190832"/>
              </p:ext>
            </p:extLst>
          </p:nvPr>
        </p:nvGraphicFramePr>
        <p:xfrm>
          <a:off x="16509" y="-26628"/>
          <a:ext cx="8928982" cy="4986219"/>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99903">
                <a:tc>
                  <a:txBody>
                    <a:bodyPr/>
                    <a:lstStyle/>
                    <a:p>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LAN/</a:t>
                      </a:r>
                      <a:r>
                        <a:rPr kumimoji="1" lang="en-US" altLang="ja-JP" sz="1050" i="1" dirty="0" err="1">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/BT</a:t>
                      </a:r>
                      <a:r>
                        <a:rPr kumimoji="1" lang="ja-JP" altLang="en-US"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75459">
                <a:tc>
                  <a:txBody>
                    <a:bodyPr/>
                    <a:lstStyle/>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Ｍ</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a:t>
                      </a:r>
                    </a:p>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タイプ </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909766">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PCIe Slot</a:t>
                      </a:r>
                    </a:p>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タイプ</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52586798"/>
                  </a:ext>
                </a:extLst>
              </a:tr>
              <a:tr h="419892">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USB</a:t>
                      </a:r>
                    </a:p>
                    <a:p>
                      <a:pPr algn="l"/>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タイプ</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WiFi</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81228601"/>
                  </a:ext>
                </a:extLst>
              </a:tr>
              <a:tr h="9097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PCIe Slot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タイプ</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15032836"/>
                  </a:ext>
                </a:extLst>
              </a:tr>
              <a:tr h="559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タイプ</a:t>
                      </a:r>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56632283"/>
                  </a:ext>
                </a:extLst>
              </a:tr>
            </a:tbl>
          </a:graphicData>
        </a:graphic>
      </p:graphicFrame>
      <p:sp>
        <p:nvSpPr>
          <p:cNvPr id="56" name="角丸四角形 84">
            <a:extLst>
              <a:ext uri="{FF2B5EF4-FFF2-40B4-BE49-F238E27FC236}">
                <a16:creationId xmlns:a16="http://schemas.microsoft.com/office/drawing/2014/main" id="{36E68ED4-9A4A-4548-A28B-BDB62E142294}"/>
              </a:ext>
            </a:extLst>
          </p:cNvPr>
          <p:cNvSpPr/>
          <p:nvPr/>
        </p:nvSpPr>
        <p:spPr>
          <a:xfrm>
            <a:off x="539552" y="1054979"/>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角丸四角形 84">
            <a:extLst>
              <a:ext uri="{FF2B5EF4-FFF2-40B4-BE49-F238E27FC236}">
                <a16:creationId xmlns:a16="http://schemas.microsoft.com/office/drawing/2014/main" id="{D3411E59-6F4D-4F1B-B12F-3A5F27A328A7}"/>
              </a:ext>
            </a:extLst>
          </p:cNvPr>
          <p:cNvSpPr/>
          <p:nvPr/>
        </p:nvSpPr>
        <p:spPr>
          <a:xfrm>
            <a:off x="583312" y="2597369"/>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角丸四角形 76">
            <a:extLst>
              <a:ext uri="{FF2B5EF4-FFF2-40B4-BE49-F238E27FC236}">
                <a16:creationId xmlns:a16="http://schemas.microsoft.com/office/drawing/2014/main" id="{C5D21F2E-2E9C-40E3-8A24-3D9DA5B0973E}"/>
              </a:ext>
            </a:extLst>
          </p:cNvPr>
          <p:cNvSpPr/>
          <p:nvPr/>
        </p:nvSpPr>
        <p:spPr>
          <a:xfrm>
            <a:off x="5076056" y="802178"/>
            <a:ext cx="3869826" cy="198064"/>
          </a:xfrm>
          <a:prstGeom prst="roundRect">
            <a:avLst/>
          </a:prstGeom>
          <a:solidFill>
            <a:schemeClr val="accent1">
              <a:lumMod val="50000"/>
            </a:schemeClr>
          </a:solid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intel BE200 PCIe</a:t>
            </a:r>
            <a:r>
              <a:rPr lang="ja-JP" altLang="en-US" sz="1000" dirty="0">
                <a:latin typeface="Meiryo UI" panose="020B0604030504040204" pitchFamily="50" charset="-128"/>
                <a:ea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rPr>
              <a:t>Wi-Fi</a:t>
            </a:r>
            <a:r>
              <a:rPr lang="en-US" altLang="ja-JP" sz="1000" dirty="0">
                <a:solidFill>
                  <a:srgbClr val="FF0000"/>
                </a:solidFill>
                <a:latin typeface="Meiryo UI" panose="020B0604030504040204" pitchFamily="50" charset="-128"/>
                <a:ea typeface="Meiryo UI" panose="020B0604030504040204" pitchFamily="50" charset="-128"/>
              </a:rPr>
              <a:t>7</a:t>
            </a:r>
            <a:r>
              <a:rPr lang="en-US" altLang="ja-JP" sz="1000" dirty="0">
                <a:latin typeface="Meiryo UI" panose="020B0604030504040204" pitchFamily="50" charset="-128"/>
                <a:ea typeface="Meiryo UI" panose="020B0604030504040204" pitchFamily="50" charset="-128"/>
              </a:rPr>
              <a:t>(320MHz)/IEEE802.11be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b="1" dirty="0">
                <a:latin typeface="Meiryo UI" panose="020B0604030504040204" pitchFamily="50" charset="-128"/>
                <a:ea typeface="Meiryo UI" panose="020B0604030504040204" pitchFamily="50" charset="-128"/>
                <a:cs typeface="Meiryo UI" panose="020B0604030504040204" pitchFamily="50" charset="-128"/>
              </a:rPr>
              <a:t>ASUS/Intel</a:t>
            </a:r>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専用</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000" dirty="0">
              <a:latin typeface="Meiryo UI" panose="020B0604030504040204" pitchFamily="50" charset="-128"/>
              <a:ea typeface="Meiryo UI" panose="020B0604030504040204" pitchFamily="50" charset="-128"/>
            </a:endParaRPr>
          </a:p>
        </p:txBody>
      </p:sp>
      <p:sp>
        <p:nvSpPr>
          <p:cNvPr id="16" name="角丸四角形 76">
            <a:extLst>
              <a:ext uri="{FF2B5EF4-FFF2-40B4-BE49-F238E27FC236}">
                <a16:creationId xmlns:a16="http://schemas.microsoft.com/office/drawing/2014/main" id="{0F9DA583-8D0C-4999-B495-E6B094DEF6F5}"/>
              </a:ext>
            </a:extLst>
          </p:cNvPr>
          <p:cNvSpPr/>
          <p:nvPr/>
        </p:nvSpPr>
        <p:spPr>
          <a:xfrm>
            <a:off x="1253384" y="1851670"/>
            <a:ext cx="7679758" cy="168402"/>
          </a:xfrm>
          <a:prstGeom prst="roundRect">
            <a:avLst/>
          </a:prstGeom>
          <a:solidFill>
            <a:schemeClr val="accent1">
              <a:lumMod val="60000"/>
              <a:lumOff val="4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AX201 </a:t>
            </a:r>
            <a:r>
              <a:rPr lang="en-US" altLang="ja-JP" sz="1000" b="1"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C</a:t>
            </a:r>
            <a:r>
              <a:rPr kumimoji="1" lang="en-US" altLang="ja-JP" sz="1000" b="1" dirty="0" err="1">
                <a:solidFill>
                  <a:schemeClr val="accent6">
                    <a:lumMod val="40000"/>
                    <a:lumOff val="60000"/>
                  </a:schemeClr>
                </a:solidFill>
                <a:latin typeface="Meiryo UI" panose="020B0604030504040204" pitchFamily="50" charset="-128"/>
                <a:ea typeface="Meiryo UI" panose="020B0604030504040204" pitchFamily="50" charset="-128"/>
                <a:cs typeface="Meiryo UI" panose="020B0604030504040204" pitchFamily="50" charset="-128"/>
              </a:rPr>
              <a:t>NVi</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Wi-Fi6/IEEE802.11ax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dirty="0">
                <a:latin typeface="Meiryo UI" panose="020B0604030504040204" pitchFamily="50" charset="-128"/>
                <a:ea typeface="Meiryo UI" panose="020B0604030504040204" pitchFamily="50" charset="-128"/>
                <a:cs typeface="Meiryo UI" panose="020B0604030504040204" pitchFamily="50" charset="-128"/>
              </a:rPr>
              <a:t>ASUS</a:t>
            </a:r>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専用</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角丸四角形 76">
            <a:extLst>
              <a:ext uri="{FF2B5EF4-FFF2-40B4-BE49-F238E27FC236}">
                <a16:creationId xmlns:a16="http://schemas.microsoft.com/office/drawing/2014/main" id="{3EC073CB-1051-4A6D-B43B-6BFC42F02AF2}"/>
              </a:ext>
            </a:extLst>
          </p:cNvPr>
          <p:cNvSpPr/>
          <p:nvPr/>
        </p:nvSpPr>
        <p:spPr>
          <a:xfrm>
            <a:off x="1253384" y="1467242"/>
            <a:ext cx="7679758" cy="168404"/>
          </a:xfrm>
          <a:prstGeom prst="roundRect">
            <a:avLst/>
          </a:prstGeom>
          <a:solidFill>
            <a:schemeClr val="accent1">
              <a:lumMod val="60000"/>
              <a:lumOff val="40000"/>
            </a:schemeClr>
          </a:solid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AMD RZ616 PCIe</a:t>
            </a:r>
            <a:r>
              <a:rPr lang="ja-JP" altLang="en-US" sz="1000" dirty="0">
                <a:latin typeface="Meiryo UI" panose="020B0604030504040204" pitchFamily="50" charset="-128"/>
                <a:ea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rPr>
              <a:t>Wi-Fi6E(160MHz)/IEEE802.11ax (</a:t>
            </a:r>
            <a:r>
              <a:rPr lang="en-US" altLang="ja-JP" sz="1000" b="1" dirty="0">
                <a:latin typeface="Meiryo UI" panose="020B0604030504040204" pitchFamily="50" charset="-128"/>
                <a:ea typeface="Meiryo UI" panose="020B0604030504040204" pitchFamily="50" charset="-128"/>
              </a:rPr>
              <a:t>ASRock</a:t>
            </a:r>
            <a:r>
              <a:rPr lang="ja-JP" altLang="en-US" sz="1000" b="1" dirty="0">
                <a:latin typeface="Meiryo UI" panose="020B0604030504040204" pitchFamily="50" charset="-128"/>
                <a:ea typeface="Meiryo UI" panose="020B0604030504040204" pitchFamily="50" charset="-128"/>
              </a:rPr>
              <a:t>専用</a:t>
            </a:r>
            <a:r>
              <a:rPr lang="en-US" altLang="ja-JP" sz="1000" dirty="0">
                <a:latin typeface="Meiryo UI" panose="020B0604030504040204" pitchFamily="50" charset="-128"/>
                <a:ea typeface="Meiryo UI" panose="020B0604030504040204" pitchFamily="50" charset="-128"/>
              </a:rPr>
              <a:t>)</a:t>
            </a:r>
          </a:p>
        </p:txBody>
      </p:sp>
      <p:sp>
        <p:nvSpPr>
          <p:cNvPr id="39" name="角丸四角形 76">
            <a:extLst>
              <a:ext uri="{FF2B5EF4-FFF2-40B4-BE49-F238E27FC236}">
                <a16:creationId xmlns:a16="http://schemas.microsoft.com/office/drawing/2014/main" id="{2FE015E4-9D08-45A9-8A97-B9715AEFAAEF}"/>
              </a:ext>
            </a:extLst>
          </p:cNvPr>
          <p:cNvSpPr/>
          <p:nvPr/>
        </p:nvSpPr>
        <p:spPr>
          <a:xfrm>
            <a:off x="3769993" y="2428314"/>
            <a:ext cx="5163147" cy="215444"/>
          </a:xfrm>
          <a:prstGeom prst="roundRect">
            <a:avLst/>
          </a:prstGeom>
          <a:solidFill>
            <a:schemeClr val="accent1">
              <a:lumMod val="75000"/>
            </a:schemeClr>
          </a:solid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検討中</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b="1" dirty="0">
                <a:latin typeface="Meiryo UI" panose="020B0604030504040204" pitchFamily="50" charset="-128"/>
                <a:ea typeface="Meiryo UI" panose="020B0604030504040204" pitchFamily="50" charset="-128"/>
                <a:cs typeface="Meiryo UI" panose="020B0604030504040204" pitchFamily="50" charset="-128"/>
              </a:rPr>
              <a:t>PCIe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/IEEE802.11ax</a:t>
            </a:r>
          </a:p>
        </p:txBody>
      </p:sp>
      <p:sp>
        <p:nvSpPr>
          <p:cNvPr id="23" name="角丸四角形 76">
            <a:extLst>
              <a:ext uri="{FF2B5EF4-FFF2-40B4-BE49-F238E27FC236}">
                <a16:creationId xmlns:a16="http://schemas.microsoft.com/office/drawing/2014/main" id="{1EB9EF51-587A-4441-9CA9-8EB7C92CEAE0}"/>
              </a:ext>
            </a:extLst>
          </p:cNvPr>
          <p:cNvSpPr/>
          <p:nvPr/>
        </p:nvSpPr>
        <p:spPr>
          <a:xfrm>
            <a:off x="1253384" y="2715766"/>
            <a:ext cx="7692107" cy="215444"/>
          </a:xfrm>
          <a:prstGeom prst="roundRect">
            <a:avLst/>
          </a:prstGeom>
          <a:solidFill>
            <a:schemeClr val="accent1">
              <a:lumMod val="60000"/>
              <a:lumOff val="4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ntel AX210 </a:t>
            </a:r>
            <a:r>
              <a:rPr kumimoji="1" lang="en-US" altLang="ja-JP" sz="1000" b="1" dirty="0">
                <a:latin typeface="Meiryo UI" panose="020B0604030504040204" pitchFamily="50" charset="-128"/>
                <a:ea typeface="Meiryo UI" panose="020B0604030504040204" pitchFamily="50" charset="-128"/>
                <a:cs typeface="Meiryo UI" panose="020B0604030504040204" pitchFamily="50" charset="-128"/>
              </a:rPr>
              <a:t>PCIe</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6E</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/IEEE802.11ax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MSI HERALD-AX</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LP</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対応へ</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角丸四角形 84">
            <a:extLst>
              <a:ext uri="{FF2B5EF4-FFF2-40B4-BE49-F238E27FC236}">
                <a16:creationId xmlns:a16="http://schemas.microsoft.com/office/drawing/2014/main" id="{86C60DEB-DBFE-4A8F-A0E9-426A11305C55}"/>
              </a:ext>
            </a:extLst>
          </p:cNvPr>
          <p:cNvSpPr/>
          <p:nvPr/>
        </p:nvSpPr>
        <p:spPr>
          <a:xfrm>
            <a:off x="580831" y="3872977"/>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角丸四角形 76">
            <a:extLst>
              <a:ext uri="{FF2B5EF4-FFF2-40B4-BE49-F238E27FC236}">
                <a16:creationId xmlns:a16="http://schemas.microsoft.com/office/drawing/2014/main" id="{007562A0-403A-4BBC-BAA4-8767CB0E5C9F}"/>
              </a:ext>
            </a:extLst>
          </p:cNvPr>
          <p:cNvSpPr/>
          <p:nvPr/>
        </p:nvSpPr>
        <p:spPr>
          <a:xfrm>
            <a:off x="1259558" y="3795886"/>
            <a:ext cx="7679757" cy="215444"/>
          </a:xfrm>
          <a:prstGeom prst="roundRect">
            <a:avLst/>
          </a:prstGeom>
          <a:solidFill>
            <a:schemeClr val="accent1">
              <a:lumMod val="60000"/>
              <a:lumOff val="4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ASUS XG-C100C V3</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10GBASE-T</a:t>
            </a:r>
          </a:p>
        </p:txBody>
      </p:sp>
      <p:grpSp>
        <p:nvGrpSpPr>
          <p:cNvPr id="3" name="グループ化 2">
            <a:extLst>
              <a:ext uri="{FF2B5EF4-FFF2-40B4-BE49-F238E27FC236}">
                <a16:creationId xmlns:a16="http://schemas.microsoft.com/office/drawing/2014/main" id="{B52EDF8B-9C2D-4C69-A79F-6B11B4B96C55}"/>
              </a:ext>
            </a:extLst>
          </p:cNvPr>
          <p:cNvGrpSpPr/>
          <p:nvPr/>
        </p:nvGrpSpPr>
        <p:grpSpPr>
          <a:xfrm>
            <a:off x="93646" y="411510"/>
            <a:ext cx="1093978" cy="570478"/>
            <a:chOff x="1763916" y="411510"/>
            <a:chExt cx="1093978" cy="570478"/>
          </a:xfrm>
        </p:grpSpPr>
        <p:sp>
          <p:nvSpPr>
            <p:cNvPr id="2" name="正方形/長方形 1">
              <a:extLst>
                <a:ext uri="{FF2B5EF4-FFF2-40B4-BE49-F238E27FC236}">
                  <a16:creationId xmlns:a16="http://schemas.microsoft.com/office/drawing/2014/main" id="{03EDAE71-AB4B-42BA-9B4F-0EE99FD7C9A9}"/>
                </a:ext>
              </a:extLst>
            </p:cNvPr>
            <p:cNvSpPr/>
            <p:nvPr/>
          </p:nvSpPr>
          <p:spPr>
            <a:xfrm>
              <a:off x="1763916" y="411510"/>
              <a:ext cx="1093978" cy="570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76">
              <a:extLst>
                <a:ext uri="{FF2B5EF4-FFF2-40B4-BE49-F238E27FC236}">
                  <a16:creationId xmlns:a16="http://schemas.microsoft.com/office/drawing/2014/main" id="{EE443527-E882-484F-BECE-163E4B028432}"/>
                </a:ext>
              </a:extLst>
            </p:cNvPr>
            <p:cNvSpPr/>
            <p:nvPr/>
          </p:nvSpPr>
          <p:spPr>
            <a:xfrm>
              <a:off x="1802386" y="473511"/>
              <a:ext cx="987504" cy="215444"/>
            </a:xfrm>
            <a:prstGeom prst="roundRect">
              <a:avLst/>
            </a:prstGeom>
            <a:no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採用検討製品</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76">
              <a:extLst>
                <a:ext uri="{FF2B5EF4-FFF2-40B4-BE49-F238E27FC236}">
                  <a16:creationId xmlns:a16="http://schemas.microsoft.com/office/drawing/2014/main" id="{D0DC8640-58AF-40B5-8B79-07E1B4B9F14C}"/>
                </a:ext>
              </a:extLst>
            </p:cNvPr>
            <p:cNvSpPr/>
            <p:nvPr/>
          </p:nvSpPr>
          <p:spPr>
            <a:xfrm>
              <a:off x="1796911" y="719339"/>
              <a:ext cx="987504" cy="215444"/>
            </a:xfrm>
            <a:prstGeom prst="roundRect">
              <a:avLst/>
            </a:prstGeom>
            <a:noFill/>
            <a:ln>
              <a:solidFill>
                <a:schemeClr val="tx1"/>
              </a:solidFill>
              <a:prstDash val="soli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ja-JP" altLang="en-US" sz="1000" dirty="0">
                  <a:latin typeface="Meiryo UI" panose="020B0604030504040204" pitchFamily="50" charset="-128"/>
                  <a:ea typeface="Meiryo UI" panose="020B0604030504040204" pitchFamily="50" charset="-128"/>
                </a:rPr>
                <a:t>採用中製品</a:t>
              </a:r>
              <a:endParaRPr lang="en-US" altLang="ja-JP" sz="1000" dirty="0">
                <a:latin typeface="Meiryo UI" panose="020B0604030504040204" pitchFamily="50" charset="-128"/>
                <a:ea typeface="Meiryo UI" panose="020B0604030504040204" pitchFamily="50" charset="-128"/>
              </a:endParaRPr>
            </a:p>
          </p:txBody>
        </p:sp>
      </p:grpSp>
      <p:sp>
        <p:nvSpPr>
          <p:cNvPr id="5" name="スライド番号プレースホルダー 4">
            <a:extLst>
              <a:ext uri="{FF2B5EF4-FFF2-40B4-BE49-F238E27FC236}">
                <a16:creationId xmlns:a16="http://schemas.microsoft.com/office/drawing/2014/main" id="{2A59089E-B1AD-4E06-874F-29AA6CFF9CEC}"/>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26</a:t>
            </a:fld>
            <a:endParaRPr kumimoji="1" lang="ja-JP" altLang="en-US"/>
          </a:p>
        </p:txBody>
      </p:sp>
      <p:sp>
        <p:nvSpPr>
          <p:cNvPr id="30" name="角丸四角形 84">
            <a:extLst>
              <a:ext uri="{FF2B5EF4-FFF2-40B4-BE49-F238E27FC236}">
                <a16:creationId xmlns:a16="http://schemas.microsoft.com/office/drawing/2014/main" id="{05C8BBCE-9B0D-4BAF-A1A7-360A47A050EC}"/>
              </a:ext>
            </a:extLst>
          </p:cNvPr>
          <p:cNvSpPr/>
          <p:nvPr/>
        </p:nvSpPr>
        <p:spPr>
          <a:xfrm>
            <a:off x="580831" y="3200891"/>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76">
            <a:extLst>
              <a:ext uri="{FF2B5EF4-FFF2-40B4-BE49-F238E27FC236}">
                <a16:creationId xmlns:a16="http://schemas.microsoft.com/office/drawing/2014/main" id="{0E5A6BD0-3F91-4B4F-AC94-D5BFFEA9A975}"/>
              </a:ext>
            </a:extLst>
          </p:cNvPr>
          <p:cNvSpPr/>
          <p:nvPr/>
        </p:nvSpPr>
        <p:spPr>
          <a:xfrm>
            <a:off x="3779911" y="3147814"/>
            <a:ext cx="5143161" cy="215444"/>
          </a:xfrm>
          <a:prstGeom prst="roundRect">
            <a:avLst/>
          </a:prstGeom>
          <a:solidFill>
            <a:schemeClr val="accent1">
              <a:lumMod val="75000"/>
            </a:schemeClr>
          </a:solid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検討中</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USB</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Wi-Fi</a:t>
            </a:r>
            <a:r>
              <a:rPr kumimoji="1"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/IEEE802.11ax</a:t>
            </a:r>
          </a:p>
        </p:txBody>
      </p:sp>
      <p:sp>
        <p:nvSpPr>
          <p:cNvPr id="40" name="角丸四角形 84">
            <a:extLst>
              <a:ext uri="{FF2B5EF4-FFF2-40B4-BE49-F238E27FC236}">
                <a16:creationId xmlns:a16="http://schemas.microsoft.com/office/drawing/2014/main" id="{DA9CB8FB-BA86-4215-80CC-E617318EE17D}"/>
              </a:ext>
            </a:extLst>
          </p:cNvPr>
          <p:cNvSpPr/>
          <p:nvPr/>
        </p:nvSpPr>
        <p:spPr>
          <a:xfrm>
            <a:off x="580831" y="4591874"/>
            <a:ext cx="648072" cy="211003"/>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カスタム</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角丸四角形 76">
            <a:extLst>
              <a:ext uri="{FF2B5EF4-FFF2-40B4-BE49-F238E27FC236}">
                <a16:creationId xmlns:a16="http://schemas.microsoft.com/office/drawing/2014/main" id="{6F74B941-E6C5-4B10-A5E6-302E74B6C95F}"/>
              </a:ext>
            </a:extLst>
          </p:cNvPr>
          <p:cNvSpPr/>
          <p:nvPr/>
        </p:nvSpPr>
        <p:spPr>
          <a:xfrm>
            <a:off x="3779912" y="4710643"/>
            <a:ext cx="5143159" cy="215444"/>
          </a:xfrm>
          <a:prstGeom prst="roundRect">
            <a:avLst/>
          </a:prstGeom>
          <a:solidFill>
            <a:schemeClr val="accent1">
              <a:lumMod val="75000"/>
            </a:schemeClr>
          </a:solid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検討中</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2.5Gbps/5Gbps</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76">
            <a:extLst>
              <a:ext uri="{FF2B5EF4-FFF2-40B4-BE49-F238E27FC236}">
                <a16:creationId xmlns:a16="http://schemas.microsoft.com/office/drawing/2014/main" id="{0685A0C3-1DC9-4A65-85FD-F5114C56F3AD}"/>
              </a:ext>
            </a:extLst>
          </p:cNvPr>
          <p:cNvSpPr/>
          <p:nvPr/>
        </p:nvSpPr>
        <p:spPr>
          <a:xfrm>
            <a:off x="3347865" y="1216266"/>
            <a:ext cx="5598016" cy="158785"/>
          </a:xfrm>
          <a:prstGeom prst="roundRect">
            <a:avLst/>
          </a:prstGeom>
          <a:solidFill>
            <a:schemeClr val="accent1">
              <a:lumMod val="50000"/>
            </a:schemeClr>
          </a:solidFill>
          <a:ln>
            <a:solidFill>
              <a:schemeClr val="tx1"/>
            </a:solidFill>
            <a:prstDash val="lgDash"/>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rPr>
              <a:t>MediaTek PCIe</a:t>
            </a:r>
            <a:r>
              <a:rPr lang="ja-JP" altLang="en-US" sz="1000" dirty="0">
                <a:latin typeface="Meiryo UI" panose="020B0604030504040204" pitchFamily="50" charset="-128"/>
                <a:ea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rPr>
              <a:t>Wi-Fi</a:t>
            </a:r>
            <a:r>
              <a:rPr lang="en-US" altLang="ja-JP" sz="1000" dirty="0">
                <a:solidFill>
                  <a:srgbClr val="FF0000"/>
                </a:solidFill>
                <a:latin typeface="Meiryo UI" panose="020B0604030504040204" pitchFamily="50" charset="-128"/>
                <a:ea typeface="Meiryo UI" panose="020B0604030504040204" pitchFamily="50" charset="-128"/>
              </a:rPr>
              <a:t>7</a:t>
            </a:r>
            <a:r>
              <a:rPr lang="en-US" altLang="ja-JP" sz="1000" dirty="0">
                <a:latin typeface="Meiryo UI" panose="020B0604030504040204" pitchFamily="50" charset="-128"/>
                <a:ea typeface="Meiryo UI" panose="020B0604030504040204" pitchFamily="50" charset="-128"/>
              </a:rPr>
              <a:t>(320MHz) /IEEE802.11be(</a:t>
            </a:r>
            <a:r>
              <a:rPr lang="en-US" altLang="ja-JP" sz="1000" b="1" dirty="0">
                <a:latin typeface="Meiryo UI" panose="020B0604030504040204" pitchFamily="50" charset="-128"/>
                <a:ea typeface="Meiryo UI" panose="020B0604030504040204" pitchFamily="50" charset="-128"/>
              </a:rPr>
              <a:t>ASRock</a:t>
            </a:r>
            <a:r>
              <a:rPr lang="ja-JP" altLang="en-US" sz="1000" b="1" dirty="0">
                <a:latin typeface="Meiryo UI" panose="020B0604030504040204" pitchFamily="50" charset="-128"/>
                <a:ea typeface="Meiryo UI" panose="020B0604030504040204" pitchFamily="50" charset="-128"/>
              </a:rPr>
              <a:t>専用</a:t>
            </a:r>
            <a:r>
              <a:rPr lang="en-US" altLang="ja-JP" sz="1000"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1679221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860774765"/>
              </p:ext>
            </p:extLst>
          </p:nvPr>
        </p:nvGraphicFramePr>
        <p:xfrm>
          <a:off x="35496" y="51467"/>
          <a:ext cx="9076955" cy="4608515"/>
        </p:xfrm>
        <a:graphic>
          <a:graphicData uri="http://schemas.openxmlformats.org/drawingml/2006/table">
            <a:tbl>
              <a:tblPr firstRow="1" bandRow="1">
                <a:tableStyleId>{5C22544A-7EE6-4342-B048-85BDC9FD1C3A}</a:tableStyleId>
              </a:tblPr>
              <a:tblGrid>
                <a:gridCol w="1368743">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22017">
                <a:tc>
                  <a:txBody>
                    <a:bodyPr/>
                    <a:lstStyle/>
                    <a:p>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CPUFAN</a:t>
                      </a:r>
                      <a:r>
                        <a:rPr kumimoji="1" lang="ja-JP" altLang="en-US"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8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420mm</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水冷</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34244248"/>
                  </a:ext>
                </a:extLst>
              </a:tr>
              <a:tr h="1656184">
                <a:tc>
                  <a:txBody>
                    <a:bodyPr/>
                    <a:lstStyle/>
                    <a:p>
                      <a:pPr algn="l"/>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360mm</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水冷</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4C/EX/GE/SF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232248">
                <a:tc>
                  <a:txBody>
                    <a:bodyPr/>
                    <a:lstStyle/>
                    <a:p>
                      <a:pPr algn="l"/>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240mm</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水冷</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SK/SKM/4C/X3/CR/GE/Gem/</a:t>
                      </a:r>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SFm</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83879295"/>
                  </a:ext>
                </a:extLst>
              </a:tr>
            </a:tbl>
          </a:graphicData>
        </a:graphic>
      </p:graphicFrame>
      <p:sp>
        <p:nvSpPr>
          <p:cNvPr id="44" name="角丸四角形 57">
            <a:extLst>
              <a:ext uri="{FF2B5EF4-FFF2-40B4-BE49-F238E27FC236}">
                <a16:creationId xmlns:a16="http://schemas.microsoft.com/office/drawing/2014/main" id="{77FEE85F-AB07-4E09-A69E-F91600FA130E}"/>
              </a:ext>
            </a:extLst>
          </p:cNvPr>
          <p:cNvSpPr/>
          <p:nvPr/>
        </p:nvSpPr>
        <p:spPr>
          <a:xfrm>
            <a:off x="1412756" y="1557770"/>
            <a:ext cx="7687268" cy="226059"/>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Asetek</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636S-M2 with</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高速</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12cmFAN </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標準用</a:t>
            </a:r>
            <a:endParaRPr kumimoji="1" lang="en-US" altLang="ja-JP" sz="900" b="1" dirty="0">
              <a:solidFill>
                <a:schemeClr val="bg1">
                  <a:lumMod val="8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角丸四角形 57">
            <a:extLst>
              <a:ext uri="{FF2B5EF4-FFF2-40B4-BE49-F238E27FC236}">
                <a16:creationId xmlns:a16="http://schemas.microsoft.com/office/drawing/2014/main" id="{CB21CE34-7BF3-4374-A224-4A40E1CC40F9}"/>
              </a:ext>
            </a:extLst>
          </p:cNvPr>
          <p:cNvSpPr/>
          <p:nvPr/>
        </p:nvSpPr>
        <p:spPr>
          <a:xfrm>
            <a:off x="1403646" y="2952308"/>
            <a:ext cx="7696374" cy="227444"/>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Asetek</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624S-M2 with</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高速</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12cmFAN</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標準用</a:t>
            </a:r>
            <a:endParaRPr kumimoji="1" lang="en-US" altLang="ja-JP" sz="900" b="1" dirty="0">
              <a:solidFill>
                <a:schemeClr val="bg1">
                  <a:lumMod val="8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5" name="直線コネクタ 64">
            <a:extLst>
              <a:ext uri="{FF2B5EF4-FFF2-40B4-BE49-F238E27FC236}">
                <a16:creationId xmlns:a16="http://schemas.microsoft.com/office/drawing/2014/main" id="{77BDBA4B-EB88-463A-90DE-F7CFDE4B05DF}"/>
              </a:ext>
            </a:extLst>
          </p:cNvPr>
          <p:cNvCxnSpPr>
            <a:cxnSpLocks/>
          </p:cNvCxnSpPr>
          <p:nvPr/>
        </p:nvCxnSpPr>
        <p:spPr>
          <a:xfrm>
            <a:off x="971598" y="3998074"/>
            <a:ext cx="8128422"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66" name="テキスト ボックス 65">
            <a:extLst>
              <a:ext uri="{FF2B5EF4-FFF2-40B4-BE49-F238E27FC236}">
                <a16:creationId xmlns:a16="http://schemas.microsoft.com/office/drawing/2014/main" id="{3B7001D8-83F6-4E3E-B98B-4FD25C69A004}"/>
              </a:ext>
            </a:extLst>
          </p:cNvPr>
          <p:cNvSpPr txBox="1"/>
          <p:nvPr/>
        </p:nvSpPr>
        <p:spPr>
          <a:xfrm>
            <a:off x="468854" y="2737832"/>
            <a:ext cx="934791" cy="553998"/>
          </a:xfrm>
          <a:prstGeom prst="rect">
            <a:avLst/>
          </a:prstGeom>
          <a:noFill/>
        </p:spPr>
        <p:txBody>
          <a:bodyPr wrap="square" rtlCol="0">
            <a:spAutoFit/>
          </a:bodyPr>
          <a:lstStyle/>
          <a:p>
            <a:r>
              <a:rPr lang="ja-JP" altLang="en-US" sz="1000" dirty="0"/>
              <a:t>ハイエンド</a:t>
            </a:r>
            <a:endParaRPr lang="en-US" altLang="ja-JP" sz="1000" dirty="0"/>
          </a:p>
          <a:p>
            <a:r>
              <a:rPr kumimoji="1" lang="en-US" altLang="ja-JP" sz="1000" dirty="0"/>
              <a:t>i9K/U9K/R9X/R9X3D</a:t>
            </a:r>
            <a:endParaRPr kumimoji="1" lang="ja-JP" altLang="en-US" sz="1000" dirty="0"/>
          </a:p>
        </p:txBody>
      </p:sp>
      <p:sp>
        <p:nvSpPr>
          <p:cNvPr id="71" name="テキスト ボックス 70">
            <a:extLst>
              <a:ext uri="{FF2B5EF4-FFF2-40B4-BE49-F238E27FC236}">
                <a16:creationId xmlns:a16="http://schemas.microsoft.com/office/drawing/2014/main" id="{19AEBCE3-D0F3-4B93-BD72-1A15F32D0682}"/>
              </a:ext>
            </a:extLst>
          </p:cNvPr>
          <p:cNvSpPr txBox="1"/>
          <p:nvPr/>
        </p:nvSpPr>
        <p:spPr>
          <a:xfrm>
            <a:off x="504204" y="4115856"/>
            <a:ext cx="1050059" cy="400110"/>
          </a:xfrm>
          <a:prstGeom prst="rect">
            <a:avLst/>
          </a:prstGeom>
          <a:noFill/>
        </p:spPr>
        <p:txBody>
          <a:bodyPr wrap="square" rtlCol="0">
            <a:spAutoFit/>
          </a:bodyPr>
          <a:lstStyle/>
          <a:p>
            <a:r>
              <a:rPr kumimoji="1" lang="ja-JP" altLang="en-US" sz="1000" dirty="0"/>
              <a:t>ミドル</a:t>
            </a:r>
            <a:endParaRPr kumimoji="1" lang="en-US" altLang="ja-JP" sz="1000" dirty="0"/>
          </a:p>
          <a:p>
            <a:r>
              <a:rPr kumimoji="1" lang="en-US" altLang="ja-JP" sz="1000" dirty="0"/>
              <a:t>i7K/U7K/R7X3D</a:t>
            </a:r>
            <a:endParaRPr kumimoji="1" lang="ja-JP" altLang="en-US" sz="1000" dirty="0"/>
          </a:p>
        </p:txBody>
      </p:sp>
      <p:sp>
        <p:nvSpPr>
          <p:cNvPr id="48" name="角丸四角形 57">
            <a:extLst>
              <a:ext uri="{FF2B5EF4-FFF2-40B4-BE49-F238E27FC236}">
                <a16:creationId xmlns:a16="http://schemas.microsoft.com/office/drawing/2014/main" id="{FBBB4DF9-813D-4B95-91E9-2F334DC6A7E6}"/>
              </a:ext>
            </a:extLst>
          </p:cNvPr>
          <p:cNvSpPr/>
          <p:nvPr/>
        </p:nvSpPr>
        <p:spPr>
          <a:xfrm>
            <a:off x="1403647" y="2643758"/>
            <a:ext cx="7696373" cy="20511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FFFF"/>
                </a:solidFill>
                <a:latin typeface="Meiryo UI" panose="020B0604030504040204" pitchFamily="50" charset="-128"/>
                <a:ea typeface="Meiryo UI" panose="020B0604030504040204" pitchFamily="50" charset="-128"/>
                <a:cs typeface="Meiryo UI" panose="020B0604030504040204" pitchFamily="50" charset="-128"/>
              </a:rPr>
              <a:t>EKWB</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EK-Nucleus CR240</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57">
            <a:extLst>
              <a:ext uri="{FF2B5EF4-FFF2-40B4-BE49-F238E27FC236}">
                <a16:creationId xmlns:a16="http://schemas.microsoft.com/office/drawing/2014/main" id="{3D43A25B-74F3-4002-AE58-CBD55E8A5973}"/>
              </a:ext>
            </a:extLst>
          </p:cNvPr>
          <p:cNvSpPr/>
          <p:nvPr/>
        </p:nvSpPr>
        <p:spPr>
          <a:xfrm>
            <a:off x="1403645" y="4331115"/>
            <a:ext cx="7689207" cy="23443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DA240 ARGB</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ARGB</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対応 </a:t>
            </a: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標準用</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角丸四角形 57">
            <a:extLst>
              <a:ext uri="{FF2B5EF4-FFF2-40B4-BE49-F238E27FC236}">
                <a16:creationId xmlns:a16="http://schemas.microsoft.com/office/drawing/2014/main" id="{4E0E5F61-2F90-4A20-8144-FB2A10F4C361}"/>
              </a:ext>
            </a:extLst>
          </p:cNvPr>
          <p:cNvSpPr/>
          <p:nvPr/>
        </p:nvSpPr>
        <p:spPr>
          <a:xfrm>
            <a:off x="2195736" y="810494"/>
            <a:ext cx="6897114" cy="226059"/>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Asetek</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836S-M1A TR5</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用 </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標準用</a:t>
            </a:r>
            <a:endParaRPr kumimoji="1" lang="en-US" altLang="ja-JP" sz="900" b="1" dirty="0">
              <a:solidFill>
                <a:schemeClr val="bg1">
                  <a:lumMod val="8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57">
            <a:extLst>
              <a:ext uri="{FF2B5EF4-FFF2-40B4-BE49-F238E27FC236}">
                <a16:creationId xmlns:a16="http://schemas.microsoft.com/office/drawing/2014/main" id="{F0694884-3932-4BE8-9BA2-D12A06558CE8}"/>
              </a:ext>
            </a:extLst>
          </p:cNvPr>
          <p:cNvSpPr/>
          <p:nvPr/>
        </p:nvSpPr>
        <p:spPr>
          <a:xfrm>
            <a:off x="1403646" y="3651870"/>
            <a:ext cx="1440162" cy="23443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MSI E240</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V1</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WH/BK</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B01FC249-6C18-4114-86DB-E5424072EDA5}"/>
              </a:ext>
            </a:extLst>
          </p:cNvPr>
          <p:cNvSpPr>
            <a:spLocks noGrp="1"/>
          </p:cNvSpPr>
          <p:nvPr>
            <p:ph type="sldNum" sz="quarter" idx="12"/>
          </p:nvPr>
        </p:nvSpPr>
        <p:spPr/>
        <p:txBody>
          <a:bodyPr/>
          <a:lstStyle/>
          <a:p>
            <a:fld id="{F9DFCEB9-CAE4-4F3C-93D0-85C4724A0355}" type="slidenum">
              <a:rPr kumimoji="1" lang="ja-JP" altLang="en-US" smtClean="0"/>
              <a:t>27</a:t>
            </a:fld>
            <a:endParaRPr kumimoji="1" lang="ja-JP" altLang="en-US" dirty="0"/>
          </a:p>
        </p:txBody>
      </p:sp>
      <p:sp>
        <p:nvSpPr>
          <p:cNvPr id="32" name="角丸四角形 57">
            <a:extLst>
              <a:ext uri="{FF2B5EF4-FFF2-40B4-BE49-F238E27FC236}">
                <a16:creationId xmlns:a16="http://schemas.microsoft.com/office/drawing/2014/main" id="{7F209D12-33D6-461E-9F6C-166A830689AE}"/>
              </a:ext>
            </a:extLst>
          </p:cNvPr>
          <p:cNvSpPr/>
          <p:nvPr/>
        </p:nvSpPr>
        <p:spPr>
          <a:xfrm>
            <a:off x="2771800" y="1067221"/>
            <a:ext cx="6336704" cy="205112"/>
          </a:xfrm>
          <a:prstGeom prst="roundRect">
            <a:avLst/>
          </a:prstGeom>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TBD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液晶付き水冷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角丸四角形 57">
            <a:extLst>
              <a:ext uri="{FF2B5EF4-FFF2-40B4-BE49-F238E27FC236}">
                <a16:creationId xmlns:a16="http://schemas.microsoft.com/office/drawing/2014/main" id="{C42FEFC5-01EE-44DC-AD5F-225D0016517E}"/>
              </a:ext>
            </a:extLst>
          </p:cNvPr>
          <p:cNvSpPr/>
          <p:nvPr/>
        </p:nvSpPr>
        <p:spPr>
          <a:xfrm>
            <a:off x="4067944" y="1308959"/>
            <a:ext cx="5032076" cy="20511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EKWB CR360</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テキスト ボックス 33">
            <a:extLst>
              <a:ext uri="{FF2B5EF4-FFF2-40B4-BE49-F238E27FC236}">
                <a16:creationId xmlns:a16="http://schemas.microsoft.com/office/drawing/2014/main" id="{03B2C29F-E483-45DD-8E6D-0BA0A50D9B80}"/>
              </a:ext>
            </a:extLst>
          </p:cNvPr>
          <p:cNvSpPr txBox="1"/>
          <p:nvPr/>
        </p:nvSpPr>
        <p:spPr>
          <a:xfrm>
            <a:off x="509414" y="1094859"/>
            <a:ext cx="970142" cy="400110"/>
          </a:xfrm>
          <a:prstGeom prst="rect">
            <a:avLst/>
          </a:prstGeom>
          <a:noFill/>
        </p:spPr>
        <p:txBody>
          <a:bodyPr wrap="square" rtlCol="0">
            <a:spAutoFit/>
          </a:bodyPr>
          <a:lstStyle/>
          <a:p>
            <a:r>
              <a:rPr lang="ja-JP" altLang="en-US" sz="1000" dirty="0"/>
              <a:t>ハイエンド</a:t>
            </a:r>
            <a:endParaRPr lang="en-US" altLang="ja-JP" sz="1000" dirty="0"/>
          </a:p>
          <a:p>
            <a:r>
              <a:rPr kumimoji="1" lang="en-US" altLang="ja-JP" sz="1000" dirty="0"/>
              <a:t>R9 9950X3D</a:t>
            </a:r>
            <a:endParaRPr kumimoji="1" lang="ja-JP" altLang="en-US" sz="1000" dirty="0"/>
          </a:p>
        </p:txBody>
      </p:sp>
      <p:sp>
        <p:nvSpPr>
          <p:cNvPr id="43" name="角丸四角形 57">
            <a:extLst>
              <a:ext uri="{FF2B5EF4-FFF2-40B4-BE49-F238E27FC236}">
                <a16:creationId xmlns:a16="http://schemas.microsoft.com/office/drawing/2014/main" id="{84EDB641-CCA5-4FCF-9A95-8939FE28EA1B}"/>
              </a:ext>
            </a:extLst>
          </p:cNvPr>
          <p:cNvSpPr/>
          <p:nvPr/>
        </p:nvSpPr>
        <p:spPr>
          <a:xfrm>
            <a:off x="1403646" y="1880856"/>
            <a:ext cx="7692824" cy="20511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MSI E360 V2 BK/WH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ロゴ無し</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Ver</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ARGB</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対応 </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一部標準用</a:t>
            </a:r>
            <a:r>
              <a:rPr lang="en-US" altLang="ja-JP" sz="900" b="1" dirty="0">
                <a:latin typeface="Meiryo UI" panose="020B0604030504040204" pitchFamily="50" charset="-128"/>
                <a:ea typeface="Meiryo UI" panose="020B0604030504040204" pitchFamily="50" charset="-128"/>
                <a:cs typeface="Meiryo UI" panose="020B0604030504040204" pitchFamily="50" charset="-128"/>
              </a:rPr>
              <a:t>(SF)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 </a:t>
            </a:r>
            <a:r>
              <a:rPr lang="ja-JP" altLang="en-US" sz="9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ロゴシール対応</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57">
            <a:extLst>
              <a:ext uri="{FF2B5EF4-FFF2-40B4-BE49-F238E27FC236}">
                <a16:creationId xmlns:a16="http://schemas.microsoft.com/office/drawing/2014/main" id="{77FC1628-9AAE-44F9-955F-2CA1F863CDD0}"/>
              </a:ext>
            </a:extLst>
          </p:cNvPr>
          <p:cNvSpPr/>
          <p:nvPr/>
        </p:nvSpPr>
        <p:spPr>
          <a:xfrm>
            <a:off x="1554262" y="459381"/>
            <a:ext cx="7529749" cy="226059"/>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ASUS </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ProArt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LC420 </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専用モデル</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(S</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シリーズ</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900" b="1" dirty="0">
              <a:solidFill>
                <a:schemeClr val="bg1">
                  <a:lumMod val="8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57">
            <a:extLst>
              <a:ext uri="{FF2B5EF4-FFF2-40B4-BE49-F238E27FC236}">
                <a16:creationId xmlns:a16="http://schemas.microsoft.com/office/drawing/2014/main" id="{9E9A9CDC-B45D-40FE-A659-1F67FB3E4F9F}"/>
              </a:ext>
            </a:extLst>
          </p:cNvPr>
          <p:cNvSpPr/>
          <p:nvPr/>
        </p:nvSpPr>
        <p:spPr>
          <a:xfrm>
            <a:off x="1396480" y="3363838"/>
            <a:ext cx="7696373" cy="23083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MSI E240</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V2</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WH/BK</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ロゴ無し</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Ver</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ARGB</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対応 </a:t>
            </a: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一部標準用</a:t>
            </a:r>
            <a:r>
              <a:rPr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コラボ</a:t>
            </a:r>
            <a:r>
              <a:rPr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/SF</a:t>
            </a: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ｍ</a:t>
            </a:r>
            <a:r>
              <a:rPr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BTO</a:t>
            </a:r>
            <a:r>
              <a:rPr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カスタム用 </a:t>
            </a:r>
            <a:r>
              <a:rPr lang="ja-JP" altLang="en-US" sz="9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ロゴシール対応</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角丸四角形 57">
            <a:extLst>
              <a:ext uri="{FF2B5EF4-FFF2-40B4-BE49-F238E27FC236}">
                <a16:creationId xmlns:a16="http://schemas.microsoft.com/office/drawing/2014/main" id="{F5242C71-C911-4D2D-B6F7-60624BFD20AB}"/>
              </a:ext>
            </a:extLst>
          </p:cNvPr>
          <p:cNvSpPr/>
          <p:nvPr/>
        </p:nvSpPr>
        <p:spPr>
          <a:xfrm>
            <a:off x="1412755" y="2101896"/>
            <a:ext cx="1431053" cy="23443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MSI E360</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V1</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WH/BK</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テキスト ボックス 21">
            <a:extLst>
              <a:ext uri="{FF2B5EF4-FFF2-40B4-BE49-F238E27FC236}">
                <a16:creationId xmlns:a16="http://schemas.microsoft.com/office/drawing/2014/main" id="{344A6A5A-F744-4BB7-92FB-25976FFD1FBA}"/>
              </a:ext>
            </a:extLst>
          </p:cNvPr>
          <p:cNvSpPr txBox="1"/>
          <p:nvPr/>
        </p:nvSpPr>
        <p:spPr>
          <a:xfrm>
            <a:off x="2668508" y="3664902"/>
            <a:ext cx="638632" cy="230832"/>
          </a:xfrm>
          <a:prstGeom prst="rect">
            <a:avLst/>
          </a:prstGeom>
          <a:solidFill>
            <a:schemeClr val="tx1"/>
          </a:solidFill>
        </p:spPr>
        <p:txBody>
          <a:bodyPr wrap="square" rtlCol="0">
            <a:spAutoFit/>
          </a:bodyPr>
          <a:lstStyle/>
          <a:p>
            <a:r>
              <a:rPr kumimoji="1" lang="ja-JP" altLang="en-US" sz="900" i="1" dirty="0">
                <a:solidFill>
                  <a:srgbClr val="FF0000"/>
                </a:solidFill>
              </a:rPr>
              <a:t>在庫限り</a:t>
            </a:r>
          </a:p>
        </p:txBody>
      </p:sp>
      <p:sp>
        <p:nvSpPr>
          <p:cNvPr id="23" name="テキスト ボックス 22">
            <a:extLst>
              <a:ext uri="{FF2B5EF4-FFF2-40B4-BE49-F238E27FC236}">
                <a16:creationId xmlns:a16="http://schemas.microsoft.com/office/drawing/2014/main" id="{2A49E771-0A2F-4E1D-964B-844ACDBA49FD}"/>
              </a:ext>
            </a:extLst>
          </p:cNvPr>
          <p:cNvSpPr txBox="1"/>
          <p:nvPr/>
        </p:nvSpPr>
        <p:spPr>
          <a:xfrm>
            <a:off x="2668528" y="2124894"/>
            <a:ext cx="638632" cy="230832"/>
          </a:xfrm>
          <a:prstGeom prst="rect">
            <a:avLst/>
          </a:prstGeom>
          <a:solidFill>
            <a:schemeClr val="tx1"/>
          </a:solidFill>
        </p:spPr>
        <p:txBody>
          <a:bodyPr wrap="square" rtlCol="0">
            <a:spAutoFit/>
          </a:bodyPr>
          <a:lstStyle/>
          <a:p>
            <a:r>
              <a:rPr kumimoji="1" lang="ja-JP" altLang="en-US" sz="900" i="1" dirty="0">
                <a:solidFill>
                  <a:srgbClr val="FF0000"/>
                </a:solidFill>
              </a:rPr>
              <a:t>在庫限り</a:t>
            </a:r>
          </a:p>
        </p:txBody>
      </p:sp>
      <p:sp>
        <p:nvSpPr>
          <p:cNvPr id="25" name="角丸四角形 57">
            <a:extLst>
              <a:ext uri="{FF2B5EF4-FFF2-40B4-BE49-F238E27FC236}">
                <a16:creationId xmlns:a16="http://schemas.microsoft.com/office/drawing/2014/main" id="{D1B474CE-A762-45A5-B651-2BC12FBD9805}"/>
              </a:ext>
            </a:extLst>
          </p:cNvPr>
          <p:cNvSpPr/>
          <p:nvPr/>
        </p:nvSpPr>
        <p:spPr>
          <a:xfrm>
            <a:off x="5724128" y="4064701"/>
            <a:ext cx="3368724" cy="234437"/>
          </a:xfrm>
          <a:prstGeom prst="roundRect">
            <a:avLst/>
          </a:prstGeom>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DA240 V2 ARGB</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6" name="直線矢印コネクタ 25">
            <a:extLst>
              <a:ext uri="{FF2B5EF4-FFF2-40B4-BE49-F238E27FC236}">
                <a16:creationId xmlns:a16="http://schemas.microsoft.com/office/drawing/2014/main" id="{7C362247-E517-4176-A146-9F8FA99FF8DD}"/>
              </a:ext>
            </a:extLst>
          </p:cNvPr>
          <p:cNvCxnSpPr>
            <a:cxnSpLocks/>
          </p:cNvCxnSpPr>
          <p:nvPr/>
        </p:nvCxnSpPr>
        <p:spPr>
          <a:xfrm flipV="1">
            <a:off x="5251833" y="4188753"/>
            <a:ext cx="500109" cy="17195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78262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466948807"/>
              </p:ext>
            </p:extLst>
          </p:nvPr>
        </p:nvGraphicFramePr>
        <p:xfrm>
          <a:off x="35496" y="51466"/>
          <a:ext cx="9076955" cy="4896548"/>
        </p:xfrm>
        <a:graphic>
          <a:graphicData uri="http://schemas.openxmlformats.org/drawingml/2006/table">
            <a:tbl>
              <a:tblPr firstRow="1" bandRow="1">
                <a:tableStyleId>{5C22544A-7EE6-4342-B048-85BDC9FD1C3A}</a:tableStyleId>
              </a:tblPr>
              <a:tblGrid>
                <a:gridCol w="1368743">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34475">
                <a:tc>
                  <a:txBody>
                    <a:bodyPr/>
                    <a:lstStyle/>
                    <a:p>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CPUFAN</a:t>
                      </a:r>
                      <a:r>
                        <a:rPr kumimoji="1" lang="ja-JP" altLang="en-US"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3601">
                <a:tc>
                  <a:txBody>
                    <a:bodyPr/>
                    <a:lstStyle/>
                    <a:p>
                      <a:pPr algn="l"/>
                      <a:r>
                        <a:rPr kumimoji="1" lang="ja-JP" altLang="en-US"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ハイエンド</a:t>
                      </a:r>
                      <a:endPar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520280">
                <a:tc>
                  <a:txBody>
                    <a:bodyPr/>
                    <a:lstStyle/>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ミドル</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83879295"/>
                  </a:ext>
                </a:extLst>
              </a:tr>
              <a:tr h="1728192">
                <a:tc>
                  <a:txBody>
                    <a:bodyPr/>
                    <a:lstStyle/>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トップフロー</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52586798"/>
                  </a:ext>
                </a:extLst>
              </a:tr>
            </a:tbl>
          </a:graphicData>
        </a:graphic>
      </p:graphicFrame>
      <p:sp>
        <p:nvSpPr>
          <p:cNvPr id="32" name="角丸四角形 57">
            <a:extLst>
              <a:ext uri="{FF2B5EF4-FFF2-40B4-BE49-F238E27FC236}">
                <a16:creationId xmlns:a16="http://schemas.microsoft.com/office/drawing/2014/main" id="{3F441457-6F60-4FF7-A132-908A2F59BEC2}"/>
              </a:ext>
            </a:extLst>
          </p:cNvPr>
          <p:cNvSpPr/>
          <p:nvPr/>
        </p:nvSpPr>
        <p:spPr>
          <a:xfrm>
            <a:off x="1399954" y="4758799"/>
            <a:ext cx="7678686" cy="11971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NOCTUA NH-L9a-AM4/5 (AMD)</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R5,R3</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角丸四角形 57">
            <a:extLst>
              <a:ext uri="{FF2B5EF4-FFF2-40B4-BE49-F238E27FC236}">
                <a16:creationId xmlns:a16="http://schemas.microsoft.com/office/drawing/2014/main" id="{E84B0C1A-A91B-4561-A58B-D3DAB14CECA1}"/>
              </a:ext>
            </a:extLst>
          </p:cNvPr>
          <p:cNvSpPr/>
          <p:nvPr/>
        </p:nvSpPr>
        <p:spPr>
          <a:xfrm>
            <a:off x="1408673" y="2355886"/>
            <a:ext cx="7699831" cy="17658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NX4</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(LGA1700/1851/1954)</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i7,i5</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角丸四角形 57">
            <a:extLst>
              <a:ext uri="{FF2B5EF4-FFF2-40B4-BE49-F238E27FC236}">
                <a16:creationId xmlns:a16="http://schemas.microsoft.com/office/drawing/2014/main" id="{989C1A47-C59E-452D-B8EF-F1C369D12E66}"/>
              </a:ext>
            </a:extLst>
          </p:cNvPr>
          <p:cNvSpPr/>
          <p:nvPr/>
        </p:nvSpPr>
        <p:spPr>
          <a:xfrm>
            <a:off x="1399954" y="2968731"/>
            <a:ext cx="7696260" cy="17908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NX4 (AM4/AM5) </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R7,R5</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kumimoji="1" lang="en-US" altLang="ja-JP" sz="900" dirty="0">
              <a:solidFill>
                <a:schemeClr val="bg1">
                  <a:lumMod val="6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角丸四角形 57">
            <a:extLst>
              <a:ext uri="{FF2B5EF4-FFF2-40B4-BE49-F238E27FC236}">
                <a16:creationId xmlns:a16="http://schemas.microsoft.com/office/drawing/2014/main" id="{649DB07C-EC9C-4D89-ABA4-30A341F2CDE7}"/>
              </a:ext>
            </a:extLst>
          </p:cNvPr>
          <p:cNvSpPr/>
          <p:nvPr/>
        </p:nvSpPr>
        <p:spPr>
          <a:xfrm>
            <a:off x="5940152" y="483518"/>
            <a:ext cx="3156063" cy="125805"/>
          </a:xfrm>
          <a:prstGeom prst="roundRect">
            <a:avLst/>
          </a:prstGeom>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Scythe</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無限以上相当製品</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5" name="直線コネクタ 64">
            <a:extLst>
              <a:ext uri="{FF2B5EF4-FFF2-40B4-BE49-F238E27FC236}">
                <a16:creationId xmlns:a16="http://schemas.microsoft.com/office/drawing/2014/main" id="{65560AED-0B0C-405F-8C35-D956B005E811}"/>
              </a:ext>
            </a:extLst>
          </p:cNvPr>
          <p:cNvCxnSpPr>
            <a:cxnSpLocks/>
          </p:cNvCxnSpPr>
          <p:nvPr/>
        </p:nvCxnSpPr>
        <p:spPr>
          <a:xfrm>
            <a:off x="700651" y="2643758"/>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4B7AB611-9AA1-4DCA-8EED-2B6ADB012BB9}"/>
              </a:ext>
            </a:extLst>
          </p:cNvPr>
          <p:cNvCxnSpPr>
            <a:cxnSpLocks/>
          </p:cNvCxnSpPr>
          <p:nvPr/>
        </p:nvCxnSpPr>
        <p:spPr>
          <a:xfrm>
            <a:off x="707574" y="2067694"/>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3" name="テキスト ボックス 2">
            <a:extLst>
              <a:ext uri="{FF2B5EF4-FFF2-40B4-BE49-F238E27FC236}">
                <a16:creationId xmlns:a16="http://schemas.microsoft.com/office/drawing/2014/main" id="{E22929C1-373C-4348-9ACB-A9EC7B7E5DF7}"/>
              </a:ext>
            </a:extLst>
          </p:cNvPr>
          <p:cNvSpPr txBox="1"/>
          <p:nvPr/>
        </p:nvSpPr>
        <p:spPr>
          <a:xfrm>
            <a:off x="549395" y="2211710"/>
            <a:ext cx="995557" cy="246221"/>
          </a:xfrm>
          <a:prstGeom prst="rect">
            <a:avLst/>
          </a:prstGeom>
          <a:noFill/>
        </p:spPr>
        <p:txBody>
          <a:bodyPr wrap="square" rtlCol="0">
            <a:spAutoFit/>
          </a:bodyPr>
          <a:lstStyle/>
          <a:p>
            <a:r>
              <a:rPr kumimoji="1" lang="en-US" altLang="ja-JP" sz="1000" dirty="0"/>
              <a:t>Intel</a:t>
            </a:r>
            <a:r>
              <a:rPr kumimoji="1" lang="ja-JP" altLang="en-US" sz="1000" dirty="0"/>
              <a:t>標準採用</a:t>
            </a:r>
          </a:p>
        </p:txBody>
      </p:sp>
      <p:sp>
        <p:nvSpPr>
          <p:cNvPr id="70" name="テキスト ボックス 69">
            <a:extLst>
              <a:ext uri="{FF2B5EF4-FFF2-40B4-BE49-F238E27FC236}">
                <a16:creationId xmlns:a16="http://schemas.microsoft.com/office/drawing/2014/main" id="{9B809BB5-D8EE-4F23-BF71-40C310F5BE4F}"/>
              </a:ext>
            </a:extLst>
          </p:cNvPr>
          <p:cNvSpPr txBox="1"/>
          <p:nvPr/>
        </p:nvSpPr>
        <p:spPr>
          <a:xfrm>
            <a:off x="540858" y="2808730"/>
            <a:ext cx="995557" cy="246221"/>
          </a:xfrm>
          <a:prstGeom prst="rect">
            <a:avLst/>
          </a:prstGeom>
          <a:noFill/>
        </p:spPr>
        <p:txBody>
          <a:bodyPr wrap="square" rtlCol="0">
            <a:spAutoFit/>
          </a:bodyPr>
          <a:lstStyle/>
          <a:p>
            <a:r>
              <a:rPr kumimoji="1" lang="en-US" altLang="ja-JP" sz="1000" dirty="0"/>
              <a:t>AMD</a:t>
            </a:r>
            <a:r>
              <a:rPr kumimoji="1" lang="ja-JP" altLang="en-US" sz="1000" dirty="0"/>
              <a:t>標準採用</a:t>
            </a:r>
          </a:p>
        </p:txBody>
      </p:sp>
      <p:sp>
        <p:nvSpPr>
          <p:cNvPr id="72" name="テキスト ボックス 71">
            <a:extLst>
              <a:ext uri="{FF2B5EF4-FFF2-40B4-BE49-F238E27FC236}">
                <a16:creationId xmlns:a16="http://schemas.microsoft.com/office/drawing/2014/main" id="{2AD011F8-2AF1-4810-9B43-4D2D3E1620A8}"/>
              </a:ext>
            </a:extLst>
          </p:cNvPr>
          <p:cNvSpPr txBox="1"/>
          <p:nvPr/>
        </p:nvSpPr>
        <p:spPr>
          <a:xfrm>
            <a:off x="680547" y="1355839"/>
            <a:ext cx="837184" cy="369332"/>
          </a:xfrm>
          <a:prstGeom prst="rect">
            <a:avLst/>
          </a:prstGeom>
          <a:noFill/>
        </p:spPr>
        <p:txBody>
          <a:bodyPr wrap="square" rtlCol="0">
            <a:spAutoFit/>
          </a:bodyPr>
          <a:lstStyle/>
          <a:p>
            <a:r>
              <a:rPr kumimoji="1" lang="en-US" altLang="ja-JP" sz="1000" dirty="0"/>
              <a:t>Intel/AMD</a:t>
            </a:r>
          </a:p>
          <a:p>
            <a:r>
              <a:rPr lang="ja-JP" altLang="en-US" sz="800" dirty="0"/>
              <a:t>カスタム含む</a:t>
            </a:r>
            <a:endParaRPr kumimoji="1" lang="ja-JP" altLang="en-US" sz="800" dirty="0"/>
          </a:p>
        </p:txBody>
      </p:sp>
      <p:sp>
        <p:nvSpPr>
          <p:cNvPr id="73" name="テキスト ボックス 72">
            <a:extLst>
              <a:ext uri="{FF2B5EF4-FFF2-40B4-BE49-F238E27FC236}">
                <a16:creationId xmlns:a16="http://schemas.microsoft.com/office/drawing/2014/main" id="{79597D5D-E08E-4A0D-B83F-61E370C3DB15}"/>
              </a:ext>
            </a:extLst>
          </p:cNvPr>
          <p:cNvSpPr txBox="1"/>
          <p:nvPr/>
        </p:nvSpPr>
        <p:spPr>
          <a:xfrm>
            <a:off x="700651" y="359584"/>
            <a:ext cx="837184" cy="400110"/>
          </a:xfrm>
          <a:prstGeom prst="rect">
            <a:avLst/>
          </a:prstGeom>
          <a:noFill/>
        </p:spPr>
        <p:txBody>
          <a:bodyPr wrap="square" rtlCol="0">
            <a:spAutoFit/>
          </a:bodyPr>
          <a:lstStyle/>
          <a:p>
            <a:r>
              <a:rPr kumimoji="1" lang="en-US" altLang="ja-JP" sz="1000" dirty="0"/>
              <a:t>Intel/AMD</a:t>
            </a:r>
          </a:p>
          <a:p>
            <a:r>
              <a:rPr lang="ja-JP" altLang="en-US" sz="1000" dirty="0"/>
              <a:t>カスタム</a:t>
            </a:r>
            <a:endParaRPr kumimoji="1" lang="ja-JP" altLang="en-US" sz="1000" dirty="0"/>
          </a:p>
        </p:txBody>
      </p:sp>
      <p:sp>
        <p:nvSpPr>
          <p:cNvPr id="74" name="テキスト ボックス 73">
            <a:extLst>
              <a:ext uri="{FF2B5EF4-FFF2-40B4-BE49-F238E27FC236}">
                <a16:creationId xmlns:a16="http://schemas.microsoft.com/office/drawing/2014/main" id="{639B6635-1E37-42C6-B03D-5A24AE147C33}"/>
              </a:ext>
            </a:extLst>
          </p:cNvPr>
          <p:cNvSpPr txBox="1"/>
          <p:nvPr/>
        </p:nvSpPr>
        <p:spPr>
          <a:xfrm>
            <a:off x="707768" y="3291830"/>
            <a:ext cx="837184" cy="369332"/>
          </a:xfrm>
          <a:prstGeom prst="rect">
            <a:avLst/>
          </a:prstGeom>
          <a:noFill/>
        </p:spPr>
        <p:txBody>
          <a:bodyPr wrap="square" rtlCol="0">
            <a:spAutoFit/>
          </a:bodyPr>
          <a:lstStyle/>
          <a:p>
            <a:r>
              <a:rPr kumimoji="1" lang="en-US" altLang="ja-JP" sz="1000" dirty="0"/>
              <a:t>Intel/AMD</a:t>
            </a:r>
          </a:p>
          <a:p>
            <a:r>
              <a:rPr lang="ja-JP" altLang="en-US" sz="800" dirty="0"/>
              <a:t>カスタム含む</a:t>
            </a:r>
            <a:endParaRPr kumimoji="1" lang="ja-JP" altLang="en-US" sz="800" dirty="0"/>
          </a:p>
        </p:txBody>
      </p:sp>
      <p:sp>
        <p:nvSpPr>
          <p:cNvPr id="76" name="テキスト ボックス 75">
            <a:extLst>
              <a:ext uri="{FF2B5EF4-FFF2-40B4-BE49-F238E27FC236}">
                <a16:creationId xmlns:a16="http://schemas.microsoft.com/office/drawing/2014/main" id="{20A9B6C4-5B56-4926-823B-10169E6B592F}"/>
              </a:ext>
            </a:extLst>
          </p:cNvPr>
          <p:cNvSpPr txBox="1"/>
          <p:nvPr/>
        </p:nvSpPr>
        <p:spPr>
          <a:xfrm>
            <a:off x="561927" y="3740946"/>
            <a:ext cx="953418" cy="246221"/>
          </a:xfrm>
          <a:prstGeom prst="rect">
            <a:avLst/>
          </a:prstGeom>
          <a:noFill/>
        </p:spPr>
        <p:txBody>
          <a:bodyPr wrap="square" rtlCol="0">
            <a:spAutoFit/>
          </a:bodyPr>
          <a:lstStyle/>
          <a:p>
            <a:r>
              <a:rPr kumimoji="1" lang="en-US" altLang="ja-JP" sz="1000" dirty="0"/>
              <a:t>Intel</a:t>
            </a:r>
            <a:r>
              <a:rPr kumimoji="1" lang="ja-JP" altLang="en-US" sz="1000" dirty="0"/>
              <a:t>標準採用</a:t>
            </a:r>
          </a:p>
        </p:txBody>
      </p:sp>
      <p:sp>
        <p:nvSpPr>
          <p:cNvPr id="79" name="角丸四角形 57">
            <a:extLst>
              <a:ext uri="{FF2B5EF4-FFF2-40B4-BE49-F238E27FC236}">
                <a16:creationId xmlns:a16="http://schemas.microsoft.com/office/drawing/2014/main" id="{A768CB59-65D9-4E51-AD14-B82B0BBD2820}"/>
              </a:ext>
            </a:extLst>
          </p:cNvPr>
          <p:cNvSpPr/>
          <p:nvPr/>
        </p:nvSpPr>
        <p:spPr>
          <a:xfrm>
            <a:off x="1399410" y="4587974"/>
            <a:ext cx="7679230" cy="117241"/>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NOCTUA NH-L9i-17xx (intel)</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U7,U5,i5,i3</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80" name="直線コネクタ 79">
            <a:extLst>
              <a:ext uri="{FF2B5EF4-FFF2-40B4-BE49-F238E27FC236}">
                <a16:creationId xmlns:a16="http://schemas.microsoft.com/office/drawing/2014/main" id="{469E4FE5-4B9C-4F89-9814-72DD73F95D48}"/>
              </a:ext>
            </a:extLst>
          </p:cNvPr>
          <p:cNvCxnSpPr>
            <a:cxnSpLocks/>
          </p:cNvCxnSpPr>
          <p:nvPr/>
        </p:nvCxnSpPr>
        <p:spPr>
          <a:xfrm>
            <a:off x="680547" y="3651870"/>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3014C54E-437D-4AD4-9968-3BB41B1FF47D}"/>
              </a:ext>
            </a:extLst>
          </p:cNvPr>
          <p:cNvCxnSpPr>
            <a:cxnSpLocks/>
          </p:cNvCxnSpPr>
          <p:nvPr/>
        </p:nvCxnSpPr>
        <p:spPr>
          <a:xfrm>
            <a:off x="680547" y="4155926"/>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82" name="テキスト ボックス 81">
            <a:extLst>
              <a:ext uri="{FF2B5EF4-FFF2-40B4-BE49-F238E27FC236}">
                <a16:creationId xmlns:a16="http://schemas.microsoft.com/office/drawing/2014/main" id="{2767614E-7E82-4C78-AC10-1D2B07316B0D}"/>
              </a:ext>
            </a:extLst>
          </p:cNvPr>
          <p:cNvSpPr txBox="1"/>
          <p:nvPr/>
        </p:nvSpPr>
        <p:spPr>
          <a:xfrm>
            <a:off x="700651" y="3891832"/>
            <a:ext cx="768060" cy="215444"/>
          </a:xfrm>
          <a:prstGeom prst="rect">
            <a:avLst/>
          </a:prstGeom>
          <a:noFill/>
        </p:spPr>
        <p:txBody>
          <a:bodyPr wrap="square" rtlCol="0">
            <a:spAutoFit/>
          </a:bodyPr>
          <a:lstStyle/>
          <a:p>
            <a:r>
              <a:rPr kumimoji="1" lang="ja-JP" altLang="en-US" sz="800" dirty="0"/>
              <a:t>タワー</a:t>
            </a:r>
            <a:r>
              <a:rPr kumimoji="1" lang="en-US" altLang="ja-JP" sz="800" dirty="0"/>
              <a:t>/</a:t>
            </a:r>
            <a:r>
              <a:rPr kumimoji="1" lang="ja-JP" altLang="en-US" sz="800" dirty="0"/>
              <a:t>スリム</a:t>
            </a:r>
          </a:p>
        </p:txBody>
      </p:sp>
      <p:sp>
        <p:nvSpPr>
          <p:cNvPr id="84" name="テキスト ボックス 83">
            <a:extLst>
              <a:ext uri="{FF2B5EF4-FFF2-40B4-BE49-F238E27FC236}">
                <a16:creationId xmlns:a16="http://schemas.microsoft.com/office/drawing/2014/main" id="{5BCBD662-93B3-4217-860B-8901F267B412}"/>
              </a:ext>
            </a:extLst>
          </p:cNvPr>
          <p:cNvSpPr txBox="1"/>
          <p:nvPr/>
        </p:nvSpPr>
        <p:spPr>
          <a:xfrm>
            <a:off x="987315" y="4574305"/>
            <a:ext cx="557637" cy="338554"/>
          </a:xfrm>
          <a:prstGeom prst="rect">
            <a:avLst/>
          </a:prstGeom>
          <a:noFill/>
        </p:spPr>
        <p:txBody>
          <a:bodyPr wrap="square" rtlCol="0">
            <a:spAutoFit/>
          </a:bodyPr>
          <a:lstStyle/>
          <a:p>
            <a:r>
              <a:rPr kumimoji="1" lang="ja-JP" altLang="en-US" sz="800" dirty="0"/>
              <a:t>スリム</a:t>
            </a:r>
            <a:endParaRPr kumimoji="1" lang="en-US" altLang="ja-JP" sz="800" dirty="0"/>
          </a:p>
          <a:p>
            <a:r>
              <a:rPr kumimoji="1" lang="en-US" altLang="ja-JP" sz="800" dirty="0"/>
              <a:t>mini</a:t>
            </a:r>
            <a:endParaRPr kumimoji="1" lang="ja-JP" altLang="en-US" sz="800" dirty="0"/>
          </a:p>
        </p:txBody>
      </p:sp>
      <p:sp>
        <p:nvSpPr>
          <p:cNvPr id="43" name="角丸四角形 57">
            <a:extLst>
              <a:ext uri="{FF2B5EF4-FFF2-40B4-BE49-F238E27FC236}">
                <a16:creationId xmlns:a16="http://schemas.microsoft.com/office/drawing/2014/main" id="{6E056FB5-6FFA-47B6-9AB9-CDC2BA0DC827}"/>
              </a:ext>
            </a:extLst>
          </p:cNvPr>
          <p:cNvSpPr/>
          <p:nvPr/>
        </p:nvSpPr>
        <p:spPr>
          <a:xfrm>
            <a:off x="1406436" y="3919407"/>
            <a:ext cx="7683179" cy="14928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R95S-I (LGA1700/1851/1954)</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i9T,i7T,i5,i3&amp;U</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57">
            <a:extLst>
              <a:ext uri="{FF2B5EF4-FFF2-40B4-BE49-F238E27FC236}">
                <a16:creationId xmlns:a16="http://schemas.microsoft.com/office/drawing/2014/main" id="{3788AFB0-BEB8-4CCF-BCF7-EA5A24332CD4}"/>
              </a:ext>
            </a:extLst>
          </p:cNvPr>
          <p:cNvSpPr/>
          <p:nvPr/>
        </p:nvSpPr>
        <p:spPr>
          <a:xfrm>
            <a:off x="1393743" y="1851830"/>
            <a:ext cx="7705281" cy="143856"/>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R400 9cm</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サイドフロー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(Intel/AMD)</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for CPS</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バックサイド</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FAN</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設置</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Ver </a:t>
            </a:r>
            <a:r>
              <a:rPr lang="en-US" altLang="ja-JP" sz="9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i7/U7/</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R7</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57">
            <a:extLst>
              <a:ext uri="{FF2B5EF4-FFF2-40B4-BE49-F238E27FC236}">
                <a16:creationId xmlns:a16="http://schemas.microsoft.com/office/drawing/2014/main" id="{89F3EBBF-AE16-44E7-B69B-D322768EFAEB}"/>
              </a:ext>
            </a:extLst>
          </p:cNvPr>
          <p:cNvSpPr/>
          <p:nvPr/>
        </p:nvSpPr>
        <p:spPr>
          <a:xfrm>
            <a:off x="1406438" y="764963"/>
            <a:ext cx="7683176" cy="15060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Noctua</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NH-U12S REDUX (GALLERIA CREATOR</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向け</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4" name="角丸四角形 57">
            <a:extLst>
              <a:ext uri="{FF2B5EF4-FFF2-40B4-BE49-F238E27FC236}">
                <a16:creationId xmlns:a16="http://schemas.microsoft.com/office/drawing/2014/main" id="{C9807163-6413-41AD-897E-130C053EFA66}"/>
              </a:ext>
            </a:extLst>
          </p:cNvPr>
          <p:cNvSpPr/>
          <p:nvPr/>
        </p:nvSpPr>
        <p:spPr>
          <a:xfrm>
            <a:off x="1423092" y="1356768"/>
            <a:ext cx="7683176" cy="15472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K6 BK</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(Intel/AMD)</a:t>
            </a:r>
          </a:p>
        </p:txBody>
      </p:sp>
      <p:sp>
        <p:nvSpPr>
          <p:cNvPr id="48" name="角丸四角形 57">
            <a:extLst>
              <a:ext uri="{FF2B5EF4-FFF2-40B4-BE49-F238E27FC236}">
                <a16:creationId xmlns:a16="http://schemas.microsoft.com/office/drawing/2014/main" id="{8BBC55C9-FFBF-44B2-8524-A9E099B65A30}"/>
              </a:ext>
            </a:extLst>
          </p:cNvPr>
          <p:cNvSpPr/>
          <p:nvPr/>
        </p:nvSpPr>
        <p:spPr>
          <a:xfrm>
            <a:off x="1423092" y="1162531"/>
            <a:ext cx="7683175" cy="156646"/>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K6 WH</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(Intel/AMD) </a:t>
            </a:r>
            <a:r>
              <a:rPr lang="en-US" altLang="ja-JP" sz="900" dirty="0" err="1">
                <a:latin typeface="Meiryo UI" panose="020B0604030504040204" pitchFamily="50" charset="-128"/>
                <a:ea typeface="Meiryo UI" panose="020B0604030504040204" pitchFamily="50" charset="-128"/>
                <a:cs typeface="Meiryo UI" panose="020B0604030504040204" pitchFamily="50" charset="-128"/>
              </a:rPr>
              <a:t>nonARGB</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WH</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ARGB</a:t>
            </a:r>
          </a:p>
        </p:txBody>
      </p:sp>
      <p:sp>
        <p:nvSpPr>
          <p:cNvPr id="75" name="角丸四角形 57">
            <a:extLst>
              <a:ext uri="{FF2B5EF4-FFF2-40B4-BE49-F238E27FC236}">
                <a16:creationId xmlns:a16="http://schemas.microsoft.com/office/drawing/2014/main" id="{023BBFEE-78AB-4847-9127-8AA54DE17154}"/>
              </a:ext>
            </a:extLst>
          </p:cNvPr>
          <p:cNvSpPr/>
          <p:nvPr/>
        </p:nvSpPr>
        <p:spPr>
          <a:xfrm>
            <a:off x="1423092" y="2753383"/>
            <a:ext cx="7668959" cy="178246"/>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FKI FKE4 (AM4/AM5)</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R7,R5</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角丸四角形 57">
            <a:extLst>
              <a:ext uri="{FF2B5EF4-FFF2-40B4-BE49-F238E27FC236}">
                <a16:creationId xmlns:a16="http://schemas.microsoft.com/office/drawing/2014/main" id="{25FADFB5-B173-4627-8552-A03B2127D4AF}"/>
              </a:ext>
            </a:extLst>
          </p:cNvPr>
          <p:cNvSpPr/>
          <p:nvPr/>
        </p:nvSpPr>
        <p:spPr>
          <a:xfrm>
            <a:off x="1406436" y="2139702"/>
            <a:ext cx="7699831" cy="176747"/>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FKI FKE4</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(LGA1700/1851/1954)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R7,R5</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kumimoji="1" lang="en-US" altLang="ja-JP" sz="900" b="1" dirty="0">
              <a:solidFill>
                <a:srgbClr val="FFC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角丸四角形 57">
            <a:extLst>
              <a:ext uri="{FF2B5EF4-FFF2-40B4-BE49-F238E27FC236}">
                <a16:creationId xmlns:a16="http://schemas.microsoft.com/office/drawing/2014/main" id="{639A85D8-E270-4B91-A3BC-5D7872757AEB}"/>
              </a:ext>
            </a:extLst>
          </p:cNvPr>
          <p:cNvSpPr/>
          <p:nvPr/>
        </p:nvSpPr>
        <p:spPr>
          <a:xfrm>
            <a:off x="1979712" y="3738652"/>
            <a:ext cx="7109902" cy="14944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FKI FKE9-2600C (LGA1700/1851/1954)</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i9T,i7T,i5,i3&amp;U</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8" name="テキスト ボックス 87">
            <a:extLst>
              <a:ext uri="{FF2B5EF4-FFF2-40B4-BE49-F238E27FC236}">
                <a16:creationId xmlns:a16="http://schemas.microsoft.com/office/drawing/2014/main" id="{A2584E25-4FF9-4924-A15F-D857EB575D3B}"/>
              </a:ext>
            </a:extLst>
          </p:cNvPr>
          <p:cNvSpPr txBox="1"/>
          <p:nvPr/>
        </p:nvSpPr>
        <p:spPr>
          <a:xfrm>
            <a:off x="8125272" y="2150036"/>
            <a:ext cx="909508" cy="35394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en-US" altLang="ja-JP" sz="800" i="1" dirty="0">
                <a:solidFill>
                  <a:schemeClr val="tx2"/>
                </a:solidFill>
              </a:rPr>
              <a:t>FKI</a:t>
            </a:r>
            <a:r>
              <a:rPr kumimoji="1" lang="ja-JP" altLang="en-US" sz="800" i="1" dirty="0">
                <a:solidFill>
                  <a:schemeClr val="tx2"/>
                </a:solidFill>
              </a:rPr>
              <a:t>＆</a:t>
            </a:r>
            <a:r>
              <a:rPr kumimoji="1" lang="en-US" altLang="ja-JP" sz="800" i="1" dirty="0">
                <a:solidFill>
                  <a:schemeClr val="tx2"/>
                </a:solidFill>
              </a:rPr>
              <a:t>FLU</a:t>
            </a:r>
          </a:p>
          <a:p>
            <a:r>
              <a:rPr kumimoji="1" lang="en-US" altLang="ja-JP" sz="900" i="1" dirty="0">
                <a:solidFill>
                  <a:schemeClr val="tx2"/>
                </a:solidFill>
              </a:rPr>
              <a:t>2</a:t>
            </a:r>
            <a:r>
              <a:rPr kumimoji="1" lang="ja-JP" altLang="en-US" sz="900" i="1" dirty="0">
                <a:solidFill>
                  <a:schemeClr val="tx2"/>
                </a:solidFill>
              </a:rPr>
              <a:t>重在庫</a:t>
            </a:r>
            <a:endParaRPr kumimoji="1" lang="en-US" altLang="ja-JP" sz="900" i="1" dirty="0">
              <a:solidFill>
                <a:schemeClr val="tx2"/>
              </a:solidFill>
            </a:endParaRPr>
          </a:p>
        </p:txBody>
      </p:sp>
      <p:sp>
        <p:nvSpPr>
          <p:cNvPr id="91" name="テキスト ボックス 90">
            <a:extLst>
              <a:ext uri="{FF2B5EF4-FFF2-40B4-BE49-F238E27FC236}">
                <a16:creationId xmlns:a16="http://schemas.microsoft.com/office/drawing/2014/main" id="{4BA4895D-5B5A-40B0-9A50-363A6FDD997C}"/>
              </a:ext>
            </a:extLst>
          </p:cNvPr>
          <p:cNvSpPr txBox="1"/>
          <p:nvPr/>
        </p:nvSpPr>
        <p:spPr>
          <a:xfrm>
            <a:off x="8120720" y="2778431"/>
            <a:ext cx="909508" cy="35394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en-US" altLang="ja-JP" sz="800" i="1" dirty="0">
                <a:solidFill>
                  <a:schemeClr val="tx2"/>
                </a:solidFill>
              </a:rPr>
              <a:t>FKI</a:t>
            </a:r>
            <a:r>
              <a:rPr kumimoji="1" lang="ja-JP" altLang="en-US" sz="800" i="1" dirty="0">
                <a:solidFill>
                  <a:schemeClr val="tx2"/>
                </a:solidFill>
              </a:rPr>
              <a:t>＆</a:t>
            </a:r>
            <a:r>
              <a:rPr kumimoji="1" lang="en-US" altLang="ja-JP" sz="800" i="1" dirty="0">
                <a:solidFill>
                  <a:schemeClr val="tx2"/>
                </a:solidFill>
              </a:rPr>
              <a:t>FLU</a:t>
            </a:r>
          </a:p>
          <a:p>
            <a:r>
              <a:rPr kumimoji="1" lang="en-US" altLang="ja-JP" sz="900" i="1" dirty="0">
                <a:solidFill>
                  <a:schemeClr val="tx2"/>
                </a:solidFill>
              </a:rPr>
              <a:t>2</a:t>
            </a:r>
            <a:r>
              <a:rPr kumimoji="1" lang="ja-JP" altLang="en-US" sz="900" i="1" dirty="0">
                <a:solidFill>
                  <a:schemeClr val="tx2"/>
                </a:solidFill>
              </a:rPr>
              <a:t>重在庫</a:t>
            </a:r>
            <a:endParaRPr kumimoji="1" lang="en-US" altLang="ja-JP" sz="900" i="1" dirty="0">
              <a:solidFill>
                <a:schemeClr val="tx2"/>
              </a:solidFill>
            </a:endParaRPr>
          </a:p>
        </p:txBody>
      </p:sp>
      <p:sp>
        <p:nvSpPr>
          <p:cNvPr id="92" name="テキスト ボックス 91">
            <a:extLst>
              <a:ext uri="{FF2B5EF4-FFF2-40B4-BE49-F238E27FC236}">
                <a16:creationId xmlns:a16="http://schemas.microsoft.com/office/drawing/2014/main" id="{F61CCA6B-5219-402F-9351-5CC6EED23730}"/>
              </a:ext>
            </a:extLst>
          </p:cNvPr>
          <p:cNvSpPr txBox="1"/>
          <p:nvPr/>
        </p:nvSpPr>
        <p:spPr>
          <a:xfrm>
            <a:off x="8128215" y="3729975"/>
            <a:ext cx="909508" cy="35394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en-US" altLang="ja-JP" sz="800" i="1" dirty="0">
                <a:solidFill>
                  <a:schemeClr val="tx2"/>
                </a:solidFill>
              </a:rPr>
              <a:t>FKI</a:t>
            </a:r>
            <a:r>
              <a:rPr kumimoji="1" lang="ja-JP" altLang="en-US" sz="800" i="1" dirty="0">
                <a:solidFill>
                  <a:schemeClr val="tx2"/>
                </a:solidFill>
              </a:rPr>
              <a:t>＆</a:t>
            </a:r>
            <a:r>
              <a:rPr kumimoji="1" lang="en-US" altLang="ja-JP" sz="800" i="1" dirty="0">
                <a:solidFill>
                  <a:schemeClr val="tx2"/>
                </a:solidFill>
              </a:rPr>
              <a:t>FLU</a:t>
            </a:r>
          </a:p>
          <a:p>
            <a:r>
              <a:rPr kumimoji="1" lang="en-US" altLang="ja-JP" sz="900" i="1" dirty="0">
                <a:solidFill>
                  <a:schemeClr val="tx2"/>
                </a:solidFill>
              </a:rPr>
              <a:t>2</a:t>
            </a:r>
            <a:r>
              <a:rPr kumimoji="1" lang="ja-JP" altLang="en-US" sz="900" i="1" dirty="0">
                <a:solidFill>
                  <a:schemeClr val="tx2"/>
                </a:solidFill>
              </a:rPr>
              <a:t>重在庫</a:t>
            </a:r>
            <a:endParaRPr kumimoji="1" lang="en-US" altLang="ja-JP" sz="900" i="1" dirty="0">
              <a:solidFill>
                <a:schemeClr val="tx2"/>
              </a:solidFill>
            </a:endParaRPr>
          </a:p>
        </p:txBody>
      </p:sp>
      <p:sp>
        <p:nvSpPr>
          <p:cNvPr id="2" name="スライド番号プレースホルダー 1">
            <a:extLst>
              <a:ext uri="{FF2B5EF4-FFF2-40B4-BE49-F238E27FC236}">
                <a16:creationId xmlns:a16="http://schemas.microsoft.com/office/drawing/2014/main" id="{D1542F5D-0CD5-4BC1-916B-E6B5D62B8A97}"/>
              </a:ext>
            </a:extLst>
          </p:cNvPr>
          <p:cNvSpPr>
            <a:spLocks noGrp="1"/>
          </p:cNvSpPr>
          <p:nvPr>
            <p:ph type="sldNum" sz="quarter" idx="12"/>
          </p:nvPr>
        </p:nvSpPr>
        <p:spPr/>
        <p:txBody>
          <a:bodyPr/>
          <a:lstStyle/>
          <a:p>
            <a:fld id="{F9DFCEB9-CAE4-4F3C-93D0-85C4724A0355}" type="slidenum">
              <a:rPr kumimoji="1" lang="ja-JP" altLang="en-US" smtClean="0"/>
              <a:t>28</a:t>
            </a:fld>
            <a:endParaRPr kumimoji="1" lang="ja-JP" altLang="en-US" dirty="0"/>
          </a:p>
        </p:txBody>
      </p:sp>
      <p:sp>
        <p:nvSpPr>
          <p:cNvPr id="55" name="角丸四角形 57">
            <a:extLst>
              <a:ext uri="{FF2B5EF4-FFF2-40B4-BE49-F238E27FC236}">
                <a16:creationId xmlns:a16="http://schemas.microsoft.com/office/drawing/2014/main" id="{AD415B0A-9677-42BB-8F13-599834666A54}"/>
              </a:ext>
            </a:extLst>
          </p:cNvPr>
          <p:cNvSpPr/>
          <p:nvPr/>
        </p:nvSpPr>
        <p:spPr>
          <a:xfrm>
            <a:off x="1393743" y="3291830"/>
            <a:ext cx="7684897" cy="150551"/>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Fluence RC600-67</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(intel/AMD)</a:t>
            </a: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for CPS/A520Mwith5700X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i7/U7/</a:t>
            </a:r>
            <a:r>
              <a:rPr lang="en-US" altLang="ja-JP"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R7</a:t>
            </a:r>
            <a:r>
              <a:rPr lang="ja-JP" altLang="en-US" sz="9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角丸四角形 57">
            <a:extLst>
              <a:ext uri="{FF2B5EF4-FFF2-40B4-BE49-F238E27FC236}">
                <a16:creationId xmlns:a16="http://schemas.microsoft.com/office/drawing/2014/main" id="{475FD6CE-E643-47B0-A916-0F194E9A77E2}"/>
              </a:ext>
            </a:extLst>
          </p:cNvPr>
          <p:cNvSpPr/>
          <p:nvPr/>
        </p:nvSpPr>
        <p:spPr>
          <a:xfrm>
            <a:off x="5952961" y="3481610"/>
            <a:ext cx="3130443" cy="118946"/>
          </a:xfrm>
          <a:prstGeom prst="roundRect">
            <a:avLst/>
          </a:prstGeom>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新トップフロー </a:t>
            </a:r>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ARGB</a:t>
            </a:r>
          </a:p>
        </p:txBody>
      </p:sp>
      <p:sp>
        <p:nvSpPr>
          <p:cNvPr id="46" name="角丸四角形 57">
            <a:extLst>
              <a:ext uri="{FF2B5EF4-FFF2-40B4-BE49-F238E27FC236}">
                <a16:creationId xmlns:a16="http://schemas.microsoft.com/office/drawing/2014/main" id="{106891AF-B30A-476C-BD03-89E59A2A15A8}"/>
              </a:ext>
            </a:extLst>
          </p:cNvPr>
          <p:cNvSpPr/>
          <p:nvPr/>
        </p:nvSpPr>
        <p:spPr>
          <a:xfrm>
            <a:off x="1608700" y="1660491"/>
            <a:ext cx="7469940" cy="14979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rPr>
              <a:t>Scythe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虎徹</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4</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(Intel/AMD)</a:t>
            </a:r>
          </a:p>
        </p:txBody>
      </p:sp>
      <p:sp>
        <p:nvSpPr>
          <p:cNvPr id="50" name="角丸四角形 57">
            <a:extLst>
              <a:ext uri="{FF2B5EF4-FFF2-40B4-BE49-F238E27FC236}">
                <a16:creationId xmlns:a16="http://schemas.microsoft.com/office/drawing/2014/main" id="{01B18417-7AE1-4BCC-95B0-9D487B249975}"/>
              </a:ext>
            </a:extLst>
          </p:cNvPr>
          <p:cNvSpPr/>
          <p:nvPr/>
        </p:nvSpPr>
        <p:spPr>
          <a:xfrm>
            <a:off x="3995936" y="4284136"/>
            <a:ext cx="5093677" cy="13304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Fluence R98-A</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(AM4/AM5) for CK/CPS</a:t>
            </a:r>
            <a:endPar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57">
            <a:extLst>
              <a:ext uri="{FF2B5EF4-FFF2-40B4-BE49-F238E27FC236}">
                <a16:creationId xmlns:a16="http://schemas.microsoft.com/office/drawing/2014/main" id="{C9D67FCA-B295-4B7B-9732-06B7ABADFDF3}"/>
              </a:ext>
            </a:extLst>
          </p:cNvPr>
          <p:cNvSpPr/>
          <p:nvPr/>
        </p:nvSpPr>
        <p:spPr>
          <a:xfrm>
            <a:off x="6300192" y="987574"/>
            <a:ext cx="2789420" cy="124355"/>
          </a:xfrm>
          <a:prstGeom prst="roundRect">
            <a:avLst/>
          </a:prstGeom>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FLU RT500 TC</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latin typeface="Meiryo UI" panose="020B0604030504040204" pitchFamily="50" charset="-128"/>
                <a:ea typeface="Meiryo UI" panose="020B0604030504040204" pitchFamily="50" charset="-128"/>
                <a:cs typeface="Meiryo UI" panose="020B0604030504040204" pitchFamily="50" charset="-128"/>
              </a:rPr>
              <a:t>※K6</a:t>
            </a:r>
            <a:r>
              <a:rPr lang="ja-JP" altLang="en-US" sz="700" dirty="0">
                <a:latin typeface="Meiryo UI" panose="020B0604030504040204" pitchFamily="50" charset="-128"/>
                <a:ea typeface="Meiryo UI" panose="020B0604030504040204" pitchFamily="50" charset="-128"/>
                <a:cs typeface="Meiryo UI" panose="020B0604030504040204" pitchFamily="50" charset="-128"/>
              </a:rPr>
              <a:t>から切り替え</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5F8ED686-D454-46BB-948D-5518563A9EB9}"/>
              </a:ext>
            </a:extLst>
          </p:cNvPr>
          <p:cNvSpPr txBox="1"/>
          <p:nvPr/>
        </p:nvSpPr>
        <p:spPr>
          <a:xfrm>
            <a:off x="7214354" y="1139722"/>
            <a:ext cx="1881859"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ja-JP" altLang="en-US" sz="900" i="1" dirty="0">
                <a:solidFill>
                  <a:schemeClr val="tx2"/>
                </a:solidFill>
              </a:rPr>
              <a:t>在庫</a:t>
            </a:r>
            <a:r>
              <a:rPr lang="ja-JP" altLang="en-US" sz="900" i="1" dirty="0">
                <a:solidFill>
                  <a:schemeClr val="tx2"/>
                </a:solidFill>
              </a:rPr>
              <a:t>消化</a:t>
            </a:r>
            <a:r>
              <a:rPr kumimoji="1" lang="ja-JP" altLang="en-US" sz="900" i="1" dirty="0">
                <a:solidFill>
                  <a:schemeClr val="tx2"/>
                </a:solidFill>
              </a:rPr>
              <a:t>次第</a:t>
            </a:r>
            <a:endParaRPr kumimoji="1" lang="en-US" altLang="ja-JP" sz="900" i="1" dirty="0">
              <a:solidFill>
                <a:schemeClr val="tx2"/>
              </a:solidFill>
            </a:endParaRPr>
          </a:p>
          <a:p>
            <a:r>
              <a:rPr kumimoji="1" lang="en-US" altLang="ja-JP" sz="900" i="1" dirty="0">
                <a:solidFill>
                  <a:schemeClr val="tx2"/>
                </a:solidFill>
              </a:rPr>
              <a:t>RT500TC</a:t>
            </a:r>
            <a:r>
              <a:rPr kumimoji="1" lang="ja-JP" altLang="en-US" sz="900" i="1" dirty="0">
                <a:solidFill>
                  <a:schemeClr val="tx2"/>
                </a:solidFill>
              </a:rPr>
              <a:t>へ切り替え予定</a:t>
            </a:r>
            <a:endParaRPr kumimoji="1" lang="en-US" altLang="ja-JP" sz="900" i="1" dirty="0">
              <a:solidFill>
                <a:schemeClr val="tx2"/>
              </a:solidFill>
            </a:endParaRPr>
          </a:p>
        </p:txBody>
      </p:sp>
      <p:sp>
        <p:nvSpPr>
          <p:cNvPr id="38" name="テキスト ボックス 37">
            <a:extLst>
              <a:ext uri="{FF2B5EF4-FFF2-40B4-BE49-F238E27FC236}">
                <a16:creationId xmlns:a16="http://schemas.microsoft.com/office/drawing/2014/main" id="{B55515DE-5638-4E94-A71D-130E742361ED}"/>
              </a:ext>
            </a:extLst>
          </p:cNvPr>
          <p:cNvSpPr txBox="1"/>
          <p:nvPr/>
        </p:nvSpPr>
        <p:spPr>
          <a:xfrm>
            <a:off x="508889" y="4195717"/>
            <a:ext cx="953418" cy="246221"/>
          </a:xfrm>
          <a:prstGeom prst="rect">
            <a:avLst/>
          </a:prstGeom>
          <a:noFill/>
        </p:spPr>
        <p:txBody>
          <a:bodyPr wrap="square" rtlCol="0">
            <a:spAutoFit/>
          </a:bodyPr>
          <a:lstStyle/>
          <a:p>
            <a:r>
              <a:rPr kumimoji="1" lang="en-US" altLang="ja-JP" sz="1000" dirty="0"/>
              <a:t>AMD</a:t>
            </a:r>
            <a:r>
              <a:rPr kumimoji="1" lang="ja-JP" altLang="en-US" sz="1000" dirty="0"/>
              <a:t>標準採用</a:t>
            </a:r>
          </a:p>
        </p:txBody>
      </p:sp>
      <p:sp>
        <p:nvSpPr>
          <p:cNvPr id="39" name="テキスト ボックス 38">
            <a:extLst>
              <a:ext uri="{FF2B5EF4-FFF2-40B4-BE49-F238E27FC236}">
                <a16:creationId xmlns:a16="http://schemas.microsoft.com/office/drawing/2014/main" id="{19703EBC-5A12-4C0B-87CA-887736DBB156}"/>
              </a:ext>
            </a:extLst>
          </p:cNvPr>
          <p:cNvSpPr txBox="1"/>
          <p:nvPr/>
        </p:nvSpPr>
        <p:spPr>
          <a:xfrm>
            <a:off x="707574" y="4325320"/>
            <a:ext cx="768060" cy="215444"/>
          </a:xfrm>
          <a:prstGeom prst="rect">
            <a:avLst/>
          </a:prstGeom>
          <a:noFill/>
        </p:spPr>
        <p:txBody>
          <a:bodyPr wrap="square" rtlCol="0">
            <a:spAutoFit/>
          </a:bodyPr>
          <a:lstStyle/>
          <a:p>
            <a:r>
              <a:rPr kumimoji="1" lang="ja-JP" altLang="en-US" sz="800" dirty="0"/>
              <a:t>タワー</a:t>
            </a:r>
            <a:r>
              <a:rPr kumimoji="1" lang="en-US" altLang="ja-JP" sz="800" dirty="0"/>
              <a:t>/</a:t>
            </a:r>
            <a:r>
              <a:rPr kumimoji="1" lang="ja-JP" altLang="en-US" sz="800" dirty="0"/>
              <a:t>スリム</a:t>
            </a:r>
          </a:p>
        </p:txBody>
      </p:sp>
      <p:cxnSp>
        <p:nvCxnSpPr>
          <p:cNvPr id="40" name="直線コネクタ 39">
            <a:extLst>
              <a:ext uri="{FF2B5EF4-FFF2-40B4-BE49-F238E27FC236}">
                <a16:creationId xmlns:a16="http://schemas.microsoft.com/office/drawing/2014/main" id="{B0AE9506-A413-4440-94F0-A3CF132D417E}"/>
              </a:ext>
            </a:extLst>
          </p:cNvPr>
          <p:cNvCxnSpPr>
            <a:cxnSpLocks/>
          </p:cNvCxnSpPr>
          <p:nvPr/>
        </p:nvCxnSpPr>
        <p:spPr>
          <a:xfrm>
            <a:off x="673284" y="4540764"/>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41" name="角丸四角形 57">
            <a:extLst>
              <a:ext uri="{FF2B5EF4-FFF2-40B4-BE49-F238E27FC236}">
                <a16:creationId xmlns:a16="http://schemas.microsoft.com/office/drawing/2014/main" id="{8B23ED05-FBF3-4BAC-B2C0-EB09E02A986E}"/>
              </a:ext>
            </a:extLst>
          </p:cNvPr>
          <p:cNvSpPr/>
          <p:nvPr/>
        </p:nvSpPr>
        <p:spPr>
          <a:xfrm>
            <a:off x="5940152" y="1539063"/>
            <a:ext cx="3138488" cy="122930"/>
          </a:xfrm>
          <a:prstGeom prst="roundRect">
            <a:avLst/>
          </a:prstGeom>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9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TBD </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Scythe </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虎徹</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5</a:t>
            </a:r>
          </a:p>
        </p:txBody>
      </p:sp>
    </p:spTree>
    <p:extLst>
      <p:ext uri="{BB962C8B-B14F-4D97-AF65-F5344CB8AC3E}">
        <p14:creationId xmlns:p14="http://schemas.microsoft.com/office/powerpoint/2010/main" val="2189230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266714103"/>
              </p:ext>
            </p:extLst>
          </p:nvPr>
        </p:nvGraphicFramePr>
        <p:xfrm>
          <a:off x="35496" y="51469"/>
          <a:ext cx="9076955" cy="5068377"/>
        </p:xfrm>
        <a:graphic>
          <a:graphicData uri="http://schemas.openxmlformats.org/drawingml/2006/table">
            <a:tbl>
              <a:tblPr firstRow="1" bandRow="1">
                <a:tableStyleId>{5C22544A-7EE6-4342-B048-85BDC9FD1C3A}</a:tableStyleId>
              </a:tblPr>
              <a:tblGrid>
                <a:gridCol w="1368743">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15807">
                <a:tc>
                  <a:txBody>
                    <a:bodyPr/>
                    <a:lstStyle/>
                    <a:p>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CASE FAN</a:t>
                      </a:r>
                      <a:r>
                        <a:rPr kumimoji="1" lang="ja-JP" altLang="en-US"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effectLst/>
                          <a:latin typeface="Meiryo UI" panose="020B0604030504040204" pitchFamily="50" charset="-128"/>
                          <a:ea typeface="Meiryo UI" panose="020B0604030504040204" pitchFamily="50" charset="-128"/>
                          <a:cs typeface="Meiryo UI" panose="020B0604030504040204" pitchFamily="50" charset="-128"/>
                        </a:rPr>
                        <a:t>Lineup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88450">
                <a:tc>
                  <a:txBody>
                    <a:bodyPr/>
                    <a:lstStyle/>
                    <a:p>
                      <a:pPr algn="l"/>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14cm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232248">
                <a:tc>
                  <a:txBody>
                    <a:bodyPr/>
                    <a:lstStyle/>
                    <a:p>
                      <a:pPr algn="l"/>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12cm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83879295"/>
                  </a:ext>
                </a:extLst>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9cm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67834070"/>
                  </a:ext>
                </a:extLst>
              </a:tr>
              <a:tr h="144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8cm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44128305"/>
                  </a:ext>
                </a:extLst>
              </a:tr>
            </a:tbl>
          </a:graphicData>
        </a:graphic>
      </p:graphicFrame>
      <p:sp>
        <p:nvSpPr>
          <p:cNvPr id="17" name="角丸四角形 57">
            <a:extLst>
              <a:ext uri="{FF2B5EF4-FFF2-40B4-BE49-F238E27FC236}">
                <a16:creationId xmlns:a16="http://schemas.microsoft.com/office/drawing/2014/main" id="{45218950-4BE5-44AF-8F23-6959B76F9CF8}"/>
              </a:ext>
            </a:extLst>
          </p:cNvPr>
          <p:cNvSpPr/>
          <p:nvPr/>
        </p:nvSpPr>
        <p:spPr>
          <a:xfrm>
            <a:off x="1421734" y="4299942"/>
            <a:ext cx="6462634" cy="20005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SOLLERON DF1202512SEDN(</a:t>
            </a:r>
            <a:r>
              <a:rPr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3pin</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※LD</a:t>
            </a:r>
            <a:r>
              <a:rPr lang="ja-JP" altLang="en-US"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標準同品、</a:t>
            </a:r>
            <a:r>
              <a:rPr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EA/CPS/M01</a:t>
            </a:r>
            <a:r>
              <a:rPr lang="ja-JP" altLang="en-US"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前面用、</a:t>
            </a:r>
            <a:r>
              <a:rPr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X3/R05</a:t>
            </a:r>
            <a:r>
              <a:rPr lang="ja-JP" altLang="en-US"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前面天面用</a:t>
            </a:r>
            <a:endParaRPr kumimoji="1"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D9CE2798-4D65-4066-92BC-D6960A880EF8}"/>
              </a:ext>
            </a:extLst>
          </p:cNvPr>
          <p:cNvSpPr txBox="1"/>
          <p:nvPr/>
        </p:nvSpPr>
        <p:spPr>
          <a:xfrm>
            <a:off x="592503" y="2861269"/>
            <a:ext cx="837184" cy="400110"/>
          </a:xfrm>
          <a:prstGeom prst="rect">
            <a:avLst/>
          </a:prstGeom>
          <a:noFill/>
        </p:spPr>
        <p:txBody>
          <a:bodyPr wrap="square" rtlCol="0">
            <a:spAutoFit/>
          </a:bodyPr>
          <a:lstStyle/>
          <a:p>
            <a:r>
              <a:rPr kumimoji="1" lang="ja-JP" altLang="en-US" sz="1000" dirty="0"/>
              <a:t>主に</a:t>
            </a:r>
            <a:endParaRPr kumimoji="1" lang="en-US" altLang="ja-JP" sz="1000" dirty="0"/>
          </a:p>
          <a:p>
            <a:r>
              <a:rPr kumimoji="1" lang="ja-JP" altLang="en-US" sz="1000" dirty="0"/>
              <a:t>水冷用</a:t>
            </a:r>
          </a:p>
        </p:txBody>
      </p:sp>
      <p:sp>
        <p:nvSpPr>
          <p:cNvPr id="40" name="テキスト ボックス 39">
            <a:extLst>
              <a:ext uri="{FF2B5EF4-FFF2-40B4-BE49-F238E27FC236}">
                <a16:creationId xmlns:a16="http://schemas.microsoft.com/office/drawing/2014/main" id="{176C440D-6044-428E-A30E-95D6DA865482}"/>
              </a:ext>
            </a:extLst>
          </p:cNvPr>
          <p:cNvSpPr txBox="1"/>
          <p:nvPr/>
        </p:nvSpPr>
        <p:spPr>
          <a:xfrm>
            <a:off x="592503" y="3826641"/>
            <a:ext cx="837184" cy="400110"/>
          </a:xfrm>
          <a:prstGeom prst="rect">
            <a:avLst/>
          </a:prstGeom>
          <a:noFill/>
        </p:spPr>
        <p:txBody>
          <a:bodyPr wrap="square" rtlCol="0">
            <a:spAutoFit/>
          </a:bodyPr>
          <a:lstStyle/>
          <a:p>
            <a:r>
              <a:rPr kumimoji="1" lang="ja-JP" altLang="en-US" sz="1000" dirty="0"/>
              <a:t>主に</a:t>
            </a:r>
            <a:endParaRPr kumimoji="1" lang="en-US" altLang="ja-JP" sz="1000" dirty="0"/>
          </a:p>
          <a:p>
            <a:r>
              <a:rPr kumimoji="1" lang="ja-JP" altLang="en-US" sz="1000" dirty="0"/>
              <a:t>ケース用</a:t>
            </a:r>
          </a:p>
        </p:txBody>
      </p:sp>
      <p:cxnSp>
        <p:nvCxnSpPr>
          <p:cNvPr id="42" name="直線コネクタ 41">
            <a:extLst>
              <a:ext uri="{FF2B5EF4-FFF2-40B4-BE49-F238E27FC236}">
                <a16:creationId xmlns:a16="http://schemas.microsoft.com/office/drawing/2014/main" id="{CEDCB90F-DFA5-4590-A99E-E2855E0BFBD3}"/>
              </a:ext>
            </a:extLst>
          </p:cNvPr>
          <p:cNvCxnSpPr>
            <a:cxnSpLocks/>
          </p:cNvCxnSpPr>
          <p:nvPr/>
        </p:nvCxnSpPr>
        <p:spPr>
          <a:xfrm>
            <a:off x="693514" y="3363838"/>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43" name="テキスト ボックス 42">
            <a:extLst>
              <a:ext uri="{FF2B5EF4-FFF2-40B4-BE49-F238E27FC236}">
                <a16:creationId xmlns:a16="http://schemas.microsoft.com/office/drawing/2014/main" id="{0440D7B0-7236-4A8A-98B4-B602A0F6999B}"/>
              </a:ext>
            </a:extLst>
          </p:cNvPr>
          <p:cNvSpPr txBox="1"/>
          <p:nvPr/>
        </p:nvSpPr>
        <p:spPr>
          <a:xfrm>
            <a:off x="592503" y="874501"/>
            <a:ext cx="837184" cy="246221"/>
          </a:xfrm>
          <a:prstGeom prst="rect">
            <a:avLst/>
          </a:prstGeom>
          <a:noFill/>
        </p:spPr>
        <p:txBody>
          <a:bodyPr wrap="square" rtlCol="0">
            <a:spAutoFit/>
          </a:bodyPr>
          <a:lstStyle/>
          <a:p>
            <a:r>
              <a:rPr lang="ja-JP" altLang="en-US" sz="1000" dirty="0"/>
              <a:t>高速タイプ</a:t>
            </a:r>
            <a:endParaRPr kumimoji="1" lang="en-US" altLang="ja-JP" sz="1000" dirty="0"/>
          </a:p>
        </p:txBody>
      </p:sp>
      <p:sp>
        <p:nvSpPr>
          <p:cNvPr id="45" name="テキスト ボックス 44">
            <a:extLst>
              <a:ext uri="{FF2B5EF4-FFF2-40B4-BE49-F238E27FC236}">
                <a16:creationId xmlns:a16="http://schemas.microsoft.com/office/drawing/2014/main" id="{B521D0C9-9518-462A-BC06-AE608EB819B5}"/>
              </a:ext>
            </a:extLst>
          </p:cNvPr>
          <p:cNvSpPr txBox="1"/>
          <p:nvPr/>
        </p:nvSpPr>
        <p:spPr>
          <a:xfrm>
            <a:off x="550485" y="1813088"/>
            <a:ext cx="921219" cy="246221"/>
          </a:xfrm>
          <a:prstGeom prst="rect">
            <a:avLst/>
          </a:prstGeom>
          <a:noFill/>
        </p:spPr>
        <p:txBody>
          <a:bodyPr wrap="square" rtlCol="0">
            <a:spAutoFit/>
          </a:bodyPr>
          <a:lstStyle/>
          <a:p>
            <a:r>
              <a:rPr kumimoji="1" lang="ja-JP" altLang="en-US" sz="1000" dirty="0"/>
              <a:t>標準速タイプ</a:t>
            </a:r>
          </a:p>
        </p:txBody>
      </p:sp>
      <p:cxnSp>
        <p:nvCxnSpPr>
          <p:cNvPr id="46" name="直線コネクタ 45">
            <a:extLst>
              <a:ext uri="{FF2B5EF4-FFF2-40B4-BE49-F238E27FC236}">
                <a16:creationId xmlns:a16="http://schemas.microsoft.com/office/drawing/2014/main" id="{E780B186-752C-42A1-843C-1C920AE7318D}"/>
              </a:ext>
            </a:extLst>
          </p:cNvPr>
          <p:cNvCxnSpPr>
            <a:cxnSpLocks/>
          </p:cNvCxnSpPr>
          <p:nvPr/>
        </p:nvCxnSpPr>
        <p:spPr>
          <a:xfrm>
            <a:off x="683636" y="1491630"/>
            <a:ext cx="8416328"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32" name="角丸四角形 57">
            <a:extLst>
              <a:ext uri="{FF2B5EF4-FFF2-40B4-BE49-F238E27FC236}">
                <a16:creationId xmlns:a16="http://schemas.microsoft.com/office/drawing/2014/main" id="{4F307BDE-F403-4F86-94A9-C3D6F0C3BC29}"/>
              </a:ext>
            </a:extLst>
          </p:cNvPr>
          <p:cNvSpPr/>
          <p:nvPr/>
        </p:nvSpPr>
        <p:spPr>
          <a:xfrm>
            <a:off x="1421734" y="555526"/>
            <a:ext cx="7678230" cy="199329"/>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Noctua NF-A14 industrial PPC-2000 PWM(14cm PWM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高耐久</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高信頼 高速</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FAN)</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 GE/</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/EX</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角丸四角形 57">
            <a:extLst>
              <a:ext uri="{FF2B5EF4-FFF2-40B4-BE49-F238E27FC236}">
                <a16:creationId xmlns:a16="http://schemas.microsoft.com/office/drawing/2014/main" id="{16ACEC73-29CD-46BA-8726-DDFFF98145AE}"/>
              </a:ext>
            </a:extLst>
          </p:cNvPr>
          <p:cNvSpPr/>
          <p:nvPr/>
        </p:nvSpPr>
        <p:spPr>
          <a:xfrm>
            <a:off x="3347864" y="4619641"/>
            <a:ext cx="5744010" cy="2033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Noctua NF-A9 PWM(9cm PWM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高耐久</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高信頼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FAN)</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※CPS</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背面用</a:t>
            </a:r>
            <a:r>
              <a:rPr lang="en-US" altLang="ja-JP"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/CX</a:t>
            </a:r>
            <a:r>
              <a:rPr lang="ja-JP" altLang="en-US"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背面用</a:t>
            </a:r>
            <a:endParaRPr kumimoji="1" lang="en-US" altLang="ja-JP"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57">
            <a:extLst>
              <a:ext uri="{FF2B5EF4-FFF2-40B4-BE49-F238E27FC236}">
                <a16:creationId xmlns:a16="http://schemas.microsoft.com/office/drawing/2014/main" id="{796FD6DE-2EBE-4494-AB84-018C645FC8AC}"/>
              </a:ext>
            </a:extLst>
          </p:cNvPr>
          <p:cNvSpPr/>
          <p:nvPr/>
        </p:nvSpPr>
        <p:spPr>
          <a:xfrm>
            <a:off x="1399452" y="1147559"/>
            <a:ext cx="7706988" cy="20005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SOLLERON</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DF1402512SEMN(2000rpm,4pin) </a:t>
            </a:r>
            <a:r>
              <a:rPr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GE/</a:t>
            </a:r>
            <a:r>
              <a:rPr lang="en-US" altLang="ja-JP" sz="1000" dirty="0" err="1">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ja-JP" altLang="en-US"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標準搭載同品</a:t>
            </a:r>
            <a:endParaRPr kumimoji="1"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角丸四角形 57">
            <a:extLst>
              <a:ext uri="{FF2B5EF4-FFF2-40B4-BE49-F238E27FC236}">
                <a16:creationId xmlns:a16="http://schemas.microsoft.com/office/drawing/2014/main" id="{A235D24B-452C-480A-B15D-7A7349D85D09}"/>
              </a:ext>
            </a:extLst>
          </p:cNvPr>
          <p:cNvSpPr/>
          <p:nvPr/>
        </p:nvSpPr>
        <p:spPr>
          <a:xfrm>
            <a:off x="1421734" y="2739132"/>
            <a:ext cx="7667310" cy="200054"/>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Fluence F3R120 BK (12cm PWM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高速</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FAN)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水冷</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ケース兼用 </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Asetek</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水冷</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/EX</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57">
            <a:extLst>
              <a:ext uri="{FF2B5EF4-FFF2-40B4-BE49-F238E27FC236}">
                <a16:creationId xmlns:a16="http://schemas.microsoft.com/office/drawing/2014/main" id="{B43062DF-567A-4908-9959-9B86E1B4A663}"/>
              </a:ext>
            </a:extLst>
          </p:cNvPr>
          <p:cNvSpPr/>
          <p:nvPr/>
        </p:nvSpPr>
        <p:spPr>
          <a:xfrm>
            <a:off x="1413963" y="3435846"/>
            <a:ext cx="7667310" cy="2033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Fluence F3R120 ARGB WH/BK (12cm PWM </a:t>
            </a:r>
            <a:r>
              <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ARGB</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水冷</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ケース兼用 </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Asetek</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水冷</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/EX/X3</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1000" dirty="0">
              <a:solidFill>
                <a:schemeClr val="accent2">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57">
            <a:extLst>
              <a:ext uri="{FF2B5EF4-FFF2-40B4-BE49-F238E27FC236}">
                <a16:creationId xmlns:a16="http://schemas.microsoft.com/office/drawing/2014/main" id="{EE9DAA32-EAFE-4664-9F43-12C1E2A36A70}"/>
              </a:ext>
            </a:extLst>
          </p:cNvPr>
          <p:cNvSpPr/>
          <p:nvPr/>
        </p:nvSpPr>
        <p:spPr>
          <a:xfrm>
            <a:off x="1421734" y="832297"/>
            <a:ext cx="7678230" cy="20216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SOLLERON DF1402512SEHN WH/BK(14cm PWM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高速</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FAN</a:t>
            </a:r>
            <a:r>
              <a:rPr lang="ja-JP" altLang="en-US"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ARGB</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 GE/</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/EX</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endParaRPr kumimoji="1"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角丸四角形 57">
            <a:extLst>
              <a:ext uri="{FF2B5EF4-FFF2-40B4-BE49-F238E27FC236}">
                <a16:creationId xmlns:a16="http://schemas.microsoft.com/office/drawing/2014/main" id="{02C05590-26FB-4DF8-B61E-4E1A5F2B2FDD}"/>
              </a:ext>
            </a:extLst>
          </p:cNvPr>
          <p:cNvSpPr/>
          <p:nvPr/>
        </p:nvSpPr>
        <p:spPr>
          <a:xfrm>
            <a:off x="1413963" y="2469928"/>
            <a:ext cx="7692477" cy="18333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Noctua </a:t>
            </a:r>
            <a:r>
              <a:rPr lang="en-US" altLang="ja-JP" sz="1000" dirty="0" err="1">
                <a:latin typeface="Meiryo UI" panose="020B0604030504040204" pitchFamily="50" charset="-128"/>
                <a:ea typeface="Meiryo UI" panose="020B0604030504040204" pitchFamily="50" charset="-128"/>
                <a:cs typeface="Meiryo UI" panose="020B0604030504040204" pitchFamily="50" charset="-128"/>
              </a:rPr>
              <a:t>NOCTUA</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NF-F12IPPC-2000-PWM (12cm PWM)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水冷</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ケース兼用 </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GE/EX</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D017C929-F9FF-491F-A488-65FCB5AC78C0}"/>
              </a:ext>
            </a:extLst>
          </p:cNvPr>
          <p:cNvSpPr>
            <a:spLocks noGrp="1"/>
          </p:cNvSpPr>
          <p:nvPr>
            <p:ph type="sldNum" sz="quarter" idx="12"/>
          </p:nvPr>
        </p:nvSpPr>
        <p:spPr/>
        <p:txBody>
          <a:bodyPr/>
          <a:lstStyle/>
          <a:p>
            <a:fld id="{F9DFCEB9-CAE4-4F3C-93D0-85C4724A0355}" type="slidenum">
              <a:rPr kumimoji="1" lang="ja-JP" altLang="en-US" smtClean="0"/>
              <a:t>29</a:t>
            </a:fld>
            <a:endParaRPr kumimoji="1" lang="ja-JP" altLang="en-US"/>
          </a:p>
        </p:txBody>
      </p:sp>
      <p:sp>
        <p:nvSpPr>
          <p:cNvPr id="33" name="角丸四角形 57">
            <a:extLst>
              <a:ext uri="{FF2B5EF4-FFF2-40B4-BE49-F238E27FC236}">
                <a16:creationId xmlns:a16="http://schemas.microsoft.com/office/drawing/2014/main" id="{232F8C7F-D532-4D20-9452-C608FCEB1C35}"/>
              </a:ext>
            </a:extLst>
          </p:cNvPr>
          <p:cNvSpPr/>
          <p:nvPr/>
        </p:nvSpPr>
        <p:spPr>
          <a:xfrm>
            <a:off x="5541918" y="1835700"/>
            <a:ext cx="3558046" cy="200055"/>
          </a:xfrm>
          <a:prstGeom prst="roundRect">
            <a:avLst/>
          </a:prstGeom>
          <a:solidFill>
            <a:schemeClr val="bg1">
              <a:lumMod val="65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 FKI_FKE14-1500B/W</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初期はカスタム用</a:t>
            </a:r>
            <a:endParaRPr kumimoji="1"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57">
            <a:extLst>
              <a:ext uri="{FF2B5EF4-FFF2-40B4-BE49-F238E27FC236}">
                <a16:creationId xmlns:a16="http://schemas.microsoft.com/office/drawing/2014/main" id="{3B5B7F56-740B-4C08-8CE3-9FD9179F0D5A}"/>
              </a:ext>
            </a:extLst>
          </p:cNvPr>
          <p:cNvSpPr/>
          <p:nvPr/>
        </p:nvSpPr>
        <p:spPr>
          <a:xfrm>
            <a:off x="5548394" y="1563638"/>
            <a:ext cx="3558046" cy="200055"/>
          </a:xfrm>
          <a:prstGeom prst="roundRect">
            <a:avLst/>
          </a:prstGeom>
          <a:solidFill>
            <a:schemeClr val="bg1">
              <a:lumMod val="75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TBD Noctua NF-A14</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ｘ</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25</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G2</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※GE/</a:t>
            </a:r>
            <a:r>
              <a:rPr lang="en-US" altLang="ja-JP" sz="1000" dirty="0" err="1">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GEm</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/EX</a:t>
            </a:r>
            <a:r>
              <a:rPr lang="ja-JP" altLang="en-US"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カスタム用</a:t>
            </a:r>
            <a:r>
              <a:rPr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57">
            <a:extLst>
              <a:ext uri="{FF2B5EF4-FFF2-40B4-BE49-F238E27FC236}">
                <a16:creationId xmlns:a16="http://schemas.microsoft.com/office/drawing/2014/main" id="{983B71F8-9C75-427D-A213-1C3E5E2957D8}"/>
              </a:ext>
            </a:extLst>
          </p:cNvPr>
          <p:cNvSpPr/>
          <p:nvPr/>
        </p:nvSpPr>
        <p:spPr>
          <a:xfrm>
            <a:off x="3347551" y="3723878"/>
            <a:ext cx="5745477" cy="2033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Noctua NF-A12x25 G2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※CX</a:t>
            </a:r>
            <a:r>
              <a:rPr lang="ja-JP" altLang="en-US"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rPr>
              <a:t>前面用</a:t>
            </a:r>
            <a:endParaRPr kumimoji="1" lang="en-US" altLang="ja-JP" sz="1000" b="1" dirty="0">
              <a:solidFill>
                <a:schemeClr val="accent6">
                  <a:lumMod val="20000"/>
                  <a:lumOff val="8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57">
            <a:extLst>
              <a:ext uri="{FF2B5EF4-FFF2-40B4-BE49-F238E27FC236}">
                <a16:creationId xmlns:a16="http://schemas.microsoft.com/office/drawing/2014/main" id="{9CED9660-8495-49E8-A79E-51F369ADAE6B}"/>
              </a:ext>
            </a:extLst>
          </p:cNvPr>
          <p:cNvSpPr/>
          <p:nvPr/>
        </p:nvSpPr>
        <p:spPr>
          <a:xfrm>
            <a:off x="6516216" y="4011910"/>
            <a:ext cx="2576812" cy="203358"/>
          </a:xfrm>
          <a:prstGeom prst="roundRect">
            <a:avLst/>
          </a:prstGeom>
          <a:solidFill>
            <a:srgbClr val="FFC000"/>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 SLR 12cm (4pin) </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 name="直線矢印コネクタ 4">
            <a:extLst>
              <a:ext uri="{FF2B5EF4-FFF2-40B4-BE49-F238E27FC236}">
                <a16:creationId xmlns:a16="http://schemas.microsoft.com/office/drawing/2014/main" id="{D03D1402-4F10-4901-8C7B-A88A4FD443C2}"/>
              </a:ext>
            </a:extLst>
          </p:cNvPr>
          <p:cNvCxnSpPr>
            <a:cxnSpLocks/>
          </p:cNvCxnSpPr>
          <p:nvPr/>
        </p:nvCxnSpPr>
        <p:spPr>
          <a:xfrm flipV="1">
            <a:off x="6012160" y="4103859"/>
            <a:ext cx="500109" cy="17195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7" name="テキスト ボックス 26">
            <a:extLst>
              <a:ext uri="{FF2B5EF4-FFF2-40B4-BE49-F238E27FC236}">
                <a16:creationId xmlns:a16="http://schemas.microsoft.com/office/drawing/2014/main" id="{6AB8FD2F-4982-435D-9892-053E2BD85C87}"/>
              </a:ext>
            </a:extLst>
          </p:cNvPr>
          <p:cNvSpPr txBox="1"/>
          <p:nvPr/>
        </p:nvSpPr>
        <p:spPr>
          <a:xfrm>
            <a:off x="7524328" y="4271063"/>
            <a:ext cx="1564716" cy="2308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kumimoji="1" lang="ja-JP" altLang="en-US" sz="900" i="1" dirty="0">
                <a:solidFill>
                  <a:schemeClr val="tx2"/>
                </a:solidFill>
              </a:rPr>
              <a:t>在庫</a:t>
            </a:r>
            <a:r>
              <a:rPr lang="ja-JP" altLang="en-US" sz="900" i="1" dirty="0">
                <a:solidFill>
                  <a:schemeClr val="tx2"/>
                </a:solidFill>
              </a:rPr>
              <a:t>消化</a:t>
            </a:r>
            <a:r>
              <a:rPr kumimoji="1" lang="ja-JP" altLang="en-US" sz="900" i="1" dirty="0">
                <a:solidFill>
                  <a:schemeClr val="tx2"/>
                </a:solidFill>
              </a:rPr>
              <a:t>次第</a:t>
            </a:r>
            <a:r>
              <a:rPr kumimoji="1" lang="en-US" altLang="ja-JP" sz="900" i="1" dirty="0">
                <a:solidFill>
                  <a:schemeClr val="tx2"/>
                </a:solidFill>
              </a:rPr>
              <a:t>4pin</a:t>
            </a:r>
            <a:r>
              <a:rPr kumimoji="1" lang="ja-JP" altLang="en-US" sz="900" i="1" dirty="0">
                <a:solidFill>
                  <a:schemeClr val="tx2"/>
                </a:solidFill>
              </a:rPr>
              <a:t>へ切替</a:t>
            </a:r>
            <a:endParaRPr kumimoji="1" lang="en-US" altLang="ja-JP" sz="900" i="1" dirty="0">
              <a:solidFill>
                <a:schemeClr val="tx2"/>
              </a:solidFill>
            </a:endParaRPr>
          </a:p>
        </p:txBody>
      </p:sp>
    </p:spTree>
    <p:extLst>
      <p:ext uri="{BB962C8B-B14F-4D97-AF65-F5344CB8AC3E}">
        <p14:creationId xmlns:p14="http://schemas.microsoft.com/office/powerpoint/2010/main" val="2434574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2195736" y="2189747"/>
            <a:ext cx="5616624" cy="892552"/>
          </a:xfrm>
          <a:prstGeom prst="rect">
            <a:avLst/>
          </a:prstGeom>
          <a:noFill/>
        </p:spPr>
        <p:txBody>
          <a:bodyPr wrap="square" rtlCol="0">
            <a:spAutoFit/>
          </a:bodyPr>
          <a:lstStyle/>
          <a:p>
            <a:r>
              <a:rPr kumimoji="1" lang="ja-JP" altLang="en-US" sz="2000" b="1" dirty="0">
                <a:latin typeface="メイリオ" panose="020B0604030504040204" pitchFamily="50" charset="-128"/>
                <a:ea typeface="メイリオ" panose="020B0604030504040204" pitchFamily="50" charset="-128"/>
              </a:rPr>
              <a:t>付録資料</a:t>
            </a:r>
            <a:endParaRPr kumimoji="1" lang="en-US" altLang="ja-JP" sz="2000" b="1" dirty="0">
              <a:latin typeface="メイリオ" panose="020B0604030504040204" pitchFamily="50" charset="-128"/>
              <a:ea typeface="メイリオ" panose="020B0604030504040204" pitchFamily="50" charset="-128"/>
            </a:endParaRPr>
          </a:p>
          <a:p>
            <a:r>
              <a:rPr lang="en-US" altLang="ja-JP" sz="1600" b="1" dirty="0">
                <a:latin typeface="メイリオ" panose="020B0604030504040204" pitchFamily="50" charset="-128"/>
                <a:ea typeface="メイリオ" panose="020B0604030504040204" pitchFamily="50" charset="-128"/>
              </a:rPr>
              <a:t>TW</a:t>
            </a:r>
            <a:r>
              <a:rPr lang="ja-JP" altLang="en-US" sz="1600" b="1" dirty="0">
                <a:latin typeface="メイリオ" panose="020B0604030504040204" pitchFamily="50" charset="-128"/>
                <a:ea typeface="メイリオ" panose="020B0604030504040204" pitchFamily="50" charset="-128"/>
              </a:rPr>
              <a:t>採用予定</a:t>
            </a:r>
            <a:r>
              <a:rPr lang="en-US" altLang="ja-JP" sz="1600" b="1" dirty="0">
                <a:latin typeface="メイリオ" panose="020B0604030504040204" pitchFamily="50" charset="-128"/>
                <a:ea typeface="メイリオ" panose="020B0604030504040204" pitchFamily="50" charset="-128"/>
              </a:rPr>
              <a:t>CPU/MB/VGA</a:t>
            </a:r>
            <a:r>
              <a:rPr lang="ja-JP" altLang="en-US" sz="1600" b="1" dirty="0">
                <a:latin typeface="メイリオ" panose="020B0604030504040204" pitchFamily="50" charset="-128"/>
                <a:ea typeface="メイリオ" panose="020B0604030504040204" pitchFamily="50" charset="-128"/>
              </a:rPr>
              <a:t>、その他検証品</a:t>
            </a:r>
            <a:endParaRPr lang="en-US" altLang="ja-JP" sz="1600" b="1" dirty="0">
              <a:latin typeface="メイリオ" panose="020B0604030504040204" pitchFamily="50" charset="-128"/>
              <a:ea typeface="メイリオ" panose="020B0604030504040204" pitchFamily="50" charset="-128"/>
            </a:endParaRPr>
          </a:p>
          <a:p>
            <a:r>
              <a:rPr kumimoji="1" lang="ja-JP" altLang="en-US" sz="1600" b="1" dirty="0">
                <a:latin typeface="メイリオ" panose="020B0604030504040204" pitchFamily="50" charset="-128"/>
                <a:ea typeface="メイリオ" panose="020B0604030504040204" pitchFamily="50" charset="-128"/>
              </a:rPr>
              <a:t>技術資料</a:t>
            </a:r>
          </a:p>
        </p:txBody>
      </p:sp>
      <p:sp>
        <p:nvSpPr>
          <p:cNvPr id="4" name="スライド番号プレースホルダー 3">
            <a:extLst>
              <a:ext uri="{FF2B5EF4-FFF2-40B4-BE49-F238E27FC236}">
                <a16:creationId xmlns:a16="http://schemas.microsoft.com/office/drawing/2014/main" id="{1B9D4A5E-832B-4D48-A46B-282F9970E4FC}"/>
              </a:ext>
            </a:extLst>
          </p:cNvPr>
          <p:cNvSpPr>
            <a:spLocks noGrp="1"/>
          </p:cNvSpPr>
          <p:nvPr>
            <p:ph type="sldNum" sz="quarter" idx="12"/>
          </p:nvPr>
        </p:nvSpPr>
        <p:spPr/>
        <p:txBody>
          <a:bodyPr/>
          <a:lstStyle/>
          <a:p>
            <a:fld id="{F9DFCEB9-CAE4-4F3C-93D0-85C4724A0355}" type="slidenum">
              <a:rPr kumimoji="1" lang="ja-JP" altLang="en-US" smtClean="0"/>
              <a:t>30</a:t>
            </a:fld>
            <a:endParaRPr kumimoji="1" lang="ja-JP" altLang="en-US"/>
          </a:p>
        </p:txBody>
      </p:sp>
    </p:spTree>
    <p:extLst>
      <p:ext uri="{BB962C8B-B14F-4D97-AF65-F5344CB8AC3E}">
        <p14:creationId xmlns:p14="http://schemas.microsoft.com/office/powerpoint/2010/main" val="3885326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3153626636"/>
              </p:ext>
            </p:extLst>
          </p:nvPr>
        </p:nvGraphicFramePr>
        <p:xfrm>
          <a:off x="35496" y="51469"/>
          <a:ext cx="8928982" cy="5040561"/>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404215">
                <a:tc>
                  <a:txBody>
                    <a:bodyPr/>
                    <a:lstStyle/>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TW intel</a:t>
                      </a:r>
                      <a:r>
                        <a:rPr kumimoji="1" lang="ja-JP" altLang="en-US"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Desk Lineup</a:t>
                      </a:r>
                      <a:r>
                        <a:rPr kumimoji="1" lang="ja-JP" altLang="en-US"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TW</a:t>
                      </a:r>
                      <a:endParaRPr kumimoji="1" lang="en-US" altLang="ja-JP" sz="50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29081">
                <a:tc>
                  <a:txBody>
                    <a:bodyPr/>
                    <a:lstStyle/>
                    <a:p>
                      <a:pPr algn="l"/>
                      <a:r>
                        <a:rPr kumimoji="1" lang="en-US" altLang="ja-JP" sz="9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a:t>
                      </a:r>
                    </a:p>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kumimoji="1" lang="ja-JP" altLang="en-US" sz="1000" dirty="0"/>
                        <a:t>　</a:t>
                      </a: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95" name="角丸四角形 78">
            <a:extLst>
              <a:ext uri="{FF2B5EF4-FFF2-40B4-BE49-F238E27FC236}">
                <a16:creationId xmlns:a16="http://schemas.microsoft.com/office/drawing/2014/main" id="{50545E69-3EE0-4722-A8E4-8F34C9AE6377}"/>
              </a:ext>
            </a:extLst>
          </p:cNvPr>
          <p:cNvSpPr/>
          <p:nvPr/>
        </p:nvSpPr>
        <p:spPr>
          <a:xfrm>
            <a:off x="1259633" y="4345102"/>
            <a:ext cx="2592287" cy="149559"/>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i5-12400</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ADL 6C(6P+0E) / 12T</a:t>
            </a:r>
          </a:p>
        </p:txBody>
      </p:sp>
      <p:sp>
        <p:nvSpPr>
          <p:cNvPr id="70" name="角丸四角形 80">
            <a:extLst>
              <a:ext uri="{FF2B5EF4-FFF2-40B4-BE49-F238E27FC236}">
                <a16:creationId xmlns:a16="http://schemas.microsoft.com/office/drawing/2014/main" id="{DAB891E0-30C4-49DC-A0A5-FB27805AA2A8}"/>
              </a:ext>
            </a:extLst>
          </p:cNvPr>
          <p:cNvSpPr/>
          <p:nvPr/>
        </p:nvSpPr>
        <p:spPr>
          <a:xfrm>
            <a:off x="1261681" y="2841556"/>
            <a:ext cx="2590240" cy="152088"/>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i7-14700/14700F</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RPL-R </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20C(8P+12E)/28T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PBP65W</a:t>
            </a:r>
          </a:p>
        </p:txBody>
      </p:sp>
      <p:sp>
        <p:nvSpPr>
          <p:cNvPr id="75" name="角丸四角形 51">
            <a:extLst>
              <a:ext uri="{FF2B5EF4-FFF2-40B4-BE49-F238E27FC236}">
                <a16:creationId xmlns:a16="http://schemas.microsoft.com/office/drawing/2014/main" id="{52104CD4-5B92-41C9-95A7-5FA355F794DD}"/>
              </a:ext>
            </a:extLst>
          </p:cNvPr>
          <p:cNvSpPr/>
          <p:nvPr/>
        </p:nvSpPr>
        <p:spPr>
          <a:xfrm>
            <a:off x="1259632" y="4159072"/>
            <a:ext cx="2592288" cy="149559"/>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i5-14400/14400F RPL-R 10C(6P+4E)/16T PBP65W</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角丸四角形 57">
            <a:extLst>
              <a:ext uri="{FF2B5EF4-FFF2-40B4-BE49-F238E27FC236}">
                <a16:creationId xmlns:a16="http://schemas.microsoft.com/office/drawing/2014/main" id="{6B566D04-2EBE-4B0B-BEF3-737DC5354E6C}"/>
              </a:ext>
            </a:extLst>
          </p:cNvPr>
          <p:cNvSpPr/>
          <p:nvPr/>
        </p:nvSpPr>
        <p:spPr>
          <a:xfrm>
            <a:off x="1259631" y="4678366"/>
            <a:ext cx="1944218" cy="153317"/>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i3-14100 RPL-R</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4C(4P+0E)/8T PBP60W </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角丸四角形 76">
            <a:extLst>
              <a:ext uri="{FF2B5EF4-FFF2-40B4-BE49-F238E27FC236}">
                <a16:creationId xmlns:a16="http://schemas.microsoft.com/office/drawing/2014/main" id="{C40E614D-DAA5-498B-9004-DF7C89315EFE}"/>
              </a:ext>
            </a:extLst>
          </p:cNvPr>
          <p:cNvSpPr/>
          <p:nvPr/>
        </p:nvSpPr>
        <p:spPr>
          <a:xfrm>
            <a:off x="1259632" y="4893405"/>
            <a:ext cx="1944218" cy="153317"/>
          </a:xfrm>
          <a:prstGeom prst="roundRect">
            <a:avLst>
              <a:gd name="adj" fmla="val 3447"/>
            </a:avLst>
          </a:prstGeom>
          <a:solidFill>
            <a:schemeClr val="accent5">
              <a:lumMod val="20000"/>
              <a:lumOff val="8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Celeron</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G6900</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ADL 2C(2P+0E) / 2T</a:t>
            </a:r>
          </a:p>
        </p:txBody>
      </p:sp>
      <p:sp>
        <p:nvSpPr>
          <p:cNvPr id="57" name="角丸四角形 82">
            <a:extLst>
              <a:ext uri="{FF2B5EF4-FFF2-40B4-BE49-F238E27FC236}">
                <a16:creationId xmlns:a16="http://schemas.microsoft.com/office/drawing/2014/main" id="{E5F896C1-BC6F-4D7F-A043-9160E1E6F749}"/>
              </a:ext>
            </a:extLst>
          </p:cNvPr>
          <p:cNvSpPr/>
          <p:nvPr/>
        </p:nvSpPr>
        <p:spPr>
          <a:xfrm>
            <a:off x="1266356" y="773530"/>
            <a:ext cx="7675070" cy="165198"/>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Ultra9 285K 24C(8P+16E)/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24T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PBP125W</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角丸四角形 80">
            <a:extLst>
              <a:ext uri="{FF2B5EF4-FFF2-40B4-BE49-F238E27FC236}">
                <a16:creationId xmlns:a16="http://schemas.microsoft.com/office/drawing/2014/main" id="{8C1465E6-D57B-494F-9EB2-105C426A8AF0}"/>
              </a:ext>
            </a:extLst>
          </p:cNvPr>
          <p:cNvSpPr/>
          <p:nvPr/>
        </p:nvSpPr>
        <p:spPr>
          <a:xfrm>
            <a:off x="1266356" y="1674008"/>
            <a:ext cx="2513555" cy="165021"/>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Ultra7 265K/265KF</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20C(8P+12E)/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20T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PBP125W </a:t>
            </a:r>
          </a:p>
        </p:txBody>
      </p:sp>
      <p:sp>
        <p:nvSpPr>
          <p:cNvPr id="73" name="角丸四角形 80">
            <a:extLst>
              <a:ext uri="{FF2B5EF4-FFF2-40B4-BE49-F238E27FC236}">
                <a16:creationId xmlns:a16="http://schemas.microsoft.com/office/drawing/2014/main" id="{0FEE3594-1682-4FF5-8CC8-A20957AF85C0}"/>
              </a:ext>
            </a:extLst>
          </p:cNvPr>
          <p:cNvSpPr/>
          <p:nvPr/>
        </p:nvSpPr>
        <p:spPr>
          <a:xfrm>
            <a:off x="1273743" y="2123241"/>
            <a:ext cx="7693582" cy="15291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Ultra7</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265/265F 20C(8P+12E)/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20T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PBP65W</a:t>
            </a:r>
          </a:p>
        </p:txBody>
      </p:sp>
      <p:sp>
        <p:nvSpPr>
          <p:cNvPr id="76" name="角丸四角形 80">
            <a:extLst>
              <a:ext uri="{FF2B5EF4-FFF2-40B4-BE49-F238E27FC236}">
                <a16:creationId xmlns:a16="http://schemas.microsoft.com/office/drawing/2014/main" id="{47FAEE64-7CD8-4707-879E-A87573C6B414}"/>
              </a:ext>
            </a:extLst>
          </p:cNvPr>
          <p:cNvSpPr/>
          <p:nvPr/>
        </p:nvSpPr>
        <p:spPr>
          <a:xfrm>
            <a:off x="1266356" y="2340364"/>
            <a:ext cx="7693582" cy="17578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Ultra7 265T</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20C(8P+12E)/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20T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PBP35W</a:t>
            </a:r>
          </a:p>
        </p:txBody>
      </p:sp>
      <p:sp>
        <p:nvSpPr>
          <p:cNvPr id="79" name="角丸四角形 51">
            <a:extLst>
              <a:ext uri="{FF2B5EF4-FFF2-40B4-BE49-F238E27FC236}">
                <a16:creationId xmlns:a16="http://schemas.microsoft.com/office/drawing/2014/main" id="{77DA87CA-CAD8-431F-AA59-FF94513AB831}"/>
              </a:ext>
            </a:extLst>
          </p:cNvPr>
          <p:cNvSpPr/>
          <p:nvPr/>
        </p:nvSpPr>
        <p:spPr>
          <a:xfrm>
            <a:off x="1266356" y="3586168"/>
            <a:ext cx="7675069" cy="14069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Ultra5 235 14C(6P+8E)/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14T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PBP65W</a:t>
            </a:r>
          </a:p>
        </p:txBody>
      </p:sp>
      <p:sp>
        <p:nvSpPr>
          <p:cNvPr id="40" name="テキスト ボックス 39">
            <a:extLst>
              <a:ext uri="{FF2B5EF4-FFF2-40B4-BE49-F238E27FC236}">
                <a16:creationId xmlns:a16="http://schemas.microsoft.com/office/drawing/2014/main" id="{F2282CCC-AF92-4D81-889D-B3DD7E8AD58F}"/>
              </a:ext>
            </a:extLst>
          </p:cNvPr>
          <p:cNvSpPr txBox="1"/>
          <p:nvPr/>
        </p:nvSpPr>
        <p:spPr>
          <a:xfrm>
            <a:off x="3779912" y="4279878"/>
            <a:ext cx="4392488" cy="307777"/>
          </a:xfrm>
          <a:prstGeom prst="rect">
            <a:avLst/>
          </a:prstGeom>
          <a:noFill/>
        </p:spPr>
        <p:txBody>
          <a:bodyPr wrap="square" rtlCol="0" anchor="ctr">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51">
            <a:extLst>
              <a:ext uri="{FF2B5EF4-FFF2-40B4-BE49-F238E27FC236}">
                <a16:creationId xmlns:a16="http://schemas.microsoft.com/office/drawing/2014/main" id="{AC962F7D-3975-470F-BCBB-9FE7EB5BCA7D}"/>
              </a:ext>
            </a:extLst>
          </p:cNvPr>
          <p:cNvSpPr/>
          <p:nvPr/>
        </p:nvSpPr>
        <p:spPr>
          <a:xfrm>
            <a:off x="1266356" y="3761609"/>
            <a:ext cx="7693581" cy="143852"/>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Ultra5 225/225F 10C(6P+4E)/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10T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PBP65W</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角丸四角形 82">
            <a:extLst>
              <a:ext uri="{FF2B5EF4-FFF2-40B4-BE49-F238E27FC236}">
                <a16:creationId xmlns:a16="http://schemas.microsoft.com/office/drawing/2014/main" id="{41ED2C88-8612-434B-911E-B5AFEC619D6B}"/>
              </a:ext>
            </a:extLst>
          </p:cNvPr>
          <p:cNvSpPr/>
          <p:nvPr/>
        </p:nvSpPr>
        <p:spPr>
          <a:xfrm>
            <a:off x="1266356" y="991654"/>
            <a:ext cx="7693582" cy="163097"/>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Core Ultra9 285 24C(8P+16E)/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24T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PBP65W</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98CC41B4-3C2B-4454-8B19-73A0EE9FBBCC}"/>
              </a:ext>
            </a:extLst>
          </p:cNvPr>
          <p:cNvSpPr>
            <a:spLocks noGrp="1"/>
          </p:cNvSpPr>
          <p:nvPr>
            <p:ph type="sldNum" sz="quarter" idx="12"/>
          </p:nvPr>
        </p:nvSpPr>
        <p:spPr/>
        <p:txBody>
          <a:bodyPr/>
          <a:lstStyle/>
          <a:p>
            <a:fld id="{F9DFCEB9-CAE4-4F3C-93D0-85C4724A0355}" type="slidenum">
              <a:rPr kumimoji="1" lang="ja-JP" altLang="en-US" smtClean="0"/>
              <a:t>31</a:t>
            </a:fld>
            <a:endParaRPr kumimoji="1" lang="ja-JP" altLang="en-US" dirty="0"/>
          </a:p>
        </p:txBody>
      </p:sp>
      <p:sp>
        <p:nvSpPr>
          <p:cNvPr id="52" name="角丸四角形 82">
            <a:extLst>
              <a:ext uri="{FF2B5EF4-FFF2-40B4-BE49-F238E27FC236}">
                <a16:creationId xmlns:a16="http://schemas.microsoft.com/office/drawing/2014/main" id="{43EDC5CF-91A2-4722-81AF-4B39569A8C11}"/>
              </a:ext>
            </a:extLst>
          </p:cNvPr>
          <p:cNvSpPr/>
          <p:nvPr/>
        </p:nvSpPr>
        <p:spPr>
          <a:xfrm>
            <a:off x="1273743" y="1509583"/>
            <a:ext cx="7684668" cy="135123"/>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Core Ultra 270K Plus 24C(8P+16E)/</a:t>
            </a:r>
            <a:r>
              <a:rPr lang="en-US" altLang="ja-JP" sz="700" dirty="0">
                <a:solidFill>
                  <a:srgbClr val="FF0000"/>
                </a:solidFill>
                <a:latin typeface="Meiryo UI" panose="020B0604030504040204" pitchFamily="50" charset="-128"/>
                <a:ea typeface="Meiryo UI" panose="020B0604030504040204" pitchFamily="50" charset="-128"/>
              </a:rPr>
              <a:t>24T</a:t>
            </a:r>
            <a:r>
              <a:rPr lang="en-US" altLang="ja-JP" sz="700" dirty="0">
                <a:solidFill>
                  <a:schemeClr val="tx1"/>
                </a:solidFill>
                <a:latin typeface="Meiryo UI" panose="020B0604030504040204" pitchFamily="50" charset="-128"/>
                <a:ea typeface="Meiryo UI" panose="020B0604030504040204" pitchFamily="50" charset="-128"/>
              </a:rPr>
              <a:t> PBP125W</a:t>
            </a:r>
            <a:r>
              <a:rPr lang="ja-JP" altLang="en-US" sz="700" dirty="0">
                <a:solidFill>
                  <a:schemeClr val="tx1"/>
                </a:solidFill>
                <a:latin typeface="Meiryo UI" panose="020B0604030504040204" pitchFamily="50" charset="-128"/>
                <a:ea typeface="Meiryo UI" panose="020B0604030504040204" pitchFamily="50" charset="-128"/>
              </a:rPr>
              <a:t>　</a:t>
            </a:r>
          </a:p>
        </p:txBody>
      </p:sp>
      <p:sp>
        <p:nvSpPr>
          <p:cNvPr id="54" name="角丸四角形 82">
            <a:extLst>
              <a:ext uri="{FF2B5EF4-FFF2-40B4-BE49-F238E27FC236}">
                <a16:creationId xmlns:a16="http://schemas.microsoft.com/office/drawing/2014/main" id="{81279D71-1100-435D-A079-E5C7F72FD8DA}"/>
              </a:ext>
            </a:extLst>
          </p:cNvPr>
          <p:cNvSpPr/>
          <p:nvPr/>
        </p:nvSpPr>
        <p:spPr>
          <a:xfrm>
            <a:off x="1273743" y="3227385"/>
            <a:ext cx="7677483" cy="142437"/>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ja-JP" altLang="en-US" sz="700" dirty="0">
                <a:solidFill>
                  <a:schemeClr val="tx1"/>
                </a:solidFill>
                <a:latin typeface="Meiryo UI" panose="020B0604030504040204" pitchFamily="50" charset="-128"/>
                <a:ea typeface="Meiryo UI" panose="020B0604030504040204" pitchFamily="50" charset="-128"/>
              </a:rPr>
              <a:t>投入</a:t>
            </a:r>
            <a:r>
              <a:rPr lang="en-US" altLang="ja-JP" sz="700" dirty="0">
                <a:solidFill>
                  <a:schemeClr val="tx1"/>
                </a:solidFill>
                <a:latin typeface="Meiryo UI" panose="020B0604030504040204" pitchFamily="50" charset="-128"/>
                <a:ea typeface="Meiryo UI" panose="020B0604030504040204" pitchFamily="50" charset="-128"/>
              </a:rPr>
              <a:t>TBD Core Ultra 250KF Plus</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18C(6P+12E)/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18T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PBP125W </a:t>
            </a:r>
            <a:r>
              <a:rPr lang="ja-JP" altLang="en-US" sz="700" dirty="0">
                <a:solidFill>
                  <a:schemeClr val="tx1"/>
                </a:solidFill>
                <a:latin typeface="Meiryo UI" panose="020B0604030504040204" pitchFamily="50" charset="-128"/>
                <a:ea typeface="Meiryo UI" panose="020B0604030504040204" pitchFamily="50" charset="-128"/>
              </a:rPr>
              <a:t>　</a:t>
            </a:r>
          </a:p>
        </p:txBody>
      </p:sp>
      <p:sp>
        <p:nvSpPr>
          <p:cNvPr id="37" name="テキスト ボックス 36">
            <a:extLst>
              <a:ext uri="{FF2B5EF4-FFF2-40B4-BE49-F238E27FC236}">
                <a16:creationId xmlns:a16="http://schemas.microsoft.com/office/drawing/2014/main" id="{981ED8FA-8480-42BC-A453-E83161D2ACC1}"/>
              </a:ext>
            </a:extLst>
          </p:cNvPr>
          <p:cNvSpPr txBox="1"/>
          <p:nvPr/>
        </p:nvSpPr>
        <p:spPr>
          <a:xfrm>
            <a:off x="3779911" y="2768029"/>
            <a:ext cx="4464497" cy="307777"/>
          </a:xfrm>
          <a:prstGeom prst="rect">
            <a:avLst/>
          </a:prstGeom>
          <a:noFill/>
        </p:spPr>
        <p:txBody>
          <a:bodyPr wrap="square" rtlCol="0" anchor="ctr">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角丸四角形 82">
            <a:extLst>
              <a:ext uri="{FF2B5EF4-FFF2-40B4-BE49-F238E27FC236}">
                <a16:creationId xmlns:a16="http://schemas.microsoft.com/office/drawing/2014/main" id="{2F792B1B-84E1-4CE9-9D64-5FDD724F8E0C}"/>
              </a:ext>
            </a:extLst>
          </p:cNvPr>
          <p:cNvSpPr/>
          <p:nvPr/>
        </p:nvSpPr>
        <p:spPr>
          <a:xfrm>
            <a:off x="1266356" y="3421122"/>
            <a:ext cx="2965441" cy="13610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Core Ultra 245KF</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14C(6P+8E)/</a:t>
            </a:r>
            <a:r>
              <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14T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PBP125W</a:t>
            </a:r>
            <a:endParaRPr lang="ja-JP" altLang="en-US" sz="700" dirty="0">
              <a:solidFill>
                <a:schemeClr val="tx1"/>
              </a:solidFill>
              <a:latin typeface="Meiryo UI" panose="020B0604030504040204" pitchFamily="50" charset="-128"/>
              <a:ea typeface="Meiryo UI" panose="020B0604030504040204" pitchFamily="50" charset="-128"/>
            </a:endParaRPr>
          </a:p>
        </p:txBody>
      </p:sp>
      <p:sp>
        <p:nvSpPr>
          <p:cNvPr id="35" name="テキスト ボックス 34">
            <a:extLst>
              <a:ext uri="{FF2B5EF4-FFF2-40B4-BE49-F238E27FC236}">
                <a16:creationId xmlns:a16="http://schemas.microsoft.com/office/drawing/2014/main" id="{F16ECBE4-5902-428D-B9A8-C3C61B4D09C5}"/>
              </a:ext>
            </a:extLst>
          </p:cNvPr>
          <p:cNvSpPr txBox="1"/>
          <p:nvPr/>
        </p:nvSpPr>
        <p:spPr>
          <a:xfrm>
            <a:off x="4231797" y="3331356"/>
            <a:ext cx="4876707" cy="307777"/>
          </a:xfrm>
          <a:prstGeom prst="rect">
            <a:avLst/>
          </a:prstGeom>
          <a:noFill/>
        </p:spPr>
        <p:txBody>
          <a:bodyPr wrap="square" rtlCol="0" anchor="ctr">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1" name="テキスト ボックス 40">
            <a:extLst>
              <a:ext uri="{FF2B5EF4-FFF2-40B4-BE49-F238E27FC236}">
                <a16:creationId xmlns:a16="http://schemas.microsoft.com/office/drawing/2014/main" id="{C6C0DDC7-2F0E-40B3-AB2A-BBD4A08BC7E9}"/>
              </a:ext>
            </a:extLst>
          </p:cNvPr>
          <p:cNvSpPr txBox="1"/>
          <p:nvPr/>
        </p:nvSpPr>
        <p:spPr>
          <a:xfrm>
            <a:off x="3779911" y="1618534"/>
            <a:ext cx="5328593" cy="307777"/>
          </a:xfrm>
          <a:prstGeom prst="rect">
            <a:avLst/>
          </a:prstGeom>
          <a:noFill/>
        </p:spPr>
        <p:txBody>
          <a:bodyPr wrap="square" rtlCol="0" anchor="ctr">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2" name="角丸四角形 82">
            <a:extLst>
              <a:ext uri="{FF2B5EF4-FFF2-40B4-BE49-F238E27FC236}">
                <a16:creationId xmlns:a16="http://schemas.microsoft.com/office/drawing/2014/main" id="{46682A57-9EF7-466A-84FF-2B051BF4B9E7}"/>
              </a:ext>
            </a:extLst>
          </p:cNvPr>
          <p:cNvSpPr/>
          <p:nvPr/>
        </p:nvSpPr>
        <p:spPr>
          <a:xfrm>
            <a:off x="5995176" y="537502"/>
            <a:ext cx="2946250" cy="185202"/>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Nova Lake</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82">
            <a:extLst>
              <a:ext uri="{FF2B5EF4-FFF2-40B4-BE49-F238E27FC236}">
                <a16:creationId xmlns:a16="http://schemas.microsoft.com/office/drawing/2014/main" id="{43D5ABFA-7668-4145-AE23-94E7A505A2CE}"/>
              </a:ext>
            </a:extLst>
          </p:cNvPr>
          <p:cNvSpPr/>
          <p:nvPr/>
        </p:nvSpPr>
        <p:spPr>
          <a:xfrm>
            <a:off x="6012160" y="1257582"/>
            <a:ext cx="2946250" cy="18520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Nova Lake</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82">
            <a:extLst>
              <a:ext uri="{FF2B5EF4-FFF2-40B4-BE49-F238E27FC236}">
                <a16:creationId xmlns:a16="http://schemas.microsoft.com/office/drawing/2014/main" id="{3BC3E6EA-BB56-454B-8E58-9751D00446E1}"/>
              </a:ext>
            </a:extLst>
          </p:cNvPr>
          <p:cNvSpPr/>
          <p:nvPr/>
        </p:nvSpPr>
        <p:spPr>
          <a:xfrm>
            <a:off x="6012160" y="1905654"/>
            <a:ext cx="2946250" cy="18520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Nova Lake</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82">
            <a:extLst>
              <a:ext uri="{FF2B5EF4-FFF2-40B4-BE49-F238E27FC236}">
                <a16:creationId xmlns:a16="http://schemas.microsoft.com/office/drawing/2014/main" id="{6DD06E50-1323-4119-8D88-965298030012}"/>
              </a:ext>
            </a:extLst>
          </p:cNvPr>
          <p:cNvSpPr/>
          <p:nvPr/>
        </p:nvSpPr>
        <p:spPr>
          <a:xfrm>
            <a:off x="6876256" y="2995734"/>
            <a:ext cx="2065170" cy="175241"/>
          </a:xfrm>
          <a:prstGeom prst="roundRect">
            <a:avLst>
              <a:gd name="adj" fmla="val 3447"/>
            </a:avLst>
          </a:prstGeom>
          <a:solidFill>
            <a:srgbClr val="B7DEE8"/>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Nova Lake</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角丸四角形 82">
            <a:extLst>
              <a:ext uri="{FF2B5EF4-FFF2-40B4-BE49-F238E27FC236}">
                <a16:creationId xmlns:a16="http://schemas.microsoft.com/office/drawing/2014/main" id="{F53A6FD8-BB8B-4CEA-AFBE-80EF460BE437}"/>
              </a:ext>
            </a:extLst>
          </p:cNvPr>
          <p:cNvSpPr/>
          <p:nvPr/>
        </p:nvSpPr>
        <p:spPr>
          <a:xfrm>
            <a:off x="6876256" y="2660138"/>
            <a:ext cx="2065170" cy="169106"/>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Raptor Lake Next</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角丸四角形 82">
            <a:extLst>
              <a:ext uri="{FF2B5EF4-FFF2-40B4-BE49-F238E27FC236}">
                <a16:creationId xmlns:a16="http://schemas.microsoft.com/office/drawing/2014/main" id="{ABD95173-C550-4D84-80B5-5E6CC151233A}"/>
              </a:ext>
            </a:extLst>
          </p:cNvPr>
          <p:cNvSpPr/>
          <p:nvPr/>
        </p:nvSpPr>
        <p:spPr>
          <a:xfrm>
            <a:off x="6876256" y="3986186"/>
            <a:ext cx="2082154" cy="149702"/>
          </a:xfrm>
          <a:prstGeom prst="roundRect">
            <a:avLst>
              <a:gd name="adj" fmla="val 3447"/>
            </a:avLst>
          </a:prstGeom>
          <a:solidFill>
            <a:srgbClr val="B7DEE8"/>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Raptor Lake Next</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82">
            <a:extLst>
              <a:ext uri="{FF2B5EF4-FFF2-40B4-BE49-F238E27FC236}">
                <a16:creationId xmlns:a16="http://schemas.microsoft.com/office/drawing/2014/main" id="{AD835D39-9042-4CFE-91FC-056E8762C76A}"/>
              </a:ext>
            </a:extLst>
          </p:cNvPr>
          <p:cNvSpPr/>
          <p:nvPr/>
        </p:nvSpPr>
        <p:spPr>
          <a:xfrm>
            <a:off x="6876256" y="4565522"/>
            <a:ext cx="2065170" cy="142939"/>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Nova Lake</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82">
            <a:extLst>
              <a:ext uri="{FF2B5EF4-FFF2-40B4-BE49-F238E27FC236}">
                <a16:creationId xmlns:a16="http://schemas.microsoft.com/office/drawing/2014/main" id="{F15FFBC5-6CC2-4AC9-ABAC-3CA24478C4EA}"/>
              </a:ext>
            </a:extLst>
          </p:cNvPr>
          <p:cNvSpPr/>
          <p:nvPr/>
        </p:nvSpPr>
        <p:spPr>
          <a:xfrm>
            <a:off x="6876255" y="4728525"/>
            <a:ext cx="2065170" cy="145917"/>
          </a:xfrm>
          <a:prstGeom prst="roundRect">
            <a:avLst>
              <a:gd name="adj" fmla="val 3447"/>
            </a:avLst>
          </a:prstGeom>
          <a:solidFill>
            <a:srgbClr val="FFFF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dirty="0">
                <a:solidFill>
                  <a:schemeClr val="tx1"/>
                </a:solidFill>
                <a:latin typeface="Meiryo UI" panose="020B0604030504040204" pitchFamily="50" charset="-128"/>
                <a:ea typeface="Meiryo UI" panose="020B0604030504040204" pitchFamily="50" charset="-128"/>
              </a:rPr>
              <a:t>TBD Raptor Lake Next</a:t>
            </a:r>
            <a:endParaRPr lang="en-US" altLang="ja-JP"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54281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3956127268"/>
              </p:ext>
            </p:extLst>
          </p:nvPr>
        </p:nvGraphicFramePr>
        <p:xfrm>
          <a:off x="35496" y="51468"/>
          <a:ext cx="8928982" cy="5084754"/>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10917">
                <a:tc>
                  <a:txBody>
                    <a:bodyPr/>
                    <a:lstStyle/>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TW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intel</a:t>
                      </a:r>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MB </a:t>
                      </a:r>
                    </a:p>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Lineup 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1173">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HEDT</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547509">
                <a:tc>
                  <a:txBody>
                    <a:bodyPr/>
                    <a:lstStyle/>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Highend</a:t>
                      </a:r>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792088">
                <a:tc>
                  <a:txBody>
                    <a:bodyPr/>
                    <a:lstStyle/>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Highend</a:t>
                      </a:r>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-B</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MicroATX</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648072">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Middle</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1224136">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Middle</a:t>
                      </a:r>
                    </a:p>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MicroATX</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36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Entry/Slim</a:t>
                      </a:r>
                    </a:p>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MicroATX</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7"/>
                  </a:ext>
                </a:extLst>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Mini ITX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3852736"/>
                  </a:ext>
                </a:extLst>
              </a:tr>
              <a:tr h="3322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Mini </a:t>
                      </a:r>
                      <a:r>
                        <a:rPr kumimoji="1" lang="ja-JP" altLang="en-US"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シリーズ</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8432793"/>
                  </a:ext>
                </a:extLst>
              </a:tr>
            </a:tbl>
          </a:graphicData>
        </a:graphic>
      </p:graphicFrame>
      <p:sp>
        <p:nvSpPr>
          <p:cNvPr id="22" name="角丸四角形 46">
            <a:extLst>
              <a:ext uri="{FF2B5EF4-FFF2-40B4-BE49-F238E27FC236}">
                <a16:creationId xmlns:a16="http://schemas.microsoft.com/office/drawing/2014/main" id="{3873B960-36BA-4BD2-B78A-BD06307B0E86}"/>
              </a:ext>
            </a:extLst>
          </p:cNvPr>
          <p:cNvSpPr/>
          <p:nvPr/>
        </p:nvSpPr>
        <p:spPr>
          <a:xfrm>
            <a:off x="1269207" y="2723007"/>
            <a:ext cx="2078657" cy="137251"/>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B760 ATX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B760 TW DDR5</a:t>
            </a:r>
          </a:p>
        </p:txBody>
      </p:sp>
      <p:sp>
        <p:nvSpPr>
          <p:cNvPr id="23" name="角丸四角形 46">
            <a:extLst>
              <a:ext uri="{FF2B5EF4-FFF2-40B4-BE49-F238E27FC236}">
                <a16:creationId xmlns:a16="http://schemas.microsoft.com/office/drawing/2014/main" id="{A5053BBD-8C90-40D9-A3AD-484F5D84B18C}"/>
              </a:ext>
            </a:extLst>
          </p:cNvPr>
          <p:cNvSpPr/>
          <p:nvPr/>
        </p:nvSpPr>
        <p:spPr>
          <a:xfrm>
            <a:off x="1269206" y="3942172"/>
            <a:ext cx="5102993" cy="141746"/>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B760 MATX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B760M-AJ </a:t>
            </a:r>
            <a:r>
              <a:rPr kumimoji="1" lang="en-US" altLang="ja-JP" sz="8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DDR4</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/DDR5</a:t>
            </a:r>
          </a:p>
        </p:txBody>
      </p:sp>
      <p:sp>
        <p:nvSpPr>
          <p:cNvPr id="26" name="角丸四角形 46">
            <a:extLst>
              <a:ext uri="{FF2B5EF4-FFF2-40B4-BE49-F238E27FC236}">
                <a16:creationId xmlns:a16="http://schemas.microsoft.com/office/drawing/2014/main" id="{5B12D8A5-35D9-45E4-A201-D641D6F7B343}"/>
              </a:ext>
            </a:extLst>
          </p:cNvPr>
          <p:cNvSpPr/>
          <p:nvPr/>
        </p:nvSpPr>
        <p:spPr>
          <a:xfrm>
            <a:off x="1279979" y="1722776"/>
            <a:ext cx="7668003" cy="15323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Z890 ATX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MSI Z890-W</a:t>
            </a:r>
          </a:p>
        </p:txBody>
      </p:sp>
      <p:sp>
        <p:nvSpPr>
          <p:cNvPr id="27" name="角丸四角形 46">
            <a:extLst>
              <a:ext uri="{FF2B5EF4-FFF2-40B4-BE49-F238E27FC236}">
                <a16:creationId xmlns:a16="http://schemas.microsoft.com/office/drawing/2014/main" id="{41C7C33A-117D-450C-AAAC-3BB207B4D9F9}"/>
              </a:ext>
            </a:extLst>
          </p:cNvPr>
          <p:cNvSpPr/>
          <p:nvPr/>
        </p:nvSpPr>
        <p:spPr>
          <a:xfrm>
            <a:off x="1266701" y="1255818"/>
            <a:ext cx="7668002" cy="17963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Z890 ATX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MSI Z890-W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動画配信</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Z890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LiveMixer</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角丸四角形 46">
            <a:extLst>
              <a:ext uri="{FF2B5EF4-FFF2-40B4-BE49-F238E27FC236}">
                <a16:creationId xmlns:a16="http://schemas.microsoft.com/office/drawing/2014/main" id="{FC9491E5-7B46-4460-BA38-3410EA825702}"/>
              </a:ext>
            </a:extLst>
          </p:cNvPr>
          <p:cNvSpPr/>
          <p:nvPr/>
        </p:nvSpPr>
        <p:spPr>
          <a:xfrm>
            <a:off x="1263485" y="2499742"/>
            <a:ext cx="7700993" cy="15323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B860 ATX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860</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TW</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角丸四角形 46">
            <a:extLst>
              <a:ext uri="{FF2B5EF4-FFF2-40B4-BE49-F238E27FC236}">
                <a16:creationId xmlns:a16="http://schemas.microsoft.com/office/drawing/2014/main" id="{1090AEB3-4C4E-4DE7-B9B7-C963A045A090}"/>
              </a:ext>
            </a:extLst>
          </p:cNvPr>
          <p:cNvSpPr/>
          <p:nvPr/>
        </p:nvSpPr>
        <p:spPr>
          <a:xfrm>
            <a:off x="1269206" y="3518684"/>
            <a:ext cx="7676526" cy="14725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B860 MATX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B</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860M-N</a:t>
            </a:r>
          </a:p>
        </p:txBody>
      </p:sp>
      <p:sp>
        <p:nvSpPr>
          <p:cNvPr id="34" name="角丸四角形 46">
            <a:extLst>
              <a:ext uri="{FF2B5EF4-FFF2-40B4-BE49-F238E27FC236}">
                <a16:creationId xmlns:a16="http://schemas.microsoft.com/office/drawing/2014/main" id="{07AF400C-5659-468E-BF01-6302ADEA5588}"/>
              </a:ext>
            </a:extLst>
          </p:cNvPr>
          <p:cNvSpPr/>
          <p:nvPr/>
        </p:nvSpPr>
        <p:spPr>
          <a:xfrm>
            <a:off x="1272952" y="3715603"/>
            <a:ext cx="2506960" cy="15129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B760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MATX</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ASRockB760M-HDV/M.2 DDR5</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角丸四角形 46">
            <a:extLst>
              <a:ext uri="{FF2B5EF4-FFF2-40B4-BE49-F238E27FC236}">
                <a16:creationId xmlns:a16="http://schemas.microsoft.com/office/drawing/2014/main" id="{A685283A-4E79-48E6-BAAA-24DE4B889E6E}"/>
              </a:ext>
            </a:extLst>
          </p:cNvPr>
          <p:cNvSpPr/>
          <p:nvPr/>
        </p:nvSpPr>
        <p:spPr>
          <a:xfrm>
            <a:off x="1263486" y="762332"/>
            <a:ext cx="7695486" cy="15323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Z890 ATX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ProArt</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Z890</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テキスト ボックス 32">
            <a:extLst>
              <a:ext uri="{FF2B5EF4-FFF2-40B4-BE49-F238E27FC236}">
                <a16:creationId xmlns:a16="http://schemas.microsoft.com/office/drawing/2014/main" id="{6A2040CF-9557-4BAD-AE12-FA059DE76914}"/>
              </a:ext>
            </a:extLst>
          </p:cNvPr>
          <p:cNvSpPr txBox="1"/>
          <p:nvPr/>
        </p:nvSpPr>
        <p:spPr>
          <a:xfrm>
            <a:off x="6300191" y="3848149"/>
            <a:ext cx="2804567"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2" name="スライド番号プレースホルダー 1">
            <a:extLst>
              <a:ext uri="{FF2B5EF4-FFF2-40B4-BE49-F238E27FC236}">
                <a16:creationId xmlns:a16="http://schemas.microsoft.com/office/drawing/2014/main" id="{B4A3DC9F-7134-42CB-A7C5-8634075D3521}"/>
              </a:ext>
            </a:extLst>
          </p:cNvPr>
          <p:cNvSpPr>
            <a:spLocks noGrp="1"/>
          </p:cNvSpPr>
          <p:nvPr>
            <p:ph type="sldNum" sz="quarter" idx="12"/>
          </p:nvPr>
        </p:nvSpPr>
        <p:spPr/>
        <p:txBody>
          <a:bodyPr/>
          <a:lstStyle/>
          <a:p>
            <a:fld id="{F9DFCEB9-CAE4-4F3C-93D0-85C4724A0355}" type="slidenum">
              <a:rPr kumimoji="1" lang="ja-JP" altLang="en-US" smtClean="0"/>
              <a:t>32</a:t>
            </a:fld>
            <a:endParaRPr kumimoji="1" lang="ja-JP" altLang="en-US"/>
          </a:p>
        </p:txBody>
      </p:sp>
      <p:sp>
        <p:nvSpPr>
          <p:cNvPr id="37" name="角丸四角形 46">
            <a:extLst>
              <a:ext uri="{FF2B5EF4-FFF2-40B4-BE49-F238E27FC236}">
                <a16:creationId xmlns:a16="http://schemas.microsoft.com/office/drawing/2014/main" id="{876D12D5-F2DC-496A-B6F6-FEF83B367FBA}"/>
              </a:ext>
            </a:extLst>
          </p:cNvPr>
          <p:cNvSpPr/>
          <p:nvPr/>
        </p:nvSpPr>
        <p:spPr>
          <a:xfrm>
            <a:off x="1272952" y="4827242"/>
            <a:ext cx="7670670" cy="11109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NUC</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46">
            <a:extLst>
              <a:ext uri="{FF2B5EF4-FFF2-40B4-BE49-F238E27FC236}">
                <a16:creationId xmlns:a16="http://schemas.microsoft.com/office/drawing/2014/main" id="{04868D45-0F84-A55D-0581-1C8292C12EF3}"/>
              </a:ext>
            </a:extLst>
          </p:cNvPr>
          <p:cNvSpPr/>
          <p:nvPr/>
        </p:nvSpPr>
        <p:spPr>
          <a:xfrm>
            <a:off x="1269207" y="3333112"/>
            <a:ext cx="7689766" cy="13591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B860</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MATX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B860M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Livemixer</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46">
            <a:extLst>
              <a:ext uri="{FF2B5EF4-FFF2-40B4-BE49-F238E27FC236}">
                <a16:creationId xmlns:a16="http://schemas.microsoft.com/office/drawing/2014/main" id="{3EE61978-83D0-46C2-AFC5-F7952441AE41}"/>
              </a:ext>
            </a:extLst>
          </p:cNvPr>
          <p:cNvSpPr/>
          <p:nvPr/>
        </p:nvSpPr>
        <p:spPr>
          <a:xfrm>
            <a:off x="1290971" y="2142199"/>
            <a:ext cx="7668002" cy="11357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Z890 MATX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PRIME Z890M-PLUS WIFI-CSM</a:t>
            </a:r>
          </a:p>
        </p:txBody>
      </p:sp>
      <p:sp>
        <p:nvSpPr>
          <p:cNvPr id="32" name="角丸四角形 46">
            <a:extLst>
              <a:ext uri="{FF2B5EF4-FFF2-40B4-BE49-F238E27FC236}">
                <a16:creationId xmlns:a16="http://schemas.microsoft.com/office/drawing/2014/main" id="{AA47B834-5133-452F-A231-BEBD95861662}"/>
              </a:ext>
            </a:extLst>
          </p:cNvPr>
          <p:cNvSpPr/>
          <p:nvPr/>
        </p:nvSpPr>
        <p:spPr>
          <a:xfrm>
            <a:off x="1265367" y="4980931"/>
            <a:ext cx="7670670" cy="11109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a:t>
            </a:r>
            <a:r>
              <a:rPr kumimoji="1" lang="en-US" altLang="ja-JP" sz="10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Deskmini</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角丸四角形 45">
            <a:extLst>
              <a:ext uri="{FF2B5EF4-FFF2-40B4-BE49-F238E27FC236}">
                <a16:creationId xmlns:a16="http://schemas.microsoft.com/office/drawing/2014/main" id="{31A68640-6096-4801-915E-6FF020DDFAC2}"/>
              </a:ext>
            </a:extLst>
          </p:cNvPr>
          <p:cNvSpPr/>
          <p:nvPr/>
        </p:nvSpPr>
        <p:spPr>
          <a:xfrm>
            <a:off x="3635896" y="4635713"/>
            <a:ext cx="5324371" cy="11625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B860 </a:t>
            </a:r>
            <a:r>
              <a:rPr lang="ja-JP" altLang="en-US" sz="1000" dirty="0">
                <a:solidFill>
                  <a:schemeClr val="bg1"/>
                </a:solidFill>
                <a:latin typeface="Meiryo UI" panose="020B0604030504040204" pitchFamily="50" charset="-128"/>
                <a:ea typeface="Meiryo UI" panose="020B0604030504040204" pitchFamily="50" charset="-128"/>
              </a:rPr>
              <a:t>ｍ</a:t>
            </a:r>
            <a:r>
              <a:rPr lang="en-US" altLang="ja-JP" sz="1000" dirty="0">
                <a:solidFill>
                  <a:schemeClr val="bg1"/>
                </a:solidFill>
                <a:latin typeface="Meiryo UI" panose="020B0604030504040204" pitchFamily="50" charset="-128"/>
                <a:ea typeface="Meiryo UI" panose="020B0604030504040204" pitchFamily="50" charset="-128"/>
              </a:rPr>
              <a:t>ITX </a:t>
            </a:r>
            <a:r>
              <a:rPr lang="nn-NO" altLang="ja-JP" sz="1000" dirty="0">
                <a:solidFill>
                  <a:schemeClr val="bg1"/>
                </a:solidFill>
                <a:latin typeface="Meiryo UI" panose="020B0604030504040204" pitchFamily="50" charset="-128"/>
                <a:ea typeface="Meiryo UI" panose="020B0604030504040204" pitchFamily="50" charset="-128"/>
              </a:rPr>
              <a:t> </a:t>
            </a:r>
            <a:r>
              <a:rPr lang="nn-NO" altLang="ja-JP" sz="800" dirty="0">
                <a:solidFill>
                  <a:schemeClr val="bg1"/>
                </a:solidFill>
                <a:latin typeface="Meiryo UI" panose="020B0604030504040204" pitchFamily="50" charset="-128"/>
                <a:ea typeface="Meiryo UI" panose="020B0604030504040204" pitchFamily="50" charset="-128"/>
              </a:rPr>
              <a:t>MSI B860</a:t>
            </a:r>
            <a:r>
              <a:rPr lang="en-US" altLang="ja-JP" sz="800" dirty="0">
                <a:solidFill>
                  <a:schemeClr val="bg1"/>
                </a:solidFill>
                <a:latin typeface="Meiryo UI" panose="020B0604030504040204" pitchFamily="50" charset="-128"/>
                <a:ea typeface="Meiryo UI" panose="020B0604030504040204" pitchFamily="50" charset="-128"/>
              </a:rPr>
              <a:t>I</a:t>
            </a:r>
            <a:r>
              <a:rPr lang="ja-JP" altLang="en-US" sz="800" dirty="0">
                <a:solidFill>
                  <a:schemeClr val="bg1"/>
                </a:solidFill>
                <a:latin typeface="Meiryo UI" panose="020B0604030504040204" pitchFamily="50" charset="-128"/>
                <a:ea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rPr>
              <a:t>EDGE TI WIFI</a:t>
            </a:r>
            <a:r>
              <a:rPr lang="nn-NO" altLang="ja-JP" sz="800" dirty="0">
                <a:solidFill>
                  <a:schemeClr val="bg1"/>
                </a:solidFill>
                <a:latin typeface="Meiryo UI" panose="020B0604030504040204" pitchFamily="50" charset="-128"/>
                <a:ea typeface="Meiryo UI" panose="020B0604030504040204" pitchFamily="50" charset="-128"/>
              </a:rPr>
              <a:t> </a:t>
            </a:r>
            <a:endParaRPr lang="en-US" altLang="ja-JP" sz="800" dirty="0">
              <a:solidFill>
                <a:schemeClr val="bg1"/>
              </a:solidFill>
              <a:latin typeface="Meiryo UI" panose="020B0604030504040204" pitchFamily="50" charset="-128"/>
              <a:ea typeface="Meiryo UI" panose="020B0604030504040204" pitchFamily="50" charset="-128"/>
            </a:endParaRPr>
          </a:p>
        </p:txBody>
      </p:sp>
      <p:sp>
        <p:nvSpPr>
          <p:cNvPr id="35" name="角丸四角形 45">
            <a:extLst>
              <a:ext uri="{FF2B5EF4-FFF2-40B4-BE49-F238E27FC236}">
                <a16:creationId xmlns:a16="http://schemas.microsoft.com/office/drawing/2014/main" id="{B2965FEE-CA61-4EDB-8895-7723775FEB22}"/>
              </a:ext>
            </a:extLst>
          </p:cNvPr>
          <p:cNvSpPr/>
          <p:nvPr/>
        </p:nvSpPr>
        <p:spPr>
          <a:xfrm>
            <a:off x="1279979" y="4212347"/>
            <a:ext cx="6460373" cy="112091"/>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H810 MATX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MSI H810M-E</a:t>
            </a:r>
          </a:p>
        </p:txBody>
      </p:sp>
      <p:sp>
        <p:nvSpPr>
          <p:cNvPr id="24" name="角丸四角形 46">
            <a:extLst>
              <a:ext uri="{FF2B5EF4-FFF2-40B4-BE49-F238E27FC236}">
                <a16:creationId xmlns:a16="http://schemas.microsoft.com/office/drawing/2014/main" id="{21C55FEA-7859-4EA8-8134-E2F5DA9B9955}"/>
              </a:ext>
            </a:extLst>
          </p:cNvPr>
          <p:cNvSpPr/>
          <p:nvPr/>
        </p:nvSpPr>
        <p:spPr>
          <a:xfrm>
            <a:off x="6084168" y="1515399"/>
            <a:ext cx="2864461" cy="16492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Z990 ATX</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角丸四角形 46">
            <a:extLst>
              <a:ext uri="{FF2B5EF4-FFF2-40B4-BE49-F238E27FC236}">
                <a16:creationId xmlns:a16="http://schemas.microsoft.com/office/drawing/2014/main" id="{C25C10D7-6962-41DF-8E4B-0C0A53621D8E}"/>
              </a:ext>
            </a:extLst>
          </p:cNvPr>
          <p:cNvSpPr/>
          <p:nvPr/>
        </p:nvSpPr>
        <p:spPr>
          <a:xfrm>
            <a:off x="6078107" y="1010730"/>
            <a:ext cx="2864461" cy="173500"/>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Z990 ATX</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角丸四角形 46">
            <a:extLst>
              <a:ext uri="{FF2B5EF4-FFF2-40B4-BE49-F238E27FC236}">
                <a16:creationId xmlns:a16="http://schemas.microsoft.com/office/drawing/2014/main" id="{0041512D-3CB9-473A-AFA6-2DE426782DCC}"/>
              </a:ext>
            </a:extLst>
          </p:cNvPr>
          <p:cNvSpPr/>
          <p:nvPr/>
        </p:nvSpPr>
        <p:spPr>
          <a:xfrm>
            <a:off x="6055604" y="522028"/>
            <a:ext cx="2903369" cy="1788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Z990 ATX</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46">
            <a:extLst>
              <a:ext uri="{FF2B5EF4-FFF2-40B4-BE49-F238E27FC236}">
                <a16:creationId xmlns:a16="http://schemas.microsoft.com/office/drawing/2014/main" id="{1E144481-EAB7-404F-BDAF-9217D9184AF1}"/>
              </a:ext>
            </a:extLst>
          </p:cNvPr>
          <p:cNvSpPr/>
          <p:nvPr/>
        </p:nvSpPr>
        <p:spPr>
          <a:xfrm>
            <a:off x="6876256" y="1917292"/>
            <a:ext cx="2072529" cy="14962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Z990/Z970 MATX</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角丸四角形 46">
            <a:extLst>
              <a:ext uri="{FF2B5EF4-FFF2-40B4-BE49-F238E27FC236}">
                <a16:creationId xmlns:a16="http://schemas.microsoft.com/office/drawing/2014/main" id="{E9051B83-A06F-4483-AA06-77B239A68850}"/>
              </a:ext>
            </a:extLst>
          </p:cNvPr>
          <p:cNvSpPr/>
          <p:nvPr/>
        </p:nvSpPr>
        <p:spPr>
          <a:xfrm>
            <a:off x="6876256" y="2314978"/>
            <a:ext cx="2074942" cy="15500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B960 ATX</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46">
            <a:extLst>
              <a:ext uri="{FF2B5EF4-FFF2-40B4-BE49-F238E27FC236}">
                <a16:creationId xmlns:a16="http://schemas.microsoft.com/office/drawing/2014/main" id="{F216E105-5EFD-4EED-8C95-D878142E0595}"/>
              </a:ext>
            </a:extLst>
          </p:cNvPr>
          <p:cNvSpPr/>
          <p:nvPr/>
        </p:nvSpPr>
        <p:spPr>
          <a:xfrm>
            <a:off x="6876256" y="2972784"/>
            <a:ext cx="2074942" cy="15030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B960 MATX</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角丸四角形 46">
            <a:extLst>
              <a:ext uri="{FF2B5EF4-FFF2-40B4-BE49-F238E27FC236}">
                <a16:creationId xmlns:a16="http://schemas.microsoft.com/office/drawing/2014/main" id="{386F01A2-EA66-4E25-88A1-B4F4538C61D7}"/>
              </a:ext>
            </a:extLst>
          </p:cNvPr>
          <p:cNvSpPr/>
          <p:nvPr/>
        </p:nvSpPr>
        <p:spPr>
          <a:xfrm>
            <a:off x="6884030" y="3165676"/>
            <a:ext cx="2074942" cy="126154"/>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B960 MATX</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36CE7266-1DBF-4702-859F-8CCA41305D0D}"/>
              </a:ext>
            </a:extLst>
          </p:cNvPr>
          <p:cNvSpPr txBox="1"/>
          <p:nvPr/>
        </p:nvSpPr>
        <p:spPr>
          <a:xfrm>
            <a:off x="7701110" y="4100226"/>
            <a:ext cx="1403648"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5" name="角丸四角形 45">
            <a:extLst>
              <a:ext uri="{FF2B5EF4-FFF2-40B4-BE49-F238E27FC236}">
                <a16:creationId xmlns:a16="http://schemas.microsoft.com/office/drawing/2014/main" id="{0CFDD1BF-ED1B-48BB-9F47-DFD18F3FF725}"/>
              </a:ext>
            </a:extLst>
          </p:cNvPr>
          <p:cNvSpPr/>
          <p:nvPr/>
        </p:nvSpPr>
        <p:spPr>
          <a:xfrm>
            <a:off x="3851920" y="4376702"/>
            <a:ext cx="5075123" cy="106976"/>
          </a:xfrm>
          <a:prstGeom prst="roundRect">
            <a:avLst/>
          </a:prstGeom>
          <a:solidFill>
            <a:schemeClr val="bg1">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MATX H610</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テキスト ボックス 45">
            <a:extLst>
              <a:ext uri="{FF2B5EF4-FFF2-40B4-BE49-F238E27FC236}">
                <a16:creationId xmlns:a16="http://schemas.microsoft.com/office/drawing/2014/main" id="{7384CC91-65CC-4A41-8756-E0E930DE5881}"/>
              </a:ext>
            </a:extLst>
          </p:cNvPr>
          <p:cNvSpPr txBox="1"/>
          <p:nvPr/>
        </p:nvSpPr>
        <p:spPr>
          <a:xfrm>
            <a:off x="3274656" y="2636251"/>
            <a:ext cx="2804567"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p>
        </p:txBody>
      </p:sp>
    </p:spTree>
    <p:extLst>
      <p:ext uri="{BB962C8B-B14F-4D97-AF65-F5344CB8AC3E}">
        <p14:creationId xmlns:p14="http://schemas.microsoft.com/office/powerpoint/2010/main" val="4058779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4203121435"/>
              </p:ext>
            </p:extLst>
          </p:nvPr>
        </p:nvGraphicFramePr>
        <p:xfrm>
          <a:off x="35496" y="51469"/>
          <a:ext cx="8943605" cy="4968553"/>
        </p:xfrm>
        <a:graphic>
          <a:graphicData uri="http://schemas.openxmlformats.org/drawingml/2006/table">
            <a:tbl>
              <a:tblPr firstRow="1" bandRow="1">
                <a:tableStyleId>{5C22544A-7EE6-4342-B048-85BDC9FD1C3A}</a:tableStyleId>
              </a:tblPr>
              <a:tblGrid>
                <a:gridCol w="1235393">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286455">
                <a:tc>
                  <a:txBody>
                    <a:bodyPr/>
                    <a:lstStyle/>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TW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AMD</a:t>
                      </a:r>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Desk </a:t>
                      </a:r>
                    </a:p>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Lineup TW</a:t>
                      </a:r>
                      <a:endParaRPr kumimoji="1" lang="en-US" altLang="ja-JP" sz="500" i="1" dirty="0">
                        <a:solidFill>
                          <a:srgbClr val="FFFF00"/>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96633">
                <a:tc>
                  <a:txBody>
                    <a:bodyPr/>
                    <a:lstStyle/>
                    <a:p>
                      <a:pPr algn="l"/>
                      <a:r>
                        <a:rPr kumimoji="1" lang="en-US" altLang="ja-JP" sz="9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Threadripper</a:t>
                      </a:r>
                      <a:endParaRPr kumimoji="1" lang="en-US" altLang="ja-JP" sz="9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960440">
                <a:tc>
                  <a:txBody>
                    <a:bodyPr/>
                    <a:lstStyle/>
                    <a:p>
                      <a:pPr algn="l"/>
                      <a:r>
                        <a:rPr kumimoji="1" lang="en-US" altLang="ja-JP" sz="9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Ryzen</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kumimoji="1" lang="ja-JP" altLang="en-US" sz="1000" dirty="0"/>
                        <a:t>　</a:t>
                      </a: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54" name="角丸四角形 36">
            <a:extLst>
              <a:ext uri="{FF2B5EF4-FFF2-40B4-BE49-F238E27FC236}">
                <a16:creationId xmlns:a16="http://schemas.microsoft.com/office/drawing/2014/main" id="{65AD545E-C6C2-473F-8384-88810568D5F0}"/>
              </a:ext>
            </a:extLst>
          </p:cNvPr>
          <p:cNvSpPr/>
          <p:nvPr/>
        </p:nvSpPr>
        <p:spPr>
          <a:xfrm>
            <a:off x="1279577" y="4243409"/>
            <a:ext cx="7696909" cy="148569"/>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 5700X AM4</a:t>
            </a:r>
          </a:p>
        </p:txBody>
      </p:sp>
      <p:sp>
        <p:nvSpPr>
          <p:cNvPr id="47" name="角丸四角形 42">
            <a:extLst>
              <a:ext uri="{FF2B5EF4-FFF2-40B4-BE49-F238E27FC236}">
                <a16:creationId xmlns:a16="http://schemas.microsoft.com/office/drawing/2014/main" id="{B1353B81-0FBD-422F-8736-01B4381EBDB2}"/>
              </a:ext>
            </a:extLst>
          </p:cNvPr>
          <p:cNvSpPr/>
          <p:nvPr/>
        </p:nvSpPr>
        <p:spPr>
          <a:xfrm>
            <a:off x="1274773" y="4586121"/>
            <a:ext cx="7710133" cy="127349"/>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 4500</a:t>
            </a:r>
            <a:r>
              <a:rPr lang="en-US" altLang="ja-JP" sz="700" b="1" dirty="0">
                <a:solidFill>
                  <a:schemeClr val="tx1"/>
                </a:solidFill>
                <a:latin typeface="Meiryo UI" panose="020B0604030504040204" pitchFamily="50" charset="-128"/>
                <a:ea typeface="Meiryo UI" panose="020B0604030504040204" pitchFamily="50" charset="-128"/>
              </a:rPr>
              <a:t> AM4</a:t>
            </a:r>
            <a:endPar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角丸四角形 36">
            <a:extLst>
              <a:ext uri="{FF2B5EF4-FFF2-40B4-BE49-F238E27FC236}">
                <a16:creationId xmlns:a16="http://schemas.microsoft.com/office/drawing/2014/main" id="{C3E0234D-E585-4C8F-B381-DB9382ED8D13}"/>
              </a:ext>
            </a:extLst>
          </p:cNvPr>
          <p:cNvSpPr/>
          <p:nvPr/>
        </p:nvSpPr>
        <p:spPr>
          <a:xfrm>
            <a:off x="1267710" y="1702307"/>
            <a:ext cx="7700979" cy="149363"/>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Ryzen9-7900 12C/24T TDP65W</a:t>
            </a:r>
          </a:p>
        </p:txBody>
      </p:sp>
      <p:sp>
        <p:nvSpPr>
          <p:cNvPr id="52" name="角丸四角形 36">
            <a:extLst>
              <a:ext uri="{FF2B5EF4-FFF2-40B4-BE49-F238E27FC236}">
                <a16:creationId xmlns:a16="http://schemas.microsoft.com/office/drawing/2014/main" id="{FE16DC29-13F9-4775-880D-77BC604D35BE}"/>
              </a:ext>
            </a:extLst>
          </p:cNvPr>
          <p:cNvSpPr/>
          <p:nvPr/>
        </p:nvSpPr>
        <p:spPr>
          <a:xfrm>
            <a:off x="1266641" y="2767895"/>
            <a:ext cx="7705287" cy="140399"/>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Ryzen7-7700 8C/16T TDP65W</a:t>
            </a:r>
          </a:p>
        </p:txBody>
      </p:sp>
      <p:sp>
        <p:nvSpPr>
          <p:cNvPr id="24" name="角丸四角形 36">
            <a:extLst>
              <a:ext uri="{FF2B5EF4-FFF2-40B4-BE49-F238E27FC236}">
                <a16:creationId xmlns:a16="http://schemas.microsoft.com/office/drawing/2014/main" id="{DC50E2CF-9CBF-4994-BF26-8DE2B8786F69}"/>
              </a:ext>
            </a:extLst>
          </p:cNvPr>
          <p:cNvSpPr/>
          <p:nvPr/>
        </p:nvSpPr>
        <p:spPr>
          <a:xfrm>
            <a:off x="1274773" y="2258371"/>
            <a:ext cx="7690147" cy="142417"/>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Ryzen7-7800X3D 8C/16T TDP120W</a:t>
            </a:r>
          </a:p>
        </p:txBody>
      </p:sp>
      <p:sp>
        <p:nvSpPr>
          <p:cNvPr id="39" name="角丸四角形 42">
            <a:extLst>
              <a:ext uri="{FF2B5EF4-FFF2-40B4-BE49-F238E27FC236}">
                <a16:creationId xmlns:a16="http://schemas.microsoft.com/office/drawing/2014/main" id="{0946A887-98A4-4275-9E46-138846B30F0C}"/>
              </a:ext>
            </a:extLst>
          </p:cNvPr>
          <p:cNvSpPr/>
          <p:nvPr/>
        </p:nvSpPr>
        <p:spPr>
          <a:xfrm>
            <a:off x="1281482" y="3131849"/>
            <a:ext cx="7683437" cy="134166"/>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Ryzen5-7500F AM5 6C/12T TDP65W</a:t>
            </a:r>
          </a:p>
        </p:txBody>
      </p:sp>
      <p:sp>
        <p:nvSpPr>
          <p:cNvPr id="41" name="角丸四角形 15">
            <a:extLst>
              <a:ext uri="{FF2B5EF4-FFF2-40B4-BE49-F238E27FC236}">
                <a16:creationId xmlns:a16="http://schemas.microsoft.com/office/drawing/2014/main" id="{8D94E47C-4965-474B-A086-A443A4393593}"/>
              </a:ext>
            </a:extLst>
          </p:cNvPr>
          <p:cNvSpPr/>
          <p:nvPr/>
        </p:nvSpPr>
        <p:spPr>
          <a:xfrm>
            <a:off x="1278885" y="3495142"/>
            <a:ext cx="7696378" cy="145921"/>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Ryzen7 8700G AM5</a:t>
            </a:r>
          </a:p>
        </p:txBody>
      </p:sp>
      <p:sp>
        <p:nvSpPr>
          <p:cNvPr id="46" name="角丸四角形 22">
            <a:extLst>
              <a:ext uri="{FF2B5EF4-FFF2-40B4-BE49-F238E27FC236}">
                <a16:creationId xmlns:a16="http://schemas.microsoft.com/office/drawing/2014/main" id="{23C9A795-8A2C-4038-B70F-7DD0F7610B1C}"/>
              </a:ext>
            </a:extLst>
          </p:cNvPr>
          <p:cNvSpPr/>
          <p:nvPr/>
        </p:nvSpPr>
        <p:spPr>
          <a:xfrm>
            <a:off x="1281517" y="3675169"/>
            <a:ext cx="7696378" cy="144735"/>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 8600G AM5</a:t>
            </a:r>
          </a:p>
        </p:txBody>
      </p:sp>
      <p:sp>
        <p:nvSpPr>
          <p:cNvPr id="70" name="角丸四角形 22">
            <a:extLst>
              <a:ext uri="{FF2B5EF4-FFF2-40B4-BE49-F238E27FC236}">
                <a16:creationId xmlns:a16="http://schemas.microsoft.com/office/drawing/2014/main" id="{C52FA3F2-2B93-4179-A148-6C732C684884}"/>
              </a:ext>
            </a:extLst>
          </p:cNvPr>
          <p:cNvSpPr/>
          <p:nvPr/>
        </p:nvSpPr>
        <p:spPr>
          <a:xfrm>
            <a:off x="1282723" y="3864538"/>
            <a:ext cx="7696378" cy="147372"/>
          </a:xfrm>
          <a:prstGeom prst="roundRect">
            <a:avLst>
              <a:gd name="adj" fmla="val 3447"/>
            </a:avLst>
          </a:prstGeom>
          <a:solidFill>
            <a:schemeClr val="accent5">
              <a:lumMod val="40000"/>
              <a:lumOff val="60000"/>
            </a:schemeClr>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 8500G AM5</a:t>
            </a:r>
          </a:p>
        </p:txBody>
      </p:sp>
      <p:sp>
        <p:nvSpPr>
          <p:cNvPr id="78" name="角丸四角形 36">
            <a:extLst>
              <a:ext uri="{FF2B5EF4-FFF2-40B4-BE49-F238E27FC236}">
                <a16:creationId xmlns:a16="http://schemas.microsoft.com/office/drawing/2014/main" id="{D7B92B39-7A4A-4C04-A899-31774840A079}"/>
              </a:ext>
            </a:extLst>
          </p:cNvPr>
          <p:cNvSpPr/>
          <p:nvPr/>
        </p:nvSpPr>
        <p:spPr>
          <a:xfrm>
            <a:off x="1281017" y="2603532"/>
            <a:ext cx="7682480" cy="141259"/>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Ryzen7-9700X 8C/16T TDP65W</a:t>
            </a:r>
          </a:p>
        </p:txBody>
      </p:sp>
      <p:sp>
        <p:nvSpPr>
          <p:cNvPr id="80" name="角丸四角形 36">
            <a:extLst>
              <a:ext uri="{FF2B5EF4-FFF2-40B4-BE49-F238E27FC236}">
                <a16:creationId xmlns:a16="http://schemas.microsoft.com/office/drawing/2014/main" id="{A3358769-AA7C-4A7A-A002-794AAD2D308C}"/>
              </a:ext>
            </a:extLst>
          </p:cNvPr>
          <p:cNvSpPr/>
          <p:nvPr/>
        </p:nvSpPr>
        <p:spPr>
          <a:xfrm>
            <a:off x="1282191" y="2098570"/>
            <a:ext cx="7682480" cy="142768"/>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Ryzen7-9800X3D 8C/16T TDP120W</a:t>
            </a:r>
          </a:p>
        </p:txBody>
      </p:sp>
      <p:sp>
        <p:nvSpPr>
          <p:cNvPr id="81" name="角丸四角形 36">
            <a:extLst>
              <a:ext uri="{FF2B5EF4-FFF2-40B4-BE49-F238E27FC236}">
                <a16:creationId xmlns:a16="http://schemas.microsoft.com/office/drawing/2014/main" id="{0BF91719-0621-445D-BA9E-04444F10BAB1}"/>
              </a:ext>
            </a:extLst>
          </p:cNvPr>
          <p:cNvSpPr/>
          <p:nvPr/>
        </p:nvSpPr>
        <p:spPr>
          <a:xfrm>
            <a:off x="1281482" y="1507901"/>
            <a:ext cx="7690147" cy="142768"/>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Ryzen9-9900X3D 12C/24T TDP120W</a:t>
            </a:r>
          </a:p>
        </p:txBody>
      </p:sp>
      <p:sp>
        <p:nvSpPr>
          <p:cNvPr id="82" name="角丸四角形 36">
            <a:extLst>
              <a:ext uri="{FF2B5EF4-FFF2-40B4-BE49-F238E27FC236}">
                <a16:creationId xmlns:a16="http://schemas.microsoft.com/office/drawing/2014/main" id="{E6E1510D-B1FA-4139-81A7-C6401414C95D}"/>
              </a:ext>
            </a:extLst>
          </p:cNvPr>
          <p:cNvSpPr/>
          <p:nvPr/>
        </p:nvSpPr>
        <p:spPr>
          <a:xfrm>
            <a:off x="1277718" y="1322234"/>
            <a:ext cx="7694658" cy="142768"/>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Ryzen9-9950X3D 16C/32T TDP170W</a:t>
            </a:r>
          </a:p>
        </p:txBody>
      </p:sp>
      <p:sp>
        <p:nvSpPr>
          <p:cNvPr id="35" name="角丸四角形 8">
            <a:extLst>
              <a:ext uri="{FF2B5EF4-FFF2-40B4-BE49-F238E27FC236}">
                <a16:creationId xmlns:a16="http://schemas.microsoft.com/office/drawing/2014/main" id="{B74AB20B-5345-4284-8B6A-7B266B2DD715}"/>
              </a:ext>
            </a:extLst>
          </p:cNvPr>
          <p:cNvSpPr/>
          <p:nvPr/>
        </p:nvSpPr>
        <p:spPr>
          <a:xfrm>
            <a:off x="1287734" y="753544"/>
            <a:ext cx="7668549" cy="107477"/>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err="1">
                <a:solidFill>
                  <a:schemeClr val="bg1"/>
                </a:solidFill>
                <a:latin typeface="Meiryo UI" panose="020B0604030504040204" pitchFamily="50" charset="-128"/>
                <a:ea typeface="Meiryo UI" panose="020B0604030504040204" pitchFamily="50" charset="-128"/>
              </a:rPr>
              <a:t>Threadripper</a:t>
            </a:r>
            <a:r>
              <a:rPr lang="en-US" altLang="ja-JP" sz="1000" dirty="0">
                <a:solidFill>
                  <a:schemeClr val="bg1"/>
                </a:solidFill>
                <a:latin typeface="Meiryo UI" panose="020B0604030504040204" pitchFamily="50" charset="-128"/>
                <a:ea typeface="Meiryo UI" panose="020B0604030504040204" pitchFamily="50" charset="-128"/>
              </a:rPr>
              <a:t>  9980X/9970X/9960X TDP350W</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01135656-3EE8-41BD-BE0F-251BCB5FE591}"/>
              </a:ext>
            </a:extLst>
          </p:cNvPr>
          <p:cNvSpPr>
            <a:spLocks noGrp="1"/>
          </p:cNvSpPr>
          <p:nvPr>
            <p:ph type="sldNum" sz="quarter" idx="12"/>
          </p:nvPr>
        </p:nvSpPr>
        <p:spPr/>
        <p:txBody>
          <a:bodyPr/>
          <a:lstStyle/>
          <a:p>
            <a:fld id="{F9DFCEB9-CAE4-4F3C-93D0-85C4724A0355}" type="slidenum">
              <a:rPr kumimoji="1" lang="ja-JP" altLang="en-US" smtClean="0"/>
              <a:t>33</a:t>
            </a:fld>
            <a:endParaRPr kumimoji="1" lang="ja-JP" altLang="en-US"/>
          </a:p>
        </p:txBody>
      </p:sp>
      <p:sp>
        <p:nvSpPr>
          <p:cNvPr id="50" name="角丸四角形 42">
            <a:extLst>
              <a:ext uri="{FF2B5EF4-FFF2-40B4-BE49-F238E27FC236}">
                <a16:creationId xmlns:a16="http://schemas.microsoft.com/office/drawing/2014/main" id="{9073622B-CA27-4762-A52F-79C4CC8BBE7C}"/>
              </a:ext>
            </a:extLst>
          </p:cNvPr>
          <p:cNvSpPr/>
          <p:nvPr/>
        </p:nvSpPr>
        <p:spPr>
          <a:xfrm>
            <a:off x="1289149" y="2956185"/>
            <a:ext cx="2562771" cy="140399"/>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Ryzen5-9600X 6C/12T TDP65W</a:t>
            </a:r>
          </a:p>
        </p:txBody>
      </p:sp>
      <p:sp>
        <p:nvSpPr>
          <p:cNvPr id="53" name="角丸四角形 8">
            <a:extLst>
              <a:ext uri="{FF2B5EF4-FFF2-40B4-BE49-F238E27FC236}">
                <a16:creationId xmlns:a16="http://schemas.microsoft.com/office/drawing/2014/main" id="{596AE6BA-FC0C-4906-A213-3ADEDCD9A320}"/>
              </a:ext>
            </a:extLst>
          </p:cNvPr>
          <p:cNvSpPr/>
          <p:nvPr/>
        </p:nvSpPr>
        <p:spPr>
          <a:xfrm>
            <a:off x="1281482" y="605642"/>
            <a:ext cx="7668549" cy="107477"/>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err="1">
                <a:solidFill>
                  <a:schemeClr val="bg1"/>
                </a:solidFill>
                <a:latin typeface="Meiryo UI" panose="020B0604030504040204" pitchFamily="50" charset="-128"/>
                <a:ea typeface="Meiryo UI" panose="020B0604030504040204" pitchFamily="50" charset="-128"/>
              </a:rPr>
              <a:t>Threadripper</a:t>
            </a:r>
            <a:r>
              <a:rPr lang="en-US" altLang="ja-JP" sz="1000" dirty="0">
                <a:solidFill>
                  <a:schemeClr val="bg1"/>
                </a:solidFill>
                <a:latin typeface="Meiryo UI" panose="020B0604030504040204" pitchFamily="50" charset="-128"/>
                <a:ea typeface="Meiryo UI" panose="020B0604030504040204" pitchFamily="50" charset="-128"/>
              </a:rPr>
              <a:t> PRO 9995/9985/9975/9965/9955WX TDP350W</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37" name="テキスト ボックス 36">
            <a:extLst>
              <a:ext uri="{FF2B5EF4-FFF2-40B4-BE49-F238E27FC236}">
                <a16:creationId xmlns:a16="http://schemas.microsoft.com/office/drawing/2014/main" id="{19CE664C-3E43-4DB5-8AEC-D796D1C96DC3}"/>
              </a:ext>
            </a:extLst>
          </p:cNvPr>
          <p:cNvSpPr txBox="1"/>
          <p:nvPr/>
        </p:nvSpPr>
        <p:spPr>
          <a:xfrm>
            <a:off x="4327610" y="715511"/>
            <a:ext cx="1178061" cy="200055"/>
          </a:xfrm>
          <a:prstGeom prst="rect">
            <a:avLst/>
          </a:prstGeom>
          <a:noFill/>
        </p:spPr>
        <p:txBody>
          <a:bodyPr wrap="square" rtlCol="0">
            <a:spAutoFit/>
          </a:bodyPr>
          <a:lstStyle/>
          <a:p>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※GALLERIA</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も採用投入</a:t>
            </a:r>
            <a:endParaRPr kumimoji="1" lang="ja-JP" altLang="en-US" sz="1200" dirty="0"/>
          </a:p>
        </p:txBody>
      </p:sp>
      <p:sp>
        <p:nvSpPr>
          <p:cNvPr id="36" name="角丸四角形 42">
            <a:extLst>
              <a:ext uri="{FF2B5EF4-FFF2-40B4-BE49-F238E27FC236}">
                <a16:creationId xmlns:a16="http://schemas.microsoft.com/office/drawing/2014/main" id="{995227B9-C650-4942-A74C-B81311D160E0}"/>
              </a:ext>
            </a:extLst>
          </p:cNvPr>
          <p:cNvSpPr/>
          <p:nvPr/>
        </p:nvSpPr>
        <p:spPr>
          <a:xfrm>
            <a:off x="1275012" y="4429076"/>
            <a:ext cx="1712812" cy="127349"/>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 5500GT</a:t>
            </a:r>
            <a:r>
              <a:rPr lang="en-US" altLang="ja-JP" sz="700" b="1" dirty="0">
                <a:solidFill>
                  <a:schemeClr val="tx1"/>
                </a:solidFill>
                <a:latin typeface="Meiryo UI" panose="020B0604030504040204" pitchFamily="50" charset="-128"/>
                <a:ea typeface="Meiryo UI" panose="020B0604030504040204" pitchFamily="50" charset="-128"/>
              </a:rPr>
              <a:t> AM4</a:t>
            </a:r>
            <a:endPar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角丸四角形 42">
            <a:extLst>
              <a:ext uri="{FF2B5EF4-FFF2-40B4-BE49-F238E27FC236}">
                <a16:creationId xmlns:a16="http://schemas.microsoft.com/office/drawing/2014/main" id="{9336725F-8B31-49AB-BC79-3B0C3C10A161}"/>
              </a:ext>
            </a:extLst>
          </p:cNvPr>
          <p:cNvSpPr/>
          <p:nvPr/>
        </p:nvSpPr>
        <p:spPr>
          <a:xfrm>
            <a:off x="3851920" y="3309474"/>
            <a:ext cx="5098111" cy="126371"/>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rPr>
              <a:t>TBD Ryzen5-7400</a:t>
            </a:r>
          </a:p>
        </p:txBody>
      </p:sp>
      <p:sp>
        <p:nvSpPr>
          <p:cNvPr id="27" name="角丸四角形 36">
            <a:extLst>
              <a:ext uri="{FF2B5EF4-FFF2-40B4-BE49-F238E27FC236}">
                <a16:creationId xmlns:a16="http://schemas.microsoft.com/office/drawing/2014/main" id="{A4563953-94AB-4641-842C-BED3F236837A}"/>
              </a:ext>
            </a:extLst>
          </p:cNvPr>
          <p:cNvSpPr/>
          <p:nvPr/>
        </p:nvSpPr>
        <p:spPr>
          <a:xfrm>
            <a:off x="1287734" y="1147400"/>
            <a:ext cx="7691367" cy="149364"/>
          </a:xfrm>
          <a:prstGeom prst="roundRect">
            <a:avLst>
              <a:gd name="adj" fmla="val 3447"/>
            </a:avLst>
          </a:prstGeom>
          <a:solidFill>
            <a:srgbClr val="FFC00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Ryzen9-9950X3D2 TDP200W</a:t>
            </a:r>
          </a:p>
        </p:txBody>
      </p:sp>
      <p:sp>
        <p:nvSpPr>
          <p:cNvPr id="28" name="角丸四角形 36">
            <a:extLst>
              <a:ext uri="{FF2B5EF4-FFF2-40B4-BE49-F238E27FC236}">
                <a16:creationId xmlns:a16="http://schemas.microsoft.com/office/drawing/2014/main" id="{DA7DB998-7664-49DB-B207-F5C5C10567C2}"/>
              </a:ext>
            </a:extLst>
          </p:cNvPr>
          <p:cNvSpPr/>
          <p:nvPr/>
        </p:nvSpPr>
        <p:spPr>
          <a:xfrm>
            <a:off x="1289150" y="1925186"/>
            <a:ext cx="7682480" cy="141259"/>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Ryzen7-9850X3D TDP120W</a:t>
            </a:r>
          </a:p>
        </p:txBody>
      </p:sp>
      <p:sp>
        <p:nvSpPr>
          <p:cNvPr id="29" name="角丸四角形 42">
            <a:extLst>
              <a:ext uri="{FF2B5EF4-FFF2-40B4-BE49-F238E27FC236}">
                <a16:creationId xmlns:a16="http://schemas.microsoft.com/office/drawing/2014/main" id="{1EE152B1-718C-4F76-B119-C5D1A11D593F}"/>
              </a:ext>
            </a:extLst>
          </p:cNvPr>
          <p:cNvSpPr/>
          <p:nvPr/>
        </p:nvSpPr>
        <p:spPr>
          <a:xfrm>
            <a:off x="3851920" y="4881121"/>
            <a:ext cx="5132986" cy="109160"/>
          </a:xfrm>
          <a:prstGeom prst="roundRect">
            <a:avLst>
              <a:gd name="adj" fmla="val 3447"/>
            </a:avLst>
          </a:prstGeom>
          <a:solidFill>
            <a:srgbClr val="FFFF00"/>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rPr>
              <a:t>TBD Ryzen3 5300G</a:t>
            </a:r>
            <a:r>
              <a:rPr lang="en-US" altLang="ja-JP" sz="700" b="1" dirty="0">
                <a:solidFill>
                  <a:schemeClr val="bg1">
                    <a:lumMod val="50000"/>
                  </a:schemeClr>
                </a:solidFill>
                <a:latin typeface="Meiryo UI" panose="020B0604030504040204" pitchFamily="50" charset="-128"/>
                <a:ea typeface="Meiryo UI" panose="020B0604030504040204" pitchFamily="50" charset="-128"/>
              </a:rPr>
              <a:t> AM4</a:t>
            </a:r>
            <a:endParaRPr lang="en-US" altLang="ja-JP" sz="700" b="1" dirty="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C34A195F-67C8-4F39-B263-4F6DF5F3AFD4}"/>
              </a:ext>
            </a:extLst>
          </p:cNvPr>
          <p:cNvSpPr txBox="1"/>
          <p:nvPr/>
        </p:nvSpPr>
        <p:spPr>
          <a:xfrm>
            <a:off x="2934254" y="4376167"/>
            <a:ext cx="1292847"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角丸四角形 42">
            <a:extLst>
              <a:ext uri="{FF2B5EF4-FFF2-40B4-BE49-F238E27FC236}">
                <a16:creationId xmlns:a16="http://schemas.microsoft.com/office/drawing/2014/main" id="{A65ECE3B-887B-49A1-9DF6-7FA50D8672D6}"/>
              </a:ext>
            </a:extLst>
          </p:cNvPr>
          <p:cNvSpPr/>
          <p:nvPr/>
        </p:nvSpPr>
        <p:spPr>
          <a:xfrm>
            <a:off x="1619672" y="4764131"/>
            <a:ext cx="7365234" cy="111875"/>
          </a:xfrm>
          <a:prstGeom prst="roundRect">
            <a:avLst>
              <a:gd name="adj" fmla="val 3447"/>
            </a:avLst>
          </a:prstGeom>
          <a:solidFill>
            <a:schemeClr val="accent5">
              <a:lumMod val="40000"/>
              <a:lumOff val="60000"/>
            </a:schemeClr>
          </a:solidFill>
          <a:ln w="3175">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Ryzen5 3400G</a:t>
            </a:r>
            <a:r>
              <a:rPr lang="en-US" altLang="ja-JP" sz="700" b="1" dirty="0">
                <a:solidFill>
                  <a:schemeClr val="tx1"/>
                </a:solidFill>
                <a:latin typeface="Meiryo UI" panose="020B0604030504040204" pitchFamily="50" charset="-128"/>
                <a:ea typeface="Meiryo UI" panose="020B0604030504040204" pitchFamily="50" charset="-128"/>
              </a:rPr>
              <a:t> AM4</a:t>
            </a:r>
            <a:endParaRPr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テキスト ボックス 32">
            <a:extLst>
              <a:ext uri="{FF2B5EF4-FFF2-40B4-BE49-F238E27FC236}">
                <a16:creationId xmlns:a16="http://schemas.microsoft.com/office/drawing/2014/main" id="{BD7CB545-FC5B-442B-9F45-EDCA36354910}"/>
              </a:ext>
            </a:extLst>
          </p:cNvPr>
          <p:cNvSpPr txBox="1"/>
          <p:nvPr/>
        </p:nvSpPr>
        <p:spPr>
          <a:xfrm>
            <a:off x="3800872" y="2914208"/>
            <a:ext cx="1292847"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角丸四角形 36">
            <a:extLst>
              <a:ext uri="{FF2B5EF4-FFF2-40B4-BE49-F238E27FC236}">
                <a16:creationId xmlns:a16="http://schemas.microsoft.com/office/drawing/2014/main" id="{666651D3-9AE1-43E8-B7C1-D5BED9EF4E62}"/>
              </a:ext>
            </a:extLst>
          </p:cNvPr>
          <p:cNvSpPr/>
          <p:nvPr/>
        </p:nvSpPr>
        <p:spPr>
          <a:xfrm>
            <a:off x="2483768" y="4083918"/>
            <a:ext cx="6487003" cy="147372"/>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 5700X3D AM4</a:t>
            </a:r>
          </a:p>
        </p:txBody>
      </p:sp>
      <p:sp>
        <p:nvSpPr>
          <p:cNvPr id="38" name="角丸四角形 36">
            <a:extLst>
              <a:ext uri="{FF2B5EF4-FFF2-40B4-BE49-F238E27FC236}">
                <a16:creationId xmlns:a16="http://schemas.microsoft.com/office/drawing/2014/main" id="{730026B5-D858-416D-84CB-904BFC863F5C}"/>
              </a:ext>
            </a:extLst>
          </p:cNvPr>
          <p:cNvSpPr/>
          <p:nvPr/>
        </p:nvSpPr>
        <p:spPr>
          <a:xfrm>
            <a:off x="2843808" y="2443326"/>
            <a:ext cx="6112022" cy="142418"/>
          </a:xfrm>
          <a:prstGeom prst="roundRect">
            <a:avLst>
              <a:gd name="adj" fmla="val 3447"/>
            </a:avLst>
          </a:prstGeom>
          <a:solidFill>
            <a:srgbClr val="92D050"/>
          </a:solidFill>
          <a:ln w="31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r>
              <a:rPr lang="en-US" altLang="ja-JP" sz="700" b="1" dirty="0">
                <a:solidFill>
                  <a:schemeClr val="tx1"/>
                </a:solidFill>
                <a:latin typeface="Meiryo UI" panose="020B0604030504040204" pitchFamily="50" charset="-128"/>
                <a:ea typeface="Meiryo UI" panose="020B0604030504040204" pitchFamily="50" charset="-128"/>
              </a:rPr>
              <a:t>Ryzen7-7700X3D 8C/16T TDP120W</a:t>
            </a:r>
          </a:p>
        </p:txBody>
      </p:sp>
    </p:spTree>
    <p:extLst>
      <p:ext uri="{BB962C8B-B14F-4D97-AF65-F5344CB8AC3E}">
        <p14:creationId xmlns:p14="http://schemas.microsoft.com/office/powerpoint/2010/main" val="1960855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519404200"/>
              </p:ext>
            </p:extLst>
          </p:nvPr>
        </p:nvGraphicFramePr>
        <p:xfrm>
          <a:off x="35496" y="51468"/>
          <a:ext cx="8884867" cy="4824538"/>
        </p:xfrm>
        <a:graphic>
          <a:graphicData uri="http://schemas.openxmlformats.org/drawingml/2006/table">
            <a:tbl>
              <a:tblPr firstRow="1" bandRow="1">
                <a:tableStyleId>{5C22544A-7EE6-4342-B048-85BDC9FD1C3A}</a:tableStyleId>
              </a:tblPr>
              <a:tblGrid>
                <a:gridCol w="1176655">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10917">
                <a:tc>
                  <a:txBody>
                    <a:bodyPr/>
                    <a:lstStyle/>
                    <a:p>
                      <a:r>
                        <a:rPr kumimoji="1" lang="en-US" altLang="ja-JP" sz="1050" b="1"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TW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AMD</a:t>
                      </a:r>
                      <a:r>
                        <a:rPr kumimoji="1" lang="ja-JP" altLang="en-US"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MB </a:t>
                      </a:r>
                    </a:p>
                    <a:p>
                      <a:r>
                        <a:rPr kumimoji="1" lang="en-US" altLang="ja-JP" sz="1050" i="1" dirty="0">
                          <a:solidFill>
                            <a:srgbClr val="FFFF00"/>
                          </a:solidFill>
                          <a:latin typeface="Meiryo UI" panose="020B0604030504040204" pitchFamily="50" charset="-128"/>
                          <a:ea typeface="Meiryo UI" panose="020B0604030504040204" pitchFamily="50" charset="-128"/>
                          <a:cs typeface="Meiryo UI" panose="020B0604030504040204" pitchFamily="50" charset="-128"/>
                        </a:rPr>
                        <a:t>Lineup 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5912">
                <a:tc rowSpan="2">
                  <a:txBody>
                    <a:bodyPr/>
                    <a:lstStyle/>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Flgship</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450104">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00684488"/>
                  </a:ext>
                </a:extLst>
              </a:tr>
              <a:tr h="388690">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HEDT</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38005160"/>
                  </a:ext>
                </a:extLst>
              </a:tr>
              <a:tr h="576064">
                <a:tc>
                  <a:txBody>
                    <a:bodyPr/>
                    <a:lstStyle/>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Highend</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864096">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Middle</a:t>
                      </a:r>
                    </a:p>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1296144">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Entry</a:t>
                      </a:r>
                    </a:p>
                    <a:p>
                      <a:pPr algn="l"/>
                      <a:r>
                        <a:rPr kumimoji="1" lang="en-US" altLang="ja-JP" sz="700" b="1" dirty="0" err="1">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MicroATX</a:t>
                      </a:r>
                      <a:endPar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432048">
                <a:tc>
                  <a:txBody>
                    <a:bodyPr/>
                    <a:lstStyle/>
                    <a:p>
                      <a:pPr algn="l"/>
                      <a:r>
                        <a:rPr kumimoji="1" lang="en-US" altLang="ja-JP" sz="700" b="1"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rPr>
                        <a:t>Mini ITX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7367682"/>
                  </a:ext>
                </a:extLst>
              </a:tr>
            </a:tbl>
          </a:graphicData>
        </a:graphic>
      </p:graphicFrame>
      <p:sp>
        <p:nvSpPr>
          <p:cNvPr id="18" name="角丸四角形 33">
            <a:extLst>
              <a:ext uri="{FF2B5EF4-FFF2-40B4-BE49-F238E27FC236}">
                <a16:creationId xmlns:a16="http://schemas.microsoft.com/office/drawing/2014/main" id="{C70105B9-7D3A-45DE-A021-A24DA9FD7527}"/>
              </a:ext>
            </a:extLst>
          </p:cNvPr>
          <p:cNvSpPr/>
          <p:nvPr/>
        </p:nvSpPr>
        <p:spPr>
          <a:xfrm>
            <a:off x="1229451" y="4134841"/>
            <a:ext cx="7662307" cy="229677"/>
          </a:xfrm>
          <a:prstGeom prst="roundRect">
            <a:avLst/>
          </a:prstGeom>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A520 MATX AM4</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A520M TW</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角丸四角形 24">
            <a:extLst>
              <a:ext uri="{FF2B5EF4-FFF2-40B4-BE49-F238E27FC236}">
                <a16:creationId xmlns:a16="http://schemas.microsoft.com/office/drawing/2014/main" id="{64E9687F-0CC6-456A-9F5B-8C73BDB23930}"/>
              </a:ext>
            </a:extLst>
          </p:cNvPr>
          <p:cNvSpPr/>
          <p:nvPr/>
        </p:nvSpPr>
        <p:spPr>
          <a:xfrm>
            <a:off x="1221488" y="965566"/>
            <a:ext cx="7683030" cy="229676"/>
          </a:xfrm>
          <a:prstGeom prst="round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TRX50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TRX50 WS</a:t>
            </a:r>
          </a:p>
        </p:txBody>
      </p:sp>
      <p:sp>
        <p:nvSpPr>
          <p:cNvPr id="40" name="角丸四角形 24">
            <a:extLst>
              <a:ext uri="{FF2B5EF4-FFF2-40B4-BE49-F238E27FC236}">
                <a16:creationId xmlns:a16="http://schemas.microsoft.com/office/drawing/2014/main" id="{4AC474FB-2EE0-47AC-8502-F128DC7F68A3}"/>
              </a:ext>
            </a:extLst>
          </p:cNvPr>
          <p:cNvSpPr/>
          <p:nvPr/>
        </p:nvSpPr>
        <p:spPr>
          <a:xfrm>
            <a:off x="1229452" y="557076"/>
            <a:ext cx="7675066" cy="229676"/>
          </a:xfrm>
          <a:prstGeom prst="round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WRX90 </a:t>
            </a:r>
            <a:r>
              <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WRX90</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WS</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EVO</a:t>
            </a:r>
            <a:endParaRPr kumimoji="1"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角丸四角形 45">
            <a:extLst>
              <a:ext uri="{FF2B5EF4-FFF2-40B4-BE49-F238E27FC236}">
                <a16:creationId xmlns:a16="http://schemas.microsoft.com/office/drawing/2014/main" id="{B91338E8-1D1E-4C6E-9A72-FA926BA6234C}"/>
              </a:ext>
            </a:extLst>
          </p:cNvPr>
          <p:cNvSpPr/>
          <p:nvPr/>
        </p:nvSpPr>
        <p:spPr>
          <a:xfrm>
            <a:off x="1229452" y="1384114"/>
            <a:ext cx="7662306" cy="238862"/>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X870E ATX AM5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ASUS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ProArt</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X870E</a:t>
            </a: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角丸四角形 45">
            <a:extLst>
              <a:ext uri="{FF2B5EF4-FFF2-40B4-BE49-F238E27FC236}">
                <a16:creationId xmlns:a16="http://schemas.microsoft.com/office/drawing/2014/main" id="{217F4F92-A9D2-4D56-B7F3-399254D39EE8}"/>
              </a:ext>
            </a:extLst>
          </p:cNvPr>
          <p:cNvSpPr/>
          <p:nvPr/>
        </p:nvSpPr>
        <p:spPr>
          <a:xfrm>
            <a:off x="1229451" y="2851353"/>
            <a:ext cx="7662309" cy="22445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B850 ATX AM5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B850 TW (ASRock B850Pro-A)</a:t>
            </a:r>
          </a:p>
        </p:txBody>
      </p:sp>
      <p:sp>
        <p:nvSpPr>
          <p:cNvPr id="33" name="角丸四角形 45">
            <a:extLst>
              <a:ext uri="{FF2B5EF4-FFF2-40B4-BE49-F238E27FC236}">
                <a16:creationId xmlns:a16="http://schemas.microsoft.com/office/drawing/2014/main" id="{541C0462-8F8A-442B-9F0F-7D66480C4709}"/>
              </a:ext>
            </a:extLst>
          </p:cNvPr>
          <p:cNvSpPr/>
          <p:nvPr/>
        </p:nvSpPr>
        <p:spPr>
          <a:xfrm>
            <a:off x="1229451" y="3867894"/>
            <a:ext cx="7662307" cy="22393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B550 MATX AM4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B550M Pro4</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角丸四角形 45">
            <a:extLst>
              <a:ext uri="{FF2B5EF4-FFF2-40B4-BE49-F238E27FC236}">
                <a16:creationId xmlns:a16="http://schemas.microsoft.com/office/drawing/2014/main" id="{E576601A-C74D-4FA3-A170-76210BFC807B}"/>
              </a:ext>
            </a:extLst>
          </p:cNvPr>
          <p:cNvSpPr/>
          <p:nvPr/>
        </p:nvSpPr>
        <p:spPr>
          <a:xfrm>
            <a:off x="1229451" y="3494201"/>
            <a:ext cx="7675068" cy="229677"/>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A620A MATX AM5</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A620AM TW</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45">
            <a:extLst>
              <a:ext uri="{FF2B5EF4-FFF2-40B4-BE49-F238E27FC236}">
                <a16:creationId xmlns:a16="http://schemas.microsoft.com/office/drawing/2014/main" id="{D1C3C22E-AB0C-4B0F-8F16-B6CD08D79136}"/>
              </a:ext>
            </a:extLst>
          </p:cNvPr>
          <p:cNvSpPr/>
          <p:nvPr/>
        </p:nvSpPr>
        <p:spPr>
          <a:xfrm>
            <a:off x="1229452" y="2009737"/>
            <a:ext cx="7662306" cy="201973"/>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X870E ATX AM5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X870E PG NOVA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WiFi</a:t>
            </a:r>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角丸四角形 45">
            <a:extLst>
              <a:ext uri="{FF2B5EF4-FFF2-40B4-BE49-F238E27FC236}">
                <a16:creationId xmlns:a16="http://schemas.microsoft.com/office/drawing/2014/main" id="{E73E3BF5-2DEC-43C6-AA41-5B087CFDD435}"/>
              </a:ext>
            </a:extLst>
          </p:cNvPr>
          <p:cNvSpPr/>
          <p:nvPr/>
        </p:nvSpPr>
        <p:spPr>
          <a:xfrm>
            <a:off x="1229451" y="2571750"/>
            <a:ext cx="7662307" cy="22336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B850 ATX AM5 </a:t>
            </a:r>
            <a:r>
              <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ASRock B850 </a:t>
            </a:r>
            <a:r>
              <a:rPr lang="en-US" altLang="ja-JP" sz="8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LiveMixer</a:t>
            </a:r>
            <a:endParaRPr lang="en-US" altLang="ja-JP"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35A2C0B2-4F9E-4911-BA8A-7FA87314E399}"/>
              </a:ext>
            </a:extLst>
          </p:cNvPr>
          <p:cNvSpPr>
            <a:spLocks noGrp="1"/>
          </p:cNvSpPr>
          <p:nvPr>
            <p:ph type="sldNum" sz="quarter" idx="12"/>
          </p:nvPr>
        </p:nvSpPr>
        <p:spPr>
          <a:xfrm>
            <a:off x="6990047" y="4883100"/>
            <a:ext cx="2133600" cy="273844"/>
          </a:xfrm>
        </p:spPr>
        <p:txBody>
          <a:bodyPr/>
          <a:lstStyle/>
          <a:p>
            <a:fld id="{F9DFCEB9-CAE4-4F3C-93D0-85C4724A0355}" type="slidenum">
              <a:rPr kumimoji="1" lang="ja-JP" altLang="en-US" smtClean="0"/>
              <a:t>34</a:t>
            </a:fld>
            <a:endParaRPr kumimoji="1" lang="ja-JP" altLang="en-US" dirty="0"/>
          </a:p>
        </p:txBody>
      </p:sp>
      <p:cxnSp>
        <p:nvCxnSpPr>
          <p:cNvPr id="5" name="直線コネクタ 4">
            <a:extLst>
              <a:ext uri="{FF2B5EF4-FFF2-40B4-BE49-F238E27FC236}">
                <a16:creationId xmlns:a16="http://schemas.microsoft.com/office/drawing/2014/main" id="{E1EE4624-4195-45C1-8F3A-9BBF9B5F89DB}"/>
              </a:ext>
            </a:extLst>
          </p:cNvPr>
          <p:cNvCxnSpPr/>
          <p:nvPr/>
        </p:nvCxnSpPr>
        <p:spPr>
          <a:xfrm>
            <a:off x="916504" y="3795886"/>
            <a:ext cx="7988014" cy="0"/>
          </a:xfrm>
          <a:prstGeom prst="line">
            <a:avLst/>
          </a:prstGeom>
          <a:ln w="19050">
            <a:solidFill>
              <a:schemeClr val="accent1"/>
            </a:solidFill>
            <a:prstDash val="dash"/>
          </a:ln>
        </p:spPr>
        <p:style>
          <a:lnRef idx="1">
            <a:schemeClr val="accent2"/>
          </a:lnRef>
          <a:fillRef idx="0">
            <a:schemeClr val="accent2"/>
          </a:fillRef>
          <a:effectRef idx="0">
            <a:schemeClr val="accent2"/>
          </a:effectRef>
          <a:fontRef idx="minor">
            <a:schemeClr val="tx1"/>
          </a:fontRef>
        </p:style>
      </p:cxnSp>
      <p:sp>
        <p:nvSpPr>
          <p:cNvPr id="27" name="角丸四角形 45">
            <a:extLst>
              <a:ext uri="{FF2B5EF4-FFF2-40B4-BE49-F238E27FC236}">
                <a16:creationId xmlns:a16="http://schemas.microsoft.com/office/drawing/2014/main" id="{B3561B83-9F1F-437E-B989-EBB5EB7F6764}"/>
              </a:ext>
            </a:extLst>
          </p:cNvPr>
          <p:cNvSpPr/>
          <p:nvPr/>
        </p:nvSpPr>
        <p:spPr>
          <a:xfrm>
            <a:off x="3563888" y="4562009"/>
            <a:ext cx="5327870" cy="223369"/>
          </a:xfrm>
          <a:prstGeom prst="roundRect">
            <a:avLst/>
          </a:prstGeom>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B850 </a:t>
            </a:r>
            <a:r>
              <a:rPr lang="ja-JP" altLang="en-US" sz="1000" dirty="0">
                <a:solidFill>
                  <a:schemeClr val="bg1"/>
                </a:solidFill>
                <a:latin typeface="Meiryo UI" panose="020B0604030504040204" pitchFamily="50" charset="-128"/>
                <a:ea typeface="Meiryo UI" panose="020B0604030504040204" pitchFamily="50" charset="-128"/>
              </a:rPr>
              <a:t>ｍ</a:t>
            </a:r>
            <a:r>
              <a:rPr lang="en-US" altLang="ja-JP" sz="1000" dirty="0">
                <a:solidFill>
                  <a:schemeClr val="bg1"/>
                </a:solidFill>
                <a:latin typeface="Meiryo UI" panose="020B0604030504040204" pitchFamily="50" charset="-128"/>
                <a:ea typeface="Meiryo UI" panose="020B0604030504040204" pitchFamily="50" charset="-128"/>
              </a:rPr>
              <a:t>ITX AM5 </a:t>
            </a:r>
            <a:r>
              <a:rPr lang="en-US" altLang="ja-JP" sz="800" dirty="0">
                <a:solidFill>
                  <a:schemeClr val="bg1"/>
                </a:solidFill>
                <a:latin typeface="Meiryo UI" panose="020B0604030504040204" pitchFamily="50" charset="-128"/>
                <a:ea typeface="Meiryo UI" panose="020B0604030504040204" pitchFamily="50" charset="-128"/>
              </a:rPr>
              <a:t>ASUS TUF B850-I </a:t>
            </a:r>
            <a:r>
              <a:rPr lang="en-US" altLang="ja-JP" sz="800" dirty="0" err="1">
                <a:solidFill>
                  <a:schemeClr val="bg1"/>
                </a:solidFill>
                <a:latin typeface="Meiryo UI" panose="020B0604030504040204" pitchFamily="50" charset="-128"/>
                <a:ea typeface="Meiryo UI" panose="020B0604030504040204" pitchFamily="50" charset="-128"/>
              </a:rPr>
              <a:t>WiFi</a:t>
            </a:r>
            <a:r>
              <a:rPr lang="en-US" altLang="ja-JP" sz="800" dirty="0">
                <a:solidFill>
                  <a:schemeClr val="bg1"/>
                </a:solidFill>
                <a:latin typeface="Meiryo UI" panose="020B0604030504040204" pitchFamily="50" charset="-128"/>
                <a:ea typeface="Meiryo UI" panose="020B0604030504040204" pitchFamily="50" charset="-128"/>
              </a:rPr>
              <a:t> NEO</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C0F6E092-414A-460D-88B9-E091447DE700}"/>
              </a:ext>
            </a:extLst>
          </p:cNvPr>
          <p:cNvSpPr txBox="1"/>
          <p:nvPr/>
        </p:nvSpPr>
        <p:spPr>
          <a:xfrm>
            <a:off x="2987824" y="996573"/>
            <a:ext cx="1224136" cy="200055"/>
          </a:xfrm>
          <a:prstGeom prst="rect">
            <a:avLst/>
          </a:prstGeom>
          <a:noFill/>
        </p:spPr>
        <p:txBody>
          <a:bodyPr wrap="square" rtlCol="0">
            <a:spAutoFit/>
          </a:bodyPr>
          <a:lstStyle/>
          <a:p>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※GALLERIA</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も採用投入</a:t>
            </a:r>
            <a:endParaRPr kumimoji="1" lang="ja-JP" altLang="en-US" sz="700" dirty="0"/>
          </a:p>
        </p:txBody>
      </p:sp>
      <p:sp>
        <p:nvSpPr>
          <p:cNvPr id="16" name="角丸四角形 33">
            <a:extLst>
              <a:ext uri="{FF2B5EF4-FFF2-40B4-BE49-F238E27FC236}">
                <a16:creationId xmlns:a16="http://schemas.microsoft.com/office/drawing/2014/main" id="{A807C3D3-99E3-457C-8AB9-31F6D05F0323}"/>
              </a:ext>
            </a:extLst>
          </p:cNvPr>
          <p:cNvSpPr/>
          <p:nvPr/>
        </p:nvSpPr>
        <p:spPr>
          <a:xfrm>
            <a:off x="7688903" y="3204089"/>
            <a:ext cx="1202855" cy="152318"/>
          </a:xfrm>
          <a:prstGeom prst="roundRect">
            <a:avLst/>
          </a:prstGeom>
          <a:solidFill>
            <a:schemeClr val="bg1">
              <a:lumMod val="75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
        <p:nvSpPr>
          <p:cNvPr id="17" name="角丸四角形 33">
            <a:extLst>
              <a:ext uri="{FF2B5EF4-FFF2-40B4-BE49-F238E27FC236}">
                <a16:creationId xmlns:a16="http://schemas.microsoft.com/office/drawing/2014/main" id="{3DB55B36-44FC-4F6A-B035-208F44683E00}"/>
              </a:ext>
            </a:extLst>
          </p:cNvPr>
          <p:cNvSpPr/>
          <p:nvPr/>
        </p:nvSpPr>
        <p:spPr>
          <a:xfrm>
            <a:off x="7688902" y="2337054"/>
            <a:ext cx="1202855" cy="152318"/>
          </a:xfrm>
          <a:prstGeom prst="roundRect">
            <a:avLst/>
          </a:prstGeom>
          <a:solidFill>
            <a:schemeClr val="bg1">
              <a:lumMod val="75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
        <p:nvSpPr>
          <p:cNvPr id="19" name="角丸四角形 33">
            <a:extLst>
              <a:ext uri="{FF2B5EF4-FFF2-40B4-BE49-F238E27FC236}">
                <a16:creationId xmlns:a16="http://schemas.microsoft.com/office/drawing/2014/main" id="{10B0B00F-990D-4A3A-86DA-FB08CCDD8580}"/>
              </a:ext>
            </a:extLst>
          </p:cNvPr>
          <p:cNvSpPr/>
          <p:nvPr/>
        </p:nvSpPr>
        <p:spPr>
          <a:xfrm>
            <a:off x="7671702" y="1788522"/>
            <a:ext cx="1202855" cy="152318"/>
          </a:xfrm>
          <a:prstGeom prst="roundRect">
            <a:avLst/>
          </a:prstGeom>
          <a:solidFill>
            <a:schemeClr val="bg1">
              <a:lumMod val="75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Tree>
    <p:extLst>
      <p:ext uri="{BB962C8B-B14F-4D97-AF65-F5344CB8AC3E}">
        <p14:creationId xmlns:p14="http://schemas.microsoft.com/office/powerpoint/2010/main" val="1045249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411348304"/>
              </p:ext>
            </p:extLst>
          </p:nvPr>
        </p:nvGraphicFramePr>
        <p:xfrm>
          <a:off x="35496" y="51468"/>
          <a:ext cx="8928982" cy="5066241"/>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71469">
                <a:tc>
                  <a:txBody>
                    <a:bodyPr/>
                    <a:lstStyle/>
                    <a:p>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採用</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GPU</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Q4</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Q3</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4799">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Workstation</a:t>
                      </a:r>
                      <a:r>
                        <a:rPr kumimoji="1" lang="ja-JP" altLang="en-US"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系</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2354731">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GeForce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1498465">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Radeon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37985338"/>
                  </a:ext>
                </a:extLst>
              </a:tr>
              <a:tr h="356777">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Arc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71999961"/>
                  </a:ext>
                </a:extLst>
              </a:tr>
            </a:tbl>
          </a:graphicData>
        </a:graphic>
      </p:graphicFrame>
      <p:sp>
        <p:nvSpPr>
          <p:cNvPr id="44" name="角丸四角形 5">
            <a:extLst>
              <a:ext uri="{FF2B5EF4-FFF2-40B4-BE49-F238E27FC236}">
                <a16:creationId xmlns:a16="http://schemas.microsoft.com/office/drawing/2014/main" id="{7E641E71-6D45-47E9-82CB-22F3DB8C16FB}"/>
              </a:ext>
            </a:extLst>
          </p:cNvPr>
          <p:cNvSpPr/>
          <p:nvPr/>
        </p:nvSpPr>
        <p:spPr>
          <a:xfrm>
            <a:off x="1256624" y="673575"/>
            <a:ext cx="7697613" cy="130731"/>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A1000/A400</a:t>
            </a:r>
          </a:p>
        </p:txBody>
      </p:sp>
      <p:sp>
        <p:nvSpPr>
          <p:cNvPr id="29" name="角丸四角形 22">
            <a:extLst>
              <a:ext uri="{FF2B5EF4-FFF2-40B4-BE49-F238E27FC236}">
                <a16:creationId xmlns:a16="http://schemas.microsoft.com/office/drawing/2014/main" id="{DFA83D34-54DD-4458-A7DA-EFC630A642E0}"/>
              </a:ext>
            </a:extLst>
          </p:cNvPr>
          <p:cNvSpPr/>
          <p:nvPr/>
        </p:nvSpPr>
        <p:spPr>
          <a:xfrm>
            <a:off x="1277211" y="2986953"/>
            <a:ext cx="7670634" cy="120877"/>
          </a:xfrm>
          <a:prstGeom prst="roundRect">
            <a:avLst/>
          </a:prstGeom>
          <a:solidFill>
            <a:schemeClr val="accent3">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 6GB</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角丸四角形 22">
            <a:extLst>
              <a:ext uri="{FF2B5EF4-FFF2-40B4-BE49-F238E27FC236}">
                <a16:creationId xmlns:a16="http://schemas.microsoft.com/office/drawing/2014/main" id="{562B3B06-ECA3-4502-B0A8-76F3E46C7533}"/>
              </a:ext>
            </a:extLst>
          </p:cNvPr>
          <p:cNvSpPr/>
          <p:nvPr/>
        </p:nvSpPr>
        <p:spPr>
          <a:xfrm>
            <a:off x="1273686" y="1948919"/>
            <a:ext cx="7680551" cy="118775"/>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RTX5070 12VHPWR ※</a:t>
            </a:r>
            <a:r>
              <a:rPr lang="en-US" altLang="ja-JP" sz="1000" dirty="0" err="1">
                <a:solidFill>
                  <a:schemeClr val="bg1"/>
                </a:solidFill>
                <a:latin typeface="Meiryo UI" panose="020B0604030504040204" pitchFamily="50" charset="-128"/>
                <a:ea typeface="Meiryo UI" panose="020B0604030504040204" pitchFamily="50" charset="-128"/>
              </a:rPr>
              <a:t>WhiteVer</a:t>
            </a:r>
            <a:r>
              <a:rPr lang="ja-JP" altLang="en-US" sz="1000" dirty="0">
                <a:solidFill>
                  <a:schemeClr val="bg1"/>
                </a:solidFill>
                <a:latin typeface="Meiryo UI" panose="020B0604030504040204" pitchFamily="50" charset="-128"/>
                <a:ea typeface="Meiryo UI" panose="020B0604030504040204" pitchFamily="50" charset="-128"/>
              </a:rPr>
              <a:t>あり</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36" name="角丸四角形 22">
            <a:extLst>
              <a:ext uri="{FF2B5EF4-FFF2-40B4-BE49-F238E27FC236}">
                <a16:creationId xmlns:a16="http://schemas.microsoft.com/office/drawing/2014/main" id="{05E283A4-27BD-493F-9BE9-A9A0074A6B80}"/>
              </a:ext>
            </a:extLst>
          </p:cNvPr>
          <p:cNvSpPr/>
          <p:nvPr/>
        </p:nvSpPr>
        <p:spPr>
          <a:xfrm>
            <a:off x="1273686" y="1275606"/>
            <a:ext cx="7690801" cy="121753"/>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RTX5080 12VHPWR</a:t>
            </a:r>
          </a:p>
        </p:txBody>
      </p:sp>
      <p:sp>
        <p:nvSpPr>
          <p:cNvPr id="38" name="角丸四角形 22">
            <a:extLst>
              <a:ext uri="{FF2B5EF4-FFF2-40B4-BE49-F238E27FC236}">
                <a16:creationId xmlns:a16="http://schemas.microsoft.com/office/drawing/2014/main" id="{A5E1FC29-F541-4EA1-A590-3C9D451D03A0}"/>
              </a:ext>
            </a:extLst>
          </p:cNvPr>
          <p:cNvSpPr/>
          <p:nvPr/>
        </p:nvSpPr>
        <p:spPr>
          <a:xfrm>
            <a:off x="1261947" y="938706"/>
            <a:ext cx="7702541" cy="120876"/>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RTX5090 12VHPWR</a:t>
            </a:r>
          </a:p>
        </p:txBody>
      </p:sp>
      <p:sp>
        <p:nvSpPr>
          <p:cNvPr id="39" name="角丸四角形 5">
            <a:extLst>
              <a:ext uri="{FF2B5EF4-FFF2-40B4-BE49-F238E27FC236}">
                <a16:creationId xmlns:a16="http://schemas.microsoft.com/office/drawing/2014/main" id="{6CC58B6C-1061-4728-A0F9-C00F2E0FEB80}"/>
              </a:ext>
            </a:extLst>
          </p:cNvPr>
          <p:cNvSpPr/>
          <p:nvPr/>
        </p:nvSpPr>
        <p:spPr>
          <a:xfrm>
            <a:off x="1277754" y="4960955"/>
            <a:ext cx="557942" cy="126168"/>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A380</a:t>
            </a:r>
          </a:p>
        </p:txBody>
      </p:sp>
      <p:sp>
        <p:nvSpPr>
          <p:cNvPr id="49" name="角丸四角形 22">
            <a:extLst>
              <a:ext uri="{FF2B5EF4-FFF2-40B4-BE49-F238E27FC236}">
                <a16:creationId xmlns:a16="http://schemas.microsoft.com/office/drawing/2014/main" id="{55077161-A3B0-4AA3-A556-A4A07D4E077B}"/>
              </a:ext>
            </a:extLst>
          </p:cNvPr>
          <p:cNvSpPr/>
          <p:nvPr/>
        </p:nvSpPr>
        <p:spPr>
          <a:xfrm>
            <a:off x="1255397" y="4561554"/>
            <a:ext cx="1299152" cy="14563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RX7600</a:t>
            </a:r>
          </a:p>
        </p:txBody>
      </p:sp>
      <p:sp>
        <p:nvSpPr>
          <p:cNvPr id="52" name="角丸四角形 22">
            <a:extLst>
              <a:ext uri="{FF2B5EF4-FFF2-40B4-BE49-F238E27FC236}">
                <a16:creationId xmlns:a16="http://schemas.microsoft.com/office/drawing/2014/main" id="{EF641BC8-62EE-40FA-B089-F24215CAE5DC}"/>
              </a:ext>
            </a:extLst>
          </p:cNvPr>
          <p:cNvSpPr/>
          <p:nvPr/>
        </p:nvSpPr>
        <p:spPr>
          <a:xfrm>
            <a:off x="1256625" y="3472861"/>
            <a:ext cx="1299152" cy="124336"/>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RX7800XT</a:t>
            </a:r>
          </a:p>
        </p:txBody>
      </p:sp>
      <p:sp>
        <p:nvSpPr>
          <p:cNvPr id="33" name="角丸四角形 22">
            <a:extLst>
              <a:ext uri="{FF2B5EF4-FFF2-40B4-BE49-F238E27FC236}">
                <a16:creationId xmlns:a16="http://schemas.microsoft.com/office/drawing/2014/main" id="{ACACBB2A-482F-4313-B418-78553386E35B}"/>
              </a:ext>
            </a:extLst>
          </p:cNvPr>
          <p:cNvSpPr/>
          <p:nvPr/>
        </p:nvSpPr>
        <p:spPr>
          <a:xfrm>
            <a:off x="1261947" y="1588140"/>
            <a:ext cx="7702540" cy="119514"/>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RTX5070Ti 12VHPWR</a:t>
            </a:r>
          </a:p>
        </p:txBody>
      </p:sp>
      <p:sp>
        <p:nvSpPr>
          <p:cNvPr id="60" name="角丸四角形 22">
            <a:extLst>
              <a:ext uri="{FF2B5EF4-FFF2-40B4-BE49-F238E27FC236}">
                <a16:creationId xmlns:a16="http://schemas.microsoft.com/office/drawing/2014/main" id="{2AC8ADEA-C2A9-4841-9EAB-164AF76BD940}"/>
              </a:ext>
            </a:extLst>
          </p:cNvPr>
          <p:cNvSpPr/>
          <p:nvPr/>
        </p:nvSpPr>
        <p:spPr>
          <a:xfrm>
            <a:off x="1266961" y="2312736"/>
            <a:ext cx="7694556" cy="124336"/>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RTX5060Ti 8GB</a:t>
            </a:r>
          </a:p>
        </p:txBody>
      </p:sp>
      <p:sp>
        <p:nvSpPr>
          <p:cNvPr id="64" name="角丸四角形 5">
            <a:extLst>
              <a:ext uri="{FF2B5EF4-FFF2-40B4-BE49-F238E27FC236}">
                <a16:creationId xmlns:a16="http://schemas.microsoft.com/office/drawing/2014/main" id="{FA5A4486-F374-4A17-8407-3E09313DD433}"/>
              </a:ext>
            </a:extLst>
          </p:cNvPr>
          <p:cNvSpPr/>
          <p:nvPr/>
        </p:nvSpPr>
        <p:spPr>
          <a:xfrm>
            <a:off x="1272065" y="4797040"/>
            <a:ext cx="923671" cy="126167"/>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B580/B570</a:t>
            </a:r>
          </a:p>
        </p:txBody>
      </p:sp>
      <p:sp>
        <p:nvSpPr>
          <p:cNvPr id="65" name="角丸四角形 22">
            <a:extLst>
              <a:ext uri="{FF2B5EF4-FFF2-40B4-BE49-F238E27FC236}">
                <a16:creationId xmlns:a16="http://schemas.microsoft.com/office/drawing/2014/main" id="{16002ACC-621B-493B-821B-351CD243313A}"/>
              </a:ext>
            </a:extLst>
          </p:cNvPr>
          <p:cNvSpPr/>
          <p:nvPr/>
        </p:nvSpPr>
        <p:spPr>
          <a:xfrm>
            <a:off x="1269932" y="3291830"/>
            <a:ext cx="7677034" cy="137328"/>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RX9070XT</a:t>
            </a:r>
          </a:p>
        </p:txBody>
      </p:sp>
      <p:sp>
        <p:nvSpPr>
          <p:cNvPr id="66" name="角丸四角形 22">
            <a:extLst>
              <a:ext uri="{FF2B5EF4-FFF2-40B4-BE49-F238E27FC236}">
                <a16:creationId xmlns:a16="http://schemas.microsoft.com/office/drawing/2014/main" id="{85E986A8-84E7-45E1-9678-FEDBD395AC68}"/>
              </a:ext>
            </a:extLst>
          </p:cNvPr>
          <p:cNvSpPr/>
          <p:nvPr/>
        </p:nvSpPr>
        <p:spPr>
          <a:xfrm>
            <a:off x="1261947" y="3651870"/>
            <a:ext cx="7688759" cy="143104"/>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RX9070</a:t>
            </a:r>
          </a:p>
        </p:txBody>
      </p:sp>
      <p:sp>
        <p:nvSpPr>
          <p:cNvPr id="69" name="角丸四角形 22">
            <a:extLst>
              <a:ext uri="{FF2B5EF4-FFF2-40B4-BE49-F238E27FC236}">
                <a16:creationId xmlns:a16="http://schemas.microsoft.com/office/drawing/2014/main" id="{1363C103-73FF-49EC-BD1E-F90B8C5C2BAC}"/>
              </a:ext>
            </a:extLst>
          </p:cNvPr>
          <p:cNvSpPr/>
          <p:nvPr/>
        </p:nvSpPr>
        <p:spPr>
          <a:xfrm>
            <a:off x="1275235" y="2489370"/>
            <a:ext cx="7699570" cy="119513"/>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RTX5060 ※</a:t>
            </a:r>
            <a:r>
              <a:rPr lang="en-US" altLang="ja-JP" sz="1000" dirty="0" err="1">
                <a:solidFill>
                  <a:schemeClr val="bg1"/>
                </a:solidFill>
                <a:latin typeface="Meiryo UI" panose="020B0604030504040204" pitchFamily="50" charset="-128"/>
                <a:ea typeface="Meiryo UI" panose="020B0604030504040204" pitchFamily="50" charset="-128"/>
              </a:rPr>
              <a:t>WhiteVer</a:t>
            </a:r>
            <a:r>
              <a:rPr lang="ja-JP" altLang="en-US" sz="1000" dirty="0">
                <a:solidFill>
                  <a:schemeClr val="bg1"/>
                </a:solidFill>
                <a:latin typeface="Meiryo UI" panose="020B0604030504040204" pitchFamily="50" charset="-128"/>
                <a:ea typeface="Meiryo UI" panose="020B0604030504040204" pitchFamily="50" charset="-128"/>
              </a:rPr>
              <a:t>あり</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72" name="角丸四角形 22">
            <a:extLst>
              <a:ext uri="{FF2B5EF4-FFF2-40B4-BE49-F238E27FC236}">
                <a16:creationId xmlns:a16="http://schemas.microsoft.com/office/drawing/2014/main" id="{23C3D413-A2D7-40B1-83D6-88F6DD9A1B40}"/>
              </a:ext>
            </a:extLst>
          </p:cNvPr>
          <p:cNvSpPr/>
          <p:nvPr/>
        </p:nvSpPr>
        <p:spPr>
          <a:xfrm>
            <a:off x="1259682" y="2151716"/>
            <a:ext cx="7694556" cy="119407"/>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RTX5060Ti</a:t>
            </a:r>
            <a:r>
              <a:rPr lang="ja-JP" altLang="en-US" sz="10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16GB ※</a:t>
            </a:r>
            <a:r>
              <a:rPr lang="en-US" altLang="ja-JP" sz="1000" dirty="0" err="1">
                <a:solidFill>
                  <a:schemeClr val="bg1"/>
                </a:solidFill>
                <a:latin typeface="Meiryo UI" panose="020B0604030504040204" pitchFamily="50" charset="-128"/>
                <a:ea typeface="Meiryo UI" panose="020B0604030504040204" pitchFamily="50" charset="-128"/>
              </a:rPr>
              <a:t>WhiteVer</a:t>
            </a:r>
            <a:r>
              <a:rPr lang="ja-JP" altLang="en-US" sz="1000" dirty="0">
                <a:solidFill>
                  <a:schemeClr val="bg1"/>
                </a:solidFill>
                <a:latin typeface="Meiryo UI" panose="020B0604030504040204" pitchFamily="50" charset="-128"/>
                <a:ea typeface="Meiryo UI" panose="020B0604030504040204" pitchFamily="50" charset="-128"/>
              </a:rPr>
              <a:t>あり</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5469BFB9-C19A-44EE-9EE8-2470DFC3205C}"/>
              </a:ext>
            </a:extLst>
          </p:cNvPr>
          <p:cNvSpPr>
            <a:spLocks noGrp="1"/>
          </p:cNvSpPr>
          <p:nvPr>
            <p:ph type="sldNum" sz="quarter" idx="12"/>
          </p:nvPr>
        </p:nvSpPr>
        <p:spPr>
          <a:xfrm>
            <a:off x="7020272" y="4876006"/>
            <a:ext cx="2133600" cy="273844"/>
          </a:xfrm>
        </p:spPr>
        <p:txBody>
          <a:bodyPr/>
          <a:lstStyle/>
          <a:p>
            <a:fld id="{F9DFCEB9-CAE4-4F3C-93D0-85C4724A0355}" type="slidenum">
              <a:rPr kumimoji="1" lang="ja-JP" altLang="en-US" smtClean="0"/>
              <a:t>35</a:t>
            </a:fld>
            <a:endParaRPr kumimoji="1" lang="ja-JP" altLang="en-US" dirty="0"/>
          </a:p>
        </p:txBody>
      </p:sp>
      <p:sp>
        <p:nvSpPr>
          <p:cNvPr id="73" name="角丸四角形 22">
            <a:extLst>
              <a:ext uri="{FF2B5EF4-FFF2-40B4-BE49-F238E27FC236}">
                <a16:creationId xmlns:a16="http://schemas.microsoft.com/office/drawing/2014/main" id="{09EB3ED0-07D0-4A94-BF86-0949A4324280}"/>
              </a:ext>
            </a:extLst>
          </p:cNvPr>
          <p:cNvSpPr/>
          <p:nvPr/>
        </p:nvSpPr>
        <p:spPr>
          <a:xfrm>
            <a:off x="1277211" y="2672776"/>
            <a:ext cx="7694556" cy="116120"/>
          </a:xfrm>
          <a:prstGeom prst="roundRect">
            <a:avLst/>
          </a:prstGeom>
          <a:solidFill>
            <a:schemeClr val="accent3">
              <a:lumMod val="5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RTX5050</a:t>
            </a:r>
          </a:p>
        </p:txBody>
      </p:sp>
      <p:sp>
        <p:nvSpPr>
          <p:cNvPr id="5" name="角丸四角形 22">
            <a:extLst>
              <a:ext uri="{FF2B5EF4-FFF2-40B4-BE49-F238E27FC236}">
                <a16:creationId xmlns:a16="http://schemas.microsoft.com/office/drawing/2014/main" id="{36F9A3A8-327E-C314-D99F-6D5D1E8568BC}"/>
              </a:ext>
            </a:extLst>
          </p:cNvPr>
          <p:cNvSpPr/>
          <p:nvPr/>
        </p:nvSpPr>
        <p:spPr>
          <a:xfrm>
            <a:off x="1261948" y="4018545"/>
            <a:ext cx="7669030" cy="137381"/>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RX9060XT 16GB</a:t>
            </a:r>
          </a:p>
        </p:txBody>
      </p:sp>
      <p:sp>
        <p:nvSpPr>
          <p:cNvPr id="6" name="角丸四角形 22">
            <a:extLst>
              <a:ext uri="{FF2B5EF4-FFF2-40B4-BE49-F238E27FC236}">
                <a16:creationId xmlns:a16="http://schemas.microsoft.com/office/drawing/2014/main" id="{0B5F2212-E587-C41C-12CE-EB93E057A327}"/>
              </a:ext>
            </a:extLst>
          </p:cNvPr>
          <p:cNvSpPr/>
          <p:nvPr/>
        </p:nvSpPr>
        <p:spPr>
          <a:xfrm>
            <a:off x="1255398" y="4201513"/>
            <a:ext cx="1299152" cy="112904"/>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RX9060XT 8GB</a:t>
            </a:r>
          </a:p>
        </p:txBody>
      </p:sp>
      <p:sp>
        <p:nvSpPr>
          <p:cNvPr id="58" name="角丸四角形 5">
            <a:extLst>
              <a:ext uri="{FF2B5EF4-FFF2-40B4-BE49-F238E27FC236}">
                <a16:creationId xmlns:a16="http://schemas.microsoft.com/office/drawing/2014/main" id="{8A0B8E5F-7BF6-4147-A0D9-6FA7CDB71963}"/>
              </a:ext>
            </a:extLst>
          </p:cNvPr>
          <p:cNvSpPr/>
          <p:nvPr/>
        </p:nvSpPr>
        <p:spPr>
          <a:xfrm>
            <a:off x="1272065" y="483518"/>
            <a:ext cx="7691353" cy="142263"/>
          </a:xfrm>
          <a:prstGeom prst="round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RTX PRO </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6000/6000Max-Q/5000/4500/4000/4000SFF/2000</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 Blackwell</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角丸四角形 22">
            <a:extLst>
              <a:ext uri="{FF2B5EF4-FFF2-40B4-BE49-F238E27FC236}">
                <a16:creationId xmlns:a16="http://schemas.microsoft.com/office/drawing/2014/main" id="{BC0B1255-9D20-47BF-B9C0-E6EA9E780EE5}"/>
              </a:ext>
            </a:extLst>
          </p:cNvPr>
          <p:cNvSpPr/>
          <p:nvPr/>
        </p:nvSpPr>
        <p:spPr>
          <a:xfrm>
            <a:off x="1261947" y="4345590"/>
            <a:ext cx="7692289" cy="138933"/>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RX9060</a:t>
            </a:r>
          </a:p>
        </p:txBody>
      </p:sp>
      <p:sp>
        <p:nvSpPr>
          <p:cNvPr id="54" name="角丸四角形 5">
            <a:extLst>
              <a:ext uri="{FF2B5EF4-FFF2-40B4-BE49-F238E27FC236}">
                <a16:creationId xmlns:a16="http://schemas.microsoft.com/office/drawing/2014/main" id="{6F02C5EE-6B0A-48C3-8A82-5A45704290F1}"/>
              </a:ext>
            </a:extLst>
          </p:cNvPr>
          <p:cNvSpPr/>
          <p:nvPr/>
        </p:nvSpPr>
        <p:spPr>
          <a:xfrm>
            <a:off x="2267745" y="4956710"/>
            <a:ext cx="6640368" cy="119209"/>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A310LP</a:t>
            </a:r>
          </a:p>
        </p:txBody>
      </p:sp>
      <p:sp>
        <p:nvSpPr>
          <p:cNvPr id="56" name="テキスト ボックス 55">
            <a:extLst>
              <a:ext uri="{FF2B5EF4-FFF2-40B4-BE49-F238E27FC236}">
                <a16:creationId xmlns:a16="http://schemas.microsoft.com/office/drawing/2014/main" id="{74DAEEBB-2E4A-4D6D-B10D-733F775FFE59}"/>
              </a:ext>
            </a:extLst>
          </p:cNvPr>
          <p:cNvSpPr txBox="1"/>
          <p:nvPr/>
        </p:nvSpPr>
        <p:spPr>
          <a:xfrm>
            <a:off x="2483769" y="3405649"/>
            <a:ext cx="504055"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角丸四角形 22">
            <a:extLst>
              <a:ext uri="{FF2B5EF4-FFF2-40B4-BE49-F238E27FC236}">
                <a16:creationId xmlns:a16="http://schemas.microsoft.com/office/drawing/2014/main" id="{32E43E36-6CA2-4C25-8BE2-1753CFFF2C49}"/>
              </a:ext>
            </a:extLst>
          </p:cNvPr>
          <p:cNvSpPr/>
          <p:nvPr/>
        </p:nvSpPr>
        <p:spPr>
          <a:xfrm>
            <a:off x="1277211" y="2824869"/>
            <a:ext cx="7670634" cy="124336"/>
          </a:xfrm>
          <a:prstGeom prst="roundRect">
            <a:avLst/>
          </a:prstGeom>
          <a:solidFill>
            <a:schemeClr val="accent3">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rPr>
              <a:t>TBD RTX3060</a:t>
            </a:r>
            <a:endParaRPr kumimoji="1"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テキスト ボックス 39">
            <a:extLst>
              <a:ext uri="{FF2B5EF4-FFF2-40B4-BE49-F238E27FC236}">
                <a16:creationId xmlns:a16="http://schemas.microsoft.com/office/drawing/2014/main" id="{8BBD9A80-0946-4D0F-A776-1854D54AB256}"/>
              </a:ext>
            </a:extLst>
          </p:cNvPr>
          <p:cNvSpPr txBox="1"/>
          <p:nvPr/>
        </p:nvSpPr>
        <p:spPr>
          <a:xfrm>
            <a:off x="2433114" y="4514844"/>
            <a:ext cx="518706"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テキスト ボックス 33">
            <a:extLst>
              <a:ext uri="{FF2B5EF4-FFF2-40B4-BE49-F238E27FC236}">
                <a16:creationId xmlns:a16="http://schemas.microsoft.com/office/drawing/2014/main" id="{3C73568C-E5B5-46D8-97DC-3F931132111C}"/>
              </a:ext>
            </a:extLst>
          </p:cNvPr>
          <p:cNvSpPr txBox="1"/>
          <p:nvPr/>
        </p:nvSpPr>
        <p:spPr>
          <a:xfrm>
            <a:off x="2483769" y="4141237"/>
            <a:ext cx="417397"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テキスト ボックス 31">
            <a:extLst>
              <a:ext uri="{FF2B5EF4-FFF2-40B4-BE49-F238E27FC236}">
                <a16:creationId xmlns:a16="http://schemas.microsoft.com/office/drawing/2014/main" id="{A062F004-C6D0-41BD-8418-9CFC2D33E53E}"/>
              </a:ext>
            </a:extLst>
          </p:cNvPr>
          <p:cNvSpPr txBox="1"/>
          <p:nvPr/>
        </p:nvSpPr>
        <p:spPr>
          <a:xfrm>
            <a:off x="2854496" y="3060714"/>
            <a:ext cx="3052976"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角丸四角形 22">
            <a:extLst>
              <a:ext uri="{FF2B5EF4-FFF2-40B4-BE49-F238E27FC236}">
                <a16:creationId xmlns:a16="http://schemas.microsoft.com/office/drawing/2014/main" id="{CB79C977-A218-4512-BD82-544A89441FF4}"/>
              </a:ext>
            </a:extLst>
          </p:cNvPr>
          <p:cNvSpPr/>
          <p:nvPr/>
        </p:nvSpPr>
        <p:spPr>
          <a:xfrm>
            <a:off x="1277211" y="3127848"/>
            <a:ext cx="1710613" cy="140717"/>
          </a:xfrm>
          <a:prstGeom prst="roundRect">
            <a:avLst/>
          </a:prstGeom>
          <a:solidFill>
            <a:schemeClr val="accent3">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RTX3050LP 6GB</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テキスト ボックス 42">
            <a:extLst>
              <a:ext uri="{FF2B5EF4-FFF2-40B4-BE49-F238E27FC236}">
                <a16:creationId xmlns:a16="http://schemas.microsoft.com/office/drawing/2014/main" id="{630D0E70-20EB-43DC-B904-064AF103D24E}"/>
              </a:ext>
            </a:extLst>
          </p:cNvPr>
          <p:cNvSpPr txBox="1"/>
          <p:nvPr/>
        </p:nvSpPr>
        <p:spPr>
          <a:xfrm>
            <a:off x="2082379" y="4728267"/>
            <a:ext cx="4505843"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22">
            <a:extLst>
              <a:ext uri="{FF2B5EF4-FFF2-40B4-BE49-F238E27FC236}">
                <a16:creationId xmlns:a16="http://schemas.microsoft.com/office/drawing/2014/main" id="{E33DB482-7C4D-44B5-8380-DA548A0EA59E}"/>
              </a:ext>
            </a:extLst>
          </p:cNvPr>
          <p:cNvSpPr/>
          <p:nvPr/>
        </p:nvSpPr>
        <p:spPr>
          <a:xfrm>
            <a:off x="2786451" y="3841533"/>
            <a:ext cx="1065469" cy="138983"/>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RX9070GRE</a:t>
            </a:r>
          </a:p>
        </p:txBody>
      </p:sp>
      <p:sp>
        <p:nvSpPr>
          <p:cNvPr id="46" name="角丸四角形 22">
            <a:extLst>
              <a:ext uri="{FF2B5EF4-FFF2-40B4-BE49-F238E27FC236}">
                <a16:creationId xmlns:a16="http://schemas.microsoft.com/office/drawing/2014/main" id="{991DA11F-CCDB-452A-A394-ADF3C5597F33}"/>
              </a:ext>
            </a:extLst>
          </p:cNvPr>
          <p:cNvSpPr/>
          <p:nvPr/>
        </p:nvSpPr>
        <p:spPr>
          <a:xfrm>
            <a:off x="2915816" y="4540773"/>
            <a:ext cx="6031149" cy="117176"/>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ja-JP" sz="1000" dirty="0">
                <a:solidFill>
                  <a:schemeClr val="bg1">
                    <a:lumMod val="75000"/>
                  </a:schemeClr>
                </a:solidFill>
                <a:latin typeface="Meiryo UI" panose="020B0604030504040204" pitchFamily="50" charset="-128"/>
                <a:ea typeface="Meiryo UI" panose="020B0604030504040204" pitchFamily="50" charset="-128"/>
                <a:cs typeface="Meiryo UI" panose="020B0604030504040204" pitchFamily="50" charset="-128"/>
              </a:rPr>
              <a:t>TBD RX9050</a:t>
            </a:r>
          </a:p>
        </p:txBody>
      </p:sp>
      <p:sp>
        <p:nvSpPr>
          <p:cNvPr id="47" name="テキスト ボックス 46">
            <a:extLst>
              <a:ext uri="{FF2B5EF4-FFF2-40B4-BE49-F238E27FC236}">
                <a16:creationId xmlns:a16="http://schemas.microsoft.com/office/drawing/2014/main" id="{D5F22D1F-6F43-42D4-ABEC-CAFABF5DD28D}"/>
              </a:ext>
            </a:extLst>
          </p:cNvPr>
          <p:cNvSpPr txBox="1"/>
          <p:nvPr/>
        </p:nvSpPr>
        <p:spPr>
          <a:xfrm>
            <a:off x="3779912" y="3783374"/>
            <a:ext cx="5151066" cy="246221"/>
          </a:xfrm>
          <a:prstGeom prst="rect">
            <a:avLst/>
          </a:prstGeom>
          <a:noFill/>
        </p:spPr>
        <p:txBody>
          <a:bodyPr wrap="square" rtlCol="0">
            <a:spAutoFit/>
          </a:bodyPr>
          <a:lstStyle/>
          <a:p>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471302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2809940775"/>
              </p:ext>
            </p:extLst>
          </p:nvPr>
        </p:nvGraphicFramePr>
        <p:xfrm>
          <a:off x="35496" y="51468"/>
          <a:ext cx="8928982" cy="5077176"/>
        </p:xfrm>
        <a:graphic>
          <a:graphicData uri="http://schemas.openxmlformats.org/drawingml/2006/table">
            <a:tbl>
              <a:tblPr firstRow="1" bandRow="1">
                <a:tableStyleId>{5C22544A-7EE6-4342-B048-85BDC9FD1C3A}</a:tableStyleId>
              </a:tblPr>
              <a:tblGrid>
                <a:gridCol w="1220770">
                  <a:extLst>
                    <a:ext uri="{9D8B030D-6E8A-4147-A177-3AD203B41FA5}">
                      <a16:colId xmlns:a16="http://schemas.microsoft.com/office/drawing/2014/main" val="20000"/>
                    </a:ext>
                  </a:extLst>
                </a:gridCol>
                <a:gridCol w="428234">
                  <a:extLst>
                    <a:ext uri="{9D8B030D-6E8A-4147-A177-3AD203B41FA5}">
                      <a16:colId xmlns:a16="http://schemas.microsoft.com/office/drawing/2014/main" val="20001"/>
                    </a:ext>
                  </a:extLst>
                </a:gridCol>
                <a:gridCol w="428234">
                  <a:extLst>
                    <a:ext uri="{9D8B030D-6E8A-4147-A177-3AD203B41FA5}">
                      <a16:colId xmlns:a16="http://schemas.microsoft.com/office/drawing/2014/main" val="20002"/>
                    </a:ext>
                  </a:extLst>
                </a:gridCol>
                <a:gridCol w="428234">
                  <a:extLst>
                    <a:ext uri="{9D8B030D-6E8A-4147-A177-3AD203B41FA5}">
                      <a16:colId xmlns:a16="http://schemas.microsoft.com/office/drawing/2014/main" val="20003"/>
                    </a:ext>
                  </a:extLst>
                </a:gridCol>
                <a:gridCol w="428234">
                  <a:extLst>
                    <a:ext uri="{9D8B030D-6E8A-4147-A177-3AD203B41FA5}">
                      <a16:colId xmlns:a16="http://schemas.microsoft.com/office/drawing/2014/main" val="20004"/>
                    </a:ext>
                  </a:extLst>
                </a:gridCol>
                <a:gridCol w="428234">
                  <a:extLst>
                    <a:ext uri="{9D8B030D-6E8A-4147-A177-3AD203B41FA5}">
                      <a16:colId xmlns:a16="http://schemas.microsoft.com/office/drawing/2014/main" val="20005"/>
                    </a:ext>
                  </a:extLst>
                </a:gridCol>
                <a:gridCol w="428234">
                  <a:extLst>
                    <a:ext uri="{9D8B030D-6E8A-4147-A177-3AD203B41FA5}">
                      <a16:colId xmlns:a16="http://schemas.microsoft.com/office/drawing/2014/main" val="20006"/>
                    </a:ext>
                  </a:extLst>
                </a:gridCol>
                <a:gridCol w="428234">
                  <a:extLst>
                    <a:ext uri="{9D8B030D-6E8A-4147-A177-3AD203B41FA5}">
                      <a16:colId xmlns:a16="http://schemas.microsoft.com/office/drawing/2014/main" val="20007"/>
                    </a:ext>
                  </a:extLst>
                </a:gridCol>
                <a:gridCol w="428234">
                  <a:extLst>
                    <a:ext uri="{9D8B030D-6E8A-4147-A177-3AD203B41FA5}">
                      <a16:colId xmlns:a16="http://schemas.microsoft.com/office/drawing/2014/main" val="20008"/>
                    </a:ext>
                  </a:extLst>
                </a:gridCol>
                <a:gridCol w="428234">
                  <a:extLst>
                    <a:ext uri="{9D8B030D-6E8A-4147-A177-3AD203B41FA5}">
                      <a16:colId xmlns:a16="http://schemas.microsoft.com/office/drawing/2014/main" val="20009"/>
                    </a:ext>
                  </a:extLst>
                </a:gridCol>
                <a:gridCol w="428234">
                  <a:extLst>
                    <a:ext uri="{9D8B030D-6E8A-4147-A177-3AD203B41FA5}">
                      <a16:colId xmlns:a16="http://schemas.microsoft.com/office/drawing/2014/main" val="20010"/>
                    </a:ext>
                  </a:extLst>
                </a:gridCol>
                <a:gridCol w="428234">
                  <a:extLst>
                    <a:ext uri="{9D8B030D-6E8A-4147-A177-3AD203B41FA5}">
                      <a16:colId xmlns:a16="http://schemas.microsoft.com/office/drawing/2014/main" val="20011"/>
                    </a:ext>
                  </a:extLst>
                </a:gridCol>
                <a:gridCol w="428234">
                  <a:extLst>
                    <a:ext uri="{9D8B030D-6E8A-4147-A177-3AD203B41FA5}">
                      <a16:colId xmlns:a16="http://schemas.microsoft.com/office/drawing/2014/main" val="20012"/>
                    </a:ext>
                  </a:extLst>
                </a:gridCol>
                <a:gridCol w="428234">
                  <a:extLst>
                    <a:ext uri="{9D8B030D-6E8A-4147-A177-3AD203B41FA5}">
                      <a16:colId xmlns:a16="http://schemas.microsoft.com/office/drawing/2014/main" val="20013"/>
                    </a:ext>
                  </a:extLst>
                </a:gridCol>
                <a:gridCol w="428234">
                  <a:extLst>
                    <a:ext uri="{9D8B030D-6E8A-4147-A177-3AD203B41FA5}">
                      <a16:colId xmlns:a16="http://schemas.microsoft.com/office/drawing/2014/main" val="20014"/>
                    </a:ext>
                  </a:extLst>
                </a:gridCol>
                <a:gridCol w="428234">
                  <a:extLst>
                    <a:ext uri="{9D8B030D-6E8A-4147-A177-3AD203B41FA5}">
                      <a16:colId xmlns:a16="http://schemas.microsoft.com/office/drawing/2014/main" val="20015"/>
                    </a:ext>
                  </a:extLst>
                </a:gridCol>
                <a:gridCol w="428234">
                  <a:extLst>
                    <a:ext uri="{9D8B030D-6E8A-4147-A177-3AD203B41FA5}">
                      <a16:colId xmlns:a16="http://schemas.microsoft.com/office/drawing/2014/main" val="20016"/>
                    </a:ext>
                  </a:extLst>
                </a:gridCol>
                <a:gridCol w="428234">
                  <a:extLst>
                    <a:ext uri="{9D8B030D-6E8A-4147-A177-3AD203B41FA5}">
                      <a16:colId xmlns:a16="http://schemas.microsoft.com/office/drawing/2014/main" val="20017"/>
                    </a:ext>
                  </a:extLst>
                </a:gridCol>
                <a:gridCol w="428234">
                  <a:extLst>
                    <a:ext uri="{9D8B030D-6E8A-4147-A177-3AD203B41FA5}">
                      <a16:colId xmlns:a16="http://schemas.microsoft.com/office/drawing/2014/main" val="20018"/>
                    </a:ext>
                  </a:extLst>
                </a:gridCol>
              </a:tblGrid>
              <a:tr h="374866">
                <a:tc>
                  <a:txBody>
                    <a:bodyPr/>
                    <a:lstStyle/>
                    <a:p>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採用ケース</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ロードマップ</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2025</a:t>
                      </a:r>
                    </a:p>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1-6</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7-12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1-6</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7-12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1-6</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H1</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2027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Meiryo UI" panose="020B0604030504040204" pitchFamily="50" charset="-128"/>
                          <a:ea typeface="Meiryo UI" panose="020B0604030504040204" pitchFamily="50" charset="-128"/>
                          <a:cs typeface="Meiryo UI" panose="020B0604030504040204" pitchFamily="50" charset="-128"/>
                        </a:rPr>
                        <a:t>7-12</a:t>
                      </a: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1" lang="en-US" altLang="ja-JP" sz="1050" dirty="0">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37504">
                <a:tc>
                  <a:txBody>
                    <a:bodyPr/>
                    <a:lstStyle/>
                    <a:p>
                      <a:pPr algn="l"/>
                      <a:r>
                        <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GALLERIA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1728192">
                <a:tc>
                  <a:txBody>
                    <a:bodyPr/>
                    <a:lstStyle/>
                    <a:p>
                      <a:pPr algn="l"/>
                      <a:r>
                        <a:rPr kumimoji="1" lang="en-US" altLang="ja-JP" sz="7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Thirdwave</a:t>
                      </a:r>
                      <a:endParaRPr kumimoji="1" lang="en-US" altLang="ja-JP" sz="7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dirty="0">
                        <a:solidFill>
                          <a:schemeClr val="tx1"/>
                        </a:solidFill>
                        <a:latin typeface="HGPｺﾞｼｯｸE" panose="020B0900000000000000" pitchFamily="50" charset="-128"/>
                        <a:ea typeface="HGPｺﾞｼｯｸE" panose="020B0900000000000000" pitchFamily="50" charset="-128"/>
                        <a:cs typeface="Meiryo UI" panose="020B0604030504040204" pitchFamily="50" charset="-128"/>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000" dirty="0"/>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635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latinLnBrk="0" hangingPunct="1"/>
                      <a:endParaRPr kumimoji="1" lang="ja-JP" altLang="en-US" sz="1000" kern="1200" dirty="0">
                        <a:solidFill>
                          <a:schemeClr val="dk1"/>
                        </a:solidFill>
                        <a:latin typeface="+mn-lt"/>
                        <a:ea typeface="+mn-ea"/>
                        <a:cs typeface="+mn-cs"/>
                      </a:endParaRPr>
                    </a:p>
                  </a:txBody>
                  <a:tcPr>
                    <a:lnL w="6350" cap="flat" cmpd="sng" algn="ctr">
                      <a:solidFill>
                        <a:schemeClr val="tx1"/>
                      </a:solidFill>
                      <a:prstDash val="lg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39" name="角丸四角形 5">
            <a:extLst>
              <a:ext uri="{FF2B5EF4-FFF2-40B4-BE49-F238E27FC236}">
                <a16:creationId xmlns:a16="http://schemas.microsoft.com/office/drawing/2014/main" id="{6CC58B6C-1061-4728-A0F9-C00F2E0FEB80}"/>
              </a:ext>
            </a:extLst>
          </p:cNvPr>
          <p:cNvSpPr/>
          <p:nvPr/>
        </p:nvSpPr>
        <p:spPr>
          <a:xfrm>
            <a:off x="1259632" y="1066092"/>
            <a:ext cx="3229465"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SK</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/White</a:t>
            </a:r>
          </a:p>
        </p:txBody>
      </p:sp>
      <p:sp>
        <p:nvSpPr>
          <p:cNvPr id="60" name="角丸四角形 22">
            <a:extLst>
              <a:ext uri="{FF2B5EF4-FFF2-40B4-BE49-F238E27FC236}">
                <a16:creationId xmlns:a16="http://schemas.microsoft.com/office/drawing/2014/main" id="{2AC8ADEA-C2A9-4841-9EAB-164AF76BD940}"/>
              </a:ext>
            </a:extLst>
          </p:cNvPr>
          <p:cNvSpPr/>
          <p:nvPr/>
        </p:nvSpPr>
        <p:spPr>
          <a:xfrm>
            <a:off x="3067673" y="2019696"/>
            <a:ext cx="5881868"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SF</a:t>
            </a:r>
            <a:r>
              <a:rPr lang="ja-JP" altLang="en-US" sz="10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BK/WH </a:t>
            </a:r>
            <a:r>
              <a:rPr lang="en-US" altLang="ja-JP" sz="800" dirty="0">
                <a:solidFill>
                  <a:schemeClr val="bg1"/>
                </a:solidFill>
                <a:latin typeface="Meiryo UI" panose="020B0604030504040204" pitchFamily="50" charset="-128"/>
                <a:ea typeface="Meiryo UI" panose="020B0604030504040204" pitchFamily="50" charset="-128"/>
              </a:rPr>
              <a:t>Black/White</a:t>
            </a:r>
            <a:r>
              <a:rPr lang="ja-JP" altLang="en-US" sz="800" dirty="0">
                <a:solidFill>
                  <a:schemeClr val="bg1"/>
                </a:solidFill>
                <a:latin typeface="Meiryo UI" panose="020B0604030504040204" pitchFamily="50" charset="-128"/>
                <a:ea typeface="Meiryo UI" panose="020B0604030504040204" pitchFamily="50" charset="-128"/>
              </a:rPr>
              <a:t>　コラボ含む</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57" name="角丸四角形 22">
            <a:extLst>
              <a:ext uri="{FF2B5EF4-FFF2-40B4-BE49-F238E27FC236}">
                <a16:creationId xmlns:a16="http://schemas.microsoft.com/office/drawing/2014/main" id="{BAF39DD1-2846-450E-88E0-09F77880924E}"/>
              </a:ext>
            </a:extLst>
          </p:cNvPr>
          <p:cNvSpPr/>
          <p:nvPr/>
        </p:nvSpPr>
        <p:spPr>
          <a:xfrm>
            <a:off x="3122940" y="778060"/>
            <a:ext cx="5820866"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GE</a:t>
            </a:r>
            <a:r>
              <a:rPr lang="ja-JP" altLang="en-US" sz="10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GD/WL/CB/CW 4</a:t>
            </a:r>
            <a:r>
              <a:rPr lang="ja-JP" altLang="en-US" sz="1000" dirty="0">
                <a:solidFill>
                  <a:schemeClr val="bg1"/>
                </a:solidFill>
                <a:latin typeface="Meiryo UI" panose="020B0604030504040204" pitchFamily="50" charset="-128"/>
                <a:ea typeface="Meiryo UI" panose="020B0604030504040204" pitchFamily="50" charset="-128"/>
              </a:rPr>
              <a:t>パターン</a:t>
            </a:r>
            <a:r>
              <a:rPr lang="en-US" altLang="ja-JP" sz="1000" dirty="0">
                <a:solidFill>
                  <a:schemeClr val="bg1"/>
                </a:solidFill>
                <a:latin typeface="Meiryo UI" panose="020B0604030504040204" pitchFamily="50" charset="-128"/>
                <a:ea typeface="Meiryo UI" panose="020B0604030504040204" pitchFamily="50" charset="-128"/>
              </a:rPr>
              <a:t> </a:t>
            </a:r>
            <a:r>
              <a:rPr lang="en-US" altLang="ja-JP" sz="800" dirty="0" err="1">
                <a:solidFill>
                  <a:schemeClr val="bg1"/>
                </a:solidFill>
                <a:latin typeface="Meiryo UI" panose="020B0604030504040204" pitchFamily="50" charset="-128"/>
                <a:ea typeface="Meiryo UI" panose="020B0604030504040204" pitchFamily="50" charset="-128"/>
              </a:rPr>
              <a:t>GunmetalGray</a:t>
            </a:r>
            <a:r>
              <a:rPr lang="ja-JP" altLang="en-US" sz="800" dirty="0">
                <a:solidFill>
                  <a:schemeClr val="bg1"/>
                </a:solidFill>
                <a:latin typeface="Meiryo UI" panose="020B0604030504040204" pitchFamily="50" charset="-128"/>
                <a:ea typeface="Meiryo UI" panose="020B0604030504040204" pitchFamily="50" charset="-128"/>
              </a:rPr>
              <a:t>＆</a:t>
            </a:r>
            <a:r>
              <a:rPr lang="en-US" altLang="ja-JP" sz="800" dirty="0" err="1">
                <a:solidFill>
                  <a:schemeClr val="bg1"/>
                </a:solidFill>
                <a:latin typeface="Meiryo UI" panose="020B0604030504040204" pitchFamily="50" charset="-128"/>
                <a:ea typeface="Meiryo UI" panose="020B0604030504040204" pitchFamily="50" charset="-128"/>
              </a:rPr>
              <a:t>DarkGray</a:t>
            </a:r>
            <a:r>
              <a:rPr lang="en-US" altLang="ja-JP" sz="800" dirty="0">
                <a:solidFill>
                  <a:schemeClr val="bg1"/>
                </a:solidFill>
                <a:latin typeface="Meiryo UI" panose="020B0604030504040204" pitchFamily="50" charset="-128"/>
                <a:ea typeface="Meiryo UI" panose="020B0604030504040204" pitchFamily="50" charset="-128"/>
              </a:rPr>
              <a:t>/</a:t>
            </a:r>
            <a:r>
              <a:rPr lang="en-US" altLang="ja-JP" sz="800" dirty="0" err="1">
                <a:solidFill>
                  <a:schemeClr val="bg1"/>
                </a:solidFill>
                <a:latin typeface="Meiryo UI" panose="020B0604030504040204" pitchFamily="50" charset="-128"/>
                <a:ea typeface="Meiryo UI" panose="020B0604030504040204" pitchFamily="50" charset="-128"/>
              </a:rPr>
              <a:t>White&amp;LightGray</a:t>
            </a:r>
            <a:r>
              <a:rPr lang="en-US" altLang="ja-JP" sz="800" dirty="0">
                <a:solidFill>
                  <a:schemeClr val="bg1"/>
                </a:solidFill>
                <a:latin typeface="Meiryo UI" panose="020B0604030504040204" pitchFamily="50" charset="-128"/>
                <a:ea typeface="Meiryo UI" panose="020B0604030504040204" pitchFamily="50" charset="-128"/>
              </a:rPr>
              <a:t>/Black/White</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69" name="角丸四角形 5">
            <a:extLst>
              <a:ext uri="{FF2B5EF4-FFF2-40B4-BE49-F238E27FC236}">
                <a16:creationId xmlns:a16="http://schemas.microsoft.com/office/drawing/2014/main" id="{F7C30899-C1EE-4A36-B0DE-E39F1DC75B37}"/>
              </a:ext>
            </a:extLst>
          </p:cNvPr>
          <p:cNvSpPr/>
          <p:nvPr/>
        </p:nvSpPr>
        <p:spPr>
          <a:xfrm>
            <a:off x="1259631" y="2578260"/>
            <a:ext cx="3229466"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SKM</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/White</a:t>
            </a:r>
          </a:p>
        </p:txBody>
      </p:sp>
      <p:sp>
        <p:nvSpPr>
          <p:cNvPr id="70" name="角丸四角形 5">
            <a:extLst>
              <a:ext uri="{FF2B5EF4-FFF2-40B4-BE49-F238E27FC236}">
                <a16:creationId xmlns:a16="http://schemas.microsoft.com/office/drawing/2014/main" id="{6F15141E-E4DB-4A1C-9C6D-844D993946ED}"/>
              </a:ext>
            </a:extLst>
          </p:cNvPr>
          <p:cNvSpPr/>
          <p:nvPr/>
        </p:nvSpPr>
        <p:spPr>
          <a:xfrm>
            <a:off x="1475655" y="490028"/>
            <a:ext cx="7461222"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EX</a:t>
            </a:r>
          </a:p>
        </p:txBody>
      </p:sp>
      <p:sp>
        <p:nvSpPr>
          <p:cNvPr id="73" name="角丸四角形 22">
            <a:extLst>
              <a:ext uri="{FF2B5EF4-FFF2-40B4-BE49-F238E27FC236}">
                <a16:creationId xmlns:a16="http://schemas.microsoft.com/office/drawing/2014/main" id="{7F7F96B1-8D33-48E3-8B61-43EFCCCB91D0}"/>
              </a:ext>
            </a:extLst>
          </p:cNvPr>
          <p:cNvSpPr/>
          <p:nvPr/>
        </p:nvSpPr>
        <p:spPr>
          <a:xfrm>
            <a:off x="3060802" y="2327600"/>
            <a:ext cx="5883005"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err="1">
                <a:solidFill>
                  <a:schemeClr val="bg1"/>
                </a:solidFill>
                <a:latin typeface="Meiryo UI" panose="020B0604030504040204" pitchFamily="50" charset="-128"/>
                <a:ea typeface="Meiryo UI" panose="020B0604030504040204" pitchFamily="50" charset="-128"/>
              </a:rPr>
              <a:t>GEm</a:t>
            </a:r>
            <a:r>
              <a:rPr lang="ja-JP" altLang="en-US" sz="1000" dirty="0">
                <a:solidFill>
                  <a:schemeClr val="bg1"/>
                </a:solidFill>
                <a:latin typeface="Meiryo UI" panose="020B0604030504040204" pitchFamily="50" charset="-128"/>
                <a:ea typeface="Meiryo UI" panose="020B0604030504040204" pitchFamily="50" charset="-128"/>
              </a:rPr>
              <a:t> </a:t>
            </a:r>
            <a:r>
              <a:rPr lang="en-US" altLang="ja-JP" sz="1000" dirty="0">
                <a:solidFill>
                  <a:schemeClr val="bg1"/>
                </a:solidFill>
                <a:latin typeface="Meiryo UI" panose="020B0604030504040204" pitchFamily="50" charset="-128"/>
                <a:ea typeface="Meiryo UI" panose="020B0604030504040204" pitchFamily="50" charset="-128"/>
              </a:rPr>
              <a:t>GD/WL 2</a:t>
            </a:r>
            <a:r>
              <a:rPr lang="ja-JP" altLang="en-US" sz="1000" dirty="0">
                <a:solidFill>
                  <a:schemeClr val="bg1"/>
                </a:solidFill>
                <a:latin typeface="Meiryo UI" panose="020B0604030504040204" pitchFamily="50" charset="-128"/>
                <a:ea typeface="Meiryo UI" panose="020B0604030504040204" pitchFamily="50" charset="-128"/>
              </a:rPr>
              <a:t>パターン</a:t>
            </a:r>
            <a:r>
              <a:rPr lang="en-US" altLang="ja-JP" sz="1000" dirty="0">
                <a:solidFill>
                  <a:schemeClr val="bg1"/>
                </a:solidFill>
                <a:latin typeface="Meiryo UI" panose="020B0604030504040204" pitchFamily="50" charset="-128"/>
                <a:ea typeface="Meiryo UI" panose="020B0604030504040204" pitchFamily="50" charset="-128"/>
              </a:rPr>
              <a:t> </a:t>
            </a:r>
            <a:r>
              <a:rPr lang="en-US" altLang="ja-JP" sz="800" dirty="0" err="1">
                <a:solidFill>
                  <a:schemeClr val="bg1"/>
                </a:solidFill>
                <a:latin typeface="Meiryo UI" panose="020B0604030504040204" pitchFamily="50" charset="-128"/>
                <a:ea typeface="Meiryo UI" panose="020B0604030504040204" pitchFamily="50" charset="-128"/>
              </a:rPr>
              <a:t>GunmetalGray</a:t>
            </a:r>
            <a:r>
              <a:rPr lang="ja-JP" altLang="en-US" sz="800" dirty="0">
                <a:solidFill>
                  <a:schemeClr val="bg1"/>
                </a:solidFill>
                <a:latin typeface="Meiryo UI" panose="020B0604030504040204" pitchFamily="50" charset="-128"/>
                <a:ea typeface="Meiryo UI" panose="020B0604030504040204" pitchFamily="50" charset="-128"/>
              </a:rPr>
              <a:t>＆</a:t>
            </a:r>
            <a:r>
              <a:rPr lang="en-US" altLang="ja-JP" sz="800" dirty="0" err="1">
                <a:solidFill>
                  <a:schemeClr val="bg1"/>
                </a:solidFill>
                <a:latin typeface="Meiryo UI" panose="020B0604030504040204" pitchFamily="50" charset="-128"/>
                <a:ea typeface="Meiryo UI" panose="020B0604030504040204" pitchFamily="50" charset="-128"/>
              </a:rPr>
              <a:t>DarkGray</a:t>
            </a:r>
            <a:r>
              <a:rPr lang="en-US" altLang="ja-JP" sz="800" dirty="0">
                <a:solidFill>
                  <a:schemeClr val="bg1"/>
                </a:solidFill>
                <a:latin typeface="Meiryo UI" panose="020B0604030504040204" pitchFamily="50" charset="-128"/>
                <a:ea typeface="Meiryo UI" panose="020B0604030504040204" pitchFamily="50" charset="-128"/>
              </a:rPr>
              <a:t>/</a:t>
            </a:r>
            <a:r>
              <a:rPr lang="en-US" altLang="ja-JP" sz="800" dirty="0" err="1">
                <a:solidFill>
                  <a:schemeClr val="bg1"/>
                </a:solidFill>
                <a:latin typeface="Meiryo UI" panose="020B0604030504040204" pitchFamily="50" charset="-128"/>
                <a:ea typeface="Meiryo UI" panose="020B0604030504040204" pitchFamily="50" charset="-128"/>
              </a:rPr>
              <a:t>White&amp;LightGray</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74" name="角丸四角形 5">
            <a:extLst>
              <a:ext uri="{FF2B5EF4-FFF2-40B4-BE49-F238E27FC236}">
                <a16:creationId xmlns:a16="http://schemas.microsoft.com/office/drawing/2014/main" id="{41B58DBC-75B4-42DA-88BC-3025CF7014CB}"/>
              </a:ext>
            </a:extLst>
          </p:cNvPr>
          <p:cNvSpPr/>
          <p:nvPr/>
        </p:nvSpPr>
        <p:spPr>
          <a:xfrm>
            <a:off x="1252706" y="1535372"/>
            <a:ext cx="3236391"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SK</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ぶいすぽ</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角丸四角形 22">
            <a:extLst>
              <a:ext uri="{FF2B5EF4-FFF2-40B4-BE49-F238E27FC236}">
                <a16:creationId xmlns:a16="http://schemas.microsoft.com/office/drawing/2014/main" id="{2A84268C-4BC8-47DF-A290-5D4D341B1E3F}"/>
              </a:ext>
            </a:extLst>
          </p:cNvPr>
          <p:cNvSpPr/>
          <p:nvPr/>
        </p:nvSpPr>
        <p:spPr>
          <a:xfrm>
            <a:off x="5508103" y="3099719"/>
            <a:ext cx="3428774" cy="209514"/>
          </a:xfrm>
          <a:prstGeom prst="roundRect">
            <a:avLst/>
          </a:prstGeom>
          <a:solidFill>
            <a:schemeClr val="accent6"/>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CX SFF</a:t>
            </a:r>
          </a:p>
        </p:txBody>
      </p:sp>
      <p:sp>
        <p:nvSpPr>
          <p:cNvPr id="77" name="角丸四角形 5">
            <a:extLst>
              <a:ext uri="{FF2B5EF4-FFF2-40B4-BE49-F238E27FC236}">
                <a16:creationId xmlns:a16="http://schemas.microsoft.com/office/drawing/2014/main" id="{97D49E3B-ADD1-41F2-947B-763C1308CB44}"/>
              </a:ext>
            </a:extLst>
          </p:cNvPr>
          <p:cNvSpPr/>
          <p:nvPr/>
        </p:nvSpPr>
        <p:spPr>
          <a:xfrm>
            <a:off x="1475656" y="1786172"/>
            <a:ext cx="4896544"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638/CR</a:t>
            </a:r>
          </a:p>
        </p:txBody>
      </p:sp>
      <p:sp>
        <p:nvSpPr>
          <p:cNvPr id="79" name="角丸四角形 5">
            <a:extLst>
              <a:ext uri="{FF2B5EF4-FFF2-40B4-BE49-F238E27FC236}">
                <a16:creationId xmlns:a16="http://schemas.microsoft.com/office/drawing/2014/main" id="{AD3FA477-2756-48E5-A831-E6E1C18F59D5}"/>
              </a:ext>
            </a:extLst>
          </p:cNvPr>
          <p:cNvSpPr/>
          <p:nvPr/>
        </p:nvSpPr>
        <p:spPr>
          <a:xfrm>
            <a:off x="1266587" y="3694933"/>
            <a:ext cx="6387948"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EA</a:t>
            </a:r>
          </a:p>
        </p:txBody>
      </p:sp>
      <p:sp>
        <p:nvSpPr>
          <p:cNvPr id="80" name="角丸四角形 22">
            <a:extLst>
              <a:ext uri="{FF2B5EF4-FFF2-40B4-BE49-F238E27FC236}">
                <a16:creationId xmlns:a16="http://schemas.microsoft.com/office/drawing/2014/main" id="{27C29591-B5C7-4BA6-8338-875859409132}"/>
              </a:ext>
            </a:extLst>
          </p:cNvPr>
          <p:cNvSpPr/>
          <p:nvPr/>
        </p:nvSpPr>
        <p:spPr>
          <a:xfrm>
            <a:off x="5508103" y="3700373"/>
            <a:ext cx="3428775" cy="209514"/>
          </a:xfrm>
          <a:prstGeom prst="roundRect">
            <a:avLst/>
          </a:prstGeom>
          <a:solidFill>
            <a:schemeClr val="accent6"/>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M01 EA</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後継</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1" name="角丸四角形 5">
            <a:extLst>
              <a:ext uri="{FF2B5EF4-FFF2-40B4-BE49-F238E27FC236}">
                <a16:creationId xmlns:a16="http://schemas.microsoft.com/office/drawing/2014/main" id="{F13B66BB-ABC4-444B-94B2-F24B6C9EB4BB}"/>
              </a:ext>
            </a:extLst>
          </p:cNvPr>
          <p:cNvSpPr/>
          <p:nvPr/>
        </p:nvSpPr>
        <p:spPr>
          <a:xfrm>
            <a:off x="1280107" y="4522476"/>
            <a:ext cx="7656771"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CPS</a:t>
            </a:r>
          </a:p>
        </p:txBody>
      </p:sp>
      <p:sp>
        <p:nvSpPr>
          <p:cNvPr id="82" name="角丸四角形 5">
            <a:extLst>
              <a:ext uri="{FF2B5EF4-FFF2-40B4-BE49-F238E27FC236}">
                <a16:creationId xmlns:a16="http://schemas.microsoft.com/office/drawing/2014/main" id="{07AACBC9-14A5-444F-B65F-1C48894E43C2}"/>
              </a:ext>
            </a:extLst>
          </p:cNvPr>
          <p:cNvSpPr/>
          <p:nvPr/>
        </p:nvSpPr>
        <p:spPr>
          <a:xfrm>
            <a:off x="1266586" y="4250139"/>
            <a:ext cx="6380993"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X3-03</a:t>
            </a:r>
          </a:p>
        </p:txBody>
      </p:sp>
      <p:sp>
        <p:nvSpPr>
          <p:cNvPr id="83" name="角丸四角形 5">
            <a:extLst>
              <a:ext uri="{FF2B5EF4-FFF2-40B4-BE49-F238E27FC236}">
                <a16:creationId xmlns:a16="http://schemas.microsoft.com/office/drawing/2014/main" id="{224FA2E4-EB3B-42B8-B8FF-FC9EBD4D2BA8}"/>
              </a:ext>
            </a:extLst>
          </p:cNvPr>
          <p:cNvSpPr/>
          <p:nvPr/>
        </p:nvSpPr>
        <p:spPr>
          <a:xfrm>
            <a:off x="1259633" y="1311587"/>
            <a:ext cx="1944215"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SK</a:t>
            </a:r>
            <a:r>
              <a:rPr kumimoji="1"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渋谷</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ハル</a:t>
            </a:r>
            <a:endPar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角丸四角形 22">
            <a:extLst>
              <a:ext uri="{FF2B5EF4-FFF2-40B4-BE49-F238E27FC236}">
                <a16:creationId xmlns:a16="http://schemas.microsoft.com/office/drawing/2014/main" id="{D8D4BD2A-7E14-41FA-9B0E-800EA6756944}"/>
              </a:ext>
            </a:extLst>
          </p:cNvPr>
          <p:cNvSpPr/>
          <p:nvPr/>
        </p:nvSpPr>
        <p:spPr>
          <a:xfrm>
            <a:off x="3122940" y="1305715"/>
            <a:ext cx="530775" cy="205098"/>
          </a:xfrm>
          <a:prstGeom prst="roundRect">
            <a:avLst/>
          </a:prstGeom>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SF</a:t>
            </a:r>
            <a:r>
              <a:rPr lang="ja-JP" altLang="en-US" sz="1000" dirty="0">
                <a:solidFill>
                  <a:schemeClr val="bg1"/>
                </a:solidFill>
                <a:latin typeface="Meiryo UI" panose="020B0604030504040204" pitchFamily="50" charset="-128"/>
                <a:ea typeface="Meiryo UI" panose="020B0604030504040204" pitchFamily="50" charset="-128"/>
              </a:rPr>
              <a:t>へ</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85" name="角丸四角形 22">
            <a:extLst>
              <a:ext uri="{FF2B5EF4-FFF2-40B4-BE49-F238E27FC236}">
                <a16:creationId xmlns:a16="http://schemas.microsoft.com/office/drawing/2014/main" id="{81424097-9FE1-4E77-9339-C72D4D10165A}"/>
              </a:ext>
            </a:extLst>
          </p:cNvPr>
          <p:cNvSpPr/>
          <p:nvPr/>
        </p:nvSpPr>
        <p:spPr>
          <a:xfrm>
            <a:off x="6012159" y="4250139"/>
            <a:ext cx="2931671" cy="209514"/>
          </a:xfrm>
          <a:prstGeom prst="roundRect">
            <a:avLst/>
          </a:prstGeom>
          <a:solidFill>
            <a:schemeClr val="accent6"/>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R05 X3</a:t>
            </a: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後継</a:t>
            </a:r>
            <a:endPar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6" name="角丸四角形 5">
            <a:extLst>
              <a:ext uri="{FF2B5EF4-FFF2-40B4-BE49-F238E27FC236}">
                <a16:creationId xmlns:a16="http://schemas.microsoft.com/office/drawing/2014/main" id="{8D029159-74C6-4937-A76C-41B53A59C8AA}"/>
              </a:ext>
            </a:extLst>
          </p:cNvPr>
          <p:cNvSpPr/>
          <p:nvPr/>
        </p:nvSpPr>
        <p:spPr>
          <a:xfrm>
            <a:off x="1287062" y="4796037"/>
            <a:ext cx="7656771"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CK</a:t>
            </a:r>
          </a:p>
        </p:txBody>
      </p:sp>
      <p:sp>
        <p:nvSpPr>
          <p:cNvPr id="87" name="角丸四角形 5">
            <a:extLst>
              <a:ext uri="{FF2B5EF4-FFF2-40B4-BE49-F238E27FC236}">
                <a16:creationId xmlns:a16="http://schemas.microsoft.com/office/drawing/2014/main" id="{9040D5FC-347D-4CD9-85C0-404485945FE1}"/>
              </a:ext>
            </a:extLst>
          </p:cNvPr>
          <p:cNvSpPr/>
          <p:nvPr/>
        </p:nvSpPr>
        <p:spPr>
          <a:xfrm>
            <a:off x="1259631" y="3441994"/>
            <a:ext cx="6048673"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4C</a:t>
            </a:r>
          </a:p>
        </p:txBody>
      </p:sp>
      <p:sp>
        <p:nvSpPr>
          <p:cNvPr id="88" name="角丸四角形 5">
            <a:extLst>
              <a:ext uri="{FF2B5EF4-FFF2-40B4-BE49-F238E27FC236}">
                <a16:creationId xmlns:a16="http://schemas.microsoft.com/office/drawing/2014/main" id="{A626C79E-67AB-4929-B7D9-3880F28B92FB}"/>
              </a:ext>
            </a:extLst>
          </p:cNvPr>
          <p:cNvSpPr/>
          <p:nvPr/>
        </p:nvSpPr>
        <p:spPr>
          <a:xfrm>
            <a:off x="1684837" y="4018420"/>
            <a:ext cx="7258995"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4CM</a:t>
            </a:r>
          </a:p>
        </p:txBody>
      </p:sp>
      <p:sp>
        <p:nvSpPr>
          <p:cNvPr id="89" name="角丸四角形 22">
            <a:extLst>
              <a:ext uri="{FF2B5EF4-FFF2-40B4-BE49-F238E27FC236}">
                <a16:creationId xmlns:a16="http://schemas.microsoft.com/office/drawing/2014/main" id="{D01881C7-A9AE-4C1C-81A7-CA0797DA02E9}"/>
              </a:ext>
            </a:extLst>
          </p:cNvPr>
          <p:cNvSpPr/>
          <p:nvPr/>
        </p:nvSpPr>
        <p:spPr>
          <a:xfrm>
            <a:off x="3067672" y="2818996"/>
            <a:ext cx="5883005" cy="209514"/>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err="1">
                <a:solidFill>
                  <a:schemeClr val="bg1"/>
                </a:solidFill>
                <a:latin typeface="Meiryo UI" panose="020B0604030504040204" pitchFamily="50" charset="-128"/>
                <a:ea typeface="Meiryo UI" panose="020B0604030504040204" pitchFamily="50" charset="-128"/>
              </a:rPr>
              <a:t>SFm</a:t>
            </a:r>
            <a:r>
              <a:rPr lang="en-US" altLang="ja-JP" sz="1000" dirty="0">
                <a:solidFill>
                  <a:schemeClr val="bg1"/>
                </a:solidFill>
                <a:latin typeface="Meiryo UI" panose="020B0604030504040204" pitchFamily="50" charset="-128"/>
                <a:ea typeface="Meiryo UI" panose="020B0604030504040204" pitchFamily="50" charset="-128"/>
              </a:rPr>
              <a:t> BK/WH </a:t>
            </a:r>
            <a:r>
              <a:rPr lang="en-US" altLang="ja-JP" sz="800" dirty="0">
                <a:solidFill>
                  <a:schemeClr val="bg1"/>
                </a:solidFill>
                <a:latin typeface="Meiryo UI" panose="020B0604030504040204" pitchFamily="50" charset="-128"/>
                <a:ea typeface="Meiryo UI" panose="020B0604030504040204" pitchFamily="50" charset="-128"/>
              </a:rPr>
              <a:t>Black/White </a:t>
            </a:r>
            <a:r>
              <a:rPr lang="ja-JP" altLang="en-US" sz="800" dirty="0">
                <a:solidFill>
                  <a:schemeClr val="bg1"/>
                </a:solidFill>
                <a:latin typeface="Meiryo UI" panose="020B0604030504040204" pitchFamily="50" charset="-128"/>
                <a:ea typeface="Meiryo UI" panose="020B0604030504040204" pitchFamily="50" charset="-128"/>
              </a:rPr>
              <a:t>コラボ含む</a:t>
            </a:r>
            <a:endParaRPr lang="en-US" altLang="ja-JP" sz="1000" dirty="0">
              <a:solidFill>
                <a:schemeClr val="bg1"/>
              </a:solidFill>
              <a:latin typeface="Meiryo UI" panose="020B0604030504040204" pitchFamily="50" charset="-128"/>
              <a:ea typeface="Meiryo UI" panose="020B0604030504040204" pitchFamily="50" charset="-128"/>
            </a:endParaRPr>
          </a:p>
        </p:txBody>
      </p:sp>
      <p:cxnSp>
        <p:nvCxnSpPr>
          <p:cNvPr id="90" name="直線コネクタ 89">
            <a:extLst>
              <a:ext uri="{FF2B5EF4-FFF2-40B4-BE49-F238E27FC236}">
                <a16:creationId xmlns:a16="http://schemas.microsoft.com/office/drawing/2014/main" id="{9C01260C-F545-4CB1-8FAA-B9661630922B}"/>
              </a:ext>
            </a:extLst>
          </p:cNvPr>
          <p:cNvCxnSpPr>
            <a:cxnSpLocks/>
          </p:cNvCxnSpPr>
          <p:nvPr/>
        </p:nvCxnSpPr>
        <p:spPr>
          <a:xfrm>
            <a:off x="746672" y="746757"/>
            <a:ext cx="8204006"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D17AA558-68A5-4415-B63E-BB8A9FAB2CC5}"/>
              </a:ext>
            </a:extLst>
          </p:cNvPr>
          <p:cNvCxnSpPr>
            <a:cxnSpLocks/>
          </p:cNvCxnSpPr>
          <p:nvPr/>
        </p:nvCxnSpPr>
        <p:spPr>
          <a:xfrm>
            <a:off x="755576" y="3075806"/>
            <a:ext cx="8204006"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cxnSp>
        <p:nvCxnSpPr>
          <p:cNvPr id="92" name="直線コネクタ 91">
            <a:extLst>
              <a:ext uri="{FF2B5EF4-FFF2-40B4-BE49-F238E27FC236}">
                <a16:creationId xmlns:a16="http://schemas.microsoft.com/office/drawing/2014/main" id="{9538F4D7-42A5-4F34-AAD8-19E6C02A7F6A}"/>
              </a:ext>
            </a:extLst>
          </p:cNvPr>
          <p:cNvCxnSpPr>
            <a:cxnSpLocks/>
          </p:cNvCxnSpPr>
          <p:nvPr/>
        </p:nvCxnSpPr>
        <p:spPr>
          <a:xfrm>
            <a:off x="732872" y="2315541"/>
            <a:ext cx="8204006"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B10E5BA4-191B-4E92-A5B9-493F9043C35D}"/>
              </a:ext>
            </a:extLst>
          </p:cNvPr>
          <p:cNvCxnSpPr>
            <a:cxnSpLocks/>
          </p:cNvCxnSpPr>
          <p:nvPr/>
        </p:nvCxnSpPr>
        <p:spPr>
          <a:xfrm>
            <a:off x="739800" y="3947371"/>
            <a:ext cx="8204006" cy="0"/>
          </a:xfrm>
          <a:prstGeom prst="line">
            <a:avLst/>
          </a:prstGeom>
          <a:ln w="12700">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95" name="テキスト ボックス 94">
            <a:extLst>
              <a:ext uri="{FF2B5EF4-FFF2-40B4-BE49-F238E27FC236}">
                <a16:creationId xmlns:a16="http://schemas.microsoft.com/office/drawing/2014/main" id="{0FB4EF03-2C83-4893-935E-033A5841F2B0}"/>
              </a:ext>
            </a:extLst>
          </p:cNvPr>
          <p:cNvSpPr txBox="1"/>
          <p:nvPr/>
        </p:nvSpPr>
        <p:spPr>
          <a:xfrm>
            <a:off x="755576" y="451773"/>
            <a:ext cx="504057" cy="246221"/>
          </a:xfrm>
          <a:prstGeom prst="rect">
            <a:avLst/>
          </a:prstGeom>
          <a:noFill/>
        </p:spPr>
        <p:txBody>
          <a:bodyPr wrap="square" rtlCol="0">
            <a:spAutoFit/>
          </a:bodyPr>
          <a:lstStyle/>
          <a:p>
            <a:r>
              <a:rPr kumimoji="1" lang="en-US" altLang="ja-JP" sz="1000" dirty="0"/>
              <a:t>EATX</a:t>
            </a:r>
            <a:endParaRPr kumimoji="1" lang="ja-JP" altLang="en-US" sz="1000" dirty="0"/>
          </a:p>
        </p:txBody>
      </p:sp>
      <p:sp>
        <p:nvSpPr>
          <p:cNvPr id="96" name="テキスト ボックス 95">
            <a:extLst>
              <a:ext uri="{FF2B5EF4-FFF2-40B4-BE49-F238E27FC236}">
                <a16:creationId xmlns:a16="http://schemas.microsoft.com/office/drawing/2014/main" id="{E8E7E7F4-56DA-43E3-8F84-0E9425D134BC}"/>
              </a:ext>
            </a:extLst>
          </p:cNvPr>
          <p:cNvSpPr txBox="1"/>
          <p:nvPr/>
        </p:nvSpPr>
        <p:spPr>
          <a:xfrm>
            <a:off x="746673" y="1473228"/>
            <a:ext cx="504057" cy="246221"/>
          </a:xfrm>
          <a:prstGeom prst="rect">
            <a:avLst/>
          </a:prstGeom>
          <a:noFill/>
        </p:spPr>
        <p:txBody>
          <a:bodyPr wrap="square" rtlCol="0">
            <a:spAutoFit/>
          </a:bodyPr>
          <a:lstStyle/>
          <a:p>
            <a:r>
              <a:rPr kumimoji="1" lang="en-US" altLang="ja-JP" sz="1000" dirty="0"/>
              <a:t>ATX</a:t>
            </a:r>
            <a:endParaRPr kumimoji="1" lang="ja-JP" altLang="en-US" sz="1000" dirty="0"/>
          </a:p>
        </p:txBody>
      </p:sp>
      <p:sp>
        <p:nvSpPr>
          <p:cNvPr id="97" name="テキスト ボックス 96">
            <a:extLst>
              <a:ext uri="{FF2B5EF4-FFF2-40B4-BE49-F238E27FC236}">
                <a16:creationId xmlns:a16="http://schemas.microsoft.com/office/drawing/2014/main" id="{5E53A649-EEF0-4EF0-8DF5-68793CA9A861}"/>
              </a:ext>
            </a:extLst>
          </p:cNvPr>
          <p:cNvSpPr txBox="1"/>
          <p:nvPr/>
        </p:nvSpPr>
        <p:spPr>
          <a:xfrm>
            <a:off x="746673" y="2513427"/>
            <a:ext cx="504057" cy="246221"/>
          </a:xfrm>
          <a:prstGeom prst="rect">
            <a:avLst/>
          </a:prstGeom>
          <a:noFill/>
        </p:spPr>
        <p:txBody>
          <a:bodyPr wrap="square" rtlCol="0">
            <a:spAutoFit/>
          </a:bodyPr>
          <a:lstStyle/>
          <a:p>
            <a:r>
              <a:rPr kumimoji="1" lang="en-US" altLang="ja-JP" sz="1000" dirty="0"/>
              <a:t>MATX</a:t>
            </a:r>
            <a:endParaRPr kumimoji="1" lang="ja-JP" altLang="en-US" sz="1000" dirty="0"/>
          </a:p>
        </p:txBody>
      </p:sp>
      <p:sp>
        <p:nvSpPr>
          <p:cNvPr id="99" name="テキスト ボックス 98">
            <a:extLst>
              <a:ext uri="{FF2B5EF4-FFF2-40B4-BE49-F238E27FC236}">
                <a16:creationId xmlns:a16="http://schemas.microsoft.com/office/drawing/2014/main" id="{DA756D27-B7B4-4F88-A063-017B572C58C8}"/>
              </a:ext>
            </a:extLst>
          </p:cNvPr>
          <p:cNvSpPr txBox="1"/>
          <p:nvPr/>
        </p:nvSpPr>
        <p:spPr>
          <a:xfrm>
            <a:off x="740554" y="4443549"/>
            <a:ext cx="504057" cy="246221"/>
          </a:xfrm>
          <a:prstGeom prst="rect">
            <a:avLst/>
          </a:prstGeom>
          <a:noFill/>
        </p:spPr>
        <p:txBody>
          <a:bodyPr wrap="square" rtlCol="0">
            <a:spAutoFit/>
          </a:bodyPr>
          <a:lstStyle/>
          <a:p>
            <a:r>
              <a:rPr kumimoji="1" lang="en-US" altLang="ja-JP" sz="1000" dirty="0"/>
              <a:t>MATX</a:t>
            </a:r>
            <a:endParaRPr kumimoji="1" lang="ja-JP" altLang="en-US" sz="1000" dirty="0"/>
          </a:p>
        </p:txBody>
      </p:sp>
      <p:sp>
        <p:nvSpPr>
          <p:cNvPr id="100" name="テキスト ボックス 99">
            <a:extLst>
              <a:ext uri="{FF2B5EF4-FFF2-40B4-BE49-F238E27FC236}">
                <a16:creationId xmlns:a16="http://schemas.microsoft.com/office/drawing/2014/main" id="{46749A44-1C25-4ABF-BFB4-57ED1B550EC4}"/>
              </a:ext>
            </a:extLst>
          </p:cNvPr>
          <p:cNvSpPr txBox="1"/>
          <p:nvPr/>
        </p:nvSpPr>
        <p:spPr>
          <a:xfrm>
            <a:off x="748648" y="3581357"/>
            <a:ext cx="504057" cy="246221"/>
          </a:xfrm>
          <a:prstGeom prst="rect">
            <a:avLst/>
          </a:prstGeom>
          <a:noFill/>
        </p:spPr>
        <p:txBody>
          <a:bodyPr wrap="square" rtlCol="0">
            <a:spAutoFit/>
          </a:bodyPr>
          <a:lstStyle/>
          <a:p>
            <a:r>
              <a:rPr kumimoji="1" lang="en-US" altLang="ja-JP" sz="1000" dirty="0"/>
              <a:t>ATX</a:t>
            </a:r>
            <a:endParaRPr kumimoji="1" lang="ja-JP" altLang="en-US" sz="1000" dirty="0"/>
          </a:p>
        </p:txBody>
      </p:sp>
      <p:sp>
        <p:nvSpPr>
          <p:cNvPr id="101" name="テキスト ボックス 100">
            <a:extLst>
              <a:ext uri="{FF2B5EF4-FFF2-40B4-BE49-F238E27FC236}">
                <a16:creationId xmlns:a16="http://schemas.microsoft.com/office/drawing/2014/main" id="{6AF6BA3D-D831-4222-BB46-235C1705CFE3}"/>
              </a:ext>
            </a:extLst>
          </p:cNvPr>
          <p:cNvSpPr txBox="1"/>
          <p:nvPr/>
        </p:nvSpPr>
        <p:spPr>
          <a:xfrm>
            <a:off x="748649" y="3078282"/>
            <a:ext cx="504057" cy="246221"/>
          </a:xfrm>
          <a:prstGeom prst="rect">
            <a:avLst/>
          </a:prstGeom>
          <a:noFill/>
        </p:spPr>
        <p:txBody>
          <a:bodyPr wrap="square" rtlCol="0">
            <a:spAutoFit/>
          </a:bodyPr>
          <a:lstStyle/>
          <a:p>
            <a:r>
              <a:rPr lang="en-US" altLang="ja-JP" sz="1000" dirty="0"/>
              <a:t>I</a:t>
            </a:r>
            <a:r>
              <a:rPr kumimoji="1" lang="en-US" altLang="ja-JP" sz="1000" dirty="0"/>
              <a:t>TX</a:t>
            </a:r>
            <a:endParaRPr kumimoji="1" lang="ja-JP" altLang="en-US" sz="1000" dirty="0"/>
          </a:p>
        </p:txBody>
      </p:sp>
      <p:sp>
        <p:nvSpPr>
          <p:cNvPr id="2" name="スライド番号プレースホルダー 1">
            <a:extLst>
              <a:ext uri="{FF2B5EF4-FFF2-40B4-BE49-F238E27FC236}">
                <a16:creationId xmlns:a16="http://schemas.microsoft.com/office/drawing/2014/main" id="{80F9A7EB-AF2C-4E17-8949-06917475B133}"/>
              </a:ext>
            </a:extLst>
          </p:cNvPr>
          <p:cNvSpPr>
            <a:spLocks noGrp="1"/>
          </p:cNvSpPr>
          <p:nvPr>
            <p:ph type="sldNum" sz="quarter" idx="12"/>
          </p:nvPr>
        </p:nvSpPr>
        <p:spPr>
          <a:xfrm>
            <a:off x="7020272" y="4853196"/>
            <a:ext cx="2133600" cy="273844"/>
          </a:xfrm>
        </p:spPr>
        <p:txBody>
          <a:bodyPr/>
          <a:lstStyle/>
          <a:p>
            <a:fld id="{F9DFCEB9-CAE4-4F3C-93D0-85C4724A0355}" type="slidenum">
              <a:rPr kumimoji="1" lang="ja-JP" altLang="en-US" smtClean="0"/>
              <a:t>36</a:t>
            </a:fld>
            <a:endParaRPr kumimoji="1" lang="ja-JP" altLang="en-US" dirty="0"/>
          </a:p>
        </p:txBody>
      </p:sp>
      <p:sp>
        <p:nvSpPr>
          <p:cNvPr id="44" name="角丸四角形 22">
            <a:extLst>
              <a:ext uri="{FF2B5EF4-FFF2-40B4-BE49-F238E27FC236}">
                <a16:creationId xmlns:a16="http://schemas.microsoft.com/office/drawing/2014/main" id="{ED55F80F-DCF0-49A2-82ED-10AF0C38A669}"/>
              </a:ext>
            </a:extLst>
          </p:cNvPr>
          <p:cNvSpPr/>
          <p:nvPr/>
        </p:nvSpPr>
        <p:spPr>
          <a:xfrm>
            <a:off x="7020272" y="3436137"/>
            <a:ext cx="1930405" cy="209514"/>
          </a:xfrm>
          <a:prstGeom prst="roundRect">
            <a:avLst/>
          </a:prstGeom>
          <a:solidFill>
            <a:schemeClr val="bg1">
              <a:lumMod val="50000"/>
            </a:schemeClr>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Successor</a:t>
            </a:r>
          </a:p>
        </p:txBody>
      </p:sp>
      <p:sp>
        <p:nvSpPr>
          <p:cNvPr id="46" name="角丸四角形 22">
            <a:extLst>
              <a:ext uri="{FF2B5EF4-FFF2-40B4-BE49-F238E27FC236}">
                <a16:creationId xmlns:a16="http://schemas.microsoft.com/office/drawing/2014/main" id="{3D4EC1FE-0E1F-4B6B-8A01-E5B8D4724301}"/>
              </a:ext>
            </a:extLst>
          </p:cNvPr>
          <p:cNvSpPr/>
          <p:nvPr/>
        </p:nvSpPr>
        <p:spPr>
          <a:xfrm>
            <a:off x="6300192" y="1792682"/>
            <a:ext cx="2643614" cy="211115"/>
          </a:xfrm>
          <a:prstGeom prst="roundRect">
            <a:avLst/>
          </a:prstGeom>
          <a:solidFill>
            <a:schemeClr val="bg1">
              <a:lumMod val="50000"/>
            </a:schemeClr>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
        <p:nvSpPr>
          <p:cNvPr id="48" name="角丸四角形 22">
            <a:extLst>
              <a:ext uri="{FF2B5EF4-FFF2-40B4-BE49-F238E27FC236}">
                <a16:creationId xmlns:a16="http://schemas.microsoft.com/office/drawing/2014/main" id="{EF4CB123-5509-4EA7-9962-5BC4690CBE94}"/>
              </a:ext>
            </a:extLst>
          </p:cNvPr>
          <p:cNvSpPr/>
          <p:nvPr/>
        </p:nvSpPr>
        <p:spPr>
          <a:xfrm>
            <a:off x="8532440" y="4517135"/>
            <a:ext cx="404437" cy="209514"/>
          </a:xfrm>
          <a:prstGeom prst="roundRect">
            <a:avLst/>
          </a:prstGeom>
          <a:solidFill>
            <a:schemeClr val="bg1">
              <a:lumMod val="50000"/>
            </a:schemeClr>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
        <p:nvSpPr>
          <p:cNvPr id="49" name="角丸四角形 22">
            <a:extLst>
              <a:ext uri="{FF2B5EF4-FFF2-40B4-BE49-F238E27FC236}">
                <a16:creationId xmlns:a16="http://schemas.microsoft.com/office/drawing/2014/main" id="{5D8155BB-BA40-4E4B-BACF-50B21B8FB1A9}"/>
              </a:ext>
            </a:extLst>
          </p:cNvPr>
          <p:cNvSpPr/>
          <p:nvPr/>
        </p:nvSpPr>
        <p:spPr>
          <a:xfrm>
            <a:off x="7740352" y="4776502"/>
            <a:ext cx="1210325" cy="209514"/>
          </a:xfrm>
          <a:prstGeom prst="roundRect">
            <a:avLst/>
          </a:prstGeom>
          <a:solidFill>
            <a:schemeClr val="bg1">
              <a:lumMod val="50000"/>
            </a:schemeClr>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Successor</a:t>
            </a:r>
          </a:p>
        </p:txBody>
      </p:sp>
      <p:sp>
        <p:nvSpPr>
          <p:cNvPr id="42" name="角丸四角形 22">
            <a:extLst>
              <a:ext uri="{FF2B5EF4-FFF2-40B4-BE49-F238E27FC236}">
                <a16:creationId xmlns:a16="http://schemas.microsoft.com/office/drawing/2014/main" id="{CC00876B-4420-4AFE-9956-375BD6718694}"/>
              </a:ext>
            </a:extLst>
          </p:cNvPr>
          <p:cNvSpPr/>
          <p:nvPr/>
        </p:nvSpPr>
        <p:spPr>
          <a:xfrm>
            <a:off x="4259205" y="1533778"/>
            <a:ext cx="530775" cy="205098"/>
          </a:xfrm>
          <a:prstGeom prst="roundRect">
            <a:avLst/>
          </a:prstGeom>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rPr>
              <a:t>SF</a:t>
            </a:r>
            <a:r>
              <a:rPr lang="ja-JP" altLang="en-US" sz="1000" dirty="0">
                <a:solidFill>
                  <a:schemeClr val="bg1"/>
                </a:solidFill>
                <a:latin typeface="Meiryo UI" panose="020B0604030504040204" pitchFamily="50" charset="-128"/>
                <a:ea typeface="Meiryo UI" panose="020B0604030504040204" pitchFamily="50" charset="-128"/>
              </a:rPr>
              <a:t>へ</a:t>
            </a:r>
            <a:endParaRPr lang="en-US" altLang="ja-JP" sz="1000" dirty="0">
              <a:solidFill>
                <a:schemeClr val="bg1"/>
              </a:solidFill>
              <a:latin typeface="Meiryo UI" panose="020B0604030504040204" pitchFamily="50" charset="-128"/>
              <a:ea typeface="Meiryo UI" panose="020B0604030504040204" pitchFamily="50" charset="-128"/>
            </a:endParaRPr>
          </a:p>
        </p:txBody>
      </p:sp>
      <p:sp>
        <p:nvSpPr>
          <p:cNvPr id="40" name="角丸四角形 22">
            <a:extLst>
              <a:ext uri="{FF2B5EF4-FFF2-40B4-BE49-F238E27FC236}">
                <a16:creationId xmlns:a16="http://schemas.microsoft.com/office/drawing/2014/main" id="{B170AC4A-18E2-4632-9F6F-2BFAF1837223}"/>
              </a:ext>
            </a:extLst>
          </p:cNvPr>
          <p:cNvSpPr/>
          <p:nvPr/>
        </p:nvSpPr>
        <p:spPr>
          <a:xfrm>
            <a:off x="8532440" y="4028535"/>
            <a:ext cx="411366" cy="209514"/>
          </a:xfrm>
          <a:prstGeom prst="roundRect">
            <a:avLst/>
          </a:prstGeom>
          <a:solidFill>
            <a:schemeClr val="bg1">
              <a:lumMod val="50000"/>
            </a:schemeClr>
          </a:solidFill>
          <a:ln/>
        </p:spPr>
        <p:style>
          <a:lnRef idx="1">
            <a:schemeClr val="dk1"/>
          </a:lnRef>
          <a:fillRef idx="3">
            <a:schemeClr val="dk1"/>
          </a:fillRef>
          <a:effectRef idx="2">
            <a:schemeClr val="dk1"/>
          </a:effectRef>
          <a:fontRef idx="minor">
            <a:schemeClr val="lt1"/>
          </a:fontRef>
        </p:style>
        <p:txBody>
          <a:bodyPr rtlCol="0" anchor="ctr"/>
          <a:lstStyle/>
          <a:p>
            <a:r>
              <a:rPr lang="en-US" altLang="ja-JP"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TBD</a:t>
            </a:r>
          </a:p>
        </p:txBody>
      </p:sp>
    </p:spTree>
    <p:extLst>
      <p:ext uri="{BB962C8B-B14F-4D97-AF65-F5344CB8AC3E}">
        <p14:creationId xmlns:p14="http://schemas.microsoft.com/office/powerpoint/2010/main" val="3406978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8D37D94-4C79-4FBD-92FC-247F406F7FA2}"/>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ja-JP" altLang="en-US" dirty="0">
                <a:latin typeface="メイリオ" panose="020B0604030504040204" pitchFamily="50" charset="-128"/>
                <a:ea typeface="メイリオ" panose="020B0604030504040204" pitchFamily="50" charset="-128"/>
              </a:rPr>
              <a:t>パーツ採用検討</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抜粋・詳細</a:t>
            </a:r>
            <a:r>
              <a:rPr lang="en-US" altLang="ja-JP" dirty="0">
                <a:latin typeface="メイリオ" panose="020B0604030504040204" pitchFamily="50" charset="-128"/>
                <a:ea typeface="メイリオ" panose="020B0604030504040204" pitchFamily="50" charset="-128"/>
              </a:rPr>
              <a:t>)</a:t>
            </a:r>
          </a:p>
        </p:txBody>
      </p:sp>
      <p:sp>
        <p:nvSpPr>
          <p:cNvPr id="2" name="スライド番号プレースホルダー 1">
            <a:extLst>
              <a:ext uri="{FF2B5EF4-FFF2-40B4-BE49-F238E27FC236}">
                <a16:creationId xmlns:a16="http://schemas.microsoft.com/office/drawing/2014/main" id="{F1EB7696-3BDF-4E4A-A869-682E3A137523}"/>
              </a:ext>
            </a:extLst>
          </p:cNvPr>
          <p:cNvSpPr>
            <a:spLocks noGrp="1"/>
          </p:cNvSpPr>
          <p:nvPr>
            <p:ph type="sldNum" sz="quarter" idx="12"/>
          </p:nvPr>
        </p:nvSpPr>
        <p:spPr/>
        <p:txBody>
          <a:bodyPr/>
          <a:lstStyle/>
          <a:p>
            <a:fld id="{F9DFCEB9-CAE4-4F3C-93D0-85C4724A0355}" type="slidenum">
              <a:rPr kumimoji="1" lang="ja-JP" altLang="en-US" smtClean="0"/>
              <a:t>37</a:t>
            </a:fld>
            <a:endParaRPr kumimoji="1" lang="ja-JP" altLang="en-US"/>
          </a:p>
        </p:txBody>
      </p:sp>
      <p:graphicFrame>
        <p:nvGraphicFramePr>
          <p:cNvPr id="11" name="表 11">
            <a:extLst>
              <a:ext uri="{FF2B5EF4-FFF2-40B4-BE49-F238E27FC236}">
                <a16:creationId xmlns:a16="http://schemas.microsoft.com/office/drawing/2014/main" id="{30F095BC-1F1A-4391-8B30-E58363E65C00}"/>
              </a:ext>
            </a:extLst>
          </p:cNvPr>
          <p:cNvGraphicFramePr>
            <a:graphicFrameLocks noGrp="1"/>
          </p:cNvGraphicFramePr>
          <p:nvPr>
            <p:extLst>
              <p:ext uri="{D42A27DB-BD31-4B8C-83A1-F6EECF244321}">
                <p14:modId xmlns:p14="http://schemas.microsoft.com/office/powerpoint/2010/main" val="1382937071"/>
              </p:ext>
            </p:extLst>
          </p:nvPr>
        </p:nvGraphicFramePr>
        <p:xfrm>
          <a:off x="35496" y="410003"/>
          <a:ext cx="8866189" cy="4532288"/>
        </p:xfrm>
        <a:graphic>
          <a:graphicData uri="http://schemas.openxmlformats.org/drawingml/2006/table">
            <a:tbl>
              <a:tblPr firstRow="1" bandRow="1">
                <a:tableStyleId>{69012ECD-51FC-41F1-AA8D-1B2483CD663E}</a:tableStyleId>
              </a:tblPr>
              <a:tblGrid>
                <a:gridCol w="568643">
                  <a:extLst>
                    <a:ext uri="{9D8B030D-6E8A-4147-A177-3AD203B41FA5}">
                      <a16:colId xmlns:a16="http://schemas.microsoft.com/office/drawing/2014/main" val="3471332065"/>
                    </a:ext>
                  </a:extLst>
                </a:gridCol>
                <a:gridCol w="2760980">
                  <a:extLst>
                    <a:ext uri="{9D8B030D-6E8A-4147-A177-3AD203B41FA5}">
                      <a16:colId xmlns:a16="http://schemas.microsoft.com/office/drawing/2014/main" val="865295581"/>
                    </a:ext>
                  </a:extLst>
                </a:gridCol>
                <a:gridCol w="2025968">
                  <a:extLst>
                    <a:ext uri="{9D8B030D-6E8A-4147-A177-3AD203B41FA5}">
                      <a16:colId xmlns:a16="http://schemas.microsoft.com/office/drawing/2014/main" val="1067920713"/>
                    </a:ext>
                  </a:extLst>
                </a:gridCol>
                <a:gridCol w="2179955">
                  <a:extLst>
                    <a:ext uri="{9D8B030D-6E8A-4147-A177-3AD203B41FA5}">
                      <a16:colId xmlns:a16="http://schemas.microsoft.com/office/drawing/2014/main" val="479977534"/>
                    </a:ext>
                  </a:extLst>
                </a:gridCol>
                <a:gridCol w="1330643">
                  <a:extLst>
                    <a:ext uri="{9D8B030D-6E8A-4147-A177-3AD203B41FA5}">
                      <a16:colId xmlns:a16="http://schemas.microsoft.com/office/drawing/2014/main" val="3070462391"/>
                    </a:ext>
                  </a:extLst>
                </a:gridCol>
              </a:tblGrid>
              <a:tr h="215399">
                <a:tc>
                  <a:txBody>
                    <a:bodyPr/>
                    <a:lstStyle/>
                    <a:p>
                      <a:r>
                        <a:rPr kumimoji="1" lang="ja-JP" altLang="en-US" sz="1000" b="0" dirty="0">
                          <a:latin typeface="メイリオ" panose="020B0604030504040204" pitchFamily="50" charset="-128"/>
                          <a:ea typeface="メイリオ" panose="020B0604030504040204" pitchFamily="50" charset="-128"/>
                        </a:rPr>
                        <a:t>分類</a:t>
                      </a:r>
                    </a:p>
                  </a:txBody>
                  <a:tcPr marT="36000" marB="36000" anchor="ctr">
                    <a:lnR w="12700" cap="flat" cmpd="sng" algn="ctr">
                      <a:solidFill>
                        <a:schemeClr val="accent1"/>
                      </a:solidFill>
                      <a:prstDash val="solid"/>
                      <a:round/>
                      <a:headEnd type="none" w="med" len="med"/>
                      <a:tailEnd type="none" w="med" len="med"/>
                    </a:lnR>
                  </a:tcPr>
                </a:tc>
                <a:tc>
                  <a:txBody>
                    <a:bodyPr/>
                    <a:lstStyle/>
                    <a:p>
                      <a:r>
                        <a:rPr kumimoji="1" lang="ja-JP" altLang="en-US" sz="1000" b="0" dirty="0">
                          <a:latin typeface="メイリオ" panose="020B0604030504040204" pitchFamily="50" charset="-128"/>
                          <a:ea typeface="メイリオ" panose="020B0604030504040204" pitchFamily="50" charset="-128"/>
                        </a:rPr>
                        <a:t>型番</a:t>
                      </a:r>
                      <a:r>
                        <a:rPr kumimoji="1" lang="en-US" altLang="ja-JP" sz="1000" b="0" dirty="0">
                          <a:latin typeface="メイリオ" panose="020B0604030504040204" pitchFamily="50" charset="-128"/>
                          <a:ea typeface="メイリオ" panose="020B0604030504040204" pitchFamily="50" charset="-128"/>
                        </a:rPr>
                        <a:t>/</a:t>
                      </a:r>
                      <a:r>
                        <a:rPr kumimoji="1" lang="ja-JP" altLang="en-US" sz="1000" b="0" dirty="0">
                          <a:latin typeface="メイリオ" panose="020B0604030504040204" pitchFamily="50" charset="-128"/>
                          <a:ea typeface="メイリオ" panose="020B0604030504040204" pitchFamily="50" charset="-128"/>
                        </a:rPr>
                        <a:t>名称</a:t>
                      </a: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tcPr>
                </a:tc>
                <a:tc>
                  <a:txBody>
                    <a:bodyPr/>
                    <a:lstStyle/>
                    <a:p>
                      <a:r>
                        <a:rPr kumimoji="1" lang="ja-JP" altLang="en-US" sz="1000" b="0" dirty="0">
                          <a:latin typeface="メイリオ" panose="020B0604030504040204" pitchFamily="50" charset="-128"/>
                          <a:ea typeface="メイリオ" panose="020B0604030504040204" pitchFamily="50" charset="-128"/>
                        </a:rPr>
                        <a:t>内容</a:t>
                      </a:r>
                      <a:r>
                        <a:rPr kumimoji="1" lang="en-US" altLang="ja-JP" sz="1000" b="0" dirty="0">
                          <a:latin typeface="メイリオ" panose="020B0604030504040204" pitchFamily="50" charset="-128"/>
                          <a:ea typeface="メイリオ" panose="020B0604030504040204" pitchFamily="50" charset="-128"/>
                        </a:rPr>
                        <a:t>/SPEC</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tcPr>
                </a:tc>
                <a:tc>
                  <a:txBody>
                    <a:bodyPr/>
                    <a:lstStyle/>
                    <a:p>
                      <a:r>
                        <a:rPr kumimoji="1" lang="ja-JP" altLang="en-US" sz="1000" b="0" dirty="0">
                          <a:latin typeface="メイリオ" panose="020B0604030504040204" pitchFamily="50" charset="-128"/>
                          <a:ea typeface="メイリオ" panose="020B0604030504040204" pitchFamily="50" charset="-128"/>
                        </a:rPr>
                        <a:t>備考</a:t>
                      </a:r>
                      <a:endParaRPr kumimoji="1" lang="en-US" altLang="ja-JP" sz="10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tcPr>
                </a:tc>
                <a:tc>
                  <a:txBody>
                    <a:bodyPr/>
                    <a:lstStyle/>
                    <a:p>
                      <a:r>
                        <a:rPr kumimoji="1" lang="ja-JP" altLang="en-US" sz="1000" b="0" dirty="0">
                          <a:latin typeface="メイリオ" panose="020B0604030504040204" pitchFamily="50" charset="-128"/>
                          <a:ea typeface="メイリオ" panose="020B0604030504040204" pitchFamily="50" charset="-128"/>
                        </a:rPr>
                        <a:t>進捗</a:t>
                      </a:r>
                      <a:endParaRPr kumimoji="1" lang="en-US" altLang="ja-JP" sz="10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tcPr>
                </a:tc>
                <a:extLst>
                  <a:ext uri="{0D108BD9-81ED-4DB2-BD59-A6C34878D82A}">
                    <a16:rowId xmlns:a16="http://schemas.microsoft.com/office/drawing/2014/main" val="1445640452"/>
                  </a:ext>
                </a:extLst>
              </a:tr>
              <a:tr h="0">
                <a:tc rowSpan="3">
                  <a:txBody>
                    <a:bodyPr/>
                    <a:lstStyle/>
                    <a:p>
                      <a:r>
                        <a:rPr kumimoji="1" lang="en-US" altLang="ja-JP" sz="700" b="0" dirty="0">
                          <a:latin typeface="メイリオ" panose="020B0604030504040204" pitchFamily="50" charset="-128"/>
                          <a:ea typeface="メイリオ" panose="020B0604030504040204" pitchFamily="50" charset="-128"/>
                        </a:rPr>
                        <a:t>CPU</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AMD Ryzen7 7700X3D</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AM5</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標準用</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673393915"/>
                  </a:ext>
                </a:extLst>
              </a:tr>
              <a:tr h="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AMD Ryzen5 7400</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AM5</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ローエンド</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標準用</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サンプル待ち</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306298202"/>
                  </a:ext>
                </a:extLst>
              </a:tr>
              <a:tr h="0">
                <a:tc vMerge="1">
                  <a:txBody>
                    <a:bodyPr/>
                    <a:lstStyle/>
                    <a:p>
                      <a:endParaRPr kumimoji="1" lang="ja-JP" altLang="en-US" sz="700" b="0" dirty="0">
                        <a:latin typeface="メイリオ" panose="020B0604030504040204" pitchFamily="50" charset="-128"/>
                        <a:ea typeface="メイリオ" panose="020B0604030504040204" pitchFamily="50" charset="-128"/>
                      </a:endParaRPr>
                    </a:p>
                  </a:txBody>
                  <a:tcPr marT="36000" marB="3600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AMD Ryzen3 5300G</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AM4</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ローエンド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APU</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標準用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5500GT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代替候補</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/Intel</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補完候補</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検証完了</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投入検討</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4058916714"/>
                  </a:ext>
                </a:extLst>
              </a:tr>
              <a:tr h="171513">
                <a:tc rowSpan="3">
                  <a:txBody>
                    <a:bodyPr/>
                    <a:lstStyle/>
                    <a:p>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SSD</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SAMSUNG 9100PRO/Micron 4600/</a:t>
                      </a:r>
                      <a:r>
                        <a:rPr kumimoji="1" lang="en-US" altLang="ja-JP" sz="700" b="0" dirty="0" err="1">
                          <a:latin typeface="メイリオ" panose="020B0604030504040204" pitchFamily="50" charset="-128"/>
                          <a:ea typeface="メイリオ" panose="020B0604030504040204" pitchFamily="50" charset="-128"/>
                        </a:rPr>
                        <a:t>Phison</a:t>
                      </a:r>
                      <a:r>
                        <a:rPr kumimoji="1" lang="en-US" altLang="ja-JP" sz="700" b="0" dirty="0">
                          <a:latin typeface="メイリオ" panose="020B0604030504040204" pitchFamily="50" charset="-128"/>
                          <a:ea typeface="メイリオ" panose="020B0604030504040204" pitchFamily="50" charset="-128"/>
                        </a:rPr>
                        <a:t> E28</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Gen5x4</a:t>
                      </a:r>
                      <a:r>
                        <a:rPr kumimoji="1" lang="ja-JP" altLang="en-US" sz="700" b="0" dirty="0">
                          <a:latin typeface="メイリオ" panose="020B0604030504040204" pitchFamily="50" charset="-128"/>
                          <a:ea typeface="メイリオ" panose="020B0604030504040204" pitchFamily="50" charset="-128"/>
                        </a:rPr>
                        <a:t>超高速 </a:t>
                      </a:r>
                      <a:r>
                        <a:rPr lang="en-US" altLang="ja-JP" sz="700" b="0" u="none" strike="noStrike" dirty="0">
                          <a:solidFill>
                            <a:srgbClr val="000000"/>
                          </a:solidFill>
                          <a:effectLst/>
                          <a:latin typeface="メイリオ" panose="020B0604030504040204" pitchFamily="50" charset="-128"/>
                          <a:ea typeface="メイリオ" panose="020B0604030504040204" pitchFamily="50" charset="-128"/>
                        </a:rPr>
                        <a:t>1TB/2TB(/4TB)</a:t>
                      </a:r>
                      <a:endParaRPr kumimoji="1" lang="en-US" altLang="ja-JP"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dirty="0">
                          <a:latin typeface="メイリオ" panose="020B0604030504040204" pitchFamily="50" charset="-128"/>
                          <a:ea typeface="メイリオ" panose="020B0604030504040204" pitchFamily="50" charset="-128"/>
                        </a:rPr>
                        <a:t>カスタム用</a:t>
                      </a:r>
                      <a:r>
                        <a:rPr kumimoji="1" lang="en-US" altLang="ja-JP" sz="700" b="0" dirty="0">
                          <a:latin typeface="メイリオ" panose="020B0604030504040204" pitchFamily="50" charset="-128"/>
                          <a:ea typeface="メイリオ" panose="020B0604030504040204" pitchFamily="50" charset="-128"/>
                        </a:rPr>
                        <a:t>/</a:t>
                      </a:r>
                      <a:r>
                        <a:rPr kumimoji="1" lang="ja-JP" altLang="en-US" sz="700" b="0" dirty="0">
                          <a:latin typeface="メイリオ" panose="020B0604030504040204" pitchFamily="50" charset="-128"/>
                          <a:ea typeface="メイリオ" panose="020B0604030504040204" pitchFamily="50" charset="-128"/>
                        </a:rPr>
                        <a:t>一部モデル標準採用</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検証完了</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投入検討</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3546860378"/>
                  </a:ext>
                </a:extLst>
              </a:tr>
              <a:tr h="171513">
                <a:tc vMerge="1">
                  <a:txBody>
                    <a:bodyPr/>
                    <a:lstStyle/>
                    <a:p>
                      <a:endParaRPr kumimoji="1" lang="ja-JP" altLang="en-US"/>
                    </a:p>
                  </a:txBody>
                  <a:tcPr>
                    <a:lnT w="12700" cap="flat" cmpd="sng" algn="ctr">
                      <a:solidFill>
                        <a:schemeClr val="accent1"/>
                      </a:solidFill>
                      <a:prstDash val="solid"/>
                      <a:round/>
                      <a:headEnd type="none" w="med" len="med"/>
                      <a:tailEnd type="none" w="med" len="med"/>
                    </a:lnT>
                  </a:tcPr>
                </a:tc>
                <a:tc>
                  <a:txBody>
                    <a:bodyPr/>
                    <a:lstStyle/>
                    <a:p>
                      <a:r>
                        <a:rPr kumimoji="1" lang="en-US" altLang="ja-JP" sz="700" b="0" dirty="0">
                          <a:latin typeface="メイリオ" panose="020B0604030504040204" pitchFamily="50" charset="-128"/>
                          <a:ea typeface="メイリオ" panose="020B0604030504040204" pitchFamily="50" charset="-128"/>
                        </a:rPr>
                        <a:t>Micron 2600/Samsung BM9C1a </a:t>
                      </a:r>
                      <a:r>
                        <a:rPr kumimoji="1" lang="en-US" altLang="ja-JP" sz="700" b="0" dirty="0" err="1">
                          <a:latin typeface="メイリオ" panose="020B0604030504040204" pitchFamily="50" charset="-128"/>
                          <a:ea typeface="メイリオ" panose="020B0604030504040204" pitchFamily="50" charset="-128"/>
                        </a:rPr>
                        <a:t>etc</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Gen4</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ｘ</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4</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dirty="0">
                          <a:latin typeface="メイリオ" panose="020B0604030504040204" pitchFamily="50" charset="-128"/>
                          <a:ea typeface="メイリオ" panose="020B0604030504040204" pitchFamily="50" charset="-128"/>
                        </a:rPr>
                        <a:t>標準用</a:t>
                      </a:r>
                      <a:r>
                        <a:rPr kumimoji="1" lang="en-US" altLang="ja-JP" sz="700" b="0" dirty="0">
                          <a:latin typeface="メイリオ" panose="020B0604030504040204" pitchFamily="50" charset="-128"/>
                          <a:ea typeface="メイリオ" panose="020B0604030504040204" pitchFamily="50" charset="-128"/>
                        </a:rPr>
                        <a:t>/</a:t>
                      </a:r>
                      <a:r>
                        <a:rPr kumimoji="1" lang="ja-JP" altLang="en-US" sz="700" b="0" dirty="0">
                          <a:latin typeface="メイリオ" panose="020B0604030504040204" pitchFamily="50" charset="-128"/>
                          <a:ea typeface="メイリオ" panose="020B0604030504040204" pitchFamily="50" charset="-128"/>
                        </a:rPr>
                        <a:t>カスタム用</a:t>
                      </a:r>
                      <a:endParaRPr kumimoji="1" lang="en-US" altLang="ja-JP"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投入検討</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順次投入</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808160184"/>
                  </a:ext>
                </a:extLst>
              </a:tr>
              <a:tr h="171513">
                <a:tc vMerge="1">
                  <a:txBody>
                    <a:bodyPr/>
                    <a:lstStyle/>
                    <a:p>
                      <a:endParaRPr kumimoji="1" lang="ja-JP" altLang="en-US" sz="700" b="0" dirty="0">
                        <a:latin typeface="メイリオ" panose="020B0604030504040204" pitchFamily="50" charset="-128"/>
                        <a:ea typeface="メイリオ" panose="020B0604030504040204" pitchFamily="50" charset="-128"/>
                      </a:endParaRPr>
                    </a:p>
                  </a:txBody>
                  <a:tcPr marT="36000" marB="3600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Kingston/KIOXIA/</a:t>
                      </a:r>
                      <a:r>
                        <a:rPr kumimoji="1" lang="en-US" altLang="ja-JP" sz="700" b="0" dirty="0" err="1">
                          <a:latin typeface="メイリオ" panose="020B0604030504040204" pitchFamily="50" charset="-128"/>
                          <a:ea typeface="メイリオ" panose="020B0604030504040204" pitchFamily="50" charset="-128"/>
                        </a:rPr>
                        <a:t>Sandisk</a:t>
                      </a:r>
                      <a:r>
                        <a:rPr kumimoji="1" lang="en-US" altLang="ja-JP" sz="700" b="0" dirty="0">
                          <a:latin typeface="メイリオ" panose="020B0604030504040204" pitchFamily="50" charset="-128"/>
                          <a:ea typeface="メイリオ" panose="020B0604030504040204" pitchFamily="50" charset="-128"/>
                        </a:rPr>
                        <a:t>(</a:t>
                      </a:r>
                      <a:r>
                        <a:rPr kumimoji="1" lang="en-US" altLang="ja-JP" sz="700" b="0" dirty="0" err="1">
                          <a:latin typeface="メイリオ" panose="020B0604030504040204" pitchFamily="50" charset="-128"/>
                          <a:ea typeface="メイリオ" panose="020B0604030504040204" pitchFamily="50" charset="-128"/>
                        </a:rPr>
                        <a:t>Sandisk</a:t>
                      </a:r>
                      <a:r>
                        <a:rPr kumimoji="1" lang="en-US" altLang="ja-JP" sz="700" b="0" dirty="0">
                          <a:latin typeface="メイリオ" panose="020B0604030504040204" pitchFamily="50" charset="-128"/>
                          <a:ea typeface="メイリオ" panose="020B0604030504040204" pitchFamily="50" charset="-128"/>
                        </a:rPr>
                        <a:t> WD</a:t>
                      </a:r>
                      <a:r>
                        <a:rPr kumimoji="1" lang="ja-JP" altLang="en-US" sz="700" b="0" dirty="0">
                          <a:latin typeface="メイリオ" panose="020B0604030504040204" pitchFamily="50" charset="-128"/>
                          <a:ea typeface="メイリオ" panose="020B0604030504040204" pitchFamily="50" charset="-128"/>
                        </a:rPr>
                        <a:t>→</a:t>
                      </a:r>
                      <a:r>
                        <a:rPr kumimoji="1" lang="en-US" altLang="ja-JP" sz="700" b="0" dirty="0" err="1">
                          <a:latin typeface="メイリオ" panose="020B0604030504040204" pitchFamily="50" charset="-128"/>
                          <a:ea typeface="メイリオ" panose="020B0604030504040204" pitchFamily="50" charset="-128"/>
                        </a:rPr>
                        <a:t>Sandisk</a:t>
                      </a:r>
                      <a:r>
                        <a:rPr kumimoji="1" lang="en-US" altLang="ja-JP" sz="700" b="0" dirty="0">
                          <a:latin typeface="メイリオ" panose="020B0604030504040204" pitchFamily="50" charset="-128"/>
                          <a:ea typeface="メイリオ" panose="020B0604030504040204" pitchFamily="50" charset="-128"/>
                        </a:rPr>
                        <a:t> Optimus)</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Gen4</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ｘ</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4 &amp; Gen5</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ｘ</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4</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新規メーカー　標準用含む</a:t>
                      </a:r>
                      <a:endParaRPr kumimoji="1" lang="en-US" altLang="ja-JP"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投入検討</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順次投入</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483582521"/>
                  </a:ext>
                </a:extLst>
              </a:tr>
              <a:tr h="0">
                <a:tc>
                  <a:txBody>
                    <a:bodyPr/>
                    <a:lstStyle/>
                    <a:p>
                      <a:r>
                        <a:rPr kumimoji="1" lang="ja-JP" altLang="en-US" sz="700" b="0" dirty="0">
                          <a:latin typeface="メイリオ" panose="020B0604030504040204" pitchFamily="50" charset="-128"/>
                          <a:ea typeface="メイリオ" panose="020B0604030504040204" pitchFamily="50" charset="-128"/>
                        </a:rPr>
                        <a:t>メモリ</a:t>
                      </a:r>
                    </a:p>
                  </a:txBody>
                  <a:tcPr marT="36000" marB="3600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SAMSUNG/Micron/Hynix/A-DATA(Hynix)/</a:t>
                      </a:r>
                      <a:r>
                        <a:rPr kumimoji="1" lang="en-US" altLang="ja-JP" sz="700" b="0" dirty="0" err="1">
                          <a:latin typeface="メイリオ" panose="020B0604030504040204" pitchFamily="50" charset="-128"/>
                          <a:ea typeface="メイリオ" panose="020B0604030504040204" pitchFamily="50" charset="-128"/>
                        </a:rPr>
                        <a:t>Nanya</a:t>
                      </a:r>
                      <a:r>
                        <a:rPr kumimoji="1" lang="en-US" altLang="ja-JP" sz="700" b="0" dirty="0">
                          <a:latin typeface="メイリオ" panose="020B0604030504040204" pitchFamily="50" charset="-128"/>
                          <a:ea typeface="メイリオ" panose="020B0604030504040204" pitchFamily="50" charset="-128"/>
                        </a:rPr>
                        <a:t> etc...</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DDR5-5600/6400</a:t>
                      </a:r>
                      <a:r>
                        <a:rPr kumimoji="1" lang="ja-JP" altLang="en-US" sz="700" b="0" dirty="0">
                          <a:latin typeface="メイリオ" panose="020B0604030504040204" pitchFamily="50" charset="-128"/>
                          <a:ea typeface="メイリオ" panose="020B0604030504040204" pitchFamily="50" charset="-128"/>
                        </a:rPr>
                        <a:t> </a:t>
                      </a:r>
                      <a:r>
                        <a:rPr kumimoji="1" lang="en-US" altLang="ja-JP" sz="700" b="0" dirty="0">
                          <a:latin typeface="メイリオ" panose="020B0604030504040204" pitchFamily="50" charset="-128"/>
                          <a:ea typeface="メイリオ" panose="020B0604030504040204" pitchFamily="50" charset="-128"/>
                        </a:rPr>
                        <a:t>8GB/16GB/32GB/64GB</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64GB</a:t>
                      </a:r>
                      <a:r>
                        <a:rPr kumimoji="1" lang="ja-JP" altLang="en-US" sz="700" b="0" dirty="0">
                          <a:latin typeface="メイリオ" panose="020B0604030504040204" pitchFamily="50" charset="-128"/>
                          <a:ea typeface="メイリオ" panose="020B0604030504040204" pitchFamily="50" charset="-128"/>
                        </a:rPr>
                        <a:t>は供給問題により保留中</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順次検証</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投入検討</a:t>
                      </a:r>
                      <a:r>
                        <a:rPr kumimoji="1" lang="en-US" altLang="ja-JP" sz="6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6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供給問題</a:t>
                      </a:r>
                      <a:r>
                        <a:rPr kumimoji="1" lang="en-US" altLang="ja-JP" sz="6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212351263"/>
                  </a:ext>
                </a:extLst>
              </a:tr>
              <a:tr h="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MB</a:t>
                      </a:r>
                      <a:endPar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MSI B860I EDGE </a:t>
                      </a:r>
                      <a:r>
                        <a:rPr kumimoji="1" lang="en-US" altLang="ja-JP" sz="700" b="0" dirty="0" err="1">
                          <a:latin typeface="メイリオ" panose="020B0604030504040204" pitchFamily="50" charset="-128"/>
                          <a:ea typeface="メイリオ" panose="020B0604030504040204" pitchFamily="50" charset="-128"/>
                        </a:rPr>
                        <a:t>Ti</a:t>
                      </a:r>
                      <a:r>
                        <a:rPr kumimoji="1" lang="en-US" altLang="ja-JP" sz="700" b="0" dirty="0">
                          <a:latin typeface="メイリオ" panose="020B0604030504040204" pitchFamily="50" charset="-128"/>
                          <a:ea typeface="メイリオ" panose="020B0604030504040204" pitchFamily="50" charset="-128"/>
                        </a:rPr>
                        <a:t> WIFI</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B860 </a:t>
                      </a:r>
                      <a:r>
                        <a:rPr kumimoji="1" lang="en-US" altLang="ja-JP" sz="700" b="0" dirty="0" err="1">
                          <a:latin typeface="メイリオ" panose="020B0604030504040204" pitchFamily="50" charset="-128"/>
                          <a:ea typeface="メイリオ" panose="020B0604030504040204" pitchFamily="50" charset="-128"/>
                        </a:rPr>
                        <a:t>MiniITX</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CX</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用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GALLERIA E</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シリーズ</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747437239"/>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latin typeface="メイリオ" panose="020B0604030504040204" pitchFamily="50" charset="-128"/>
                          <a:ea typeface="メイリオ" panose="020B0604030504040204" pitchFamily="50" charset="-128"/>
                        </a:rPr>
                        <a:t>ASUS B850-I </a:t>
                      </a:r>
                      <a:r>
                        <a:rPr kumimoji="1" lang="en-US" altLang="ja-JP" sz="700" b="0" dirty="0" err="1">
                          <a:latin typeface="メイリオ" panose="020B0604030504040204" pitchFamily="50" charset="-128"/>
                          <a:ea typeface="メイリオ" panose="020B0604030504040204" pitchFamily="50" charset="-128"/>
                        </a:rPr>
                        <a:t>WiFi</a:t>
                      </a:r>
                      <a:r>
                        <a:rPr kumimoji="1" lang="en-US" altLang="ja-JP" sz="700" b="0" dirty="0">
                          <a:latin typeface="メイリオ" panose="020B0604030504040204" pitchFamily="50" charset="-128"/>
                          <a:ea typeface="メイリオ" panose="020B0604030504040204" pitchFamily="50" charset="-128"/>
                        </a:rPr>
                        <a:t> NEO</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B850 </a:t>
                      </a:r>
                      <a:r>
                        <a:rPr kumimoji="1" lang="en-US" altLang="ja-JP" sz="700" b="0" dirty="0" err="1">
                          <a:latin typeface="メイリオ" panose="020B0604030504040204" pitchFamily="50" charset="-128"/>
                          <a:ea typeface="メイリオ" panose="020B0604030504040204" pitchFamily="50" charset="-128"/>
                        </a:rPr>
                        <a:t>MiniITX</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CX</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用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GALLERIA E</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シリーズ</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842746350"/>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GPU</a:t>
                      </a: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RX9070GRE</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TDP220W(=RX9070) 12GB</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メモリ</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順次投入</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649813964"/>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RTX3060 12GB</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TDP170W(</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5060Ti) 12GB</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メモリ</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性能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5050</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3060 12GB</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5060</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順次投入</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580340243"/>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RX9050</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性能？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3060</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9050</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サンプル待ち</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3322547957"/>
                  </a:ext>
                </a:extLst>
              </a:tr>
              <a:tr h="17151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FAN</a:t>
                      </a: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液晶付き水冷ユニット</a:t>
                      </a: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ap="flat" cmpd="sng" algn="ctr">
                      <a:solidFill>
                        <a:schemeClr val="accent1"/>
                      </a:solidFill>
                      <a:prstDash val="solid"/>
                      <a:round/>
                      <a:headEnd type="none" w="med" len="med"/>
                      <a:tailEnd type="none" w="med" len="med"/>
                    </a:lnT>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240mm/360mm</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水冷　水冷ヘッドに液晶</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ja-JP" altLang="en-US" sz="700" b="0" dirty="0">
                          <a:latin typeface="メイリオ" panose="020B0604030504040204" pitchFamily="50" charset="-128"/>
                          <a:ea typeface="メイリオ" panose="020B0604030504040204" pitchFamily="50" charset="-128"/>
                        </a:rPr>
                        <a:t>カスタム用 </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投入準備</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126882603"/>
                  </a:ext>
                </a:extLst>
              </a:tr>
              <a:tr h="171513">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AMD</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ローエンドトップフロー</a:t>
                      </a: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AMD</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用　トップフロー</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リテール代替</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主に</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CK+Ryzen5</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以下用</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検証完了</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182002110"/>
                  </a:ext>
                </a:extLst>
              </a:tr>
              <a:tr h="171513">
                <a:tc vMerge="1">
                  <a:txBody>
                    <a:bodyPr/>
                    <a:lstStyle/>
                    <a:p>
                      <a:endParaRPr kumimoji="1" lang="ja-JP" altLang="en-US"/>
                    </a:p>
                  </a:txBody>
                  <a:tcPr>
                    <a:lnT w="9525" cap="flat" cmpd="sng" algn="ctr">
                      <a:solidFill>
                        <a:srgbClr val="0070C0"/>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サイドフロー</a:t>
                      </a: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FLU K6</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クラス</a:t>
                      </a:r>
                      <a:r>
                        <a:rPr kumimoji="1" lang="en-US" altLang="ja-JP" sz="700" b="0" dirty="0">
                          <a:latin typeface="メイリオ" panose="020B0604030504040204" pitchFamily="50" charset="-128"/>
                          <a:ea typeface="メイリオ" panose="020B0604030504040204" pitchFamily="50" charset="-128"/>
                        </a:rPr>
                        <a:t>(U5 245KF</a:t>
                      </a:r>
                      <a:r>
                        <a:rPr kumimoji="1" lang="ja-JP" altLang="en-US" sz="700" b="0" dirty="0">
                          <a:latin typeface="メイリオ" panose="020B0604030504040204" pitchFamily="50" charset="-128"/>
                          <a:ea typeface="メイリオ" panose="020B0604030504040204" pitchFamily="50" charset="-128"/>
                        </a:rPr>
                        <a:t>冷却可</a:t>
                      </a:r>
                      <a:r>
                        <a:rPr kumimoji="1" lang="en-US" altLang="ja-JP" sz="700" b="0" dirty="0">
                          <a:latin typeface="メイリオ" panose="020B0604030504040204" pitchFamily="50" charset="-128"/>
                          <a:ea typeface="メイリオ" panose="020B0604030504040204" pitchFamily="50" charset="-128"/>
                        </a:rPr>
                        <a:t>)</a:t>
                      </a:r>
                      <a:endPar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dirty="0">
                          <a:latin typeface="メイリオ" panose="020B0604030504040204" pitchFamily="50" charset="-128"/>
                          <a:ea typeface="メイリオ" panose="020B0604030504040204" pitchFamily="50" charset="-128"/>
                        </a:rPr>
                        <a:t>カスタム用　</a:t>
                      </a:r>
                      <a:r>
                        <a:rPr kumimoji="1" lang="en-US" altLang="ja-JP" sz="700" b="0" dirty="0">
                          <a:latin typeface="メイリオ" panose="020B0604030504040204" pitchFamily="50" charset="-128"/>
                          <a:ea typeface="メイリオ" panose="020B0604030504040204" pitchFamily="50" charset="-128"/>
                        </a:rPr>
                        <a:t>FLU RT500TC</a:t>
                      </a:r>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投入準備</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69861090"/>
                  </a:ext>
                </a:extLst>
              </a:tr>
              <a:tr h="0">
                <a:tc rowSpan="4">
                  <a:txBody>
                    <a:bodyPr/>
                    <a:lstStyle/>
                    <a:p>
                      <a:pPr algn="l"/>
                      <a:r>
                        <a:rPr kumimoji="1" lang="ja-JP" altLang="en-US" sz="700" dirty="0">
                          <a:latin typeface="メイリオ" panose="020B0604030504040204" pitchFamily="50" charset="-128"/>
                          <a:ea typeface="メイリオ" panose="020B0604030504040204" pitchFamily="50" charset="-128"/>
                        </a:rPr>
                        <a:t>ケース</a:t>
                      </a:r>
                    </a:p>
                  </a:txBody>
                  <a:tcPr anchor="ctr">
                    <a:lnR w="12700" cap="flat" cmpd="sng" algn="ctr">
                      <a:solidFill>
                        <a:srgbClr val="0070C0"/>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CX</a:t>
                      </a:r>
                      <a:r>
                        <a:rPr kumimoji="1" lang="ja-JP" altLang="en-US" sz="700" b="0" dirty="0">
                          <a:solidFill>
                            <a:schemeClr val="tx1"/>
                          </a:solidFill>
                          <a:latin typeface="メイリオ" panose="020B0604030504040204" pitchFamily="50" charset="-128"/>
                          <a:ea typeface="メイリオ" panose="020B0604030504040204" pitchFamily="50" charset="-128"/>
                        </a:rPr>
                        <a:t>　</a:t>
                      </a:r>
                      <a:r>
                        <a:rPr kumimoji="1" lang="en-US" altLang="ja-JP" sz="700" b="0" dirty="0">
                          <a:solidFill>
                            <a:schemeClr val="tx1"/>
                          </a:solidFill>
                          <a:latin typeface="メイリオ" panose="020B0604030504040204" pitchFamily="50" charset="-128"/>
                          <a:ea typeface="メイリオ" panose="020B0604030504040204" pitchFamily="50" charset="-128"/>
                        </a:rPr>
                        <a:t>SFF</a:t>
                      </a:r>
                      <a:r>
                        <a:rPr kumimoji="1" lang="ja-JP" altLang="en-US" sz="700" b="0" dirty="0">
                          <a:solidFill>
                            <a:schemeClr val="tx1"/>
                          </a:solidFill>
                          <a:latin typeface="メイリオ" panose="020B0604030504040204" pitchFamily="50" charset="-128"/>
                          <a:ea typeface="メイリオ" panose="020B0604030504040204" pitchFamily="50" charset="-128"/>
                        </a:rPr>
                        <a:t>ケース</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SFF</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NVIDIA SFF VGA</a:t>
                      </a:r>
                      <a:r>
                        <a:rPr kumimoji="1" lang="ja-JP" altLang="en-US" sz="700" b="0" dirty="0">
                          <a:latin typeface="メイリオ" panose="020B0604030504040204" pitchFamily="50" charset="-128"/>
                          <a:ea typeface="メイリオ" panose="020B0604030504040204" pitchFamily="50" charset="-128"/>
                        </a:rPr>
                        <a:t>搭載</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投入準備 </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9/17</a:t>
                      </a: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3550734194"/>
                  </a:ext>
                </a:extLst>
              </a:tr>
              <a:tr h="0">
                <a:tc vMerge="1">
                  <a:txBody>
                    <a:bodyPr/>
                    <a:lstStyle/>
                    <a:p>
                      <a:pPr algn="l"/>
                      <a:endParaRPr kumimoji="1" lang="ja-JP" altLang="en-US" sz="800" dirty="0"/>
                    </a:p>
                  </a:txBody>
                  <a:tcPr anchor="ctr">
                    <a:lnR w="12700" cap="flat" cmpd="sng" algn="ctr">
                      <a:solidFill>
                        <a:schemeClr val="accent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R05</a:t>
                      </a:r>
                      <a:r>
                        <a:rPr kumimoji="1" lang="ja-JP" altLang="en-US" sz="700" b="0" dirty="0">
                          <a:solidFill>
                            <a:schemeClr val="tx1"/>
                          </a:solidFill>
                          <a:latin typeface="メイリオ" panose="020B0604030504040204" pitchFamily="50" charset="-128"/>
                          <a:ea typeface="メイリオ" panose="020B0604030504040204" pitchFamily="50" charset="-128"/>
                        </a:rPr>
                        <a:t>　</a:t>
                      </a:r>
                      <a:r>
                        <a:rPr kumimoji="1" lang="en-US" altLang="ja-JP" sz="700" b="0" dirty="0">
                          <a:solidFill>
                            <a:schemeClr val="tx1"/>
                          </a:solidFill>
                          <a:latin typeface="メイリオ" panose="020B0604030504040204" pitchFamily="50" charset="-128"/>
                          <a:ea typeface="メイリオ" panose="020B0604030504040204" pitchFamily="50" charset="-128"/>
                        </a:rPr>
                        <a:t>X3</a:t>
                      </a:r>
                      <a:r>
                        <a:rPr kumimoji="1" lang="ja-JP" altLang="en-US" sz="700" b="0" dirty="0">
                          <a:solidFill>
                            <a:schemeClr val="tx1"/>
                          </a:solidFill>
                          <a:latin typeface="メイリオ" panose="020B0604030504040204" pitchFamily="50" charset="-128"/>
                          <a:ea typeface="メイリオ" panose="020B0604030504040204" pitchFamily="50" charset="-128"/>
                        </a:rPr>
                        <a:t>後継</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MATX</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X3</a:t>
                      </a:r>
                      <a:r>
                        <a:rPr kumimoji="1" lang="ja-JP" altLang="en-US" sz="700" b="0" dirty="0">
                          <a:latin typeface="メイリオ" panose="020B0604030504040204" pitchFamily="50" charset="-128"/>
                          <a:ea typeface="メイリオ" panose="020B0604030504040204" pitchFamily="50" charset="-128"/>
                        </a:rPr>
                        <a:t>後継品　</a:t>
                      </a:r>
                      <a:r>
                        <a:rPr kumimoji="1" lang="en-US" altLang="ja-JP" sz="700" b="0" dirty="0">
                          <a:latin typeface="メイリオ" panose="020B0604030504040204" pitchFamily="50" charset="-128"/>
                          <a:ea typeface="メイリオ" panose="020B0604030504040204" pitchFamily="50" charset="-128"/>
                        </a:rPr>
                        <a:t>THIRDWAVE AD</a:t>
                      </a:r>
                      <a:r>
                        <a:rPr kumimoji="1" lang="ja-JP" altLang="en-US" sz="700" b="0" dirty="0">
                          <a:latin typeface="メイリオ" panose="020B0604030504040204" pitchFamily="50" charset="-128"/>
                          <a:ea typeface="メイリオ" panose="020B0604030504040204" pitchFamily="50" charset="-128"/>
                        </a:rPr>
                        <a:t>シリーズ</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投入準備</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4058875065"/>
                  </a:ext>
                </a:extLst>
              </a:tr>
              <a:tr h="0">
                <a:tc vMerge="1">
                  <a:txBody>
                    <a:bodyPr/>
                    <a:lstStyle/>
                    <a:p>
                      <a:pPr algn="l"/>
                      <a:endParaRPr kumimoji="1" lang="ja-JP" altLang="en-US" sz="800" dirty="0"/>
                    </a:p>
                  </a:txBody>
                  <a:tcPr anchor="ctr">
                    <a:lnR w="12700" cap="flat" cmpd="sng" algn="ctr">
                      <a:solidFill>
                        <a:schemeClr val="accent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M01</a:t>
                      </a:r>
                      <a:r>
                        <a:rPr kumimoji="1" lang="ja-JP" altLang="en-US" sz="700" b="0" dirty="0">
                          <a:solidFill>
                            <a:schemeClr val="tx1"/>
                          </a:solidFill>
                          <a:latin typeface="メイリオ" panose="020B0604030504040204" pitchFamily="50" charset="-128"/>
                          <a:ea typeface="メイリオ" panose="020B0604030504040204" pitchFamily="50" charset="-128"/>
                        </a:rPr>
                        <a:t>　</a:t>
                      </a:r>
                      <a:r>
                        <a:rPr kumimoji="1" lang="en-US" altLang="ja-JP" sz="700" b="0" dirty="0">
                          <a:solidFill>
                            <a:schemeClr val="tx1"/>
                          </a:solidFill>
                          <a:latin typeface="メイリオ" panose="020B0604030504040204" pitchFamily="50" charset="-128"/>
                          <a:ea typeface="メイリオ" panose="020B0604030504040204" pitchFamily="50" charset="-128"/>
                        </a:rPr>
                        <a:t>EA</a:t>
                      </a:r>
                      <a:r>
                        <a:rPr kumimoji="1" lang="ja-JP" altLang="en-US" sz="700" b="0" dirty="0">
                          <a:solidFill>
                            <a:schemeClr val="tx1"/>
                          </a:solidFill>
                          <a:latin typeface="メイリオ" panose="020B0604030504040204" pitchFamily="50" charset="-128"/>
                          <a:ea typeface="メイリオ" panose="020B0604030504040204" pitchFamily="50" charset="-128"/>
                        </a:rPr>
                        <a:t>後継</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ATX(/MATX)</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EA</a:t>
                      </a:r>
                      <a:r>
                        <a:rPr kumimoji="1" lang="ja-JP" altLang="en-US" sz="700" b="0" dirty="0">
                          <a:latin typeface="メイリオ" panose="020B0604030504040204" pitchFamily="50" charset="-128"/>
                          <a:ea typeface="メイリオ" panose="020B0604030504040204" pitchFamily="50" charset="-128"/>
                        </a:rPr>
                        <a:t>後継　</a:t>
                      </a:r>
                      <a:r>
                        <a:rPr kumimoji="1" lang="en-US" altLang="ja-JP" sz="700" b="0" dirty="0">
                          <a:latin typeface="メイリオ" panose="020B0604030504040204" pitchFamily="50" charset="-128"/>
                          <a:ea typeface="メイリオ" panose="020B0604030504040204" pitchFamily="50" charset="-128"/>
                        </a:rPr>
                        <a:t>THIRDWAVE AT/BT</a:t>
                      </a:r>
                      <a:r>
                        <a:rPr kumimoji="1" lang="ja-JP" altLang="en-US" sz="700" b="0" dirty="0">
                          <a:latin typeface="メイリオ" panose="020B0604030504040204" pitchFamily="50" charset="-128"/>
                          <a:ea typeface="メイリオ" panose="020B0604030504040204" pitchFamily="50" charset="-128"/>
                        </a:rPr>
                        <a:t>シリーズ</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701006059"/>
                  </a:ext>
                </a:extLst>
              </a:tr>
              <a:tr h="0">
                <a:tc vMerge="1">
                  <a:txBody>
                    <a:bodyPr/>
                    <a:lstStyle/>
                    <a:p>
                      <a:pPr algn="l"/>
                      <a:endParaRPr kumimoji="1" lang="ja-JP" altLang="en-US" sz="700" dirty="0">
                        <a:latin typeface="メイリオ" panose="020B0604030504040204" pitchFamily="50" charset="-128"/>
                        <a:ea typeface="メイリオ" panose="020B0604030504040204" pitchFamily="50" charset="-128"/>
                      </a:endParaRPr>
                    </a:p>
                  </a:txBody>
                  <a:tcPr anchor="ctr">
                    <a:lnR w="12700" cap="flat" cmpd="sng" algn="ctr">
                      <a:solidFill>
                        <a:schemeClr val="accent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EA(/4C)</a:t>
                      </a:r>
                      <a:r>
                        <a:rPr kumimoji="1" lang="ja-JP" altLang="en-US" sz="700" b="0" dirty="0">
                          <a:solidFill>
                            <a:schemeClr val="tx1"/>
                          </a:solidFill>
                          <a:latin typeface="メイリオ" panose="020B0604030504040204" pitchFamily="50" charset="-128"/>
                          <a:ea typeface="メイリオ" panose="020B0604030504040204" pitchFamily="50" charset="-128"/>
                        </a:rPr>
                        <a:t>後継</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ATX(/MATX) GPU</a:t>
                      </a:r>
                      <a:r>
                        <a:rPr kumimoji="1" lang="ja-JP" altLang="en-US" sz="700" b="0" dirty="0">
                          <a:solidFill>
                            <a:schemeClr val="tx1"/>
                          </a:solidFill>
                          <a:latin typeface="メイリオ" panose="020B0604030504040204" pitchFamily="50" charset="-128"/>
                          <a:ea typeface="メイリオ" panose="020B0604030504040204" pitchFamily="50" charset="-128"/>
                        </a:rPr>
                        <a:t>サポート金具対応</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EA(/4C)</a:t>
                      </a:r>
                      <a:r>
                        <a:rPr kumimoji="1" lang="ja-JP" altLang="en-US" sz="700" b="0" dirty="0">
                          <a:solidFill>
                            <a:schemeClr val="tx1"/>
                          </a:solidFill>
                          <a:latin typeface="メイリオ" panose="020B0604030504040204" pitchFamily="50" charset="-128"/>
                          <a:ea typeface="メイリオ" panose="020B0604030504040204" pitchFamily="50" charset="-128"/>
                        </a:rPr>
                        <a:t>後継</a:t>
                      </a:r>
                      <a:r>
                        <a:rPr kumimoji="1" lang="ja-JP" altLang="en-US" sz="700" b="0" dirty="0">
                          <a:latin typeface="メイリオ" panose="020B0604030504040204" pitchFamily="50" charset="-128"/>
                          <a:ea typeface="メイリオ" panose="020B0604030504040204" pitchFamily="50" charset="-128"/>
                        </a:rPr>
                        <a:t>　</a:t>
                      </a:r>
                      <a:r>
                        <a:rPr kumimoji="1" lang="en-US" altLang="ja-JP" sz="700" b="0" dirty="0">
                          <a:latin typeface="メイリオ" panose="020B0604030504040204" pitchFamily="50" charset="-128"/>
                          <a:ea typeface="メイリオ" panose="020B0604030504040204" pitchFamily="50" charset="-128"/>
                        </a:rPr>
                        <a:t>THIRDWAVE HL/BL/ZL</a:t>
                      </a:r>
                      <a:r>
                        <a:rPr kumimoji="1" lang="ja-JP" altLang="en-US" sz="700" b="0" dirty="0">
                          <a:latin typeface="メイリオ" panose="020B0604030504040204" pitchFamily="50" charset="-128"/>
                          <a:ea typeface="メイリオ" panose="020B0604030504040204" pitchFamily="50" charset="-128"/>
                        </a:rPr>
                        <a:t>シリーズ</a:t>
                      </a:r>
                      <a:endParaRPr kumimoji="1" lang="en-US" altLang="ja-JP"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2426734317"/>
                  </a:ext>
                </a:extLst>
              </a:tr>
              <a:tr h="0">
                <a:tc>
                  <a:txBody>
                    <a:bodyPr/>
                    <a:lstStyle/>
                    <a:p>
                      <a:pPr algn="l"/>
                      <a:r>
                        <a:rPr kumimoji="1" lang="ja-JP" altLang="en-US" sz="700" dirty="0">
                          <a:latin typeface="メイリオ" panose="020B0604030504040204" pitchFamily="50" charset="-128"/>
                          <a:ea typeface="メイリオ" panose="020B0604030504040204" pitchFamily="50" charset="-128"/>
                        </a:rPr>
                        <a:t>電源</a:t>
                      </a:r>
                    </a:p>
                  </a:txBody>
                  <a:tcPr anchor="ctr">
                    <a:lnR w="12700" cap="flat" cmpd="sng" algn="ctr">
                      <a:solidFill>
                        <a:schemeClr val="accent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YCC(CWT) SFX</a:t>
                      </a:r>
                      <a:r>
                        <a:rPr kumimoji="1" lang="ja-JP" altLang="en-US" sz="700" b="0" dirty="0">
                          <a:solidFill>
                            <a:schemeClr val="tx1"/>
                          </a:solidFill>
                          <a:latin typeface="メイリオ" panose="020B0604030504040204" pitchFamily="50" charset="-128"/>
                          <a:ea typeface="メイリオ" panose="020B0604030504040204" pitchFamily="50" charset="-128"/>
                        </a:rPr>
                        <a:t>電源</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chemeClr val="accent1"/>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SFX</a:t>
                      </a:r>
                      <a:r>
                        <a:rPr kumimoji="1" lang="ja-JP" altLang="en-US" sz="700" b="0" dirty="0">
                          <a:solidFill>
                            <a:schemeClr val="tx1"/>
                          </a:solidFill>
                          <a:latin typeface="メイリオ" panose="020B0604030504040204" pitchFamily="50" charset="-128"/>
                          <a:ea typeface="メイリオ" panose="020B0604030504040204" pitchFamily="50" charset="-128"/>
                        </a:rPr>
                        <a:t>規格　</a:t>
                      </a:r>
                      <a:r>
                        <a:rPr kumimoji="1" lang="en-US" altLang="ja-JP" sz="700" b="0" dirty="0">
                          <a:solidFill>
                            <a:schemeClr val="tx1"/>
                          </a:solidFill>
                          <a:latin typeface="メイリオ" panose="020B0604030504040204" pitchFamily="50" charset="-128"/>
                          <a:ea typeface="メイリオ" panose="020B0604030504040204" pitchFamily="50" charset="-128"/>
                        </a:rPr>
                        <a:t>1000W</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en-US" altLang="ja-JP" sz="700" b="0" dirty="0">
                          <a:latin typeface="メイリオ" panose="020B0604030504040204" pitchFamily="50" charset="-128"/>
                          <a:ea typeface="メイリオ" panose="020B0604030504040204" pitchFamily="50" charset="-128"/>
                        </a:rPr>
                        <a:t>SFF</a:t>
                      </a:r>
                      <a:r>
                        <a:rPr kumimoji="1" lang="ja-JP" altLang="en-US" sz="700" b="0" dirty="0">
                          <a:latin typeface="メイリオ" panose="020B0604030504040204" pitchFamily="50" charset="-128"/>
                          <a:ea typeface="メイリオ" panose="020B0604030504040204" pitchFamily="50" charset="-128"/>
                        </a:rPr>
                        <a:t>ケース用</a:t>
                      </a:r>
                      <a:endParaRPr kumimoji="1" lang="en-US" altLang="ja-JP"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投入準備</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218255208"/>
                  </a:ext>
                </a:extLst>
              </a:tr>
              <a:tr h="0">
                <a:tc rowSpan="4">
                  <a:txBody>
                    <a:bodyPr/>
                    <a:lstStyle/>
                    <a:p>
                      <a:pPr algn="l"/>
                      <a:r>
                        <a:rPr kumimoji="1" lang="ja-JP" altLang="en-US" sz="700" dirty="0">
                          <a:latin typeface="メイリオ" panose="020B0604030504040204" pitchFamily="50" charset="-128"/>
                          <a:ea typeface="メイリオ" panose="020B0604030504040204" pitchFamily="50" charset="-128"/>
                        </a:rPr>
                        <a:t>周辺機器</a:t>
                      </a:r>
                    </a:p>
                  </a:txBody>
                  <a:tcPr anchor="ctr">
                    <a:lnR w="12700" cap="flat" cmpd="sng" algn="ctr">
                      <a:solidFill>
                        <a:srgbClr val="0070C0"/>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Thnderbolt4 Dock</a:t>
                      </a: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Thnderbolt4</a:t>
                      </a:r>
                      <a:r>
                        <a:rPr kumimoji="1" lang="ja-JP" altLang="en-US" sz="700" b="0" dirty="0">
                          <a:solidFill>
                            <a:schemeClr val="tx1"/>
                          </a:solidFill>
                          <a:latin typeface="メイリオ" panose="020B0604030504040204" pitchFamily="50" charset="-128"/>
                          <a:ea typeface="メイリオ" panose="020B0604030504040204" pitchFamily="50" charset="-128"/>
                        </a:rPr>
                        <a:t>接続ドック</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検証中</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705155767"/>
                  </a:ext>
                </a:extLst>
              </a:tr>
              <a:tr h="178808">
                <a:tc vMerge="1">
                  <a:txBody>
                    <a:bodyPr/>
                    <a:lstStyle/>
                    <a:p>
                      <a:pPr algn="l"/>
                      <a:endParaRPr kumimoji="1" lang="ja-JP" altLang="en-US" sz="700" dirty="0">
                        <a:latin typeface="メイリオ" panose="020B0604030504040204" pitchFamily="50" charset="-128"/>
                        <a:ea typeface="メイリオ" panose="020B0604030504040204" pitchFamily="50" charset="-128"/>
                      </a:endParaRPr>
                    </a:p>
                  </a:txBody>
                  <a:tcPr anchor="ctr">
                    <a:lnR w="12700" cap="flat" cmpd="sng" algn="ctr">
                      <a:solidFill>
                        <a:srgbClr val="0070C0"/>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ja-JP" altLang="en-US" sz="700" b="0" dirty="0">
                          <a:solidFill>
                            <a:schemeClr val="tx1"/>
                          </a:solidFill>
                          <a:latin typeface="メイリオ" panose="020B0604030504040204" pitchFamily="50" charset="-128"/>
                          <a:ea typeface="メイリオ" panose="020B0604030504040204" pitchFamily="50" charset="-128"/>
                        </a:rPr>
                        <a:t>ゲーミングキーボード</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dirty="0">
                          <a:solidFill>
                            <a:schemeClr val="tx1"/>
                          </a:solidFill>
                          <a:latin typeface="メイリオ" panose="020B0604030504040204" pitchFamily="50" charset="-128"/>
                          <a:ea typeface="メイリオ" panose="020B0604030504040204" pitchFamily="50" charset="-128"/>
                        </a:rPr>
                        <a:t>メカニカルタイプ</a:t>
                      </a:r>
                      <a:r>
                        <a:rPr kumimoji="1" lang="en-US" altLang="ja-JP" sz="700" b="0" dirty="0">
                          <a:solidFill>
                            <a:schemeClr val="tx1"/>
                          </a:solidFill>
                          <a:latin typeface="メイリオ" panose="020B0604030504040204" pitchFamily="50" charset="-128"/>
                          <a:ea typeface="メイリオ" panose="020B0604030504040204" pitchFamily="50" charset="-128"/>
                        </a:rPr>
                        <a:t>/</a:t>
                      </a:r>
                      <a:r>
                        <a:rPr kumimoji="1" lang="ja-JP" altLang="en-US" sz="700" b="0" dirty="0">
                          <a:solidFill>
                            <a:schemeClr val="tx1"/>
                          </a:solidFill>
                          <a:latin typeface="メイリオ" panose="020B0604030504040204" pitchFamily="50" charset="-128"/>
                          <a:ea typeface="メイリオ" panose="020B0604030504040204" pitchFamily="50" charset="-128"/>
                        </a:rPr>
                        <a:t>ラピッドトリガー</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r>
                        <a:rPr kumimoji="1" lang="ja-JP" altLang="en-US" sz="700" b="0" dirty="0">
                          <a:latin typeface="メイリオ" panose="020B0604030504040204" pitchFamily="50" charset="-128"/>
                          <a:ea typeface="メイリオ" panose="020B0604030504040204" pitchFamily="50" charset="-128"/>
                        </a:rPr>
                        <a:t>問い合わせ中</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1259848535"/>
                  </a:ext>
                </a:extLst>
              </a:tr>
              <a:tr h="0">
                <a:tc vMerge="1">
                  <a:txBody>
                    <a:bodyPr/>
                    <a:lstStyle/>
                    <a:p>
                      <a:pPr algn="l"/>
                      <a:endParaRPr kumimoji="1" lang="ja-JP" altLang="en-US" sz="700" dirty="0">
                        <a:latin typeface="メイリオ" panose="020B0604030504040204" pitchFamily="50" charset="-128"/>
                        <a:ea typeface="メイリオ" panose="020B0604030504040204" pitchFamily="50" charset="-128"/>
                      </a:endParaRPr>
                    </a:p>
                  </a:txBody>
                  <a:tcPr anchor="ctr">
                    <a:lnR w="12700" cap="flat" cmpd="sng" algn="ctr">
                      <a:solidFill>
                        <a:srgbClr val="0070C0"/>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ja-JP" altLang="en-US" sz="700" b="0" dirty="0">
                          <a:solidFill>
                            <a:schemeClr val="tx1"/>
                          </a:solidFill>
                          <a:latin typeface="メイリオ" panose="020B0604030504040204" pitchFamily="50" charset="-128"/>
                          <a:ea typeface="メイリオ" panose="020B0604030504040204" pitchFamily="50" charset="-128"/>
                        </a:rPr>
                        <a:t>液晶モニター</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dirty="0">
                          <a:solidFill>
                            <a:schemeClr val="tx1"/>
                          </a:solidFill>
                          <a:latin typeface="メイリオ" panose="020B0604030504040204" pitchFamily="50" charset="-128"/>
                          <a:ea typeface="メイリオ" panose="020B0604030504040204" pitchFamily="50" charset="-128"/>
                        </a:rPr>
                        <a:t>ゲーミング用途　</a:t>
                      </a:r>
                      <a:r>
                        <a:rPr kumimoji="1" lang="en-US" altLang="ja-JP" sz="700" b="0" dirty="0">
                          <a:solidFill>
                            <a:schemeClr val="tx1"/>
                          </a:solidFill>
                          <a:latin typeface="メイリオ" panose="020B0604030504040204" pitchFamily="50" charset="-128"/>
                          <a:ea typeface="メイリオ" panose="020B0604030504040204" pitchFamily="50" charset="-128"/>
                        </a:rPr>
                        <a:t>27”WQHD</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343032715"/>
                  </a:ext>
                </a:extLst>
              </a:tr>
              <a:tr h="0">
                <a:tc vMerge="1">
                  <a:txBody>
                    <a:bodyPr/>
                    <a:lstStyle/>
                    <a:p>
                      <a:pPr algn="l"/>
                      <a:endParaRPr kumimoji="1" lang="ja-JP" altLang="en-US" sz="700" dirty="0">
                        <a:latin typeface="メイリオ" panose="020B0604030504040204" pitchFamily="50" charset="-128"/>
                        <a:ea typeface="メイリオ" panose="020B0604030504040204" pitchFamily="50" charset="-128"/>
                      </a:endParaRPr>
                    </a:p>
                  </a:txBody>
                  <a:tcPr anchor="ctr">
                    <a:lnR w="12700" cap="flat" cmpd="sng" algn="ctr">
                      <a:solidFill>
                        <a:srgbClr val="0070C0"/>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solidFill>
                      <a:srgbClr val="EDF2F8"/>
                    </a:solidFill>
                  </a:tcPr>
                </a:tc>
                <a:tc>
                  <a:txBody>
                    <a:bodyPr/>
                    <a:lstStyle/>
                    <a:p>
                      <a:r>
                        <a:rPr kumimoji="1" lang="en-US" altLang="ja-JP" sz="700" b="0" dirty="0">
                          <a:solidFill>
                            <a:schemeClr val="tx1"/>
                          </a:solidFill>
                          <a:latin typeface="メイリオ" panose="020B0604030504040204" pitchFamily="50" charset="-128"/>
                          <a:ea typeface="メイリオ" panose="020B0604030504040204" pitchFamily="50" charset="-128"/>
                        </a:rPr>
                        <a:t>Windows Hello</a:t>
                      </a:r>
                      <a:r>
                        <a:rPr kumimoji="1" lang="ja-JP" altLang="en-US" sz="700" b="0" dirty="0">
                          <a:solidFill>
                            <a:schemeClr val="tx1"/>
                          </a:solidFill>
                          <a:latin typeface="メイリオ" panose="020B0604030504040204" pitchFamily="50" charset="-128"/>
                          <a:ea typeface="メイリオ" panose="020B0604030504040204" pitchFamily="50" charset="-128"/>
                        </a:rPr>
                        <a:t>対応 指紋認証ドングル</a:t>
                      </a:r>
                      <a:endParaRPr kumimoji="1" lang="en-US" altLang="ja-JP" sz="700" b="0" dirty="0">
                        <a:solidFill>
                          <a:schemeClr val="tx1"/>
                        </a:solidFill>
                        <a:latin typeface="メイリオ" panose="020B0604030504040204" pitchFamily="50" charset="-128"/>
                        <a:ea typeface="メイリオ" panose="020B0604030504040204" pitchFamily="50" charset="-128"/>
                      </a:endParaRPr>
                    </a:p>
                  </a:txBody>
                  <a:tcPr marT="36000" marB="36000" anchor="ctr">
                    <a:lnL w="12700" cap="flat" cmpd="sng" algn="ctr">
                      <a:solidFill>
                        <a:srgbClr val="0070C0"/>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dirty="0">
                          <a:solidFill>
                            <a:schemeClr val="tx1"/>
                          </a:solidFill>
                          <a:latin typeface="メイリオ" panose="020B0604030504040204" pitchFamily="50" charset="-128"/>
                          <a:ea typeface="メイリオ" panose="020B0604030504040204" pitchFamily="50" charset="-128"/>
                        </a:rPr>
                        <a:t>Copilot+</a:t>
                      </a:r>
                      <a:r>
                        <a:rPr kumimoji="1" lang="ja-JP" altLang="en-US" sz="700" b="0" dirty="0">
                          <a:solidFill>
                            <a:schemeClr val="tx1"/>
                          </a:solidFill>
                          <a:latin typeface="メイリオ" panose="020B0604030504040204" pitchFamily="50" charset="-128"/>
                          <a:ea typeface="メイリオ" panose="020B0604030504040204" pitchFamily="50" charset="-128"/>
                        </a:rPr>
                        <a:t>機能が使えるもの</a:t>
                      </a: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endParaRPr kumimoji="1" lang="ja-JP" altLang="en-US" sz="700" b="0" dirty="0">
                        <a:latin typeface="メイリオ" panose="020B0604030504040204" pitchFamily="50" charset="-128"/>
                        <a:ea typeface="メイリオ" panose="020B0604030504040204" pitchFamily="50" charset="-128"/>
                      </a:endParaRPr>
                    </a:p>
                  </a:txBody>
                  <a:tcPr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rgbClr val="DCE6F2">
                        <a:alpha val="5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検証完了</a:t>
                      </a:r>
                      <a:r>
                        <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検討中</a:t>
                      </a:r>
                      <a:endParaRPr kumimoji="1" lang="en-US" altLang="ja-JP" sz="7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marT="36000" marB="36000" anchor="ctr">
                    <a:lnL w="6350" cap="flat" cmpd="sng" algn="ctr">
                      <a:solidFill>
                        <a:schemeClr val="tx2"/>
                      </a:solidFill>
                      <a:prstDash val="solid"/>
                      <a:round/>
                      <a:headEnd type="none" w="med" len="med"/>
                      <a:tailEnd type="none" w="med" len="med"/>
                    </a:lnL>
                    <a:solidFill>
                      <a:srgbClr val="DCE6F2">
                        <a:alpha val="50196"/>
                      </a:srgbClr>
                    </a:solidFill>
                  </a:tcPr>
                </a:tc>
                <a:extLst>
                  <a:ext uri="{0D108BD9-81ED-4DB2-BD59-A6C34878D82A}">
                    <a16:rowId xmlns:a16="http://schemas.microsoft.com/office/drawing/2014/main" val="3752503073"/>
                  </a:ext>
                </a:extLst>
              </a:tr>
            </a:tbl>
          </a:graphicData>
        </a:graphic>
      </p:graphicFrame>
    </p:spTree>
    <p:extLst>
      <p:ext uri="{BB962C8B-B14F-4D97-AF65-F5344CB8AC3E}">
        <p14:creationId xmlns:p14="http://schemas.microsoft.com/office/powerpoint/2010/main" val="2821710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3F38BC-C931-4189-97EA-DF8E6FA6EE74}"/>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ja-JP" dirty="0">
                <a:latin typeface="メイリオ" panose="020B0604030504040204" pitchFamily="50" charset="-128"/>
                <a:ea typeface="メイリオ" panose="020B0604030504040204" pitchFamily="50" charset="-128"/>
              </a:rPr>
              <a:t>SSD</a:t>
            </a:r>
            <a:r>
              <a:rPr lang="ja-JP" altLang="en-US" dirty="0">
                <a:latin typeface="メイリオ" panose="020B0604030504040204" pitchFamily="50" charset="-128"/>
                <a:ea typeface="メイリオ" panose="020B0604030504040204" pitchFamily="50" charset="-128"/>
              </a:rPr>
              <a:t>使い分け</a:t>
            </a:r>
            <a:endParaRPr lang="en-US" altLang="ja-JP"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478BC6B3-C1A7-4A2C-A40E-489758ECCF94}"/>
              </a:ext>
            </a:extLst>
          </p:cNvPr>
          <p:cNvSpPr>
            <a:spLocks noGrp="1"/>
          </p:cNvSpPr>
          <p:nvPr>
            <p:ph type="sldNum" sz="quarter" idx="12"/>
          </p:nvPr>
        </p:nvSpPr>
        <p:spPr/>
        <p:txBody>
          <a:bodyPr/>
          <a:lstStyle/>
          <a:p>
            <a:fld id="{F9DFCEB9-CAE4-4F3C-93D0-85C4724A0355}" type="slidenum">
              <a:rPr kumimoji="1" lang="ja-JP" altLang="en-US" smtClean="0"/>
              <a:t>38</a:t>
            </a:fld>
            <a:endParaRPr kumimoji="1" lang="ja-JP" altLang="en-US"/>
          </a:p>
        </p:txBody>
      </p:sp>
      <p:sp>
        <p:nvSpPr>
          <p:cNvPr id="10" name="テキスト ボックス 9">
            <a:extLst>
              <a:ext uri="{FF2B5EF4-FFF2-40B4-BE49-F238E27FC236}">
                <a16:creationId xmlns:a16="http://schemas.microsoft.com/office/drawing/2014/main" id="{3385BB99-F852-44FD-88B1-2B58923E608D}"/>
              </a:ext>
            </a:extLst>
          </p:cNvPr>
          <p:cNvSpPr txBox="1"/>
          <p:nvPr/>
        </p:nvSpPr>
        <p:spPr>
          <a:xfrm>
            <a:off x="110830" y="4449737"/>
            <a:ext cx="8906924" cy="523220"/>
          </a:xfrm>
          <a:prstGeom prst="rect">
            <a:avLst/>
          </a:prstGeom>
          <a:noFill/>
        </p:spPr>
        <p:txBody>
          <a:bodyPr wrap="square" lIns="91440" tIns="45720" rIns="91440" bIns="45720" rtlCol="0" anchor="t">
            <a:spAutoFit/>
          </a:bodyPr>
          <a:lstStyle/>
          <a:p>
            <a:r>
              <a:rPr lang="ja-JP" altLang="en-US" sz="700" dirty="0">
                <a:latin typeface="メイリオ"/>
                <a:ea typeface="メイリオ"/>
              </a:rPr>
              <a:t>現状</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Gen4SSD_S</a:t>
            </a:r>
            <a:r>
              <a:rPr lang="ja-JP" altLang="en-US" sz="700" dirty="0">
                <a:latin typeface="メイリオ"/>
                <a:ea typeface="メイリオ"/>
              </a:rPr>
              <a:t>製品は</a:t>
            </a:r>
            <a:r>
              <a:rPr lang="en-US" altLang="ja-JP" sz="700" dirty="0">
                <a:latin typeface="メイリオ"/>
                <a:ea typeface="メイリオ"/>
              </a:rPr>
              <a:t>QNT</a:t>
            </a:r>
            <a:r>
              <a:rPr lang="ja-JP" altLang="en-US" sz="700" dirty="0">
                <a:latin typeface="メイリオ"/>
                <a:ea typeface="メイリオ"/>
              </a:rPr>
              <a:t>や一部薄型ノートで動作できることが条件になっていますが、「対応製品に終息が多い」「新規検証品が</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Gen4SSD_S</a:t>
            </a:r>
            <a:r>
              <a:rPr lang="ja-JP" altLang="en-US" sz="700" dirty="0">
                <a:latin typeface="メイリオ"/>
                <a:ea typeface="メイリオ"/>
              </a:rPr>
              <a:t>基準として検証クリアできない」「</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Gen4SSD_S</a:t>
            </a:r>
            <a:r>
              <a:rPr lang="ja-JP" altLang="en-US" sz="700" dirty="0">
                <a:latin typeface="メイリオ"/>
                <a:ea typeface="メイリオ"/>
              </a:rPr>
              <a:t>として使えない安価製品や長期特価品がカスタマイズ品として投入されデスク部材として実質デスクの汎用品として使われている」現状を顧みて、新しく</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Gen4SSD_M</a:t>
            </a:r>
            <a:r>
              <a:rPr lang="ja-JP" altLang="en-US" sz="700" dirty="0">
                <a:latin typeface="メイリオ"/>
                <a:ea typeface="メイリオ"/>
              </a:rPr>
              <a:t>を作り、主にデスクや排熱の問題ないノート用として運用するように変更します。</a:t>
            </a:r>
            <a:endParaRPr lang="en-US" altLang="ja-JP" sz="700" dirty="0">
              <a:latin typeface="メイリオ"/>
              <a:ea typeface="メイリオ"/>
            </a:endParaRPr>
          </a:p>
          <a:p>
            <a:r>
              <a:rPr lang="en-US" altLang="ja-JP" sz="700" dirty="0">
                <a:latin typeface="メイリオ"/>
                <a:ea typeface="メイリオ"/>
              </a:rPr>
              <a:t>※</a:t>
            </a:r>
            <a:r>
              <a:rPr lang="ja-JP" altLang="en-US" sz="700" dirty="0">
                <a:latin typeface="メイリオ"/>
                <a:ea typeface="メイリオ"/>
              </a:rPr>
              <a:t>現状の</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Gen4SSD_S</a:t>
            </a:r>
            <a:r>
              <a:rPr lang="ja-JP" altLang="en-US" sz="700" dirty="0">
                <a:latin typeface="メイリオ"/>
                <a:ea typeface="メイリオ"/>
              </a:rPr>
              <a:t>製品は排熱の弱いノート用として残し使用しつつ、</a:t>
            </a:r>
            <a:r>
              <a:rPr lang="ja-JP" altLang="en-US" sz="700" b="1" dirty="0">
                <a:solidFill>
                  <a:srgbClr val="FF0000"/>
                </a:solidFill>
                <a:latin typeface="メイリオ"/>
                <a:ea typeface="メイリオ"/>
              </a:rPr>
              <a:t>汎用</a:t>
            </a:r>
            <a:r>
              <a:rPr lang="en-US" altLang="ja-JP" sz="700" b="1" dirty="0">
                <a:solidFill>
                  <a:srgbClr val="FF0000"/>
                </a:solidFill>
                <a:latin typeface="メイリオ"/>
                <a:ea typeface="メイリオ"/>
              </a:rPr>
              <a:t>Gen4SSD_M</a:t>
            </a:r>
            <a:r>
              <a:rPr lang="ja-JP" altLang="en-US" sz="700" dirty="0">
                <a:latin typeface="メイリオ"/>
                <a:ea typeface="メイリオ"/>
              </a:rPr>
              <a:t>の補助としての一面も持ちます。これにより主にデスク</a:t>
            </a:r>
            <a:r>
              <a:rPr lang="en-US" altLang="ja-JP" sz="700" dirty="0">
                <a:latin typeface="メイリオ"/>
                <a:ea typeface="メイリオ"/>
              </a:rPr>
              <a:t>SSD</a:t>
            </a:r>
            <a:r>
              <a:rPr lang="ja-JP" altLang="en-US" sz="700" dirty="0">
                <a:latin typeface="メイリオ"/>
                <a:ea typeface="メイリオ"/>
              </a:rPr>
              <a:t>の汎用品については価格優位性も担保される。</a:t>
            </a:r>
            <a:endParaRPr lang="en-US" altLang="ja-JP" sz="700" dirty="0">
              <a:latin typeface="メイリオ"/>
              <a:ea typeface="メイリオ"/>
            </a:endParaRPr>
          </a:p>
        </p:txBody>
      </p:sp>
      <p:pic>
        <p:nvPicPr>
          <p:cNvPr id="3" name="図 2">
            <a:extLst>
              <a:ext uri="{FF2B5EF4-FFF2-40B4-BE49-F238E27FC236}">
                <a16:creationId xmlns:a16="http://schemas.microsoft.com/office/drawing/2014/main" id="{BBADBA32-2507-4246-B298-E2B5490A65DE}"/>
              </a:ext>
            </a:extLst>
          </p:cNvPr>
          <p:cNvPicPr>
            <a:picLocks noChangeAspect="1"/>
          </p:cNvPicPr>
          <p:nvPr/>
        </p:nvPicPr>
        <p:blipFill>
          <a:blip r:embed="rId3"/>
          <a:stretch>
            <a:fillRect/>
          </a:stretch>
        </p:blipFill>
        <p:spPr>
          <a:xfrm>
            <a:off x="25856" y="432153"/>
            <a:ext cx="9076872" cy="3963699"/>
          </a:xfrm>
          <a:prstGeom prst="rect">
            <a:avLst/>
          </a:prstGeom>
        </p:spPr>
      </p:pic>
    </p:spTree>
    <p:extLst>
      <p:ext uri="{BB962C8B-B14F-4D97-AF65-F5344CB8AC3E}">
        <p14:creationId xmlns:p14="http://schemas.microsoft.com/office/powerpoint/2010/main" val="294068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3F38BC-C931-4189-97EA-DF8E6FA6EE74}"/>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ja-JP" altLang="en-US" dirty="0">
                <a:latin typeface="メイリオ" panose="020B0604030504040204" pitchFamily="50" charset="-128"/>
                <a:ea typeface="メイリオ" panose="020B0604030504040204" pitchFamily="50" charset="-128"/>
              </a:rPr>
              <a:t>採用予定品　</a:t>
            </a:r>
            <a:r>
              <a:rPr lang="en-US" altLang="ja-JP" dirty="0">
                <a:latin typeface="メイリオ" panose="020B0604030504040204" pitchFamily="50" charset="-128"/>
                <a:ea typeface="メイリオ" panose="020B0604030504040204" pitchFamily="50" charset="-128"/>
              </a:rPr>
              <a:t>Nova Lake-S</a:t>
            </a:r>
            <a:r>
              <a:rPr lang="ja-JP" altLang="en-US" dirty="0">
                <a:latin typeface="メイリオ" panose="020B0604030504040204" pitchFamily="50" charset="-128"/>
                <a:ea typeface="メイリオ" panose="020B0604030504040204" pitchFamily="50" charset="-128"/>
              </a:rPr>
              <a:t>関連</a:t>
            </a:r>
            <a:endParaRPr lang="en-US" altLang="ja-JP"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478BC6B3-C1A7-4A2C-A40E-489758ECCF94}"/>
              </a:ext>
            </a:extLst>
          </p:cNvPr>
          <p:cNvSpPr>
            <a:spLocks noGrp="1"/>
          </p:cNvSpPr>
          <p:nvPr>
            <p:ph type="sldNum" sz="quarter" idx="12"/>
          </p:nvPr>
        </p:nvSpPr>
        <p:spPr/>
        <p:txBody>
          <a:bodyPr/>
          <a:lstStyle/>
          <a:p>
            <a:fld id="{F9DFCEB9-CAE4-4F3C-93D0-85C4724A0355}" type="slidenum">
              <a:rPr kumimoji="1" lang="ja-JP" altLang="en-US" smtClean="0"/>
              <a:t>39</a:t>
            </a:fld>
            <a:endParaRPr kumimoji="1" lang="ja-JP" altLang="en-US"/>
          </a:p>
        </p:txBody>
      </p:sp>
      <p:graphicFrame>
        <p:nvGraphicFramePr>
          <p:cNvPr id="3" name="表 2">
            <a:extLst>
              <a:ext uri="{FF2B5EF4-FFF2-40B4-BE49-F238E27FC236}">
                <a16:creationId xmlns:a16="http://schemas.microsoft.com/office/drawing/2014/main" id="{BB0EDE1A-650D-44D4-A425-99DE133DCC3E}"/>
              </a:ext>
            </a:extLst>
          </p:cNvPr>
          <p:cNvGraphicFramePr>
            <a:graphicFrameLocks noGrp="1"/>
          </p:cNvGraphicFramePr>
          <p:nvPr>
            <p:extLst>
              <p:ext uri="{D42A27DB-BD31-4B8C-83A1-F6EECF244321}">
                <p14:modId xmlns:p14="http://schemas.microsoft.com/office/powerpoint/2010/main" val="426476931"/>
              </p:ext>
            </p:extLst>
          </p:nvPr>
        </p:nvGraphicFramePr>
        <p:xfrm>
          <a:off x="147794" y="2395834"/>
          <a:ext cx="8128331" cy="1874520"/>
        </p:xfrm>
        <a:graphic>
          <a:graphicData uri="http://schemas.openxmlformats.org/drawingml/2006/table">
            <a:tbl>
              <a:tblPr/>
              <a:tblGrid>
                <a:gridCol w="2247900">
                  <a:extLst>
                    <a:ext uri="{9D8B030D-6E8A-4147-A177-3AD203B41FA5}">
                      <a16:colId xmlns:a16="http://schemas.microsoft.com/office/drawing/2014/main" val="3184444903"/>
                    </a:ext>
                  </a:extLst>
                </a:gridCol>
                <a:gridCol w="1054100">
                  <a:extLst>
                    <a:ext uri="{9D8B030D-6E8A-4147-A177-3AD203B41FA5}">
                      <a16:colId xmlns:a16="http://schemas.microsoft.com/office/drawing/2014/main" val="1499515305"/>
                    </a:ext>
                  </a:extLst>
                </a:gridCol>
                <a:gridCol w="97550">
                  <a:extLst>
                    <a:ext uri="{9D8B030D-6E8A-4147-A177-3AD203B41FA5}">
                      <a16:colId xmlns:a16="http://schemas.microsoft.com/office/drawing/2014/main" val="1603080850"/>
                    </a:ext>
                  </a:extLst>
                </a:gridCol>
                <a:gridCol w="1257300">
                  <a:extLst>
                    <a:ext uri="{9D8B030D-6E8A-4147-A177-3AD203B41FA5}">
                      <a16:colId xmlns:a16="http://schemas.microsoft.com/office/drawing/2014/main" val="3286942901"/>
                    </a:ext>
                  </a:extLst>
                </a:gridCol>
                <a:gridCol w="28575">
                  <a:extLst>
                    <a:ext uri="{9D8B030D-6E8A-4147-A177-3AD203B41FA5}">
                      <a16:colId xmlns:a16="http://schemas.microsoft.com/office/drawing/2014/main" val="342290702"/>
                    </a:ext>
                  </a:extLst>
                </a:gridCol>
                <a:gridCol w="1140391">
                  <a:extLst>
                    <a:ext uri="{9D8B030D-6E8A-4147-A177-3AD203B41FA5}">
                      <a16:colId xmlns:a16="http://schemas.microsoft.com/office/drawing/2014/main" val="4168126158"/>
                    </a:ext>
                  </a:extLst>
                </a:gridCol>
                <a:gridCol w="61840">
                  <a:extLst>
                    <a:ext uri="{9D8B030D-6E8A-4147-A177-3AD203B41FA5}">
                      <a16:colId xmlns:a16="http://schemas.microsoft.com/office/drawing/2014/main" val="2395776465"/>
                    </a:ext>
                  </a:extLst>
                </a:gridCol>
                <a:gridCol w="1054100">
                  <a:extLst>
                    <a:ext uri="{9D8B030D-6E8A-4147-A177-3AD203B41FA5}">
                      <a16:colId xmlns:a16="http://schemas.microsoft.com/office/drawing/2014/main" val="2259587926"/>
                    </a:ext>
                  </a:extLst>
                </a:gridCol>
                <a:gridCol w="97550">
                  <a:extLst>
                    <a:ext uri="{9D8B030D-6E8A-4147-A177-3AD203B41FA5}">
                      <a16:colId xmlns:a16="http://schemas.microsoft.com/office/drawing/2014/main" val="3049641528"/>
                    </a:ext>
                  </a:extLst>
                </a:gridCol>
                <a:gridCol w="1089025">
                  <a:extLst>
                    <a:ext uri="{9D8B030D-6E8A-4147-A177-3AD203B41FA5}">
                      <a16:colId xmlns:a16="http://schemas.microsoft.com/office/drawing/2014/main" val="311762160"/>
                    </a:ext>
                  </a:extLst>
                </a:gridCol>
              </a:tblGrid>
              <a:tr h="0">
                <a:tc>
                  <a:txBody>
                    <a:body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游ゴシック" panose="020B0400000000000000" pitchFamily="50" charset="-128"/>
                          <a:ea typeface="游ゴシック" panose="020B0400000000000000" pitchFamily="50" charset="-128"/>
                        </a:rPr>
                        <a:t>Z890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Z990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Z970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B860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B960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8998614"/>
                  </a:ext>
                </a:extLst>
              </a:tr>
              <a:tr h="55615">
                <a:tc>
                  <a:txBody>
                    <a:bodyPr/>
                    <a:lstStyle/>
                    <a:p>
                      <a:pPr algn="ctr" fontAlgn="ctr"/>
                      <a:r>
                        <a:rPr lang="en-US" altLang="ja-JP" sz="900" b="1" dirty="0"/>
                        <a:t>IA Overclocking</a:t>
                      </a:r>
                      <a:r>
                        <a:rPr lang="en-US" altLang="ja-JP" sz="900" b="0" dirty="0"/>
                        <a:t>(</a:t>
                      </a:r>
                      <a:r>
                        <a:rPr lang="ja-JP" altLang="en-US" sz="900" b="0" dirty="0"/>
                        <a:t>最大クロック</a:t>
                      </a:r>
                      <a:r>
                        <a:rPr lang="en-US" altLang="ja-JP" sz="900" b="0" dirty="0"/>
                        <a:t>OC)</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en-US" sz="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0961902"/>
                  </a:ext>
                </a:extLst>
              </a:tr>
              <a:tr h="55615">
                <a:tc>
                  <a:txBody>
                    <a:bodyPr/>
                    <a:lstStyle/>
                    <a:p>
                      <a:pPr algn="ctr" fontAlgn="ctr"/>
                      <a:r>
                        <a:rPr lang="en-US" altLang="ja-JP" sz="900" b="1" dirty="0"/>
                        <a:t>BCLK Overclocking</a:t>
                      </a:r>
                      <a:r>
                        <a:rPr lang="en-US" altLang="ja-JP" sz="900" b="0" dirty="0"/>
                        <a:t>(</a:t>
                      </a:r>
                      <a:r>
                        <a:rPr lang="ja-JP" altLang="en-US" sz="900" b="0" dirty="0"/>
                        <a:t>ベースクロック</a:t>
                      </a:r>
                      <a:r>
                        <a:rPr lang="en-US" altLang="ja-JP" sz="900" b="0" dirty="0"/>
                        <a:t>OC)</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kumimoji="1" lang="en-US" altLang="ja-JP" sz="8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808937"/>
                  </a:ext>
                </a:extLst>
              </a:tr>
              <a:tr h="55615">
                <a:tc>
                  <a:txBody>
                    <a:bodyPr/>
                    <a:lstStyle/>
                    <a:p>
                      <a:pPr algn="ctr" fontAlgn="ctr"/>
                      <a:r>
                        <a:rPr lang="en-US" sz="900" b="1" i="0" u="none" strike="noStrike">
                          <a:solidFill>
                            <a:srgbClr val="000000"/>
                          </a:solidFill>
                          <a:effectLst/>
                          <a:latin typeface="Meiryo UI" panose="020B0604030504040204" pitchFamily="50" charset="-128"/>
                          <a:ea typeface="Meiryo UI" panose="020B0604030504040204" pitchFamily="50" charset="-128"/>
                        </a:rPr>
                        <a:t>Total PCIe Lanes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Up to 48</a:t>
                      </a:r>
                      <a:br>
                        <a:rPr lang="en-US" sz="800" b="0" i="0" u="none" strike="noStrike" dirty="0">
                          <a:solidFill>
                            <a:srgbClr val="000000"/>
                          </a:solidFill>
                          <a:effectLst/>
                          <a:latin typeface="游ゴシック" panose="020B0400000000000000" pitchFamily="50" charset="-128"/>
                          <a:ea typeface="游ゴシック" panose="020B0400000000000000" pitchFamily="50" charset="-128"/>
                        </a:rPr>
                      </a:b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(20 CPU + 0/24 PCH)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48</a:t>
                      </a:r>
                      <a:br>
                        <a:rPr lang="en-US" sz="800" b="1" i="0" u="none" strike="noStrike" dirty="0">
                          <a:solidFill>
                            <a:srgbClr val="000000"/>
                          </a:solidFill>
                          <a:effectLst/>
                          <a:latin typeface="游ゴシック" panose="020B0400000000000000" pitchFamily="50" charset="-128"/>
                          <a:ea typeface="游ゴシック" panose="020B0400000000000000" pitchFamily="50" charset="-128"/>
                        </a:rPr>
                      </a:b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(24 CPU + 12/12 PCH)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Up to 34</a:t>
                      </a:r>
                      <a:b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(20 CPU + 0/14 PCH)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Up to 34</a:t>
                      </a:r>
                      <a:br>
                        <a:rPr lang="en-US" sz="800" b="0" i="0" u="none" strike="noStrike" dirty="0">
                          <a:solidFill>
                            <a:srgbClr val="000000"/>
                          </a:solidFill>
                          <a:effectLst/>
                          <a:latin typeface="游ゴシック" panose="020B0400000000000000" pitchFamily="50" charset="-128"/>
                          <a:ea typeface="游ゴシック" panose="020B0400000000000000" pitchFamily="50" charset="-128"/>
                        </a:rPr>
                      </a:b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(20 CPU + 0/14 PCH)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34</a:t>
                      </a:r>
                      <a:br>
                        <a:rPr lang="en-US" sz="800" b="1" i="0" u="none" strike="noStrike" dirty="0">
                          <a:solidFill>
                            <a:srgbClr val="000000"/>
                          </a:solidFill>
                          <a:effectLst/>
                          <a:latin typeface="游ゴシック" panose="020B0400000000000000" pitchFamily="50" charset="-128"/>
                          <a:ea typeface="游ゴシック" panose="020B0400000000000000" pitchFamily="50" charset="-128"/>
                        </a:rPr>
                      </a:b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(20 CPU + 0/14 PCH)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4322236"/>
                  </a:ext>
                </a:extLst>
              </a:tr>
              <a:tr h="27799">
                <a:tc>
                  <a:txBody>
                    <a:bodyPr/>
                    <a:lstStyle/>
                    <a:p>
                      <a:pPr algn="ctr" fontAlgn="ctr"/>
                      <a:r>
                        <a:rPr lang="en-US" sz="900" b="1" i="0" u="none" strike="noStrike" dirty="0">
                          <a:solidFill>
                            <a:srgbClr val="000000"/>
                          </a:solidFill>
                          <a:effectLst/>
                          <a:latin typeface="Meiryo UI" panose="020B0604030504040204" pitchFamily="50" charset="-128"/>
                          <a:ea typeface="Meiryo UI" panose="020B0604030504040204" pitchFamily="50" charset="-128"/>
                        </a:rPr>
                        <a:t>Processor Thunderbolt / USB4 Ports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Up to 2(TBT4 80G)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2(TBT5 80G/120G)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Up to 1(TBT4 40G)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Up to 1(TBT4 40G)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1(TBT4 40G)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7738690"/>
                  </a:ext>
                </a:extLst>
              </a:tr>
              <a:tr h="34655">
                <a:tc>
                  <a:txBody>
                    <a:bodyPr/>
                    <a:lstStyle/>
                    <a:p>
                      <a:pPr algn="ctr" fontAlgn="ctr"/>
                      <a:r>
                        <a:rPr lang="en-US" sz="900" b="1" i="0" u="none" strike="noStrike">
                          <a:solidFill>
                            <a:srgbClr val="000000"/>
                          </a:solidFill>
                          <a:effectLst/>
                          <a:latin typeface="游ゴシック" panose="020B0400000000000000" pitchFamily="50" charset="-128"/>
                          <a:ea typeface="游ゴシック" panose="020B0400000000000000" pitchFamily="50" charset="-128"/>
                        </a:rPr>
                        <a:t>DMI Lanes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Gen4 x8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FF0000"/>
                          </a:solidFill>
                          <a:effectLst/>
                          <a:latin typeface="游ゴシック" panose="020B0400000000000000" pitchFamily="50" charset="-128"/>
                          <a:ea typeface="游ゴシック" panose="020B0400000000000000" pitchFamily="50" charset="-128"/>
                        </a:rPr>
                        <a:t>Gen5 x4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ja-JP" sz="800" b="1" i="0" u="none" strike="noStrike" dirty="0">
                        <a:solidFill>
                          <a:srgbClr val="FF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FF0000"/>
                          </a:solidFill>
                          <a:effectLst/>
                          <a:latin typeface="游ゴシック" panose="020B0400000000000000" pitchFamily="50" charset="-128"/>
                          <a:ea typeface="游ゴシック" panose="020B0400000000000000" pitchFamily="50" charset="-128"/>
                        </a:rPr>
                        <a:t>Gen5 x2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0" i="0" u="none" strike="noStrike" dirty="0">
                          <a:solidFill>
                            <a:srgbClr val="000000"/>
                          </a:solidFill>
                          <a:effectLst/>
                          <a:latin typeface="游ゴシック" panose="020B0400000000000000" pitchFamily="50" charset="-128"/>
                          <a:ea typeface="游ゴシック" panose="020B0400000000000000" pitchFamily="50" charset="-128"/>
                        </a:rPr>
                        <a:t>Gen4 x4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FF0000"/>
                          </a:solidFill>
                          <a:effectLst/>
                          <a:latin typeface="游ゴシック" panose="020B0400000000000000" pitchFamily="50" charset="-128"/>
                          <a:ea typeface="游ゴシック" panose="020B0400000000000000" pitchFamily="50" charset="-128"/>
                        </a:rPr>
                        <a:t>Gen5 x2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9061147"/>
                  </a:ext>
                </a:extLst>
              </a:tr>
              <a:tr h="41511">
                <a:tc>
                  <a:txBody>
                    <a:bodyPr/>
                    <a:lstStyle/>
                    <a:p>
                      <a:pPr algn="ctr" fontAlgn="ctr"/>
                      <a:r>
                        <a:rPr lang="en-US" sz="900" b="1" i="0" u="none" strike="noStrike">
                          <a:solidFill>
                            <a:srgbClr val="000000"/>
                          </a:solidFill>
                          <a:effectLst/>
                          <a:latin typeface="Meiryo UI" panose="020B0604030504040204" pitchFamily="50" charset="-128"/>
                          <a:ea typeface="Meiryo UI" panose="020B0604030504040204" pitchFamily="50" charset="-128"/>
                        </a:rPr>
                        <a:t>Chipset PCIe 5.0 Lanes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FF0000"/>
                          </a:solidFill>
                          <a:effectLst/>
                          <a:latin typeface="游ゴシック" panose="020B0400000000000000" pitchFamily="50" charset="-128"/>
                          <a:ea typeface="游ゴシック" panose="020B0400000000000000" pitchFamily="50" charset="-128"/>
                        </a:rPr>
                        <a:t>Up to 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09333"/>
                  </a:ext>
                </a:extLst>
              </a:tr>
              <a:tr h="48367">
                <a:tc>
                  <a:txBody>
                    <a:bodyPr/>
                    <a:lstStyle/>
                    <a:p>
                      <a:pPr algn="ctr" fontAlgn="ctr"/>
                      <a:r>
                        <a:rPr lang="en-US" sz="900" b="1" i="0" u="none" strike="noStrike">
                          <a:solidFill>
                            <a:srgbClr val="000000"/>
                          </a:solidFill>
                          <a:effectLst/>
                          <a:latin typeface="Meiryo UI" panose="020B0604030504040204" pitchFamily="50" charset="-128"/>
                          <a:ea typeface="Meiryo UI" panose="020B0604030504040204" pitchFamily="50" charset="-128"/>
                        </a:rPr>
                        <a:t>Chipset PCIe 4.0 Lanes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Up to 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游ゴシック" panose="020B0400000000000000" pitchFamily="50" charset="-128"/>
                          <a:ea typeface="游ゴシック" panose="020B0400000000000000" pitchFamily="50" charset="-128"/>
                        </a:rPr>
                        <a:t>Up to 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Up to 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6889061"/>
                  </a:ext>
                </a:extLst>
              </a:tr>
              <a:tr h="55223">
                <a:tc>
                  <a:txBody>
                    <a:bodyPr/>
                    <a:lstStyle/>
                    <a:p>
                      <a:pPr algn="ctr" fontAlgn="ctr"/>
                      <a:r>
                        <a:rPr lang="en-US" sz="900" b="1" i="0" u="none" strike="noStrike" dirty="0">
                          <a:solidFill>
                            <a:srgbClr val="000000"/>
                          </a:solidFill>
                          <a:effectLst/>
                          <a:latin typeface="Meiryo UI" panose="020B0604030504040204" pitchFamily="50" charset="-128"/>
                          <a:ea typeface="Meiryo UI" panose="020B0604030504040204" pitchFamily="50" charset="-128"/>
                        </a:rPr>
                        <a:t>SATA 3.0 (6G) Ports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Up to 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游ゴシック" panose="020B0400000000000000" pitchFamily="50" charset="-128"/>
                          <a:ea typeface="游ゴシック" panose="020B0400000000000000" pitchFamily="50" charset="-128"/>
                        </a:rPr>
                        <a:t>Up to 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Up to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游ゴシック" panose="020B0400000000000000" pitchFamily="50" charset="-128"/>
                          <a:ea typeface="游ゴシック" panose="020B0400000000000000" pitchFamily="50" charset="-128"/>
                        </a:rPr>
                        <a:t>Up to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0307885"/>
                  </a:ext>
                </a:extLst>
              </a:tr>
              <a:tr h="0">
                <a:tc>
                  <a:txBody>
                    <a:bodyPr/>
                    <a:lstStyle/>
                    <a:p>
                      <a:pPr algn="ctr" fontAlgn="ctr"/>
                      <a:r>
                        <a:rPr lang="en-US" sz="900" b="1" i="1" u="none" strike="noStrike" dirty="0">
                          <a:solidFill>
                            <a:srgbClr val="000000"/>
                          </a:solidFill>
                          <a:effectLst/>
                          <a:latin typeface="Meiryo UI" panose="020B0604030504040204" pitchFamily="50" charset="-128"/>
                          <a:ea typeface="Meiryo UI" panose="020B0604030504040204" pitchFamily="50" charset="-128"/>
                        </a:rPr>
                        <a:t>USB2.0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8468142"/>
                  </a:ext>
                </a:extLst>
              </a:tr>
              <a:tr h="0">
                <a:tc>
                  <a:txBody>
                    <a:bodyPr/>
                    <a:lstStyle/>
                    <a:p>
                      <a:pPr algn="ctr" fontAlgn="ctr"/>
                      <a:r>
                        <a:rPr lang="en-US" sz="900" b="1" i="1" u="none" strike="noStrike">
                          <a:solidFill>
                            <a:srgbClr val="000000"/>
                          </a:solidFill>
                          <a:effectLst/>
                          <a:latin typeface="Meiryo UI" panose="020B0604030504040204" pitchFamily="50" charset="-128"/>
                          <a:ea typeface="Meiryo UI" panose="020B0604030504040204" pitchFamily="50" charset="-128"/>
                        </a:rPr>
                        <a:t>USB3 (20G) Capable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459948"/>
                  </a:ext>
                </a:extLst>
              </a:tr>
              <a:tr h="0">
                <a:tc>
                  <a:txBody>
                    <a:bodyPr/>
                    <a:lstStyle/>
                    <a:p>
                      <a:pPr algn="ctr" fontAlgn="ctr"/>
                      <a:r>
                        <a:rPr lang="en-US" sz="900" b="1" i="1" u="none" strike="noStrike">
                          <a:solidFill>
                            <a:srgbClr val="000000"/>
                          </a:solidFill>
                          <a:effectLst/>
                          <a:latin typeface="Meiryo UI" panose="020B0604030504040204" pitchFamily="50" charset="-128"/>
                          <a:ea typeface="Meiryo UI" panose="020B0604030504040204" pitchFamily="50" charset="-128"/>
                        </a:rPr>
                        <a:t>USB3 (10G) Capable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3797870"/>
                  </a:ext>
                </a:extLst>
              </a:tr>
              <a:tr h="0">
                <a:tc>
                  <a:txBody>
                    <a:bodyPr/>
                    <a:lstStyle/>
                    <a:p>
                      <a:pPr algn="ctr" fontAlgn="ctr"/>
                      <a:r>
                        <a:rPr lang="en-US" sz="900" b="1" i="1" u="none" strike="noStrike">
                          <a:solidFill>
                            <a:srgbClr val="000000"/>
                          </a:solidFill>
                          <a:effectLst/>
                          <a:latin typeface="Meiryo UI" panose="020B0604030504040204" pitchFamily="50" charset="-128"/>
                          <a:ea typeface="Meiryo UI" panose="020B0604030504040204" pitchFamily="50" charset="-128"/>
                        </a:rPr>
                        <a:t>USB3 (5G) Capable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800" b="1"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080376"/>
                  </a:ext>
                </a:extLst>
              </a:tr>
            </a:tbl>
          </a:graphicData>
        </a:graphic>
      </p:graphicFrame>
      <p:sp>
        <p:nvSpPr>
          <p:cNvPr id="7" name="テキスト ボックス 6">
            <a:extLst>
              <a:ext uri="{FF2B5EF4-FFF2-40B4-BE49-F238E27FC236}">
                <a16:creationId xmlns:a16="http://schemas.microsoft.com/office/drawing/2014/main" id="{388589DF-4DC4-48A3-8538-42BF20C1E70F}"/>
              </a:ext>
            </a:extLst>
          </p:cNvPr>
          <p:cNvSpPr txBox="1"/>
          <p:nvPr/>
        </p:nvSpPr>
        <p:spPr>
          <a:xfrm>
            <a:off x="3470960" y="4305535"/>
            <a:ext cx="5133487" cy="707886"/>
          </a:xfrm>
          <a:prstGeom prst="rect">
            <a:avLst/>
          </a:prstGeom>
          <a:noFill/>
        </p:spPr>
        <p:txBody>
          <a:bodyPr wrap="square" rtlCol="0">
            <a:spAutoFit/>
          </a:bodyPr>
          <a:lstStyle/>
          <a:p>
            <a:r>
              <a:rPr kumimoji="1" lang="ja-JP" altLang="en-US" sz="800" dirty="0">
                <a:latin typeface="メイリオ" panose="020B0604030504040204" pitchFamily="50" charset="-128"/>
                <a:ea typeface="メイリオ" panose="020B0604030504040204" pitchFamily="50" charset="-128"/>
              </a:rPr>
              <a:t>・他、</a:t>
            </a:r>
            <a:r>
              <a:rPr kumimoji="1" lang="en-US" altLang="ja-JP" sz="800" dirty="0">
                <a:latin typeface="メイリオ" panose="020B0604030504040204" pitchFamily="50" charset="-128"/>
                <a:ea typeface="メイリオ" panose="020B0604030504040204" pitchFamily="50" charset="-128"/>
              </a:rPr>
              <a:t>W980</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Q970</a:t>
            </a:r>
            <a:r>
              <a:rPr kumimoji="1" lang="ja-JP" altLang="en-US" sz="800" dirty="0">
                <a:latin typeface="メイリオ" panose="020B0604030504040204" pitchFamily="50" charset="-128"/>
                <a:ea typeface="メイリオ" panose="020B0604030504040204" pitchFamily="50" charset="-128"/>
              </a:rPr>
              <a:t>の予定あり</a:t>
            </a:r>
            <a:endParaRPr kumimoji="1" lang="en-US" altLang="ja-JP" sz="800" dirty="0">
              <a:latin typeface="メイリオ" panose="020B0604030504040204" pitchFamily="50" charset="-128"/>
              <a:ea typeface="メイリオ" panose="020B0604030504040204" pitchFamily="50" charset="-128"/>
            </a:endParaRPr>
          </a:p>
          <a:p>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Thunderbolt5</a:t>
            </a:r>
            <a:r>
              <a:rPr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PCIe 5.0 Lanes</a:t>
            </a:r>
            <a:r>
              <a:rPr kumimoji="1" lang="ja-JP" altLang="en-US" sz="800" dirty="0">
                <a:latin typeface="メイリオ" panose="020B0604030504040204" pitchFamily="50" charset="-128"/>
                <a:ea typeface="メイリオ" panose="020B0604030504040204" pitchFamily="50" charset="-128"/>
              </a:rPr>
              <a:t>の増加、</a:t>
            </a:r>
            <a:r>
              <a:rPr kumimoji="1" lang="en-US" altLang="ja-JP" sz="800" dirty="0">
                <a:latin typeface="メイリオ" panose="020B0604030504040204" pitchFamily="50" charset="-128"/>
                <a:ea typeface="メイリオ" panose="020B0604030504040204" pitchFamily="50" charset="-128"/>
              </a:rPr>
              <a:t>DMI</a:t>
            </a:r>
            <a:r>
              <a:rPr kumimoji="1" lang="ja-JP" altLang="en-US" sz="800" dirty="0">
                <a:latin typeface="メイリオ" panose="020B0604030504040204" pitchFamily="50" charset="-128"/>
                <a:ea typeface="メイリオ" panose="020B0604030504040204" pitchFamily="50" charset="-128"/>
              </a:rPr>
              <a:t> </a:t>
            </a:r>
            <a:r>
              <a:rPr kumimoji="1" lang="en-US" altLang="ja-JP" sz="800" dirty="0" err="1">
                <a:latin typeface="メイリオ" panose="020B0604030504040204" pitchFamily="50" charset="-128"/>
                <a:ea typeface="メイリオ" panose="020B0604030504040204" pitchFamily="50" charset="-128"/>
              </a:rPr>
              <a:t>Leanes</a:t>
            </a:r>
            <a:r>
              <a:rPr kumimoji="1" lang="ja-JP" altLang="en-US" sz="800" dirty="0">
                <a:latin typeface="メイリオ" panose="020B0604030504040204" pitchFamily="50" charset="-128"/>
                <a:ea typeface="メイリオ" panose="020B0604030504040204" pitchFamily="50" charset="-128"/>
              </a:rPr>
              <a:t>が</a:t>
            </a:r>
            <a:r>
              <a:rPr kumimoji="1" lang="en-US" altLang="ja-JP" sz="800" dirty="0">
                <a:latin typeface="メイリオ" panose="020B0604030504040204" pitchFamily="50" charset="-128"/>
                <a:ea typeface="メイリオ" panose="020B0604030504040204" pitchFamily="50" charset="-128"/>
              </a:rPr>
              <a:t>Gen5</a:t>
            </a:r>
            <a:r>
              <a:rPr kumimoji="1" lang="ja-JP" altLang="en-US" sz="800" dirty="0">
                <a:latin typeface="メイリオ" panose="020B0604030504040204" pitchFamily="50" charset="-128"/>
                <a:ea typeface="メイリオ" panose="020B0604030504040204" pitchFamily="50" charset="-128"/>
              </a:rPr>
              <a:t>化などアップデート部分は</a:t>
            </a:r>
            <a:r>
              <a:rPr kumimoji="1" lang="en-US" altLang="ja-JP" sz="800" dirty="0">
                <a:latin typeface="メイリオ" panose="020B0604030504040204" pitchFamily="50" charset="-128"/>
                <a:ea typeface="メイリオ" panose="020B0604030504040204" pitchFamily="50" charset="-128"/>
              </a:rPr>
              <a:t>Z/B</a:t>
            </a:r>
            <a:r>
              <a:rPr kumimoji="1" lang="ja-JP" altLang="en-US" sz="800" dirty="0">
                <a:latin typeface="メイリオ" panose="020B0604030504040204" pitchFamily="50" charset="-128"/>
                <a:ea typeface="メイリオ" panose="020B0604030504040204" pitchFamily="50" charset="-128"/>
              </a:rPr>
              <a:t>共通。</a:t>
            </a:r>
            <a:endParaRPr kumimoji="1" lang="en-US" altLang="ja-JP" sz="800" dirty="0">
              <a:latin typeface="メイリオ" panose="020B0604030504040204" pitchFamily="50" charset="-128"/>
              <a:ea typeface="メイリオ" panose="020B0604030504040204" pitchFamily="50" charset="-128"/>
            </a:endParaRPr>
          </a:p>
          <a:p>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TBP175W</a:t>
            </a:r>
            <a:r>
              <a:rPr lang="ja-JP" altLang="en-US" sz="800" dirty="0">
                <a:latin typeface="メイリオ" panose="020B0604030504040204" pitchFamily="50" charset="-128"/>
                <a:ea typeface="メイリオ" panose="020B0604030504040204" pitchFamily="50" charset="-128"/>
              </a:rPr>
              <a:t>対応</a:t>
            </a:r>
            <a:r>
              <a:rPr lang="en-US" altLang="ja-JP" sz="800" dirty="0">
                <a:latin typeface="メイリオ" panose="020B0604030504040204" pitchFamily="50" charset="-128"/>
                <a:ea typeface="メイリオ" panose="020B0604030504040204" pitchFamily="50" charset="-128"/>
              </a:rPr>
              <a:t>MB</a:t>
            </a:r>
            <a:r>
              <a:rPr lang="ja-JP" altLang="en-US" sz="800" dirty="0">
                <a:latin typeface="メイリオ" panose="020B0604030504040204" pitchFamily="50" charset="-128"/>
                <a:ea typeface="メイリオ" panose="020B0604030504040204" pitchFamily="50" charset="-128"/>
              </a:rPr>
              <a:t>については、電源周りシビアなためハイエンド</a:t>
            </a:r>
            <a:r>
              <a:rPr lang="en-US" altLang="ja-JP" sz="800" dirty="0">
                <a:latin typeface="メイリオ" panose="020B0604030504040204" pitchFamily="50" charset="-128"/>
                <a:ea typeface="メイリオ" panose="020B0604030504040204" pitchFamily="50" charset="-128"/>
              </a:rPr>
              <a:t>MB</a:t>
            </a:r>
            <a:r>
              <a:rPr lang="ja-JP" altLang="en-US" sz="800" dirty="0">
                <a:latin typeface="メイリオ" panose="020B0604030504040204" pitchFamily="50" charset="-128"/>
                <a:ea typeface="メイリオ" panose="020B0604030504040204" pitchFamily="50" charset="-128"/>
              </a:rPr>
              <a:t>に限られる予定。</a:t>
            </a:r>
            <a:endParaRPr kumimoji="1" lang="en-US" altLang="ja-JP" sz="800" dirty="0">
              <a:latin typeface="メイリオ" panose="020B0604030504040204" pitchFamily="50" charset="-128"/>
              <a:ea typeface="メイリオ" panose="020B0604030504040204" pitchFamily="50" charset="-128"/>
            </a:endParaRPr>
          </a:p>
          <a:p>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Z970</a:t>
            </a:r>
            <a:r>
              <a:rPr lang="ja-JP" altLang="en-US" sz="800" dirty="0">
                <a:latin typeface="メイリオ" panose="020B0604030504040204" pitchFamily="50" charset="-128"/>
                <a:ea typeface="メイリオ" panose="020B0604030504040204" pitchFamily="50" charset="-128"/>
              </a:rPr>
              <a:t>は</a:t>
            </a:r>
            <a:r>
              <a:rPr lang="en-US" altLang="ja-JP" sz="800" dirty="0">
                <a:latin typeface="メイリオ" panose="020B0604030504040204" pitchFamily="50" charset="-128"/>
                <a:ea typeface="メイリオ" panose="020B0604030504040204" pitchFamily="50" charset="-128"/>
              </a:rPr>
              <a:t>IA Overclocking</a:t>
            </a:r>
            <a:r>
              <a:rPr lang="ja-JP" altLang="en-US" sz="800" dirty="0">
                <a:latin typeface="メイリオ" panose="020B0604030504040204" pitchFamily="50" charset="-128"/>
                <a:ea typeface="メイリオ" panose="020B0604030504040204" pitchFamily="50" charset="-128"/>
              </a:rPr>
              <a:t>に対応した</a:t>
            </a:r>
            <a:r>
              <a:rPr lang="en-US" altLang="ja-JP" sz="800" dirty="0">
                <a:latin typeface="メイリオ" panose="020B0604030504040204" pitchFamily="50" charset="-128"/>
                <a:ea typeface="メイリオ" panose="020B0604030504040204" pitchFamily="50" charset="-128"/>
              </a:rPr>
              <a:t>B960</a:t>
            </a:r>
            <a:r>
              <a:rPr lang="ja-JP" altLang="en-US" sz="800" dirty="0">
                <a:latin typeface="メイリオ" panose="020B0604030504040204" pitchFamily="50" charset="-128"/>
                <a:ea typeface="メイリオ" panose="020B0604030504040204" pitchFamily="50" charset="-128"/>
              </a:rPr>
              <a:t>という位置付け　</a:t>
            </a:r>
            <a:r>
              <a:rPr lang="en-US" altLang="ja-JP" sz="800" dirty="0">
                <a:latin typeface="メイリオ" panose="020B0604030504040204" pitchFamily="50" charset="-128"/>
                <a:ea typeface="メイリオ" panose="020B0604030504040204" pitchFamily="50" charset="-128"/>
              </a:rPr>
              <a:t>I/O</a:t>
            </a:r>
            <a:r>
              <a:rPr lang="ja-JP" altLang="en-US" sz="800" dirty="0">
                <a:latin typeface="メイリオ" panose="020B0604030504040204" pitchFamily="50" charset="-128"/>
                <a:ea typeface="メイリオ" panose="020B0604030504040204" pitchFamily="50" charset="-128"/>
              </a:rPr>
              <a:t>周りは</a:t>
            </a:r>
            <a:r>
              <a:rPr lang="en-US" altLang="ja-JP" sz="800" dirty="0">
                <a:latin typeface="メイリオ" panose="020B0604030504040204" pitchFamily="50" charset="-128"/>
                <a:ea typeface="メイリオ" panose="020B0604030504040204" pitchFamily="50" charset="-128"/>
              </a:rPr>
              <a:t>B960</a:t>
            </a:r>
            <a:r>
              <a:rPr lang="ja-JP" altLang="en-US" sz="800" dirty="0">
                <a:latin typeface="メイリオ" panose="020B0604030504040204" pitchFamily="50" charset="-128"/>
                <a:ea typeface="メイリオ" panose="020B0604030504040204" pitchFamily="50" charset="-128"/>
              </a:rPr>
              <a:t>と同じ。</a:t>
            </a:r>
            <a:endParaRPr lang="en-US" altLang="ja-JP" sz="800" dirty="0">
              <a:latin typeface="メイリオ" panose="020B0604030504040204" pitchFamily="50" charset="-128"/>
              <a:ea typeface="メイリオ" panose="020B0604030504040204" pitchFamily="50" charset="-128"/>
            </a:endParaRPr>
          </a:p>
          <a:p>
            <a:r>
              <a:rPr kumimoji="1" lang="ja-JP" altLang="en-US" sz="800" dirty="0">
                <a:latin typeface="メイリオ" panose="020B0604030504040204" pitchFamily="50" charset="-128"/>
                <a:ea typeface="メイリオ" panose="020B0604030504040204" pitchFamily="50" charset="-128"/>
              </a:rPr>
              <a:t>　</a:t>
            </a:r>
            <a:r>
              <a:rPr kumimoji="1" lang="en-US" altLang="ja-JP" sz="800" dirty="0">
                <a:latin typeface="メイリオ" panose="020B0604030504040204" pitchFamily="50" charset="-128"/>
                <a:ea typeface="メイリオ" panose="020B0604030504040204" pitchFamily="50" charset="-128"/>
              </a:rPr>
              <a:t>Z970</a:t>
            </a:r>
            <a:r>
              <a:rPr lang="ja-JP" altLang="en-US" sz="800" dirty="0">
                <a:latin typeface="メイリオ" panose="020B0604030504040204" pitchFamily="50" charset="-128"/>
                <a:ea typeface="メイリオ" panose="020B0604030504040204" pitchFamily="50" charset="-128"/>
              </a:rPr>
              <a:t>は</a:t>
            </a:r>
            <a:r>
              <a:rPr lang="en-US" altLang="ja-JP" sz="800" dirty="0">
                <a:latin typeface="メイリオ" panose="020B0604030504040204" pitchFamily="50" charset="-128"/>
                <a:ea typeface="メイリオ" panose="020B0604030504040204" pitchFamily="50" charset="-128"/>
              </a:rPr>
              <a:t>Z990</a:t>
            </a:r>
            <a:r>
              <a:rPr lang="ja-JP" altLang="en-US" sz="800" dirty="0">
                <a:latin typeface="メイリオ" panose="020B0604030504040204" pitchFamily="50" charset="-128"/>
                <a:ea typeface="メイリオ" panose="020B0604030504040204" pitchFamily="50" charset="-128"/>
              </a:rPr>
              <a:t>より</a:t>
            </a:r>
            <a:r>
              <a:rPr kumimoji="1" lang="en-US" altLang="ja-JP" sz="800" dirty="0">
                <a:latin typeface="メイリオ" panose="020B0604030504040204" pitchFamily="50" charset="-128"/>
                <a:ea typeface="メイリオ" panose="020B0604030504040204" pitchFamily="50" charset="-128"/>
              </a:rPr>
              <a:t>B960</a:t>
            </a:r>
            <a:r>
              <a:rPr kumimoji="1" lang="ja-JP" altLang="en-US" sz="800" dirty="0">
                <a:latin typeface="メイリオ" panose="020B0604030504040204" pitchFamily="50" charset="-128"/>
                <a:ea typeface="メイリオ" panose="020B0604030504040204" pitchFamily="50" charset="-128"/>
              </a:rPr>
              <a:t>のハイエンドに近い位置付け（</a:t>
            </a:r>
            <a:r>
              <a:rPr kumimoji="1" lang="en-US" altLang="ja-JP" sz="800" dirty="0">
                <a:latin typeface="メイリオ" panose="020B0604030504040204" pitchFamily="50" charset="-128"/>
                <a:ea typeface="メイリオ" panose="020B0604030504040204" pitchFamily="50" charset="-128"/>
              </a:rPr>
              <a:t>Z970</a:t>
            </a:r>
            <a:r>
              <a:rPr kumimoji="1" lang="ja-JP" altLang="en-US" sz="800" dirty="0">
                <a:latin typeface="メイリオ" panose="020B0604030504040204" pitchFamily="50" charset="-128"/>
                <a:ea typeface="メイリオ" panose="020B0604030504040204" pitchFamily="50" charset="-128"/>
              </a:rPr>
              <a:t>のハイエンドは価格的に出にくくなる）</a:t>
            </a:r>
            <a:endParaRPr kumimoji="1" lang="en-US" altLang="ja-JP" sz="8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B7CA4605-D7F8-4817-BB62-79AAD2CB6ADF}"/>
              </a:ext>
            </a:extLst>
          </p:cNvPr>
          <p:cNvSpPr txBox="1"/>
          <p:nvPr/>
        </p:nvSpPr>
        <p:spPr>
          <a:xfrm>
            <a:off x="4932040" y="530338"/>
            <a:ext cx="3888432" cy="1569660"/>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2027 Q1</a:t>
            </a:r>
            <a:r>
              <a:rPr lang="ja-JP" altLang="en-US" sz="1200" dirty="0">
                <a:latin typeface="メイリオ" panose="020B0604030504040204" pitchFamily="50" charset="-128"/>
                <a:ea typeface="メイリオ" panose="020B0604030504040204" pitchFamily="50" charset="-128"/>
              </a:rPr>
              <a:t>見込み</a:t>
            </a:r>
            <a:r>
              <a:rPr lang="en-US" altLang="ja-JP" sz="1200" dirty="0">
                <a:latin typeface="メイリオ" panose="020B0604030504040204" pitchFamily="50" charset="-128"/>
                <a:ea typeface="メイリオ" panose="020B0604030504040204" pitchFamily="50" charset="-128"/>
              </a:rPr>
              <a:t>(28DS/24DS</a:t>
            </a:r>
            <a:r>
              <a:rPr lang="ja-JP" altLang="en-US" sz="1200" dirty="0">
                <a:latin typeface="メイリオ" panose="020B0604030504040204" pitchFamily="50" charset="-128"/>
                <a:ea typeface="メイリオ" panose="020B0604030504040204" pitchFamily="50" charset="-128"/>
              </a:rPr>
              <a:t>から開始</a:t>
            </a:r>
            <a:r>
              <a:rPr lang="en-US" altLang="ja-JP" sz="1200" dirty="0">
                <a:latin typeface="メイリオ" panose="020B0604030504040204" pitchFamily="50" charset="-128"/>
                <a:ea typeface="メイリオ" panose="020B0604030504040204" pitchFamily="50" charset="-128"/>
              </a:rPr>
              <a:t>)</a:t>
            </a:r>
          </a:p>
          <a:p>
            <a:r>
              <a:rPr kumimoji="1" lang="ja-JP" altLang="en-US" sz="1200" dirty="0">
                <a:latin typeface="メイリオ" panose="020B0604030504040204" pitchFamily="50" charset="-128"/>
                <a:ea typeface="メイリオ" panose="020B0604030504040204" pitchFamily="50" charset="-128"/>
              </a:rPr>
              <a:t>・最大</a:t>
            </a:r>
            <a:r>
              <a:rPr kumimoji="1" lang="en-US" altLang="ja-JP" sz="1200" dirty="0">
                <a:latin typeface="メイリオ" panose="020B0604030504040204" pitchFamily="50" charset="-128"/>
                <a:ea typeface="メイリオ" panose="020B0604030504040204" pitchFamily="50" charset="-128"/>
              </a:rPr>
              <a:t>52</a:t>
            </a:r>
            <a:r>
              <a:rPr kumimoji="1" lang="ja-JP" altLang="en-US" sz="1200" dirty="0">
                <a:latin typeface="メイリオ" panose="020B0604030504040204" pitchFamily="50" charset="-128"/>
                <a:ea typeface="メイリオ" panose="020B0604030504040204" pitchFamily="50" charset="-128"/>
              </a:rPr>
              <a:t>コア</a:t>
            </a:r>
            <a:endParaRPr kumimoji="1"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TBP(PL1) 35W-65W-125W-175W</a:t>
            </a:r>
          </a:p>
          <a:p>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Socket</a:t>
            </a:r>
            <a:r>
              <a:rPr lang="ja-JP" altLang="en-US" sz="1200" dirty="0">
                <a:latin typeface="メイリオ" panose="020B0604030504040204" pitchFamily="50" charset="-128"/>
                <a:ea typeface="メイリオ" panose="020B0604030504040204" pitchFamily="50" charset="-128"/>
              </a:rPr>
              <a:t>変更　</a:t>
            </a:r>
            <a:r>
              <a:rPr kumimoji="1" lang="en-US" altLang="ja-JP" sz="1200" dirty="0">
                <a:solidFill>
                  <a:schemeClr val="tx1"/>
                </a:solidFill>
                <a:latin typeface="メイリオ" panose="020B0604030504040204" pitchFamily="50" charset="-128"/>
                <a:ea typeface="メイリオ" panose="020B0604030504040204" pitchFamily="50" charset="-128"/>
              </a:rPr>
              <a:t>LGA1851</a:t>
            </a:r>
            <a:r>
              <a:rPr kumimoji="1" lang="ja-JP" altLang="en-US" sz="1200" dirty="0">
                <a:solidFill>
                  <a:schemeClr val="tx1"/>
                </a:solidFill>
                <a:latin typeface="メイリオ" panose="020B0604030504040204" pitchFamily="50" charset="-128"/>
                <a:ea typeface="メイリオ" panose="020B0604030504040204" pitchFamily="50" charset="-128"/>
              </a:rPr>
              <a:t>→</a:t>
            </a:r>
            <a:r>
              <a:rPr kumimoji="1" lang="en-US" altLang="ja-JP" sz="1200" dirty="0">
                <a:solidFill>
                  <a:schemeClr val="tx1"/>
                </a:solidFill>
                <a:latin typeface="メイリオ" panose="020B0604030504040204" pitchFamily="50" charset="-128"/>
                <a:ea typeface="メイリオ" panose="020B0604030504040204" pitchFamily="50" charset="-128"/>
              </a:rPr>
              <a:t>LGA1954</a:t>
            </a:r>
          </a:p>
          <a:p>
            <a:r>
              <a:rPr lang="ja-JP" altLang="en-US" sz="1200" dirty="0">
                <a:latin typeface="メイリオ" panose="020B0604030504040204" pitchFamily="50" charset="-128"/>
                <a:ea typeface="メイリオ" panose="020B0604030504040204" pitchFamily="50" charset="-128"/>
              </a:rPr>
              <a:t>・オンボード</a:t>
            </a:r>
            <a:r>
              <a:rPr lang="en-US" altLang="ja-JP" sz="1200" dirty="0">
                <a:latin typeface="メイリオ" panose="020B0604030504040204" pitchFamily="50" charset="-128"/>
                <a:ea typeface="メイリオ" panose="020B0604030504040204" pitchFamily="50" charset="-128"/>
              </a:rPr>
              <a:t>GPU Xe3 architecture</a:t>
            </a:r>
          </a:p>
          <a:p>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Up To DDR5-</a:t>
            </a:r>
            <a:r>
              <a:rPr kumimoji="1" lang="en-US" altLang="ja-JP" sz="1200" dirty="0">
                <a:solidFill>
                  <a:schemeClr val="tx1"/>
                </a:solidFill>
                <a:latin typeface="メイリオ" panose="020B0604030504040204" pitchFamily="50" charset="-128"/>
                <a:ea typeface="メイリオ" panose="020B0604030504040204" pitchFamily="50" charset="-128"/>
              </a:rPr>
              <a:t>8000 (</a:t>
            </a:r>
            <a:r>
              <a:rPr lang="en-US" altLang="ja-JP" sz="1200" dirty="0">
                <a:latin typeface="メイリオ" panose="020B0604030504040204" pitchFamily="50" charset="-128"/>
                <a:ea typeface="メイリオ" panose="020B0604030504040204" pitchFamily="50" charset="-128"/>
              </a:rPr>
              <a:t>CUDIMM/CSODIMM)</a:t>
            </a:r>
            <a:endParaRPr kumimoji="1" lang="en-US" altLang="ja-JP" sz="1200" dirty="0">
              <a:solidFill>
                <a:schemeClr val="tx1"/>
              </a:solidFill>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CPU</a:t>
            </a:r>
            <a:r>
              <a:rPr lang="ja-JP" altLang="en-US" sz="1200" dirty="0">
                <a:latin typeface="メイリオ" panose="020B0604030504040204" pitchFamily="50" charset="-128"/>
                <a:ea typeface="メイリオ" panose="020B0604030504040204" pitchFamily="50" charset="-128"/>
              </a:rPr>
              <a:t>クーラーは</a:t>
            </a:r>
            <a:r>
              <a:rPr lang="en-US" altLang="ja-JP" sz="1200" dirty="0">
                <a:latin typeface="メイリオ" panose="020B0604030504040204" pitchFamily="50" charset="-128"/>
                <a:ea typeface="メイリオ" panose="020B0604030504040204" pitchFamily="50" charset="-128"/>
              </a:rPr>
              <a:t>LGA1851</a:t>
            </a:r>
            <a:r>
              <a:rPr lang="ja-JP" altLang="en-US" sz="1200" dirty="0">
                <a:latin typeface="メイリオ" panose="020B0604030504040204" pitchFamily="50" charset="-128"/>
                <a:ea typeface="メイリオ" panose="020B0604030504040204" pitchFamily="50" charset="-128"/>
              </a:rPr>
              <a:t>と互換あり</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a:t>
            </a:r>
            <a:r>
              <a:rPr kumimoji="1" lang="en-US" altLang="ja-JP" sz="1200" b="1" dirty="0">
                <a:latin typeface="メイリオ" panose="020B0604030504040204" pitchFamily="50" charset="-128"/>
                <a:ea typeface="メイリオ" panose="020B0604030504040204" pitchFamily="50" charset="-128"/>
              </a:rPr>
              <a:t>DS=</a:t>
            </a:r>
            <a:r>
              <a:rPr kumimoji="1" lang="en-US" altLang="ja-JP" sz="1200" b="1" dirty="0" err="1">
                <a:latin typeface="メイリオ" panose="020B0604030504040204" pitchFamily="50" charset="-128"/>
                <a:ea typeface="メイリオ" panose="020B0604030504040204" pitchFamily="50" charset="-128"/>
              </a:rPr>
              <a:t>bLLC</a:t>
            </a:r>
            <a:r>
              <a:rPr kumimoji="1" lang="en-US" altLang="ja-JP" sz="1200" b="1" dirty="0">
                <a:latin typeface="メイリオ" panose="020B0604030504040204" pitchFamily="50" charset="-128"/>
                <a:ea typeface="メイリオ" panose="020B0604030504040204" pitchFamily="50" charset="-128"/>
              </a:rPr>
              <a:t>(Big Last Level Cache)</a:t>
            </a:r>
          </a:p>
        </p:txBody>
      </p:sp>
      <p:graphicFrame>
        <p:nvGraphicFramePr>
          <p:cNvPr id="9" name="表 4">
            <a:extLst>
              <a:ext uri="{FF2B5EF4-FFF2-40B4-BE49-F238E27FC236}">
                <a16:creationId xmlns:a16="http://schemas.microsoft.com/office/drawing/2014/main" id="{BBBA486F-31F1-4DD9-A44D-EE73C85E3755}"/>
              </a:ext>
            </a:extLst>
          </p:cNvPr>
          <p:cNvGraphicFramePr>
            <a:graphicFrameLocks noGrp="1"/>
          </p:cNvGraphicFramePr>
          <p:nvPr>
            <p:extLst>
              <p:ext uri="{D42A27DB-BD31-4B8C-83A1-F6EECF244321}">
                <p14:modId xmlns:p14="http://schemas.microsoft.com/office/powerpoint/2010/main" val="1943009795"/>
              </p:ext>
            </p:extLst>
          </p:nvPr>
        </p:nvGraphicFramePr>
        <p:xfrm>
          <a:off x="147794" y="626750"/>
          <a:ext cx="4638846" cy="1584960"/>
        </p:xfrm>
        <a:graphic>
          <a:graphicData uri="http://schemas.openxmlformats.org/drawingml/2006/table">
            <a:tbl>
              <a:tblPr firstRow="1" bandRow="1">
                <a:tableStyleId>{5940675A-B579-460E-94D1-54222C63F5DA}</a:tableStyleId>
              </a:tblPr>
              <a:tblGrid>
                <a:gridCol w="480759">
                  <a:extLst>
                    <a:ext uri="{9D8B030D-6E8A-4147-A177-3AD203B41FA5}">
                      <a16:colId xmlns:a16="http://schemas.microsoft.com/office/drawing/2014/main" val="1569159730"/>
                    </a:ext>
                  </a:extLst>
                </a:gridCol>
                <a:gridCol w="1106805">
                  <a:extLst>
                    <a:ext uri="{9D8B030D-6E8A-4147-A177-3AD203B41FA5}">
                      <a16:colId xmlns:a16="http://schemas.microsoft.com/office/drawing/2014/main" val="2268005974"/>
                    </a:ext>
                  </a:extLst>
                </a:gridCol>
                <a:gridCol w="930593">
                  <a:extLst>
                    <a:ext uri="{9D8B030D-6E8A-4147-A177-3AD203B41FA5}">
                      <a16:colId xmlns:a16="http://schemas.microsoft.com/office/drawing/2014/main" val="1948766236"/>
                    </a:ext>
                  </a:extLst>
                </a:gridCol>
                <a:gridCol w="1106805">
                  <a:extLst>
                    <a:ext uri="{9D8B030D-6E8A-4147-A177-3AD203B41FA5}">
                      <a16:colId xmlns:a16="http://schemas.microsoft.com/office/drawing/2014/main" val="1040040063"/>
                    </a:ext>
                  </a:extLst>
                </a:gridCol>
                <a:gridCol w="1013884">
                  <a:extLst>
                    <a:ext uri="{9D8B030D-6E8A-4147-A177-3AD203B41FA5}">
                      <a16:colId xmlns:a16="http://schemas.microsoft.com/office/drawing/2014/main" val="1661554075"/>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t>SKU</a:t>
                      </a:r>
                      <a:endParaRPr lang="en-US" altLang="ja-JP" sz="1200">
                        <a:latin typeface="メイリオ"/>
                        <a:ea typeface="メイリオ"/>
                        <a:cs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65W</a:t>
                      </a:r>
                      <a:endParaRPr lang="en-US" altLang="ja-JP" sz="1200" dirty="0">
                        <a:latin typeface="メイリオ"/>
                        <a:ea typeface="メイリオ"/>
                        <a:cs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125W</a:t>
                      </a:r>
                      <a:endParaRPr lang="en-US" altLang="ja-JP" sz="1200" dirty="0">
                        <a:latin typeface="メイリオ"/>
                        <a:ea typeface="メイリオ"/>
                        <a:cs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125W</a:t>
                      </a:r>
                      <a:endParaRPr lang="en-US" altLang="ja-JP" sz="1200" dirty="0">
                        <a:latin typeface="メイリオ"/>
                        <a:ea typeface="メイリオ"/>
                        <a:cs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175W</a:t>
                      </a:r>
                      <a:endParaRPr lang="en-US" altLang="ja-JP" sz="1200" dirty="0">
                        <a:latin typeface="メイリオ"/>
                        <a:ea typeface="メイリオ"/>
                        <a:cs typeface="+mn-lt"/>
                      </a:endParaRPr>
                    </a:p>
                  </a:txBody>
                  <a:tcPr/>
                </a:tc>
                <a:extLst>
                  <a:ext uri="{0D108BD9-81ED-4DB2-BD59-A6C34878D82A}">
                    <a16:rowId xmlns:a16="http://schemas.microsoft.com/office/drawing/2014/main" val="3750488782"/>
                  </a:ext>
                </a:extLst>
              </a:tr>
              <a:tr h="0">
                <a:tc>
                  <a:txBody>
                    <a:bodyPr/>
                    <a:lstStyle/>
                    <a:p>
                      <a:r>
                        <a:rPr kumimoji="1" lang="en-US" altLang="ja-JP" sz="800" dirty="0"/>
                        <a:t>UX</a:t>
                      </a:r>
                      <a:endParaRPr kumimoji="1" lang="ja-JP" altLang="en-US" sz="800" dirty="0">
                        <a:latin typeface="+mn-ea"/>
                        <a:ea typeface="+mn-ea"/>
                      </a:endParaRPr>
                    </a:p>
                  </a:txBody>
                  <a:tcPr/>
                </a:tc>
                <a:tc>
                  <a:txBody>
                    <a:bodyPr/>
                    <a:lstStyle/>
                    <a:p>
                      <a:endParaRPr kumimoji="1" lang="ja-JP" altLang="en-US" sz="800">
                        <a:latin typeface="+mn-ea"/>
                        <a:ea typeface="+mn-ea"/>
                      </a:endParaRPr>
                    </a:p>
                  </a:txBody>
                  <a:tcPr/>
                </a:tc>
                <a:tc>
                  <a:txBody>
                    <a:bodyPr/>
                    <a:lstStyle/>
                    <a:p>
                      <a:endParaRPr kumimoji="1" lang="en-US" altLang="ja-JP" sz="800">
                        <a:latin typeface="+mn-ea"/>
                        <a:ea typeface="+mn-ea"/>
                      </a:endParaRPr>
                    </a:p>
                  </a:txBody>
                  <a:tcPr/>
                </a:tc>
                <a:tc>
                  <a:txBody>
                    <a:bodyPr/>
                    <a:lstStyle/>
                    <a:p>
                      <a:endParaRPr kumimoji="1" lang="ja-JP" altLang="en-US" sz="800">
                        <a:latin typeface="+mn-ea"/>
                        <a:ea typeface="+mn-ea"/>
                      </a:endParaRPr>
                    </a:p>
                  </a:txBody>
                  <a:tcPr/>
                </a:tc>
                <a:tc>
                  <a:txBody>
                    <a:bodyPr/>
                    <a:lstStyle/>
                    <a:p>
                      <a:r>
                        <a:rPr kumimoji="1" lang="en-US" altLang="ja-JP" sz="800" dirty="0"/>
                        <a:t>52C DS</a:t>
                      </a:r>
                      <a:r>
                        <a:rPr kumimoji="1" lang="ja-JP" altLang="en-US" sz="800" dirty="0"/>
                        <a:t>　</a:t>
                      </a:r>
                      <a:r>
                        <a:rPr kumimoji="1" lang="en-US" altLang="ja-JP" sz="800" dirty="0"/>
                        <a:t>2×8+16+4</a:t>
                      </a:r>
                    </a:p>
                    <a:p>
                      <a:r>
                        <a:rPr kumimoji="1" lang="en-US" altLang="ja-JP" sz="800" dirty="0"/>
                        <a:t>44C DS</a:t>
                      </a:r>
                      <a:r>
                        <a:rPr kumimoji="1" lang="ja-JP" altLang="en-US" sz="800" dirty="0"/>
                        <a:t>　</a:t>
                      </a:r>
                      <a:r>
                        <a:rPr kumimoji="1" lang="en-US" altLang="ja-JP" sz="800" dirty="0"/>
                        <a:t>2×8+12+4</a:t>
                      </a:r>
                      <a:endParaRPr kumimoji="1" lang="ja-JP" altLang="en-US" sz="800" dirty="0">
                        <a:latin typeface="+mn-ea"/>
                        <a:ea typeface="+mn-ea"/>
                      </a:endParaRPr>
                    </a:p>
                  </a:txBody>
                  <a:tcPr/>
                </a:tc>
                <a:extLst>
                  <a:ext uri="{0D108BD9-81ED-4DB2-BD59-A6C34878D82A}">
                    <a16:rowId xmlns:a16="http://schemas.microsoft.com/office/drawing/2014/main" val="1857027984"/>
                  </a:ext>
                </a:extLst>
              </a:tr>
              <a:tr h="0">
                <a:tc>
                  <a:txBody>
                    <a:bodyPr/>
                    <a:lstStyle/>
                    <a:p>
                      <a:r>
                        <a:rPr kumimoji="1" lang="en-US" altLang="ja-JP" sz="800"/>
                        <a:t>U9</a:t>
                      </a:r>
                      <a:endParaRPr kumimoji="1" lang="ja-JP" altLang="en-US" sz="800">
                        <a:latin typeface="+mn-ea"/>
                        <a:ea typeface="+mn-ea"/>
                      </a:endParaRPr>
                    </a:p>
                  </a:txBody>
                  <a:tcPr/>
                </a:tc>
                <a:tc>
                  <a:txBody>
                    <a:bodyPr/>
                    <a:lstStyle/>
                    <a:p>
                      <a:r>
                        <a:rPr kumimoji="1" lang="en-US" altLang="ja-JP" sz="800" dirty="0"/>
                        <a:t>22C</a:t>
                      </a:r>
                      <a:r>
                        <a:rPr kumimoji="1" lang="ja-JP" altLang="en-US" sz="800" dirty="0"/>
                        <a:t> </a:t>
                      </a:r>
                      <a:r>
                        <a:rPr kumimoji="1" lang="en-US" altLang="ja-JP" sz="800" dirty="0"/>
                        <a:t>DS</a:t>
                      </a:r>
                      <a:r>
                        <a:rPr kumimoji="1" lang="ja-JP" altLang="en-US" sz="800" dirty="0"/>
                        <a:t>　</a:t>
                      </a:r>
                      <a:r>
                        <a:rPr kumimoji="1" lang="en-US" altLang="ja-JP" sz="800" dirty="0"/>
                        <a:t>6+12+4</a:t>
                      </a:r>
                      <a:endParaRPr kumimoji="1" lang="ja-JP" altLang="en-US" sz="800" dirty="0">
                        <a:latin typeface="+mn-ea"/>
                        <a:ea typeface="+mn-ea"/>
                      </a:endParaRPr>
                    </a:p>
                  </a:txBody>
                  <a:tcPr/>
                </a:tc>
                <a:tc>
                  <a:txBody>
                    <a:bodyPr/>
                    <a:lstStyle/>
                    <a:p>
                      <a:r>
                        <a:rPr kumimoji="1" lang="en-US" altLang="ja-JP" sz="800" dirty="0"/>
                        <a:t>28C</a:t>
                      </a:r>
                      <a:r>
                        <a:rPr kumimoji="1" lang="ja-JP" altLang="en-US" sz="800" dirty="0"/>
                        <a:t>　</a:t>
                      </a:r>
                      <a:r>
                        <a:rPr kumimoji="1" lang="en-US" altLang="ja-JP" sz="800" dirty="0"/>
                        <a:t>8+16+4</a:t>
                      </a:r>
                      <a:endParaRPr kumimoji="1" lang="en-US" altLang="ja-JP" sz="800" dirty="0">
                        <a:latin typeface="+mn-ea"/>
                        <a:ea typeface="+mn-ea"/>
                      </a:endParaRPr>
                    </a:p>
                  </a:txBody>
                  <a:tcPr/>
                </a:tc>
                <a:tc>
                  <a:txBody>
                    <a:bodyPr/>
                    <a:lstStyle/>
                    <a:p>
                      <a:r>
                        <a:rPr kumimoji="1" lang="en-US" altLang="ja-JP" sz="800" dirty="0"/>
                        <a:t>28C DS</a:t>
                      </a:r>
                      <a:r>
                        <a:rPr kumimoji="1" lang="ja-JP" altLang="en-US" sz="800" dirty="0"/>
                        <a:t>　</a:t>
                      </a:r>
                      <a:r>
                        <a:rPr kumimoji="1" lang="en-US" altLang="ja-JP" sz="800" dirty="0"/>
                        <a:t>8+16+4</a:t>
                      </a:r>
                      <a:endParaRPr kumimoji="1" lang="ja-JP" altLang="en-US" sz="800" dirty="0">
                        <a:latin typeface="+mn-ea"/>
                        <a:ea typeface="+mn-ea"/>
                      </a:endParaRPr>
                    </a:p>
                  </a:txBody>
                  <a:tcPr/>
                </a:tc>
                <a:tc>
                  <a:txBody>
                    <a:bodyPr/>
                    <a:lstStyle/>
                    <a:p>
                      <a:endParaRPr kumimoji="1" lang="ja-JP" altLang="en-US" sz="800" dirty="0">
                        <a:latin typeface="+mn-ea"/>
                        <a:ea typeface="+mn-ea"/>
                      </a:endParaRPr>
                    </a:p>
                  </a:txBody>
                  <a:tcPr/>
                </a:tc>
                <a:extLst>
                  <a:ext uri="{0D108BD9-81ED-4DB2-BD59-A6C34878D82A}">
                    <a16:rowId xmlns:a16="http://schemas.microsoft.com/office/drawing/2014/main" val="316009601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a:t>U7</a:t>
                      </a:r>
                      <a:endParaRPr kumimoji="1" lang="ja-JP" altLang="en-US" sz="800">
                        <a:latin typeface="+mn-ea"/>
                        <a:ea typeface="+mn-ea"/>
                      </a:endParaRPr>
                    </a:p>
                  </a:txBody>
                  <a:tcPr/>
                </a:tc>
                <a:tc>
                  <a:txBody>
                    <a:bodyPr/>
                    <a:lstStyle/>
                    <a:p>
                      <a:r>
                        <a:rPr kumimoji="1" lang="en-US" altLang="ja-JP" sz="800" dirty="0"/>
                        <a:t>16C</a:t>
                      </a:r>
                      <a:r>
                        <a:rPr kumimoji="1" lang="ja-JP" altLang="en-US" sz="800" dirty="0"/>
                        <a:t>　</a:t>
                      </a:r>
                      <a:r>
                        <a:rPr kumimoji="1" lang="en-US" altLang="ja-JP" sz="800" dirty="0"/>
                        <a:t>4+8+4</a:t>
                      </a:r>
                      <a:endParaRPr kumimoji="1" lang="ja-JP" altLang="en-US" sz="8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dirty="0"/>
                        <a:t>24C</a:t>
                      </a:r>
                      <a:r>
                        <a:rPr kumimoji="1" lang="ja-JP" altLang="en-US" sz="800" dirty="0"/>
                        <a:t>　</a:t>
                      </a:r>
                      <a:r>
                        <a:rPr kumimoji="1" lang="en-US" altLang="ja-JP" sz="800" dirty="0"/>
                        <a:t>8+12+4</a:t>
                      </a:r>
                      <a:endParaRPr kumimoji="1" lang="ja-JP" altLang="en-US" sz="8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a:t>24C DS</a:t>
                      </a:r>
                      <a:r>
                        <a:rPr kumimoji="1" lang="ja-JP" altLang="en-US" sz="800"/>
                        <a:t>　</a:t>
                      </a:r>
                      <a:r>
                        <a:rPr kumimoji="1" lang="en-US" altLang="ja-JP" sz="800"/>
                        <a:t>8+12+4</a:t>
                      </a:r>
                      <a:endParaRPr kumimoji="1" lang="ja-JP" altLang="en-US" sz="80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a:latin typeface="+mn-ea"/>
                        <a:ea typeface="+mn-ea"/>
                      </a:endParaRPr>
                    </a:p>
                  </a:txBody>
                  <a:tcPr/>
                </a:tc>
                <a:extLst>
                  <a:ext uri="{0D108BD9-81ED-4DB2-BD59-A6C34878D82A}">
                    <a16:rowId xmlns:a16="http://schemas.microsoft.com/office/drawing/2014/main" val="1787303789"/>
                  </a:ext>
                </a:extLst>
              </a:tr>
              <a:tr h="0">
                <a:tc>
                  <a:txBody>
                    <a:bodyPr/>
                    <a:lstStyle/>
                    <a:p>
                      <a:r>
                        <a:rPr kumimoji="1" lang="en-US" altLang="ja-JP" sz="800"/>
                        <a:t>U5</a:t>
                      </a:r>
                      <a:endParaRPr kumimoji="1" lang="en-US" altLang="ja-JP" sz="80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dirty="0"/>
                        <a:t>12C</a:t>
                      </a:r>
                      <a:r>
                        <a:rPr kumimoji="1" lang="ja-JP" altLang="en-US" sz="800" dirty="0"/>
                        <a:t>　</a:t>
                      </a:r>
                      <a:r>
                        <a:rPr kumimoji="1" lang="en-US" altLang="ja-JP" sz="800" dirty="0"/>
                        <a:t>4+4+4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dirty="0"/>
                        <a:t>8C</a:t>
                      </a:r>
                      <a:r>
                        <a:rPr kumimoji="1" lang="ja-JP" altLang="en-US" sz="800" dirty="0"/>
                        <a:t>　</a:t>
                      </a:r>
                      <a:r>
                        <a:rPr kumimoji="1" lang="en-US" altLang="ja-JP" sz="800" dirty="0"/>
                        <a:t>4+0+4</a:t>
                      </a:r>
                      <a:endParaRPr kumimoji="1" lang="ja-JP" altLang="en-US" sz="8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prstClr val="black"/>
                          </a:solidFill>
                          <a:effectLst/>
                          <a:uLnTx/>
                          <a:uFillTx/>
                        </a:rPr>
                        <a:t>22C</a:t>
                      </a:r>
                      <a:r>
                        <a:rPr kumimoji="1" lang="ja-JP" altLang="en-US" sz="800" b="0" u="none" strike="noStrike" kern="1200" cap="none" spc="0" normalizeH="0" baseline="0" noProof="0" dirty="0">
                          <a:ln>
                            <a:noFill/>
                          </a:ln>
                          <a:solidFill>
                            <a:prstClr val="black"/>
                          </a:solidFill>
                          <a:effectLst/>
                          <a:uLnTx/>
                          <a:uFillTx/>
                        </a:rPr>
                        <a:t>　</a:t>
                      </a:r>
                      <a:r>
                        <a:rPr kumimoji="1" lang="en-US" altLang="ja-JP" sz="800" b="0" u="none" strike="noStrike" kern="1200" cap="none" spc="0" normalizeH="0" baseline="0" noProof="0" dirty="0">
                          <a:ln>
                            <a:noFill/>
                          </a:ln>
                          <a:solidFill>
                            <a:prstClr val="black"/>
                          </a:solidFill>
                          <a:effectLst/>
                          <a:uLnTx/>
                          <a:uFillTx/>
                        </a:rPr>
                        <a:t>6+12+4</a:t>
                      </a:r>
                      <a:endParaRPr kumimoji="1" lang="ja-JP" altLang="en-US" sz="800" b="0" i="0" u="none" strike="noStrike" kern="1200" cap="none" spc="0" normalizeH="0" baseline="0" noProof="0" dirty="0">
                        <a:ln>
                          <a:noFill/>
                        </a:ln>
                        <a:solidFill>
                          <a:prstClr val="black"/>
                        </a:solidFill>
                        <a:effectLst/>
                        <a:uLnTx/>
                        <a:uFillTx/>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prstClr val="black"/>
                        </a:solidFill>
                        <a:effectLst/>
                        <a:uLnTx/>
                        <a:uFillTx/>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prstClr val="black"/>
                        </a:solidFill>
                        <a:effectLst/>
                        <a:uLnTx/>
                        <a:uFillTx/>
                        <a:latin typeface="+mn-ea"/>
                        <a:ea typeface="+mn-ea"/>
                        <a:cs typeface="+mn-cs"/>
                      </a:endParaRPr>
                    </a:p>
                  </a:txBody>
                  <a:tcPr/>
                </a:tc>
                <a:extLst>
                  <a:ext uri="{0D108BD9-81ED-4DB2-BD59-A6C34878D82A}">
                    <a16:rowId xmlns:a16="http://schemas.microsoft.com/office/drawing/2014/main" val="1810658897"/>
                  </a:ext>
                </a:extLst>
              </a:tr>
              <a:tr h="0">
                <a:tc>
                  <a:txBody>
                    <a:bodyPr/>
                    <a:lstStyle/>
                    <a:p>
                      <a:r>
                        <a:rPr kumimoji="1" lang="en-US" altLang="ja-JP" sz="800"/>
                        <a:t>U3</a:t>
                      </a:r>
                      <a:endParaRPr kumimoji="1" lang="en-US" altLang="ja-JP" sz="80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a:t>6C</a:t>
                      </a:r>
                      <a:r>
                        <a:rPr kumimoji="1" lang="ja-JP" altLang="en-US" sz="800"/>
                        <a:t>　</a:t>
                      </a:r>
                      <a:r>
                        <a:rPr kumimoji="1" lang="en-US" altLang="ja-JP" sz="800"/>
                        <a:t>2+0+4</a:t>
                      </a:r>
                      <a:endParaRPr kumimoji="1" lang="ja-JP" altLang="en-US" sz="80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a:ln>
                          <a:noFill/>
                        </a:ln>
                        <a:solidFill>
                          <a:prstClr val="black"/>
                        </a:solidFill>
                        <a:effectLst/>
                        <a:uLnTx/>
                        <a:uFillTx/>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prstClr val="black"/>
                        </a:solidFill>
                        <a:effectLst/>
                        <a:uLnTx/>
                        <a:uFillTx/>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prstClr val="black"/>
                        </a:solidFill>
                        <a:effectLst/>
                        <a:uLnTx/>
                        <a:uFillTx/>
                        <a:latin typeface="+mn-ea"/>
                        <a:ea typeface="+mn-ea"/>
                        <a:cs typeface="+mn-cs"/>
                      </a:endParaRPr>
                    </a:p>
                  </a:txBody>
                  <a:tcPr/>
                </a:tc>
                <a:extLst>
                  <a:ext uri="{0D108BD9-81ED-4DB2-BD59-A6C34878D82A}">
                    <a16:rowId xmlns:a16="http://schemas.microsoft.com/office/drawing/2014/main" val="930488048"/>
                  </a:ext>
                </a:extLst>
              </a:tr>
            </a:tbl>
          </a:graphicData>
        </a:graphic>
      </p:graphicFrame>
      <p:sp>
        <p:nvSpPr>
          <p:cNvPr id="5" name="テキスト ボックス 4">
            <a:extLst>
              <a:ext uri="{FF2B5EF4-FFF2-40B4-BE49-F238E27FC236}">
                <a16:creationId xmlns:a16="http://schemas.microsoft.com/office/drawing/2014/main" id="{5D41D587-EC51-44C5-83E1-17241ADC6EDD}"/>
              </a:ext>
            </a:extLst>
          </p:cNvPr>
          <p:cNvSpPr txBox="1"/>
          <p:nvPr/>
        </p:nvSpPr>
        <p:spPr>
          <a:xfrm>
            <a:off x="1475656" y="950048"/>
            <a:ext cx="2232248" cy="1015663"/>
          </a:xfrm>
          <a:prstGeom prst="rect">
            <a:avLst/>
          </a:prstGeom>
          <a:noFill/>
        </p:spPr>
        <p:txBody>
          <a:bodyPr wrap="square" rtlCol="0">
            <a:spAutoFit/>
          </a:bodyPr>
          <a:lstStyle/>
          <a:p>
            <a:r>
              <a:rPr lang="ja-JP" altLang="en-US" sz="6000" dirty="0">
                <a:solidFill>
                  <a:srgbClr val="FF0000"/>
                </a:solidFill>
              </a:rPr>
              <a:t>仮</a:t>
            </a:r>
            <a:r>
              <a:rPr lang="en-US" altLang="ja-JP" sz="6000" dirty="0">
                <a:solidFill>
                  <a:srgbClr val="FF0000"/>
                </a:solidFill>
              </a:rPr>
              <a:t>SKU</a:t>
            </a:r>
            <a:endParaRPr kumimoji="1" lang="ja-JP" altLang="en-US" sz="6000" dirty="0">
              <a:solidFill>
                <a:srgbClr val="FF0000"/>
              </a:solidFill>
            </a:endParaRPr>
          </a:p>
        </p:txBody>
      </p:sp>
    </p:spTree>
    <p:extLst>
      <p:ext uri="{BB962C8B-B14F-4D97-AF65-F5344CB8AC3E}">
        <p14:creationId xmlns:p14="http://schemas.microsoft.com/office/powerpoint/2010/main" val="1813910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3F38BC-C931-4189-97EA-DF8E6FA6EE74}"/>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ja-JP" altLang="en-US" dirty="0">
                <a:latin typeface="メイリオ" panose="020B0604030504040204" pitchFamily="50" charset="-128"/>
                <a:ea typeface="メイリオ" panose="020B0604030504040204" pitchFamily="50" charset="-128"/>
              </a:rPr>
              <a:t>採用予定品　</a:t>
            </a:r>
            <a:r>
              <a:rPr lang="en-US" altLang="ja-JP" dirty="0">
                <a:latin typeface="メイリオ" panose="020B0604030504040204" pitchFamily="50" charset="-128"/>
                <a:ea typeface="メイリオ" panose="020B0604030504040204" pitchFamily="50" charset="-128"/>
              </a:rPr>
              <a:t>Raptor Lake</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Next</a:t>
            </a:r>
            <a:r>
              <a:rPr lang="ja-JP" altLang="en-US" dirty="0">
                <a:latin typeface="メイリオ" panose="020B0604030504040204" pitchFamily="50" charset="-128"/>
                <a:ea typeface="メイリオ" panose="020B0604030504040204" pitchFamily="50" charset="-128"/>
              </a:rPr>
              <a:t>関連</a:t>
            </a:r>
            <a:endParaRPr lang="en-US" altLang="ja-JP"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478BC6B3-C1A7-4A2C-A40E-489758ECCF94}"/>
              </a:ext>
            </a:extLst>
          </p:cNvPr>
          <p:cNvSpPr>
            <a:spLocks noGrp="1"/>
          </p:cNvSpPr>
          <p:nvPr>
            <p:ph type="sldNum" sz="quarter" idx="12"/>
          </p:nvPr>
        </p:nvSpPr>
        <p:spPr/>
        <p:txBody>
          <a:bodyPr/>
          <a:lstStyle/>
          <a:p>
            <a:fld id="{F9DFCEB9-CAE4-4F3C-93D0-85C4724A0355}" type="slidenum">
              <a:rPr kumimoji="1" lang="ja-JP" altLang="en-US" smtClean="0"/>
              <a:t>40</a:t>
            </a:fld>
            <a:endParaRPr kumimoji="1" lang="ja-JP" altLang="en-US"/>
          </a:p>
        </p:txBody>
      </p:sp>
      <p:graphicFrame>
        <p:nvGraphicFramePr>
          <p:cNvPr id="18" name="表 7">
            <a:extLst>
              <a:ext uri="{FF2B5EF4-FFF2-40B4-BE49-F238E27FC236}">
                <a16:creationId xmlns:a16="http://schemas.microsoft.com/office/drawing/2014/main" id="{D32F8F91-DD9F-4FC7-89D7-B69DF6B79E2F}"/>
              </a:ext>
            </a:extLst>
          </p:cNvPr>
          <p:cNvGraphicFramePr>
            <a:graphicFrameLocks noGrp="1"/>
          </p:cNvGraphicFramePr>
          <p:nvPr>
            <p:extLst>
              <p:ext uri="{D42A27DB-BD31-4B8C-83A1-F6EECF244321}">
                <p14:modId xmlns:p14="http://schemas.microsoft.com/office/powerpoint/2010/main" val="826086251"/>
              </p:ext>
            </p:extLst>
          </p:nvPr>
        </p:nvGraphicFramePr>
        <p:xfrm>
          <a:off x="107504" y="596390"/>
          <a:ext cx="4610937" cy="1793826"/>
        </p:xfrm>
        <a:graphic>
          <a:graphicData uri="http://schemas.openxmlformats.org/drawingml/2006/table">
            <a:tbl>
              <a:tblPr firstRow="1" bandRow="1">
                <a:tableStyleId>{5940675A-B579-460E-94D1-54222C63F5DA}</a:tableStyleId>
              </a:tblPr>
              <a:tblGrid>
                <a:gridCol w="1078080">
                  <a:extLst>
                    <a:ext uri="{9D8B030D-6E8A-4147-A177-3AD203B41FA5}">
                      <a16:colId xmlns:a16="http://schemas.microsoft.com/office/drawing/2014/main" val="948257379"/>
                    </a:ext>
                  </a:extLst>
                </a:gridCol>
                <a:gridCol w="947905">
                  <a:extLst>
                    <a:ext uri="{9D8B030D-6E8A-4147-A177-3AD203B41FA5}">
                      <a16:colId xmlns:a16="http://schemas.microsoft.com/office/drawing/2014/main" val="3989152931"/>
                    </a:ext>
                  </a:extLst>
                </a:gridCol>
                <a:gridCol w="255755">
                  <a:extLst>
                    <a:ext uri="{9D8B030D-6E8A-4147-A177-3AD203B41FA5}">
                      <a16:colId xmlns:a16="http://schemas.microsoft.com/office/drawing/2014/main" val="1041282615"/>
                    </a:ext>
                  </a:extLst>
                </a:gridCol>
                <a:gridCol w="1228892">
                  <a:extLst>
                    <a:ext uri="{9D8B030D-6E8A-4147-A177-3AD203B41FA5}">
                      <a16:colId xmlns:a16="http://schemas.microsoft.com/office/drawing/2014/main" val="552476039"/>
                    </a:ext>
                  </a:extLst>
                </a:gridCol>
                <a:gridCol w="1100305">
                  <a:extLst>
                    <a:ext uri="{9D8B030D-6E8A-4147-A177-3AD203B41FA5}">
                      <a16:colId xmlns:a16="http://schemas.microsoft.com/office/drawing/2014/main" val="3968132228"/>
                    </a:ext>
                  </a:extLst>
                </a:gridCol>
              </a:tblGrid>
              <a:tr h="281849">
                <a:tc>
                  <a:txBody>
                    <a:bodyP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RPL-S R</a:t>
                      </a:r>
                    </a:p>
                    <a:p>
                      <a:pPr algn="ctr"/>
                      <a:r>
                        <a:rPr kumimoji="1" lang="en-US" altLang="ja-JP" sz="800" b="1" dirty="0">
                          <a:solidFill>
                            <a:schemeClr val="tx1"/>
                          </a:solidFill>
                          <a:latin typeface="メイリオ" panose="020B0604030504040204" pitchFamily="50" charset="-128"/>
                          <a:ea typeface="メイリオ" panose="020B0604030504040204" pitchFamily="50" charset="-128"/>
                        </a:rPr>
                        <a:t>(Raptor</a:t>
                      </a:r>
                      <a:r>
                        <a:rPr kumimoji="1" lang="ja-JP" altLang="en-US" sz="800" b="1" dirty="0">
                          <a:solidFill>
                            <a:schemeClr val="tx1"/>
                          </a:solidFill>
                          <a:latin typeface="メイリオ" panose="020B0604030504040204" pitchFamily="50" charset="-128"/>
                          <a:ea typeface="メイリオ" panose="020B0604030504040204" pitchFamily="50" charset="-128"/>
                        </a:rPr>
                        <a:t> </a:t>
                      </a:r>
                      <a:r>
                        <a:rPr kumimoji="1" lang="en-US" altLang="ja-JP" sz="800" b="1" dirty="0">
                          <a:solidFill>
                            <a:schemeClr val="tx1"/>
                          </a:solidFill>
                          <a:latin typeface="メイリオ" panose="020B0604030504040204" pitchFamily="50" charset="-128"/>
                          <a:ea typeface="メイリオ" panose="020B0604030504040204" pitchFamily="50" charset="-128"/>
                        </a:rPr>
                        <a:t>Lake R)</a:t>
                      </a:r>
                      <a:endParaRPr kumimoji="1" lang="en-US" altLang="ja-JP" sz="1000" b="1" dirty="0">
                        <a:solidFill>
                          <a:schemeClr val="tx1"/>
                        </a:solidFill>
                        <a:latin typeface="メイリオ" panose="020B0604030504040204" pitchFamily="50" charset="-128"/>
                        <a:ea typeface="メイリオ" panose="020B0604030504040204" pitchFamily="50" charset="-128"/>
                      </a:endParaRPr>
                    </a:p>
                  </a:txBody>
                  <a:tcPr marL="59615" marR="59615" marT="29807" marB="29807" anchor="ctr">
                    <a:noFill/>
                  </a:tcPr>
                </a:tc>
                <a:tc>
                  <a:txBody>
                    <a:bodyP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SPEC</a:t>
                      </a:r>
                    </a:p>
                  </a:txBody>
                  <a:tcPr marL="59615" marR="59615" marT="29807" marB="29807" anchor="ctr">
                    <a:noFill/>
                  </a:tcPr>
                </a:tc>
                <a:tc>
                  <a:txBody>
                    <a:bodyP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a:txBody>
                  <a:tcPr marL="59615" marR="59615" marT="29807" marB="29807" anchor="ctr">
                    <a:noFill/>
                  </a:tcPr>
                </a:tc>
                <a:tc>
                  <a:txBody>
                    <a:bodyP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RPL-S N</a:t>
                      </a:r>
                    </a:p>
                    <a:p>
                      <a:pPr algn="ctr"/>
                      <a:r>
                        <a:rPr kumimoji="1" lang="en-US" altLang="ja-JP" sz="800" b="1" dirty="0">
                          <a:solidFill>
                            <a:schemeClr val="tx1"/>
                          </a:solidFill>
                          <a:latin typeface="メイリオ" panose="020B0604030504040204" pitchFamily="50" charset="-128"/>
                          <a:ea typeface="メイリオ" panose="020B0604030504040204" pitchFamily="50" charset="-128"/>
                        </a:rPr>
                        <a:t>(Raptor</a:t>
                      </a:r>
                      <a:r>
                        <a:rPr kumimoji="1" lang="ja-JP" altLang="en-US" sz="800" b="1" dirty="0">
                          <a:solidFill>
                            <a:schemeClr val="tx1"/>
                          </a:solidFill>
                          <a:latin typeface="メイリオ" panose="020B0604030504040204" pitchFamily="50" charset="-128"/>
                          <a:ea typeface="メイリオ" panose="020B0604030504040204" pitchFamily="50" charset="-128"/>
                        </a:rPr>
                        <a:t> </a:t>
                      </a:r>
                      <a:r>
                        <a:rPr kumimoji="1" lang="en-US" altLang="ja-JP" sz="800" b="1" dirty="0">
                          <a:solidFill>
                            <a:schemeClr val="tx1"/>
                          </a:solidFill>
                          <a:latin typeface="メイリオ" panose="020B0604030504040204" pitchFamily="50" charset="-128"/>
                          <a:ea typeface="メイリオ" panose="020B0604030504040204" pitchFamily="50" charset="-128"/>
                        </a:rPr>
                        <a:t>Lake NEXT)</a:t>
                      </a:r>
                      <a:endParaRPr kumimoji="1" lang="en-US" altLang="ja-JP" sz="1000" b="1" dirty="0">
                        <a:solidFill>
                          <a:schemeClr val="tx1"/>
                        </a:solidFill>
                        <a:latin typeface="メイリオ" panose="020B0604030504040204" pitchFamily="50" charset="-128"/>
                        <a:ea typeface="メイリオ" panose="020B0604030504040204" pitchFamily="50" charset="-128"/>
                      </a:endParaRPr>
                    </a:p>
                  </a:txBody>
                  <a:tcPr marL="59615" marR="59615" marT="29807" marB="29807" anchor="ctr">
                    <a:noFill/>
                  </a:tcPr>
                </a:tc>
                <a:tc>
                  <a:txBody>
                    <a:bodyP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SPEC</a:t>
                      </a:r>
                    </a:p>
                  </a:txBody>
                  <a:tcPr marL="59615" marR="59615" marT="29807" marB="29807" anchor="ctr">
                    <a:noFill/>
                  </a:tcPr>
                </a:tc>
                <a:extLst>
                  <a:ext uri="{0D108BD9-81ED-4DB2-BD59-A6C34878D82A}">
                    <a16:rowId xmlns:a16="http://schemas.microsoft.com/office/drawing/2014/main" val="41701980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rPr>
                        <a:t>i9-14900K</a:t>
                      </a:r>
                      <a:endParaRPr kumimoji="1" lang="ja-JP" altLang="en-US"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rPr>
                        <a:t>24C(8+16)/32T</a:t>
                      </a:r>
                      <a:endParaRPr kumimoji="1" lang="ja-JP" altLang="en-US"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extLst>
                  <a:ext uri="{0D108BD9-81ED-4DB2-BD59-A6C34878D82A}">
                    <a16:rowId xmlns:a16="http://schemas.microsoft.com/office/drawing/2014/main" val="29549389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rPr>
                        <a:t>i9-14900</a:t>
                      </a:r>
                      <a:endParaRPr kumimoji="1" lang="ja-JP" altLang="en-US"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rPr>
                        <a:t>24C(8+16)/32T</a:t>
                      </a:r>
                      <a:endParaRPr kumimoji="1" lang="ja-JP" altLang="en-US" sz="800" b="0" i="0" u="none" strike="noStrike" kern="1200" cap="none" spc="0" normalizeH="0" baseline="0" noProof="0" dirty="0">
                        <a:ln>
                          <a:noFill/>
                        </a:ln>
                        <a:solidFill>
                          <a:schemeClr val="bg1">
                            <a:lumMod val="50000"/>
                          </a:schemeClr>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extLst>
                  <a:ext uri="{0D108BD9-81ED-4DB2-BD59-A6C34878D82A}">
                    <a16:rowId xmlns:a16="http://schemas.microsoft.com/office/drawing/2014/main" val="122480537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rPr>
                        <a:t>i7-14700K</a:t>
                      </a:r>
                      <a:endParaRPr kumimoji="1" lang="ja-JP" altLang="en-US"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rPr>
                        <a:t>20C(8+12)/28T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extLst>
                  <a:ext uri="{0D108BD9-81ED-4DB2-BD59-A6C34878D82A}">
                    <a16:rowId xmlns:a16="http://schemas.microsoft.com/office/drawing/2014/main" val="114867255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rPr>
                        <a:t>i7-14700</a:t>
                      </a:r>
                      <a:endParaRPr kumimoji="1" lang="ja-JP" altLang="en-US"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rPr>
                        <a:t>20C(8+12)/28T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dirty="0">
                          <a:solidFill>
                            <a:schemeClr val="tx1"/>
                          </a:solidFill>
                          <a:latin typeface="メイリオ" panose="020B0604030504040204" pitchFamily="50" charset="-128"/>
                          <a:ea typeface="メイリオ" panose="020B0604030504040204" pitchFamily="50" charset="-128"/>
                        </a:rPr>
                        <a:t>→</a:t>
                      </a: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eiryo UI" panose="020B0604030504040204" pitchFamily="50" charset="-128"/>
                        </a:rPr>
                        <a:t>i7 65W</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n-cs"/>
                        </a:rPr>
                        <a:t>20C(8+12)/28T</a:t>
                      </a:r>
                    </a:p>
                  </a:txBody>
                  <a:tcPr marL="59615" marR="59615" marT="29807" marB="29807" anchor="ctr">
                    <a:noFill/>
                  </a:tcPr>
                </a:tc>
                <a:extLst>
                  <a:ext uri="{0D108BD9-81ED-4DB2-BD59-A6C34878D82A}">
                    <a16:rowId xmlns:a16="http://schemas.microsoft.com/office/drawing/2014/main" val="27711192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accent1"/>
                          </a:solidFill>
                          <a:latin typeface="メイリオ" panose="020B0604030504040204" pitchFamily="50" charset="-128"/>
                          <a:ea typeface="メイリオ" panose="020B0604030504040204" pitchFamily="50" charset="-128"/>
                          <a:cs typeface="Meiryo UI" panose="020B0604030504040204" pitchFamily="50" charset="-128"/>
                        </a:rPr>
                        <a:t>i5-14600K</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cs typeface="Meiryo UI" panose="020B0604030504040204" pitchFamily="50" charset="-128"/>
                        </a:rPr>
                        <a:t>14C(6+8)/20T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dirty="0">
                          <a:solidFill>
                            <a:schemeClr val="tx1"/>
                          </a:solidFill>
                          <a:latin typeface="メイリオ" panose="020B0604030504040204" pitchFamily="50" charset="-128"/>
                          <a:ea typeface="メイリオ" panose="020B0604030504040204" pitchFamily="50" charset="-128"/>
                        </a:rPr>
                        <a:t>→</a:t>
                      </a: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cs typeface="Meiryo UI" panose="020B0604030504040204" pitchFamily="50" charset="-128"/>
                        </a:rPr>
                        <a:t>i5K 125W</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tx2"/>
                          </a:solidFill>
                          <a:effectLst/>
                          <a:uLnTx/>
                          <a:uFillTx/>
                          <a:latin typeface="メイリオ" panose="020B0604030504040204" pitchFamily="50" charset="-128"/>
                          <a:ea typeface="メイリオ" panose="020B0604030504040204" pitchFamily="50" charset="-128"/>
                          <a:cs typeface="Meiryo UI" panose="020B0604030504040204" pitchFamily="50" charset="-128"/>
                        </a:rPr>
                        <a:t>16C(8+8)/24T</a:t>
                      </a:r>
                    </a:p>
                  </a:txBody>
                  <a:tcPr marL="59615" marR="59615" marT="29807" marB="29807" anchor="ctr">
                    <a:noFill/>
                  </a:tcPr>
                </a:tc>
                <a:extLst>
                  <a:ext uri="{0D108BD9-81ED-4DB2-BD59-A6C34878D82A}">
                    <a16:rowId xmlns:a16="http://schemas.microsoft.com/office/drawing/2014/main" val="405040122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accent1"/>
                          </a:solidFill>
                          <a:latin typeface="メイリオ" panose="020B0604030504040204" pitchFamily="50" charset="-128"/>
                          <a:ea typeface="メイリオ" panose="020B0604030504040204" pitchFamily="50" charset="-128"/>
                          <a:cs typeface="Meiryo UI" panose="020B0604030504040204" pitchFamily="50" charset="-128"/>
                        </a:rPr>
                        <a:t>i5-14500</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4F81BD"/>
                          </a:solidFill>
                          <a:effectLst/>
                          <a:uLnTx/>
                          <a:uFillTx/>
                          <a:latin typeface="メイリオ" panose="020B0604030504040204" pitchFamily="50" charset="-128"/>
                          <a:ea typeface="メイリオ" panose="020B0604030504040204" pitchFamily="50" charset="-128"/>
                          <a:cs typeface="Meiryo UI" panose="020B0604030504040204" pitchFamily="50" charset="-128"/>
                        </a:rPr>
                        <a:t>14C(6+8)/20T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rPr>
                        <a:t>-</a:t>
                      </a:r>
                      <a:endParaRPr kumimoji="1" lang="ja-JP" altLang="en-US" sz="800" b="0" i="0" u="none" strike="noStrike" kern="1200" cap="none" spc="0" normalizeH="0" baseline="0" noProof="0" dirty="0">
                        <a:ln>
                          <a:noFill/>
                        </a:ln>
                        <a:solidFill>
                          <a:srgbClr val="8064A2"/>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extLst>
                  <a:ext uri="{0D108BD9-81ED-4DB2-BD59-A6C34878D82A}">
                    <a16:rowId xmlns:a16="http://schemas.microsoft.com/office/drawing/2014/main" val="42917561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accent1"/>
                          </a:solidFill>
                          <a:latin typeface="メイリオ" panose="020B0604030504040204" pitchFamily="50" charset="-128"/>
                          <a:ea typeface="メイリオ" panose="020B0604030504040204" pitchFamily="50" charset="-128"/>
                          <a:cs typeface="Meiryo UI" panose="020B0604030504040204" pitchFamily="50" charset="-128"/>
                        </a:rPr>
                        <a:t>i5-14400</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cs typeface="Meiryo UI" panose="020B0604030504040204" pitchFamily="50" charset="-128"/>
                        </a:rPr>
                        <a:t>10C(6+4)/16T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dirty="0">
                          <a:solidFill>
                            <a:schemeClr val="tx1"/>
                          </a:solidFill>
                          <a:latin typeface="メイリオ" panose="020B0604030504040204" pitchFamily="50" charset="-128"/>
                          <a:ea typeface="メイリオ" panose="020B0604030504040204" pitchFamily="50" charset="-128"/>
                        </a:rPr>
                        <a:t>→</a:t>
                      </a: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cs typeface="Meiryo UI" panose="020B0604030504040204" pitchFamily="50" charset="-128"/>
                        </a:rPr>
                        <a:t>i5 65W</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cs typeface="Meiryo UI" panose="020B0604030504040204" pitchFamily="50" charset="-128"/>
                        </a:rPr>
                        <a:t>10C(6+4)/16T</a:t>
                      </a:r>
                    </a:p>
                  </a:txBody>
                  <a:tcPr marL="59615" marR="59615" marT="29807" marB="29807" anchor="ctr">
                    <a:noFill/>
                  </a:tcPr>
                </a:tc>
                <a:extLst>
                  <a:ext uri="{0D108BD9-81ED-4DB2-BD59-A6C34878D82A}">
                    <a16:rowId xmlns:a16="http://schemas.microsoft.com/office/drawing/2014/main" val="381684370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chemeClr val="accent5"/>
                          </a:solidFill>
                          <a:effectLst/>
                          <a:uLnTx/>
                          <a:uFillTx/>
                          <a:latin typeface="メイリオ" panose="020B0604030504040204" pitchFamily="50" charset="-128"/>
                          <a:ea typeface="メイリオ" panose="020B0604030504040204" pitchFamily="50" charset="-128"/>
                          <a:cs typeface="Meiryo UI" panose="020B0604030504040204" pitchFamily="50" charset="-128"/>
                        </a:rPr>
                        <a:t>i3-14100</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B0F0"/>
                          </a:solidFill>
                          <a:effectLst/>
                          <a:uLnTx/>
                          <a:uFillTx/>
                          <a:latin typeface="メイリオ" panose="020B0604030504040204" pitchFamily="50" charset="-128"/>
                          <a:ea typeface="メイリオ" panose="020B0604030504040204" pitchFamily="50" charset="-128"/>
                          <a:cs typeface="Meiryo UI" panose="020B0604030504040204" pitchFamily="50" charset="-128"/>
                        </a:rPr>
                        <a:t>4C(4+0)/8T</a:t>
                      </a: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dirty="0">
                          <a:solidFill>
                            <a:schemeClr val="tx1"/>
                          </a:solidFill>
                          <a:latin typeface="メイリオ" panose="020B0604030504040204" pitchFamily="50" charset="-128"/>
                          <a:ea typeface="メイリオ" panose="020B0604030504040204" pitchFamily="50" charset="-128"/>
                        </a:rPr>
                        <a:t>→</a:t>
                      </a:r>
                      <a:endParaRPr kumimoji="1" lang="ja-JP" altLang="en-US" sz="800" b="0" i="0" u="none" strike="noStrike" kern="1200" cap="none" spc="0" normalizeH="0" baseline="0" noProof="0" dirty="0">
                        <a:ln>
                          <a:noFill/>
                        </a:ln>
                        <a:solidFill>
                          <a:srgbClr val="0070C0"/>
                        </a:solidFill>
                        <a:effectLst/>
                        <a:uLnTx/>
                        <a:uFillTx/>
                        <a:latin typeface="メイリオ" panose="020B0604030504040204" pitchFamily="50" charset="-128"/>
                        <a:ea typeface="メイリオ" panose="020B0604030504040204" pitchFamily="50" charset="-128"/>
                        <a:cs typeface="+mn-cs"/>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B0F0"/>
                          </a:solidFill>
                          <a:effectLst/>
                          <a:uLnTx/>
                          <a:uFillTx/>
                          <a:latin typeface="メイリオ" panose="020B0604030504040204" pitchFamily="50" charset="-128"/>
                          <a:ea typeface="メイリオ" panose="020B0604030504040204" pitchFamily="50" charset="-128"/>
                          <a:cs typeface="Meiryo UI" panose="020B0604030504040204" pitchFamily="50" charset="-128"/>
                        </a:rPr>
                        <a:t>i3 65W</a:t>
                      </a:r>
                      <a:endParaRPr kumimoji="1" lang="en-US" altLang="ja-JP" sz="800" b="0" i="0" u="none" strike="noStrike" kern="1200" cap="none" spc="0" normalizeH="0" baseline="0" noProof="0" dirty="0">
                        <a:ln>
                          <a:noFill/>
                        </a:ln>
                        <a:solidFill>
                          <a:srgbClr val="00B0F0"/>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a:txBody>
                  <a:tcPr marL="59615" marR="59615" marT="29807" marB="29807"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B0F0"/>
                          </a:solidFill>
                          <a:effectLst/>
                          <a:uLnTx/>
                          <a:uFillTx/>
                          <a:latin typeface="メイリオ" panose="020B0604030504040204" pitchFamily="50" charset="-128"/>
                          <a:ea typeface="メイリオ" panose="020B0604030504040204" pitchFamily="50" charset="-128"/>
                          <a:cs typeface="Meiryo UI" panose="020B0604030504040204" pitchFamily="50" charset="-128"/>
                        </a:rPr>
                        <a:t>4C(4+0)/8T</a:t>
                      </a:r>
                    </a:p>
                  </a:txBody>
                  <a:tcPr marL="59615" marR="59615" marT="29807" marB="29807" anchor="ctr">
                    <a:noFill/>
                  </a:tcPr>
                </a:tc>
                <a:extLst>
                  <a:ext uri="{0D108BD9-81ED-4DB2-BD59-A6C34878D82A}">
                    <a16:rowId xmlns:a16="http://schemas.microsoft.com/office/drawing/2014/main" val="2665208593"/>
                  </a:ext>
                </a:extLst>
              </a:tr>
            </a:tbl>
          </a:graphicData>
        </a:graphic>
      </p:graphicFrame>
      <p:sp>
        <p:nvSpPr>
          <p:cNvPr id="8" name="テキスト ボックス 7">
            <a:extLst>
              <a:ext uri="{FF2B5EF4-FFF2-40B4-BE49-F238E27FC236}">
                <a16:creationId xmlns:a16="http://schemas.microsoft.com/office/drawing/2014/main" id="{B7CA4605-D7F8-4817-BB62-79AAD2CB6ADF}"/>
              </a:ext>
            </a:extLst>
          </p:cNvPr>
          <p:cNvSpPr txBox="1"/>
          <p:nvPr/>
        </p:nvSpPr>
        <p:spPr>
          <a:xfrm>
            <a:off x="4718441" y="596390"/>
            <a:ext cx="4752528" cy="120032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2027 Q1-Q2</a:t>
            </a:r>
            <a:r>
              <a:rPr lang="ja-JP" altLang="en-US" sz="1200" dirty="0">
                <a:latin typeface="メイリオ" panose="020B0604030504040204" pitchFamily="50" charset="-128"/>
                <a:ea typeface="メイリオ" panose="020B0604030504040204" pitchFamily="50" charset="-128"/>
              </a:rPr>
              <a:t>見込み</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・すべての</a:t>
            </a:r>
            <a:r>
              <a:rPr lang="en-US" altLang="ja-JP" sz="1200" dirty="0">
                <a:latin typeface="メイリオ" panose="020B0604030504040204" pitchFamily="50" charset="-128"/>
                <a:ea typeface="メイリオ" panose="020B0604030504040204" pitchFamily="50" charset="-128"/>
              </a:rPr>
              <a:t>SKU</a:t>
            </a:r>
            <a:r>
              <a:rPr lang="ja-JP" altLang="en-US" sz="1200" dirty="0">
                <a:latin typeface="メイリオ" panose="020B0604030504040204" pitchFamily="50" charset="-128"/>
                <a:ea typeface="メイリオ" panose="020B0604030504040204" pitchFamily="50" charset="-128"/>
              </a:rPr>
              <a:t>で出るわけではない</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4SKU</a:t>
            </a:r>
            <a:r>
              <a:rPr lang="ja-JP" altLang="en-US" sz="1200" dirty="0">
                <a:latin typeface="メイリオ" panose="020B0604030504040204" pitchFamily="50" charset="-128"/>
                <a:ea typeface="メイリオ" panose="020B0604030504040204" pitchFamily="50" charset="-128"/>
              </a:rPr>
              <a:t>予定あり</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Socket</a:t>
            </a:r>
            <a:r>
              <a:rPr lang="ja-JP" altLang="en-US" sz="1200" dirty="0">
                <a:latin typeface="メイリオ" panose="020B0604030504040204" pitchFamily="50" charset="-128"/>
                <a:ea typeface="メイリオ" panose="020B0604030504040204" pitchFamily="50" charset="-128"/>
              </a:rPr>
              <a:t>変更なし　</a:t>
            </a:r>
            <a:r>
              <a:rPr kumimoji="1" lang="en-US" altLang="ja-JP" sz="1200" dirty="0">
                <a:latin typeface="メイリオ" panose="020B0604030504040204" pitchFamily="50" charset="-128"/>
                <a:ea typeface="メイリオ" panose="020B0604030504040204" pitchFamily="50" charset="-128"/>
              </a:rPr>
              <a:t>LGA1700</a:t>
            </a:r>
          </a:p>
          <a:p>
            <a:r>
              <a:rPr lang="ja-JP" altLang="en-US" sz="1200" dirty="0">
                <a:latin typeface="メイリオ" panose="020B0604030504040204" pitchFamily="50" charset="-128"/>
                <a:ea typeface="メイリオ" panose="020B0604030504040204" pitchFamily="50" charset="-128"/>
              </a:rPr>
              <a:t>・チップセット変更なし　</a:t>
            </a:r>
            <a:r>
              <a:rPr lang="en-US" altLang="ja-JP" sz="1200" dirty="0">
                <a:latin typeface="メイリオ" panose="020B0604030504040204" pitchFamily="50" charset="-128"/>
                <a:ea typeface="メイリオ" panose="020B0604030504040204" pitchFamily="50" charset="-128"/>
              </a:rPr>
              <a:t>700</a:t>
            </a:r>
            <a:r>
              <a:rPr lang="ja-JP" altLang="en-US" sz="1200" dirty="0">
                <a:latin typeface="メイリオ" panose="020B0604030504040204" pitchFamily="50" charset="-128"/>
                <a:ea typeface="メイリオ" panose="020B0604030504040204" pitchFamily="50" charset="-128"/>
              </a:rPr>
              <a:t>シリーズ</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H610)</a:t>
            </a:r>
          </a:p>
          <a:p>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i5K</a:t>
            </a:r>
            <a:r>
              <a:rPr kumimoji="1" lang="ja-JP" altLang="en-US" sz="1200" dirty="0">
                <a:latin typeface="メイリオ" panose="020B0604030504040204" pitchFamily="50" charset="-128"/>
                <a:ea typeface="メイリオ" panose="020B0604030504040204" pitchFamily="50" charset="-128"/>
              </a:rPr>
              <a:t>相当品はコア数</a:t>
            </a:r>
            <a:r>
              <a:rPr kumimoji="1" lang="en-US" altLang="ja-JP" sz="1200" dirty="0">
                <a:latin typeface="メイリオ" panose="020B0604030504040204" pitchFamily="50" charset="-128"/>
                <a:ea typeface="メイリオ" panose="020B0604030504040204" pitchFamily="50" charset="-128"/>
              </a:rPr>
              <a:t>UP</a:t>
            </a:r>
            <a:r>
              <a:rPr kumimoji="1" lang="ja-JP" altLang="en-US" sz="1200" dirty="0">
                <a:latin typeface="メイリオ" panose="020B0604030504040204" pitchFamily="50" charset="-128"/>
                <a:ea typeface="メイリオ" panose="020B0604030504040204" pitchFamily="50" charset="-128"/>
              </a:rPr>
              <a:t>　</a:t>
            </a:r>
            <a:r>
              <a:rPr kumimoji="1" lang="en-US" altLang="ja-JP" sz="1200" dirty="0">
                <a:latin typeface="メイリオ" panose="020B0604030504040204" pitchFamily="50" charset="-128"/>
                <a:ea typeface="メイリオ" panose="020B0604030504040204" pitchFamily="50" charset="-128"/>
              </a:rPr>
              <a:t>14C(6+8)</a:t>
            </a:r>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16C(8+8)</a:t>
            </a:r>
          </a:p>
        </p:txBody>
      </p:sp>
      <p:sp>
        <p:nvSpPr>
          <p:cNvPr id="7" name="テキスト ボックス 6">
            <a:extLst>
              <a:ext uri="{FF2B5EF4-FFF2-40B4-BE49-F238E27FC236}">
                <a16:creationId xmlns:a16="http://schemas.microsoft.com/office/drawing/2014/main" id="{90A76986-FC9B-46A4-8F1F-111C961F2BBA}"/>
              </a:ext>
            </a:extLst>
          </p:cNvPr>
          <p:cNvSpPr txBox="1"/>
          <p:nvPr/>
        </p:nvSpPr>
        <p:spPr>
          <a:xfrm>
            <a:off x="2412600" y="1059582"/>
            <a:ext cx="2232248" cy="1015663"/>
          </a:xfrm>
          <a:prstGeom prst="rect">
            <a:avLst/>
          </a:prstGeom>
          <a:noFill/>
        </p:spPr>
        <p:txBody>
          <a:bodyPr wrap="square" rtlCol="0">
            <a:spAutoFit/>
          </a:bodyPr>
          <a:lstStyle/>
          <a:p>
            <a:r>
              <a:rPr lang="ja-JP" altLang="en-US" sz="6000" dirty="0">
                <a:solidFill>
                  <a:srgbClr val="FF0000"/>
                </a:solidFill>
              </a:rPr>
              <a:t>仮</a:t>
            </a:r>
            <a:r>
              <a:rPr lang="en-US" altLang="ja-JP" sz="6000" dirty="0">
                <a:solidFill>
                  <a:srgbClr val="FF0000"/>
                </a:solidFill>
              </a:rPr>
              <a:t>SKU</a:t>
            </a:r>
            <a:endParaRPr kumimoji="1" lang="ja-JP" altLang="en-US" sz="6000" dirty="0">
              <a:solidFill>
                <a:srgbClr val="FF0000"/>
              </a:solidFill>
            </a:endParaRPr>
          </a:p>
        </p:txBody>
      </p:sp>
    </p:spTree>
    <p:extLst>
      <p:ext uri="{BB962C8B-B14F-4D97-AF65-F5344CB8AC3E}">
        <p14:creationId xmlns:p14="http://schemas.microsoft.com/office/powerpoint/2010/main" val="1108440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3F38BC-C931-4189-97EA-DF8E6FA6EE74}"/>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ja-JP" altLang="en-US" u="sng" dirty="0">
                <a:latin typeface="+mj-ea"/>
                <a:ea typeface="+mj-ea"/>
              </a:rPr>
              <a:t>特殊用途パーツ・ケーブル類</a:t>
            </a:r>
            <a:r>
              <a:rPr lang="en-US" altLang="ja-JP" sz="1800" u="sng" dirty="0">
                <a:latin typeface="+mn-ea"/>
              </a:rPr>
              <a:t>(</a:t>
            </a:r>
            <a:r>
              <a:rPr lang="ja-JP" altLang="en-US" sz="1800" u="sng" dirty="0">
                <a:latin typeface="+mn-ea"/>
              </a:rPr>
              <a:t>備忘</a:t>
            </a:r>
            <a:r>
              <a:rPr lang="en-US" altLang="ja-JP" sz="1800" u="sng" dirty="0">
                <a:latin typeface="+mn-ea"/>
              </a:rPr>
              <a:t>)</a:t>
            </a:r>
            <a:endParaRPr kumimoji="1" lang="ja-JP" altLang="en-US" u="sng" dirty="0">
              <a:latin typeface="+mj-ea"/>
              <a:ea typeface="+mj-ea"/>
            </a:endParaRPr>
          </a:p>
        </p:txBody>
      </p:sp>
      <p:sp>
        <p:nvSpPr>
          <p:cNvPr id="2" name="スライド番号プレースホルダー 1">
            <a:extLst>
              <a:ext uri="{FF2B5EF4-FFF2-40B4-BE49-F238E27FC236}">
                <a16:creationId xmlns:a16="http://schemas.microsoft.com/office/drawing/2014/main" id="{478BC6B3-C1A7-4A2C-A40E-489758ECCF94}"/>
              </a:ext>
            </a:extLst>
          </p:cNvPr>
          <p:cNvSpPr>
            <a:spLocks noGrp="1"/>
          </p:cNvSpPr>
          <p:nvPr>
            <p:ph type="sldNum" sz="quarter" idx="12"/>
          </p:nvPr>
        </p:nvSpPr>
        <p:spPr/>
        <p:txBody>
          <a:bodyPr/>
          <a:lstStyle/>
          <a:p>
            <a:fld id="{F9DFCEB9-CAE4-4F3C-93D0-85C4724A0355}" type="slidenum">
              <a:rPr kumimoji="1" lang="ja-JP" altLang="en-US" smtClean="0"/>
              <a:t>41</a:t>
            </a:fld>
            <a:endParaRPr kumimoji="1" lang="ja-JP" altLang="en-US"/>
          </a:p>
        </p:txBody>
      </p:sp>
      <p:graphicFrame>
        <p:nvGraphicFramePr>
          <p:cNvPr id="9" name="表 2">
            <a:extLst>
              <a:ext uri="{FF2B5EF4-FFF2-40B4-BE49-F238E27FC236}">
                <a16:creationId xmlns:a16="http://schemas.microsoft.com/office/drawing/2014/main" id="{27603EEE-6244-4048-9AF3-29C0313D41F5}"/>
              </a:ext>
            </a:extLst>
          </p:cNvPr>
          <p:cNvGraphicFramePr>
            <a:graphicFrameLocks noGrp="1"/>
          </p:cNvGraphicFramePr>
          <p:nvPr>
            <p:extLst>
              <p:ext uri="{D42A27DB-BD31-4B8C-83A1-F6EECF244321}">
                <p14:modId xmlns:p14="http://schemas.microsoft.com/office/powerpoint/2010/main" val="1294386164"/>
              </p:ext>
            </p:extLst>
          </p:nvPr>
        </p:nvGraphicFramePr>
        <p:xfrm>
          <a:off x="25878" y="400259"/>
          <a:ext cx="8575041" cy="4297680"/>
        </p:xfrm>
        <a:graphic>
          <a:graphicData uri="http://schemas.openxmlformats.org/drawingml/2006/table">
            <a:tbl>
              <a:tblPr firstRow="1">
                <a:tableStyleId>{BC89EF96-8CEA-46FF-86C4-4CE0E7609802}</a:tableStyleId>
              </a:tblPr>
              <a:tblGrid>
                <a:gridCol w="3435668">
                  <a:extLst>
                    <a:ext uri="{9D8B030D-6E8A-4147-A177-3AD203B41FA5}">
                      <a16:colId xmlns:a16="http://schemas.microsoft.com/office/drawing/2014/main" val="570604149"/>
                    </a:ext>
                  </a:extLst>
                </a:gridCol>
                <a:gridCol w="3702368">
                  <a:extLst>
                    <a:ext uri="{9D8B030D-6E8A-4147-A177-3AD203B41FA5}">
                      <a16:colId xmlns:a16="http://schemas.microsoft.com/office/drawing/2014/main" val="2960475667"/>
                    </a:ext>
                  </a:extLst>
                </a:gridCol>
                <a:gridCol w="1437005">
                  <a:extLst>
                    <a:ext uri="{9D8B030D-6E8A-4147-A177-3AD203B41FA5}">
                      <a16:colId xmlns:a16="http://schemas.microsoft.com/office/drawing/2014/main" val="3106912858"/>
                    </a:ext>
                  </a:extLst>
                </a:gridCol>
              </a:tblGrid>
              <a:tr h="0">
                <a:tc>
                  <a:txBody>
                    <a:bodyPr/>
                    <a:lstStyle/>
                    <a:p>
                      <a:pPr algn="ctr"/>
                      <a:r>
                        <a:rPr kumimoji="1" lang="ja-JP" altLang="en-US" sz="800" b="0" dirty="0">
                          <a:solidFill>
                            <a:srgbClr val="FFFFFF"/>
                          </a:solidFill>
                          <a:latin typeface="メイリオ" panose="020B0604030504040204" pitchFamily="50" charset="-128"/>
                          <a:ea typeface="メイリオ" panose="020B0604030504040204" pitchFamily="50" charset="-128"/>
                        </a:rPr>
                        <a:t>製品</a:t>
                      </a: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b="0" dirty="0">
                          <a:solidFill>
                            <a:srgbClr val="FFFFFF"/>
                          </a:solidFill>
                          <a:latin typeface="メイリオ" panose="020B0604030504040204" pitchFamily="50" charset="-128"/>
                          <a:ea typeface="メイリオ" panose="020B0604030504040204" pitchFamily="50" charset="-128"/>
                        </a:rPr>
                        <a:t>用途</a:t>
                      </a:r>
                      <a:endParaRPr lang="en-US" altLang="ja-JP" sz="800" b="0" dirty="0">
                        <a:solidFill>
                          <a:srgbClr val="FFFFFF"/>
                        </a:solidFill>
                        <a:latin typeface="メイリオ" panose="020B0604030504040204" pitchFamily="50" charset="-128"/>
                        <a:ea typeface="メイリオ" panose="020B0604030504040204" pitchFamily="50" charset="-128"/>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FFFFFF"/>
                          </a:solidFill>
                          <a:latin typeface="メイリオ" panose="020B0604030504040204" pitchFamily="50" charset="-128"/>
                          <a:ea typeface="メイリオ" panose="020B0604030504040204" pitchFamily="50" charset="-128"/>
                        </a:rPr>
                        <a:t>注意</a:t>
                      </a:r>
                      <a:endParaRPr lang="en-US" altLang="ja-JP" sz="800" dirty="0">
                        <a:solidFill>
                          <a:srgbClr val="FFFFFF"/>
                        </a:solidFill>
                        <a:latin typeface="メイリオ" panose="020B0604030504040204" pitchFamily="50" charset="-128"/>
                        <a:ea typeface="メイリオ" panose="020B0604030504040204" pitchFamily="50" charset="-128"/>
                      </a:endParaRPr>
                    </a:p>
                  </a:txBody>
                  <a:tcPr anchor="ctr">
                    <a:solidFill>
                      <a:schemeClr val="accent1"/>
                    </a:solidFill>
                  </a:tcPr>
                </a:tc>
                <a:extLst>
                  <a:ext uri="{0D108BD9-81ED-4DB2-BD59-A6C34878D82A}">
                    <a16:rowId xmlns:a16="http://schemas.microsoft.com/office/drawing/2014/main" val="621706881"/>
                  </a:ext>
                </a:extLst>
              </a:tr>
              <a:tr h="0">
                <a:tc>
                  <a:txBody>
                    <a:bodyPr/>
                    <a:lstStyle/>
                    <a:p>
                      <a:pPr algn="l"/>
                      <a:r>
                        <a:rPr lang="en-US" altLang="ja-JP" sz="800" b="0" dirty="0">
                          <a:solidFill>
                            <a:schemeClr val="tx1"/>
                          </a:solidFill>
                          <a:latin typeface="メイリオ" panose="020B0604030504040204" pitchFamily="50" charset="-128"/>
                          <a:ea typeface="メイリオ" panose="020B0604030504040204" pitchFamily="50" charset="-128"/>
                        </a:rPr>
                        <a:t>216573</a:t>
                      </a:r>
                      <a:r>
                        <a:rPr lang="ja-JP" altLang="en-US" sz="800" b="0" dirty="0">
                          <a:solidFill>
                            <a:schemeClr val="tx1"/>
                          </a:solidFill>
                          <a:latin typeface="メイリオ" panose="020B0604030504040204" pitchFamily="50" charset="-128"/>
                          <a:ea typeface="メイリオ" panose="020B0604030504040204" pitchFamily="50" charset="-128"/>
                        </a:rPr>
                        <a:t> 組</a:t>
                      </a:r>
                      <a:r>
                        <a:rPr lang="en-US" altLang="ja-JP" sz="800" b="0" dirty="0">
                          <a:solidFill>
                            <a:schemeClr val="tx1"/>
                          </a:solidFill>
                          <a:latin typeface="メイリオ" panose="020B0604030504040204" pitchFamily="50" charset="-128"/>
                          <a:ea typeface="メイリオ" panose="020B0604030504040204" pitchFamily="50" charset="-128"/>
                        </a:rPr>
                        <a:t>SLR USB3.0 19P/20P to TYPE-E convertor(PCB)</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b="0" dirty="0">
                          <a:solidFill>
                            <a:schemeClr val="tx1"/>
                          </a:solidFill>
                          <a:latin typeface="メイリオ" panose="020B0604030504040204" pitchFamily="50" charset="-128"/>
                          <a:ea typeface="メイリオ" panose="020B0604030504040204" pitchFamily="50" charset="-128"/>
                        </a:rPr>
                        <a:t>USB3.0</a:t>
                      </a:r>
                      <a:r>
                        <a:rPr lang="ja-JP" altLang="en-US" sz="700" b="0" dirty="0">
                          <a:solidFill>
                            <a:schemeClr val="tx1"/>
                          </a:solidFill>
                          <a:latin typeface="メイリオ" panose="020B0604030504040204" pitchFamily="50" charset="-128"/>
                          <a:ea typeface="メイリオ" panose="020B0604030504040204" pitchFamily="50" charset="-128"/>
                        </a:rPr>
                        <a:t>ヘッダ→</a:t>
                      </a:r>
                      <a:r>
                        <a:rPr lang="en-US" altLang="ja-JP" sz="700" b="0" dirty="0">
                          <a:solidFill>
                            <a:schemeClr val="tx1"/>
                          </a:solidFill>
                          <a:latin typeface="メイリオ" panose="020B0604030504040204" pitchFamily="50" charset="-128"/>
                          <a:ea typeface="メイリオ" panose="020B0604030504040204" pitchFamily="50" charset="-128"/>
                        </a:rPr>
                        <a:t>(</a:t>
                      </a:r>
                      <a:r>
                        <a:rPr lang="en-US" altLang="ja-JP" sz="700" b="0" dirty="0" err="1">
                          <a:solidFill>
                            <a:schemeClr val="tx1"/>
                          </a:solidFill>
                          <a:latin typeface="メイリオ" panose="020B0604030504040204" pitchFamily="50" charset="-128"/>
                          <a:ea typeface="メイリオ" panose="020B0604030504040204" pitchFamily="50" charset="-128"/>
                        </a:rPr>
                        <a:t>TypeC</a:t>
                      </a:r>
                      <a:r>
                        <a:rPr lang="ja-JP" altLang="en-US" sz="700" b="0" dirty="0">
                          <a:solidFill>
                            <a:schemeClr val="tx1"/>
                          </a:solidFill>
                          <a:latin typeface="メイリオ" panose="020B0604030504040204" pitchFamily="50" charset="-128"/>
                          <a:ea typeface="メイリオ" panose="020B0604030504040204" pitchFamily="50" charset="-128"/>
                        </a:rPr>
                        <a:t>用</a:t>
                      </a:r>
                      <a:r>
                        <a:rPr lang="en-US" altLang="ja-JP" sz="700" b="0" dirty="0">
                          <a:solidFill>
                            <a:schemeClr val="tx1"/>
                          </a:solidFill>
                          <a:latin typeface="メイリオ" panose="020B0604030504040204" pitchFamily="50" charset="-128"/>
                          <a:ea typeface="メイリオ" panose="020B0604030504040204" pitchFamily="50" charset="-128"/>
                        </a:rPr>
                        <a:t>)</a:t>
                      </a:r>
                      <a:r>
                        <a:rPr lang="en-US" altLang="ja-JP" sz="700" b="0" dirty="0" err="1">
                          <a:solidFill>
                            <a:schemeClr val="tx1"/>
                          </a:solidFill>
                          <a:latin typeface="メイリオ" panose="020B0604030504040204" pitchFamily="50" charset="-128"/>
                          <a:ea typeface="メイリオ" panose="020B0604030504040204" pitchFamily="50" charset="-128"/>
                        </a:rPr>
                        <a:t>TypeE</a:t>
                      </a:r>
                      <a:r>
                        <a:rPr lang="ja-JP" altLang="en-US" sz="700" b="0" dirty="0">
                          <a:solidFill>
                            <a:schemeClr val="tx1"/>
                          </a:solidFill>
                          <a:latin typeface="メイリオ" panose="020B0604030504040204" pitchFamily="50" charset="-128"/>
                          <a:ea typeface="メイリオ" panose="020B0604030504040204" pitchFamily="50" charset="-128"/>
                        </a:rPr>
                        <a:t>ヘッダ変換アダプタ</a:t>
                      </a:r>
                      <a:endParaRPr lang="en-US" altLang="ja-JP" sz="700" b="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b="0" dirty="0" err="1">
                          <a:solidFill>
                            <a:schemeClr val="tx1"/>
                          </a:solidFill>
                          <a:latin typeface="メイリオ" panose="020B0604030504040204" pitchFamily="50" charset="-128"/>
                          <a:ea typeface="メイリオ" panose="020B0604030504040204" pitchFamily="50" charset="-128"/>
                        </a:rPr>
                        <a:t>TypeC</a:t>
                      </a:r>
                      <a:r>
                        <a:rPr lang="ja-JP" altLang="en-US" sz="700" b="0" dirty="0">
                          <a:solidFill>
                            <a:schemeClr val="tx1"/>
                          </a:solidFill>
                          <a:latin typeface="メイリオ" panose="020B0604030504040204" pitchFamily="50" charset="-128"/>
                          <a:ea typeface="メイリオ" panose="020B0604030504040204" pitchFamily="50" charset="-128"/>
                        </a:rPr>
                        <a:t>ヘッダのない</a:t>
                      </a:r>
                      <a:r>
                        <a:rPr lang="en-US" altLang="ja-JP" sz="700" b="0" dirty="0">
                          <a:solidFill>
                            <a:schemeClr val="tx1"/>
                          </a:solidFill>
                          <a:latin typeface="メイリオ" panose="020B0604030504040204" pitchFamily="50" charset="-128"/>
                          <a:ea typeface="メイリオ" panose="020B0604030504040204" pitchFamily="50" charset="-128"/>
                        </a:rPr>
                        <a:t>MB</a:t>
                      </a:r>
                      <a:r>
                        <a:rPr lang="ja-JP" altLang="en-US" sz="700" b="0" dirty="0">
                          <a:solidFill>
                            <a:schemeClr val="tx1"/>
                          </a:solidFill>
                          <a:latin typeface="メイリオ" panose="020B0604030504040204" pitchFamily="50" charset="-128"/>
                          <a:ea typeface="メイリオ" panose="020B0604030504040204" pitchFamily="50" charset="-128"/>
                        </a:rPr>
                        <a:t>を新ケースで使用するためのもの</a:t>
                      </a:r>
                      <a:endParaRPr lang="en-US" altLang="ja-JP" sz="700" b="0" dirty="0">
                        <a:solidFill>
                          <a:schemeClr val="tx1"/>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algn="l"/>
                      <a:endParaRPr kumimoji="1" lang="ja-JP" altLang="en-US"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42802934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187857</a:t>
                      </a:r>
                      <a:r>
                        <a:rPr lang="ja-JP" altLang="en-US" sz="800" b="0" u="none" strike="noStrike" dirty="0">
                          <a:solidFill>
                            <a:schemeClr val="tx1"/>
                          </a:solidFill>
                          <a:effectLst/>
                          <a:latin typeface="メイリオ" panose="020B0604030504040204" pitchFamily="50" charset="-128"/>
                          <a:ea typeface="メイリオ" panose="020B0604030504040204" pitchFamily="50" charset="-128"/>
                        </a:rPr>
                        <a:t> 組</a:t>
                      </a: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ASRock USB-ARGB</a:t>
                      </a:r>
                      <a:r>
                        <a:rPr lang="ja-JP" altLang="en-US" sz="800" b="0" u="none" strike="noStrike" dirty="0">
                          <a:solidFill>
                            <a:schemeClr val="tx1"/>
                          </a:solidFill>
                          <a:effectLst/>
                          <a:latin typeface="メイリオ" panose="020B0604030504040204" pitchFamily="50" charset="-128"/>
                          <a:ea typeface="メイリオ" panose="020B0604030504040204" pitchFamily="50" charset="-128"/>
                        </a:rPr>
                        <a:t>変換ｱﾀﾞﾌﾟﾀ</a:t>
                      </a:r>
                      <a:endParaRPr kumimoji="1" lang="en-US" altLang="ja-JP" sz="8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B550TW/A520MTW</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ｘ</a:t>
                      </a: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SK/SKM</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フロント</a:t>
                      </a: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ARGB</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用 </a:t>
                      </a: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USB-ARGB</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変換ｱﾀﾞﾌﾟﾀ</a:t>
                      </a:r>
                      <a:endParaRPr lang="en-US" altLang="ja-JP" sz="700" b="0" i="0" u="none" strike="noStrike" dirty="0">
                        <a:solidFill>
                          <a:schemeClr val="tx1"/>
                        </a:solidFill>
                        <a:effectLst/>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latin typeface="メイリオ" panose="020B0604030504040204" pitchFamily="50" charset="-128"/>
                          <a:ea typeface="メイリオ" panose="020B0604030504040204" pitchFamily="50" charset="-128"/>
                        </a:rPr>
                        <a:t>他構成では使用不可</a:t>
                      </a:r>
                      <a:endParaRPr kumimoji="1" lang="en-US" altLang="ja-JP" sz="80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latin typeface="メイリオ" panose="020B0604030504040204" pitchFamily="50" charset="-128"/>
                          <a:ea typeface="メイリオ" panose="020B0604030504040204" pitchFamily="50" charset="-128"/>
                        </a:rPr>
                        <a:t>ケース終了に伴い使用終了</a:t>
                      </a:r>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142303171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187856</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組</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SLR SR-CBUB-004(USB</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ﾘｱｽﾛｯﾄ </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4</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ﾎﾟｰﾄ</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ポート背面増設ケーブル　</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※USB2.0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ｘ</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4</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追加</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MB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に</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ヘッダが</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つ以上余剰がある場合</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の</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カスタム使用</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オリジナル</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MB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モデルｘ</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SK/SKM</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ケース組み合わせなど</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algn="l"/>
                      <a:r>
                        <a:rPr kumimoji="1" lang="ja-JP" altLang="en-US" sz="800" dirty="0">
                          <a:solidFill>
                            <a:srgbClr val="FF0000"/>
                          </a:solidFill>
                          <a:latin typeface="メイリオ" panose="020B0604030504040204" pitchFamily="50" charset="-128"/>
                          <a:ea typeface="メイリオ" panose="020B0604030504040204" pitchFamily="50" charset="-128"/>
                        </a:rPr>
                        <a:t>今後は使わなくなる見込み</a:t>
                      </a:r>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157368218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198751 </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組</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SLR SR-CBUB-002A(USB2.0x2 conversion cable)</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ポート背面増設ケーブル　</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※USB2.0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ｘ</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追加</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MB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に</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USB2.0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ヘッダが</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つ以上余剰がある場合カ</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の</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スタム使用</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algn="l"/>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65052628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265307 </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組</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SLR SR-CBUB-002B(USB3.0x2 conversion cable)</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ポート背面増設ケーブル　</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ｘ</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追加</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MB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に</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ヘッダが</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つ以上余剰がある場合</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の</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カスタム使用</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algn="l"/>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1707594418"/>
                  </a:ext>
                </a:extLst>
              </a:tr>
              <a:tr h="219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183423</a:t>
                      </a:r>
                      <a:r>
                        <a:rPr lang="ja-JP" altLang="en-US" sz="800" b="0" u="none" strike="noStrike" dirty="0">
                          <a:solidFill>
                            <a:schemeClr val="tx1"/>
                          </a:solidFill>
                          <a:effectLst/>
                          <a:latin typeface="メイリオ" panose="020B0604030504040204" pitchFamily="50" charset="-128"/>
                          <a:ea typeface="メイリオ" panose="020B0604030504040204" pitchFamily="50" charset="-128"/>
                        </a:rPr>
                        <a:t> 組</a:t>
                      </a: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SLR SR-PCI-23(USB-C Rear Slots 1port)</a:t>
                      </a:r>
                      <a:endParaRPr kumimoji="1" lang="en-US" altLang="ja-JP" sz="8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ポート背面増設ケーブル　</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r>
                        <a:rPr kumimoji="1" lang="en-US" altLang="ja-JP" sz="700" b="0" u="none" strike="noStrike" kern="1200" cap="none" spc="0" normalizeH="0" baseline="0" noProof="0" dirty="0" err="1">
                          <a:ln>
                            <a:noFill/>
                          </a:ln>
                          <a:solidFill>
                            <a:schemeClr val="tx1"/>
                          </a:solidFill>
                          <a:effectLst/>
                          <a:uLnTx/>
                          <a:uFillTx/>
                          <a:latin typeface="メイリオ" panose="020B0604030504040204" pitchFamily="50" charset="-128"/>
                          <a:ea typeface="メイリオ" panose="020B0604030504040204" pitchFamily="50" charset="-128"/>
                        </a:rPr>
                        <a:t>TypeC</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ｘ</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追加</a:t>
                      </a:r>
                      <a:endParaRPr lang="en-US" altLang="ja-JP" sz="700" b="0" u="none" strike="noStrike" dirty="0">
                        <a:solidFill>
                          <a:schemeClr val="tx1"/>
                        </a:solidFill>
                        <a:effectLst/>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b="0" u="none" strike="noStrike" dirty="0" err="1">
                          <a:solidFill>
                            <a:schemeClr val="tx1"/>
                          </a:solidFill>
                          <a:effectLst/>
                          <a:latin typeface="メイリオ" panose="020B0604030504040204" pitchFamily="50" charset="-128"/>
                          <a:ea typeface="メイリオ" panose="020B0604030504040204" pitchFamily="50" charset="-128"/>
                        </a:rPr>
                        <a:t>TypeC</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ヘッダ付き</a:t>
                      </a: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MB</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でケース前面に</a:t>
                      </a:r>
                      <a:r>
                        <a:rPr lang="en-US" altLang="ja-JP" sz="700" b="0" u="none" strike="noStrike" dirty="0" err="1">
                          <a:solidFill>
                            <a:schemeClr val="tx1"/>
                          </a:solidFill>
                          <a:effectLst/>
                          <a:latin typeface="メイリオ" panose="020B0604030504040204" pitchFamily="50" charset="-128"/>
                          <a:ea typeface="メイリオ" panose="020B0604030504040204" pitchFamily="50" charset="-128"/>
                        </a:rPr>
                        <a:t>TypeC</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がない場合のカスタム使用</a:t>
                      </a:r>
                      <a:endParaRPr lang="en-US" altLang="ja-JP" sz="700" b="0" u="none" strike="noStrike" dirty="0">
                        <a:solidFill>
                          <a:schemeClr val="tx1"/>
                        </a:solidFill>
                        <a:effectLst/>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　</a:t>
                      </a:r>
                      <a:r>
                        <a:rPr lang="en-US" altLang="ja-JP" sz="700" b="0" u="none" strike="noStrike" dirty="0">
                          <a:solidFill>
                            <a:schemeClr val="tx1"/>
                          </a:solidFill>
                          <a:effectLst/>
                          <a:latin typeface="メイリオ" panose="020B0604030504040204" pitchFamily="50" charset="-128"/>
                          <a:ea typeface="メイリオ" panose="020B0604030504040204" pitchFamily="50" charset="-128"/>
                        </a:rPr>
                        <a:t>CPS/EA/EM/4C/X3</a:t>
                      </a:r>
                      <a:r>
                        <a:rPr lang="ja-JP" altLang="en-US" sz="700" b="0" u="none" strike="noStrike" dirty="0">
                          <a:solidFill>
                            <a:schemeClr val="tx1"/>
                          </a:solidFill>
                          <a:effectLst/>
                          <a:latin typeface="メイリオ" panose="020B0604030504040204" pitchFamily="50" charset="-128"/>
                          <a:ea typeface="メイリオ" panose="020B0604030504040204" pitchFamily="50" charset="-128"/>
                        </a:rPr>
                        <a:t>ケースなど</a:t>
                      </a:r>
                      <a:endParaRPr lang="en-US" altLang="ja-JP" sz="700" b="0" i="0" u="none" strike="noStrike" dirty="0">
                        <a:solidFill>
                          <a:schemeClr val="tx1"/>
                        </a:solidFill>
                        <a:effectLst/>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algn="l"/>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259227487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207227</a:t>
                      </a:r>
                      <a:r>
                        <a:rPr lang="ja-JP" altLang="en-US" sz="800" b="0" u="none" strike="noStrike" dirty="0">
                          <a:solidFill>
                            <a:schemeClr val="tx1"/>
                          </a:solidFill>
                          <a:effectLst/>
                          <a:latin typeface="メイリオ" panose="020B0604030504040204" pitchFamily="50" charset="-128"/>
                          <a:ea typeface="メイリオ" panose="020B0604030504040204" pitchFamily="50" charset="-128"/>
                        </a:rPr>
                        <a:t> 組</a:t>
                      </a:r>
                      <a:r>
                        <a:rPr lang="en-US" altLang="ja-JP" sz="800" b="0" u="none" strike="noStrike" dirty="0">
                          <a:solidFill>
                            <a:schemeClr val="tx1"/>
                          </a:solidFill>
                          <a:effectLst/>
                          <a:latin typeface="メイリオ" panose="020B0604030504040204" pitchFamily="50" charset="-128"/>
                          <a:ea typeface="メイリオ" panose="020B0604030504040204" pitchFamily="50" charset="-128"/>
                        </a:rPr>
                        <a:t>SLR USB2.0→3.0 Conversion cable</a:t>
                      </a:r>
                      <a:endParaRPr kumimoji="1" lang="en-US" altLang="ja-JP" sz="8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B760M-HDV x SKM</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フロント</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不足用</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(USB3.0x2,USB2.0x2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仕様になる</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endPar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latin typeface="メイリオ" panose="020B0604030504040204" pitchFamily="50" charset="-128"/>
                          <a:ea typeface="メイリオ" panose="020B0604030504040204" pitchFamily="50" charset="-128"/>
                        </a:rPr>
                        <a:t>他構成では使用しない</a:t>
                      </a:r>
                      <a:endParaRPr kumimoji="1" lang="en-US" altLang="ja-JP" sz="80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latin typeface="メイリオ" panose="020B0604030504040204" pitchFamily="50" charset="-128"/>
                          <a:ea typeface="メイリオ" panose="020B0604030504040204" pitchFamily="50" charset="-128"/>
                        </a:rPr>
                        <a:t>ケース終了に伴い使用終了</a:t>
                      </a:r>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34509581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294153</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組</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SLR SR-ARCB-01B(ARGB 45cm Cable Color Black)</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ARGB </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延長ケーブル</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SF/SF</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ｍシリーズと</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MSI E240 V2/E360 V2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とセットなどで使用</a:t>
                      </a:r>
                      <a:endParaRPr kumimoji="1" lang="en-US" altLang="ja-JP" sz="7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tc>
                  <a:txBody>
                    <a:bodyPr/>
                    <a:lstStyle/>
                    <a:p>
                      <a:pPr algn="l"/>
                      <a:endParaRPr kumimoji="1" lang="en-US" altLang="ja-JP" sz="800" dirty="0">
                        <a:solidFill>
                          <a:srgbClr val="FF0000"/>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extLst>
                  <a:ext uri="{0D108BD9-81ED-4DB2-BD59-A6C34878D82A}">
                    <a16:rowId xmlns:a16="http://schemas.microsoft.com/office/drawing/2014/main" val="338052941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195094</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組玄人志向 </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USB3.0RA-P2H2-PCIE(PCIe/USB3.0 4</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ﾎﾟｰﾄ </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LP</a:t>
                      </a:r>
                      <a:endParaRPr kumimoji="1" lang="en-US" altLang="ja-JP" sz="8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増設カード　前面</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USB3.0</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不足用</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err="1">
                          <a:ln>
                            <a:noFill/>
                          </a:ln>
                          <a:solidFill>
                            <a:schemeClr val="tx1"/>
                          </a:solidFill>
                          <a:effectLst/>
                          <a:uLnTx/>
                          <a:uFillTx/>
                          <a:latin typeface="メイリオ" panose="020B0604030504040204" pitchFamily="50" charset="-128"/>
                          <a:ea typeface="メイリオ" panose="020B0604030504040204" pitchFamily="50" charset="-128"/>
                        </a:rPr>
                        <a:t>ProArt+EX</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/SK</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の組み合わせ等</a:t>
                      </a:r>
                      <a:endPar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SATA</a:t>
                      </a:r>
                      <a:r>
                        <a:rPr kumimoji="1" lang="ja-JP" altLang="en-US" sz="800" b="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電源が必要</a:t>
                      </a: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2870969686"/>
                  </a:ext>
                </a:extLst>
              </a:tr>
              <a:tr h="0">
                <a:tc>
                  <a:txBody>
                    <a:bodyPr/>
                    <a:lstStyle/>
                    <a:p>
                      <a:pPr algn="l"/>
                      <a:r>
                        <a:rPr lang="en-US" altLang="ja-JP" sz="800" b="0" dirty="0">
                          <a:solidFill>
                            <a:schemeClr val="tx1"/>
                          </a:solidFill>
                          <a:latin typeface="メイリオ" panose="020B0604030504040204" pitchFamily="50" charset="-128"/>
                          <a:ea typeface="メイリオ" panose="020B0604030504040204" pitchFamily="50" charset="-128"/>
                        </a:rPr>
                        <a:t>212352 </a:t>
                      </a:r>
                      <a:r>
                        <a:rPr lang="ja-JP" altLang="en-US" sz="800" b="0" dirty="0">
                          <a:solidFill>
                            <a:schemeClr val="tx1"/>
                          </a:solidFill>
                          <a:latin typeface="メイリオ" panose="020B0604030504040204" pitchFamily="50" charset="-128"/>
                          <a:ea typeface="メイリオ" panose="020B0604030504040204" pitchFamily="50" charset="-128"/>
                        </a:rPr>
                        <a:t>組</a:t>
                      </a:r>
                      <a:r>
                        <a:rPr lang="en-US" altLang="ja-JP" sz="800" b="0" dirty="0">
                          <a:solidFill>
                            <a:schemeClr val="tx1"/>
                          </a:solidFill>
                          <a:latin typeface="メイリオ" panose="020B0604030504040204" pitchFamily="50" charset="-128"/>
                          <a:ea typeface="メイリオ" panose="020B0604030504040204" pitchFamily="50" charset="-128"/>
                        </a:rPr>
                        <a:t>AINEX WAX-2415C-BK(ATX 24pin</a:t>
                      </a:r>
                      <a:r>
                        <a:rPr lang="ja-JP" altLang="en-US" sz="800" b="0" dirty="0">
                          <a:solidFill>
                            <a:schemeClr val="tx1"/>
                          </a:solidFill>
                          <a:latin typeface="メイリオ" panose="020B0604030504040204" pitchFamily="50" charset="-128"/>
                          <a:ea typeface="メイリオ" panose="020B0604030504040204" pitchFamily="50" charset="-128"/>
                        </a:rPr>
                        <a:t>電源延長 </a:t>
                      </a:r>
                      <a:r>
                        <a:rPr lang="en-US" altLang="ja-JP" sz="800" b="0" dirty="0">
                          <a:solidFill>
                            <a:schemeClr val="tx1"/>
                          </a:solidFill>
                          <a:latin typeface="メイリオ" panose="020B0604030504040204" pitchFamily="50" charset="-128"/>
                          <a:ea typeface="メイリオ" panose="020B0604030504040204" pitchFamily="50" charset="-128"/>
                        </a:rPr>
                        <a:t>15cm </a:t>
                      </a:r>
                      <a:r>
                        <a:rPr lang="ja-JP" altLang="en-US" sz="800" b="0" dirty="0">
                          <a:solidFill>
                            <a:schemeClr val="tx1"/>
                          </a:solidFill>
                          <a:latin typeface="メイリオ" panose="020B0604030504040204" pitchFamily="50" charset="-128"/>
                          <a:ea typeface="メイリオ" panose="020B0604030504040204" pitchFamily="50" charset="-128"/>
                        </a:rPr>
                        <a:t>黒</a:t>
                      </a:r>
                      <a:r>
                        <a:rPr lang="en-US" altLang="ja-JP" sz="800" b="0" dirty="0">
                          <a:solidFill>
                            <a:schemeClr val="tx1"/>
                          </a:solidFill>
                          <a:latin typeface="メイリオ" panose="020B0604030504040204" pitchFamily="50" charset="-128"/>
                          <a:ea typeface="メイリオ" panose="020B0604030504040204" pitchFamily="50" charset="-128"/>
                        </a:rPr>
                        <a:t>)</a:t>
                      </a:r>
                    </a:p>
                  </a:txBody>
                  <a:tcPr anchor="ctr">
                    <a:solidFill>
                      <a:schemeClr val="accent1">
                        <a:lumMod val="20000"/>
                        <a:lumOff val="80000"/>
                      </a:schemeClr>
                    </a:solidFill>
                  </a:tcPr>
                </a:tc>
                <a:tc>
                  <a:txBody>
                    <a:bodyPr/>
                    <a:lstStyle/>
                    <a:p>
                      <a:pPr algn="l"/>
                      <a:r>
                        <a:rPr kumimoji="1" lang="en-US" altLang="ja-JP" sz="700" b="0" dirty="0">
                          <a:solidFill>
                            <a:schemeClr val="tx1"/>
                          </a:solidFill>
                          <a:latin typeface="メイリオ" panose="020B0604030504040204" pitchFamily="50" charset="-128"/>
                          <a:ea typeface="メイリオ" panose="020B0604030504040204" pitchFamily="50" charset="-128"/>
                        </a:rPr>
                        <a:t>ATX24pin</a:t>
                      </a:r>
                      <a:r>
                        <a:rPr kumimoji="1" lang="ja-JP" altLang="en-US" sz="700" b="0" dirty="0">
                          <a:solidFill>
                            <a:schemeClr val="tx1"/>
                          </a:solidFill>
                          <a:latin typeface="メイリオ" panose="020B0604030504040204" pitchFamily="50" charset="-128"/>
                          <a:ea typeface="メイリオ" panose="020B0604030504040204" pitchFamily="50" charset="-128"/>
                        </a:rPr>
                        <a:t>延長　主に</a:t>
                      </a:r>
                      <a:r>
                        <a:rPr kumimoji="1" lang="en-US" altLang="ja-JP" sz="700" b="0" dirty="0">
                          <a:solidFill>
                            <a:schemeClr val="tx1"/>
                          </a:solidFill>
                          <a:latin typeface="メイリオ" panose="020B0604030504040204" pitchFamily="50" charset="-128"/>
                          <a:ea typeface="メイリオ" panose="020B0604030504040204" pitchFamily="50" charset="-128"/>
                        </a:rPr>
                        <a:t>EX</a:t>
                      </a:r>
                      <a:r>
                        <a:rPr kumimoji="1" lang="ja-JP" altLang="en-US" sz="700" b="0" dirty="0">
                          <a:solidFill>
                            <a:schemeClr val="tx1"/>
                          </a:solidFill>
                          <a:latin typeface="メイリオ" panose="020B0604030504040204" pitchFamily="50" charset="-128"/>
                          <a:ea typeface="メイリオ" panose="020B0604030504040204" pitchFamily="50" charset="-128"/>
                        </a:rPr>
                        <a:t>ケースモデルなどで使用</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648995325"/>
                  </a:ext>
                </a:extLst>
              </a:tr>
              <a:tr h="0">
                <a:tc>
                  <a:txBody>
                    <a:bodyPr/>
                    <a:lstStyle/>
                    <a:p>
                      <a:pPr algn="l"/>
                      <a:r>
                        <a:rPr lang="en-US" altLang="ja-JP" sz="800" b="0" dirty="0">
                          <a:solidFill>
                            <a:schemeClr val="tx1"/>
                          </a:solidFill>
                          <a:latin typeface="メイリオ" panose="020B0604030504040204" pitchFamily="50" charset="-128"/>
                          <a:ea typeface="メイリオ" panose="020B0604030504040204" pitchFamily="50" charset="-128"/>
                        </a:rPr>
                        <a:t>213016 </a:t>
                      </a:r>
                      <a:r>
                        <a:rPr lang="ja-JP" altLang="en-US" sz="800" b="0" dirty="0">
                          <a:solidFill>
                            <a:schemeClr val="tx1"/>
                          </a:solidFill>
                          <a:latin typeface="メイリオ" panose="020B0604030504040204" pitchFamily="50" charset="-128"/>
                          <a:ea typeface="メイリオ" panose="020B0604030504040204" pitchFamily="50" charset="-128"/>
                        </a:rPr>
                        <a:t>組</a:t>
                      </a:r>
                      <a:r>
                        <a:rPr lang="en-US" altLang="ja-JP" sz="800" b="0" dirty="0">
                          <a:solidFill>
                            <a:schemeClr val="tx1"/>
                          </a:solidFill>
                          <a:latin typeface="メイリオ" panose="020B0604030504040204" pitchFamily="50" charset="-128"/>
                          <a:ea typeface="メイリオ" panose="020B0604030504040204" pitchFamily="50" charset="-128"/>
                        </a:rPr>
                        <a:t>AINEX CA-099A(PWM</a:t>
                      </a:r>
                      <a:r>
                        <a:rPr lang="ja-JP" altLang="en-US" sz="800" b="0" dirty="0">
                          <a:solidFill>
                            <a:schemeClr val="tx1"/>
                          </a:solidFill>
                          <a:latin typeface="メイリオ" panose="020B0604030504040204" pitchFamily="50" charset="-128"/>
                          <a:ea typeface="メイリオ" panose="020B0604030504040204" pitchFamily="50" charset="-128"/>
                        </a:rPr>
                        <a:t>ﾌｧﾝ用電源延長ﾘﾎﾞﾝｹｰﾌﾞﾙ </a:t>
                      </a:r>
                      <a:r>
                        <a:rPr lang="en-US" altLang="ja-JP" sz="800" b="0" dirty="0">
                          <a:solidFill>
                            <a:schemeClr val="tx1"/>
                          </a:solidFill>
                          <a:latin typeface="メイリオ" panose="020B0604030504040204" pitchFamily="50" charset="-128"/>
                          <a:ea typeface="メイリオ" panose="020B0604030504040204" pitchFamily="50" charset="-128"/>
                        </a:rPr>
                        <a:t>50cm </a:t>
                      </a:r>
                      <a:r>
                        <a:rPr lang="ja-JP" altLang="en-US" sz="800" b="0" dirty="0">
                          <a:solidFill>
                            <a:schemeClr val="tx1"/>
                          </a:solidFill>
                          <a:latin typeface="メイリオ" panose="020B0604030504040204" pitchFamily="50" charset="-128"/>
                          <a:ea typeface="メイリオ" panose="020B0604030504040204" pitchFamily="50" charset="-128"/>
                        </a:rPr>
                        <a:t>黒</a:t>
                      </a:r>
                      <a:r>
                        <a:rPr lang="en-US" altLang="ja-JP" sz="800" b="0" dirty="0">
                          <a:solidFill>
                            <a:schemeClr val="tx1"/>
                          </a:solidFill>
                          <a:latin typeface="メイリオ" panose="020B0604030504040204" pitchFamily="50" charset="-128"/>
                          <a:ea typeface="メイリオ" panose="020B0604030504040204" pitchFamily="50" charset="-128"/>
                        </a:rPr>
                        <a:t>)</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FAN</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延長</a:t>
                      </a:r>
                      <a:r>
                        <a:rPr kumimoji="1" lang="ja-JP" altLang="en-US" sz="700" b="0" dirty="0">
                          <a:solidFill>
                            <a:schemeClr val="tx1"/>
                          </a:solidFill>
                          <a:latin typeface="メイリオ" panose="020B0604030504040204" pitchFamily="50" charset="-128"/>
                          <a:ea typeface="メイリオ" panose="020B0604030504040204" pitchFamily="50" charset="-128"/>
                        </a:rPr>
                        <a:t>　主に</a:t>
                      </a:r>
                      <a:r>
                        <a:rPr kumimoji="1" lang="en-US" altLang="ja-JP" sz="700" b="0" dirty="0">
                          <a:solidFill>
                            <a:schemeClr val="tx1"/>
                          </a:solidFill>
                          <a:latin typeface="メイリオ" panose="020B0604030504040204" pitchFamily="50" charset="-128"/>
                          <a:ea typeface="メイリオ" panose="020B0604030504040204" pitchFamily="50" charset="-128"/>
                        </a:rPr>
                        <a:t>EX</a:t>
                      </a:r>
                      <a:r>
                        <a:rPr kumimoji="1" lang="ja-JP" altLang="en-US" sz="700" b="0" dirty="0">
                          <a:solidFill>
                            <a:schemeClr val="tx1"/>
                          </a:solidFill>
                          <a:latin typeface="メイリオ" panose="020B0604030504040204" pitchFamily="50" charset="-128"/>
                          <a:ea typeface="メイリオ" panose="020B0604030504040204" pitchFamily="50" charset="-128"/>
                        </a:rPr>
                        <a:t>ケースモデルなどで使用</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328458633"/>
                  </a:ext>
                </a:extLst>
              </a:tr>
              <a:tr h="122654">
                <a:tc>
                  <a:txBody>
                    <a:bodyPr/>
                    <a:lstStyle/>
                    <a:p>
                      <a:pPr algn="l"/>
                      <a:r>
                        <a:rPr lang="en-US" altLang="ja-JP" sz="800" b="0" dirty="0">
                          <a:solidFill>
                            <a:schemeClr val="tx1"/>
                          </a:solidFill>
                          <a:latin typeface="メイリオ" panose="020B0604030504040204" pitchFamily="50" charset="-128"/>
                          <a:ea typeface="メイリオ" panose="020B0604030504040204" pitchFamily="50" charset="-128"/>
                        </a:rPr>
                        <a:t>204854 </a:t>
                      </a:r>
                      <a:r>
                        <a:rPr lang="ja-JP" altLang="en-US" sz="800" b="0" dirty="0">
                          <a:solidFill>
                            <a:schemeClr val="tx1"/>
                          </a:solidFill>
                          <a:latin typeface="メイリオ" panose="020B0604030504040204" pitchFamily="50" charset="-128"/>
                          <a:ea typeface="メイリオ" panose="020B0604030504040204" pitchFamily="50" charset="-128"/>
                        </a:rPr>
                        <a:t>組</a:t>
                      </a:r>
                      <a:r>
                        <a:rPr lang="en-US" altLang="ja-JP" sz="800" b="0" dirty="0">
                          <a:solidFill>
                            <a:schemeClr val="tx1"/>
                          </a:solidFill>
                          <a:latin typeface="メイリオ" panose="020B0604030504040204" pitchFamily="50" charset="-128"/>
                          <a:ea typeface="メイリオ" panose="020B0604030504040204" pitchFamily="50" charset="-128"/>
                        </a:rPr>
                        <a:t>FOE 246824(PWM 4pin cable 10cm Female to 2Male)</a:t>
                      </a:r>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FAN2</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分割</a:t>
                      </a:r>
                      <a:r>
                        <a:rPr kumimoji="1" lang="ja-JP" altLang="en-US" sz="700" b="0" dirty="0">
                          <a:solidFill>
                            <a:schemeClr val="tx1"/>
                          </a:solidFill>
                          <a:latin typeface="メイリオ" panose="020B0604030504040204" pitchFamily="50" charset="-128"/>
                          <a:ea typeface="メイリオ" panose="020B0604030504040204" pitchFamily="50" charset="-128"/>
                        </a:rPr>
                        <a:t>　</a:t>
                      </a:r>
                      <a:r>
                        <a:rPr kumimoji="1" lang="en-US" altLang="ja-JP" sz="700" b="0" dirty="0">
                          <a:solidFill>
                            <a:schemeClr val="tx1"/>
                          </a:solidFill>
                          <a:latin typeface="メイリオ" panose="020B0604030504040204" pitchFamily="50" charset="-128"/>
                          <a:ea typeface="メイリオ" panose="020B0604030504040204" pitchFamily="50" charset="-128"/>
                        </a:rPr>
                        <a:t>340mm</a:t>
                      </a:r>
                      <a:r>
                        <a:rPr kumimoji="1" lang="ja-JP" altLang="en-US" sz="700" b="0" dirty="0">
                          <a:solidFill>
                            <a:schemeClr val="tx1"/>
                          </a:solidFill>
                          <a:latin typeface="メイリオ" panose="020B0604030504040204" pitchFamily="50" charset="-128"/>
                          <a:ea typeface="メイリオ" panose="020B0604030504040204" pitchFamily="50" charset="-128"/>
                        </a:rPr>
                        <a:t>水冷などで使用</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559629425"/>
                  </a:ext>
                </a:extLst>
              </a:tr>
              <a:tr h="140558">
                <a:tc>
                  <a:txBody>
                    <a:bodyPr/>
                    <a:lstStyle/>
                    <a:p>
                      <a:pPr algn="l"/>
                      <a:r>
                        <a:rPr lang="en-US" altLang="ja-JP" sz="800" b="0" dirty="0">
                          <a:solidFill>
                            <a:schemeClr val="tx1"/>
                          </a:solidFill>
                          <a:latin typeface="メイリオ" panose="020B0604030504040204" pitchFamily="50" charset="-128"/>
                          <a:ea typeface="メイリオ" panose="020B0604030504040204" pitchFamily="50" charset="-128"/>
                        </a:rPr>
                        <a:t>212743 </a:t>
                      </a:r>
                      <a:r>
                        <a:rPr lang="ja-JP" altLang="en-US" sz="800" b="0" dirty="0">
                          <a:solidFill>
                            <a:schemeClr val="tx1"/>
                          </a:solidFill>
                          <a:latin typeface="メイリオ" panose="020B0604030504040204" pitchFamily="50" charset="-128"/>
                          <a:ea typeface="メイリオ" panose="020B0604030504040204" pitchFamily="50" charset="-128"/>
                        </a:rPr>
                        <a:t>組</a:t>
                      </a:r>
                      <a:r>
                        <a:rPr lang="en-US" altLang="ja-JP" sz="800" b="0" dirty="0">
                          <a:solidFill>
                            <a:schemeClr val="tx1"/>
                          </a:solidFill>
                          <a:latin typeface="メイリオ" panose="020B0604030504040204" pitchFamily="50" charset="-128"/>
                          <a:ea typeface="メイリオ" panose="020B0604030504040204" pitchFamily="50" charset="-128"/>
                        </a:rPr>
                        <a:t>AINEX CA-100A(PWM</a:t>
                      </a:r>
                      <a:r>
                        <a:rPr lang="ja-JP" altLang="en-US" sz="800" b="0" dirty="0">
                          <a:solidFill>
                            <a:schemeClr val="tx1"/>
                          </a:solidFill>
                          <a:latin typeface="メイリオ" panose="020B0604030504040204" pitchFamily="50" charset="-128"/>
                          <a:ea typeface="メイリオ" panose="020B0604030504040204" pitchFamily="50" charset="-128"/>
                        </a:rPr>
                        <a:t>ﾌｧﾝ用電源</a:t>
                      </a:r>
                      <a:r>
                        <a:rPr lang="en-US" altLang="ja-JP" sz="800" b="0" dirty="0">
                          <a:solidFill>
                            <a:schemeClr val="tx1"/>
                          </a:solidFill>
                          <a:latin typeface="メイリオ" panose="020B0604030504040204" pitchFamily="50" charset="-128"/>
                          <a:ea typeface="メイリオ" panose="020B0604030504040204" pitchFamily="50" charset="-128"/>
                        </a:rPr>
                        <a:t>3</a:t>
                      </a:r>
                      <a:r>
                        <a:rPr lang="ja-JP" altLang="en-US" sz="800" b="0" dirty="0">
                          <a:solidFill>
                            <a:schemeClr val="tx1"/>
                          </a:solidFill>
                          <a:latin typeface="メイリオ" panose="020B0604030504040204" pitchFamily="50" charset="-128"/>
                          <a:ea typeface="メイリオ" panose="020B0604030504040204" pitchFamily="50" charset="-128"/>
                        </a:rPr>
                        <a:t>分岐ｹｰﾌﾞﾙ </a:t>
                      </a:r>
                      <a:r>
                        <a:rPr lang="en-US" altLang="ja-JP" sz="800" b="0" dirty="0">
                          <a:solidFill>
                            <a:schemeClr val="tx1"/>
                          </a:solidFill>
                          <a:latin typeface="メイリオ" panose="020B0604030504040204" pitchFamily="50" charset="-128"/>
                          <a:ea typeface="メイリオ" panose="020B0604030504040204" pitchFamily="50" charset="-128"/>
                        </a:rPr>
                        <a:t>34cm)</a:t>
                      </a:r>
                    </a:p>
                  </a:txBody>
                  <a:tcPr anchor="ctr">
                    <a:solidFill>
                      <a:schemeClr val="accent1">
                        <a:lumMod val="20000"/>
                        <a:lumOff val="80000"/>
                      </a:schemeClr>
                    </a:solidFill>
                  </a:tcPr>
                </a:tc>
                <a:tc>
                  <a:txBody>
                    <a:bodyPr/>
                    <a:lstStyle/>
                    <a:p>
                      <a:pPr algn="l"/>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FAN3</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分割</a:t>
                      </a:r>
                      <a:r>
                        <a:rPr kumimoji="1" lang="ja-JP" altLang="en-US" sz="700" b="0" dirty="0">
                          <a:solidFill>
                            <a:schemeClr val="tx1"/>
                          </a:solidFill>
                          <a:latin typeface="メイリオ" panose="020B0604030504040204" pitchFamily="50" charset="-128"/>
                          <a:ea typeface="メイリオ" panose="020B0604030504040204" pitchFamily="50" charset="-128"/>
                        </a:rPr>
                        <a:t>　</a:t>
                      </a:r>
                      <a:r>
                        <a:rPr kumimoji="1" lang="en-US" altLang="ja-JP" sz="700" b="0" dirty="0">
                          <a:solidFill>
                            <a:schemeClr val="tx1"/>
                          </a:solidFill>
                          <a:latin typeface="メイリオ" panose="020B0604030504040204" pitchFamily="50" charset="-128"/>
                          <a:ea typeface="メイリオ" panose="020B0604030504040204" pitchFamily="50" charset="-128"/>
                        </a:rPr>
                        <a:t>360mm</a:t>
                      </a:r>
                      <a:r>
                        <a:rPr kumimoji="1" lang="ja-JP" altLang="en-US" sz="700" b="0" dirty="0">
                          <a:solidFill>
                            <a:schemeClr val="tx1"/>
                          </a:solidFill>
                          <a:latin typeface="メイリオ" panose="020B0604030504040204" pitchFamily="50" charset="-128"/>
                          <a:ea typeface="メイリオ" panose="020B0604030504040204" pitchFamily="50" charset="-128"/>
                        </a:rPr>
                        <a:t>水冷や</a:t>
                      </a:r>
                      <a:r>
                        <a:rPr kumimoji="1" lang="en-US" altLang="ja-JP" sz="700" b="0" dirty="0">
                          <a:solidFill>
                            <a:schemeClr val="tx1"/>
                          </a:solidFill>
                          <a:latin typeface="メイリオ" panose="020B0604030504040204" pitchFamily="50" charset="-128"/>
                          <a:ea typeface="メイリオ" panose="020B0604030504040204" pitchFamily="50" charset="-128"/>
                        </a:rPr>
                        <a:t>EX</a:t>
                      </a:r>
                      <a:r>
                        <a:rPr kumimoji="1" lang="ja-JP" altLang="en-US" sz="700" b="0" dirty="0">
                          <a:solidFill>
                            <a:schemeClr val="tx1"/>
                          </a:solidFill>
                          <a:latin typeface="メイリオ" panose="020B0604030504040204" pitchFamily="50" charset="-128"/>
                          <a:ea typeface="メイリオ" panose="020B0604030504040204" pitchFamily="50" charset="-128"/>
                        </a:rPr>
                        <a:t>ケースモデルなどで使用</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3950796190"/>
                  </a:ext>
                </a:extLst>
              </a:tr>
              <a:tr h="0">
                <a:tc>
                  <a:txBody>
                    <a:bodyPr/>
                    <a:lstStyle/>
                    <a:p>
                      <a:pPr algn="l"/>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a:t>
                      </a:r>
                      <a:r>
                        <a:rPr kumimoji="1" lang="en-US" altLang="ja-JP" sz="800" b="0" u="none" strike="noStrike" kern="1200" cap="none" spc="0" normalizeH="0" baseline="0" noProof="0" dirty="0" err="1">
                          <a:ln>
                            <a:noFill/>
                          </a:ln>
                          <a:solidFill>
                            <a:schemeClr val="tx1"/>
                          </a:solidFill>
                          <a:effectLst/>
                          <a:uLnTx/>
                          <a:uFillTx/>
                          <a:latin typeface="メイリオ" panose="020B0604030504040204" pitchFamily="50" charset="-128"/>
                          <a:ea typeface="メイリオ" panose="020B0604030504040204" pitchFamily="50" charset="-128"/>
                        </a:rPr>
                        <a:t>Ainex</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CA-864SAPSA(FLU/EZ-DIY</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社製品に変更予定</a:t>
                      </a:r>
                      <a:r>
                        <a:rPr kumimoji="1" lang="en-US" altLang="ja-JP"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r>
                        <a:rPr kumimoji="1" lang="ja-JP" altLang="en-US" sz="8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　</a:t>
                      </a:r>
                      <a:endParaRPr kumimoji="1" lang="ja-JP" altLang="en-US" sz="8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cs typeface="+mn-cs"/>
                      </a:endParaRPr>
                    </a:p>
                  </a:txBody>
                  <a:tcPr anchor="ctr">
                    <a:solidFill>
                      <a:schemeClr val="accent1">
                        <a:lumMod val="20000"/>
                        <a:lumOff val="80000"/>
                      </a:schemeClr>
                    </a:solidFill>
                  </a:tcPr>
                </a:tc>
                <a:tc>
                  <a:txBody>
                    <a:bodyPr/>
                    <a:lstStyle/>
                    <a:p>
                      <a:pPr algn="l"/>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FAN4</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分割　主に</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SFF</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モデル用</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ケース前後</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FAN</a:t>
                      </a:r>
                      <a:r>
                        <a:rPr kumimoji="1" lang="ja-JP" altLang="en-US"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用</a:t>
                      </a:r>
                      <a:r>
                        <a:rPr kumimoji="1" lang="en-US" altLang="ja-JP" sz="700" b="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rPr>
                        <a:t>)</a:t>
                      </a:r>
                      <a:endParaRPr kumimoji="1" lang="ja-JP" altLang="en-US" sz="700" b="0" dirty="0">
                        <a:solidFill>
                          <a:schemeClr val="tx1"/>
                        </a:solidFill>
                        <a:latin typeface="メイリオ" panose="020B0604030504040204" pitchFamily="50" charset="-128"/>
                        <a:ea typeface="メイリオ" panose="020B0604030504040204" pitchFamily="50" charset="-128"/>
                      </a:endParaRP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SATA</a:t>
                      </a:r>
                      <a:r>
                        <a:rPr kumimoji="1" lang="ja-JP" altLang="en-US" sz="800" b="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電源が必要</a:t>
                      </a:r>
                      <a:endParaRPr kumimoji="1" lang="ja-JP" altLang="en-US" sz="800" b="0" i="0" u="none" strike="noStrike" kern="1200" cap="none" spc="0"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cs typeface="+mn-cs"/>
                      </a:endParaRPr>
                    </a:p>
                  </a:txBody>
                  <a:tcPr>
                    <a:solidFill>
                      <a:schemeClr val="accent1">
                        <a:lumMod val="20000"/>
                        <a:lumOff val="80000"/>
                      </a:schemeClr>
                    </a:solidFill>
                  </a:tcPr>
                </a:tc>
                <a:extLst>
                  <a:ext uri="{0D108BD9-81ED-4DB2-BD59-A6C34878D82A}">
                    <a16:rowId xmlns:a16="http://schemas.microsoft.com/office/drawing/2014/main" val="1939573005"/>
                  </a:ext>
                </a:extLst>
              </a:tr>
            </a:tbl>
          </a:graphicData>
        </a:graphic>
      </p:graphicFrame>
    </p:spTree>
    <p:extLst>
      <p:ext uri="{BB962C8B-B14F-4D97-AF65-F5344CB8AC3E}">
        <p14:creationId xmlns:p14="http://schemas.microsoft.com/office/powerpoint/2010/main" val="948353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36236181-F7F1-4945-A2C7-549732AEB04C}"/>
              </a:ext>
            </a:extLst>
          </p:cNvPr>
          <p:cNvSpPr txBox="1"/>
          <p:nvPr/>
        </p:nvSpPr>
        <p:spPr>
          <a:xfrm>
            <a:off x="0" y="0"/>
            <a:ext cx="310414" cy="323165"/>
          </a:xfrm>
          <a:prstGeom prst="rect">
            <a:avLst/>
          </a:prstGeom>
          <a:noFill/>
        </p:spPr>
        <p:txBody>
          <a:bodyPr wrap="square" rtlCol="0">
            <a:spAutoFit/>
          </a:bodyPr>
          <a:lstStyle/>
          <a:p>
            <a:r>
              <a:rPr lang="ja-JP" altLang="en-US" sz="1500">
                <a:solidFill>
                  <a:srgbClr val="1A1FFC"/>
                </a:solidFill>
              </a:rPr>
              <a:t>■</a:t>
            </a:r>
          </a:p>
        </p:txBody>
      </p:sp>
      <p:graphicFrame>
        <p:nvGraphicFramePr>
          <p:cNvPr id="9" name="表 8">
            <a:extLst>
              <a:ext uri="{FF2B5EF4-FFF2-40B4-BE49-F238E27FC236}">
                <a16:creationId xmlns:a16="http://schemas.microsoft.com/office/drawing/2014/main" id="{C6F8D18F-FEBF-49F2-A5CF-A910FBF01B52}"/>
              </a:ext>
            </a:extLst>
          </p:cNvPr>
          <p:cNvGraphicFramePr>
            <a:graphicFrameLocks noGrp="1"/>
          </p:cNvGraphicFramePr>
          <p:nvPr/>
        </p:nvGraphicFramePr>
        <p:xfrm>
          <a:off x="100250" y="482383"/>
          <a:ext cx="8815152" cy="2667000"/>
        </p:xfrm>
        <a:graphic>
          <a:graphicData uri="http://schemas.openxmlformats.org/drawingml/2006/table">
            <a:tbl>
              <a:tblPr firstRow="1" bandRow="1">
                <a:tableStyleId>{5C22544A-7EE6-4342-B048-85BDC9FD1C3A}</a:tableStyleId>
              </a:tblPr>
              <a:tblGrid>
                <a:gridCol w="1799273">
                  <a:extLst>
                    <a:ext uri="{9D8B030D-6E8A-4147-A177-3AD203B41FA5}">
                      <a16:colId xmlns:a16="http://schemas.microsoft.com/office/drawing/2014/main" val="1656063346"/>
                    </a:ext>
                  </a:extLst>
                </a:gridCol>
                <a:gridCol w="4231720">
                  <a:extLst>
                    <a:ext uri="{9D8B030D-6E8A-4147-A177-3AD203B41FA5}">
                      <a16:colId xmlns:a16="http://schemas.microsoft.com/office/drawing/2014/main" val="1505477092"/>
                    </a:ext>
                  </a:extLst>
                </a:gridCol>
                <a:gridCol w="1555195">
                  <a:extLst>
                    <a:ext uri="{9D8B030D-6E8A-4147-A177-3AD203B41FA5}">
                      <a16:colId xmlns:a16="http://schemas.microsoft.com/office/drawing/2014/main" val="3261296342"/>
                    </a:ext>
                  </a:extLst>
                </a:gridCol>
                <a:gridCol w="1228964">
                  <a:extLst>
                    <a:ext uri="{9D8B030D-6E8A-4147-A177-3AD203B41FA5}">
                      <a16:colId xmlns:a16="http://schemas.microsoft.com/office/drawing/2014/main" val="2735424952"/>
                    </a:ext>
                  </a:extLst>
                </a:gridCol>
              </a:tblGrid>
              <a:tr h="171450">
                <a:tc>
                  <a:txBody>
                    <a:bodyPr/>
                    <a:lstStyle/>
                    <a:p>
                      <a:r>
                        <a:rPr kumimoji="1" lang="ja-JP" altLang="en-US" sz="700"/>
                        <a:t>ケース</a:t>
                      </a:r>
                      <a:endParaRPr kumimoji="1" lang="ja-JP" altLang="en-US" sz="700">
                        <a:latin typeface="+mn-ea"/>
                        <a:ea typeface="+mn-ea"/>
                      </a:endParaRPr>
                    </a:p>
                  </a:txBody>
                  <a:tcPr marL="68580" marR="68580" marT="34290" marB="34290" anchor="ctr"/>
                </a:tc>
                <a:tc>
                  <a:txBody>
                    <a:bodyPr/>
                    <a:lstStyle/>
                    <a:p>
                      <a:pPr algn="ctr"/>
                      <a:r>
                        <a:rPr kumimoji="1" lang="ja-JP" altLang="en-US" sz="700"/>
                        <a:t>基本金具</a:t>
                      </a:r>
                      <a:endParaRPr kumimoji="1" lang="ja-JP" altLang="en-US" sz="700">
                        <a:latin typeface="+mn-ea"/>
                        <a:ea typeface="+mn-ea"/>
                      </a:endParaRPr>
                    </a:p>
                  </a:txBody>
                  <a:tcPr marL="68580" marR="68580" marT="34290" marB="34290" anchor="ctr"/>
                </a:tc>
                <a:tc>
                  <a:txBody>
                    <a:bodyPr/>
                    <a:lstStyle/>
                    <a:p>
                      <a:pPr algn="ctr"/>
                      <a:r>
                        <a:rPr kumimoji="1" lang="ja-JP" altLang="en-US" sz="700"/>
                        <a:t>ラバー</a:t>
                      </a:r>
                      <a:endParaRPr kumimoji="1" lang="ja-JP" altLang="en-US" sz="700">
                        <a:latin typeface="+mn-ea"/>
                        <a:ea typeface="+mn-ea"/>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a:t>備考</a:t>
                      </a:r>
                      <a:endParaRPr kumimoji="1" lang="ja-JP" altLang="en-US" sz="700">
                        <a:latin typeface="+mn-ea"/>
                        <a:ea typeface="+mn-ea"/>
                      </a:endParaRPr>
                    </a:p>
                  </a:txBody>
                  <a:tcPr marL="68580" marR="68580" marT="34290" marB="34290" anchor="ctr"/>
                </a:tc>
                <a:extLst>
                  <a:ext uri="{0D108BD9-81ED-4DB2-BD59-A6C34878D82A}">
                    <a16:rowId xmlns:a16="http://schemas.microsoft.com/office/drawing/2014/main" val="163615863"/>
                  </a:ext>
                </a:extLst>
              </a:tr>
              <a:tr h="171450">
                <a:tc>
                  <a:txBody>
                    <a:bodyPr/>
                    <a:lstStyle/>
                    <a:p>
                      <a:r>
                        <a:rPr kumimoji="1" lang="en-US" altLang="ja-JP" sz="700">
                          <a:latin typeface="+mn-ea"/>
                          <a:ea typeface="+mn-ea"/>
                        </a:rPr>
                        <a:t>SK/SKM</a:t>
                      </a:r>
                      <a:endParaRPr kumimoji="1" lang="ja-JP" altLang="en-US" sz="700">
                        <a:latin typeface="+mn-ea"/>
                        <a:ea typeface="+mn-ea"/>
                      </a:endParaRPr>
                    </a:p>
                  </a:txBody>
                  <a:tcPr marL="68580" marR="68580" marT="34290" marB="34290" anchor="ctr"/>
                </a:tc>
                <a:tc>
                  <a:txBody>
                    <a:bodyPr/>
                    <a:lstStyle/>
                    <a:p>
                      <a:r>
                        <a:rPr lang="ja-JP" altLang="en-US" sz="700">
                          <a:latin typeface="+mn-ea"/>
                          <a:ea typeface="+mn-ea"/>
                        </a:rPr>
                        <a:t>175373 組 VGA support fixture3 for S</a:t>
                      </a:r>
                      <a:r>
                        <a:rPr lang="en-US" altLang="en-US" sz="700">
                          <a:latin typeface="+mn-ea"/>
                          <a:ea typeface="+mn-ea"/>
                        </a:rPr>
                        <a:t>K</a:t>
                      </a:r>
                      <a:endParaRPr lang="ja-JP" altLang="ja-JP" sz="700">
                        <a:latin typeface="+mn-ea"/>
                        <a:ea typeface="+mn-ea"/>
                        <a:cs typeface="+mn-lt"/>
                      </a:endParaRPr>
                    </a:p>
                  </a:txBody>
                  <a:tcPr marL="68580" marR="68580" marT="34290" marB="34290" anchor="ctr"/>
                </a:tc>
                <a:tc rowSpan="13">
                  <a:txBody>
                    <a:bodyPr/>
                    <a:lstStyle/>
                    <a:p>
                      <a:r>
                        <a:rPr lang="en-US" altLang="ja-JP" sz="600" dirty="0">
                          <a:latin typeface="+mn-ea"/>
                          <a:ea typeface="+mn-ea"/>
                        </a:rPr>
                        <a:t>175375</a:t>
                      </a:r>
                      <a:r>
                        <a:rPr lang="ja-JP" altLang="en-US" sz="600" dirty="0">
                          <a:latin typeface="+mn-ea"/>
                          <a:ea typeface="+mn-ea"/>
                        </a:rPr>
                        <a:t> 組 </a:t>
                      </a:r>
                      <a:r>
                        <a:rPr lang="en-US" altLang="ja-JP" sz="600" dirty="0">
                          <a:latin typeface="+mn-ea"/>
                          <a:ea typeface="+mn-ea"/>
                        </a:rPr>
                        <a:t>Rubber</a:t>
                      </a:r>
                      <a:r>
                        <a:rPr lang="ja-JP" altLang="en-US" sz="600" dirty="0">
                          <a:latin typeface="+mn-ea"/>
                          <a:ea typeface="+mn-ea"/>
                        </a:rPr>
                        <a:t> </a:t>
                      </a:r>
                      <a:r>
                        <a:rPr lang="en-US" altLang="ja-JP" sz="600" dirty="0">
                          <a:latin typeface="+mn-ea"/>
                          <a:ea typeface="+mn-ea"/>
                        </a:rPr>
                        <a:t>for</a:t>
                      </a:r>
                      <a:r>
                        <a:rPr lang="ja-JP" altLang="en-US" sz="600" dirty="0">
                          <a:latin typeface="+mn-ea"/>
                          <a:ea typeface="+mn-ea"/>
                        </a:rPr>
                        <a:t> </a:t>
                      </a:r>
                      <a:r>
                        <a:rPr lang="en-US" altLang="ja-JP" sz="600" dirty="0">
                          <a:latin typeface="+mn-ea"/>
                          <a:ea typeface="+mn-ea"/>
                        </a:rPr>
                        <a:t>support</a:t>
                      </a:r>
                      <a:r>
                        <a:rPr lang="ja-JP" altLang="en-US" sz="600" dirty="0">
                          <a:latin typeface="+mn-ea"/>
                          <a:ea typeface="+mn-ea"/>
                        </a:rPr>
                        <a:t> </a:t>
                      </a:r>
                      <a:r>
                        <a:rPr lang="en-US" altLang="ja-JP" sz="600" dirty="0">
                          <a:latin typeface="+mn-ea"/>
                          <a:ea typeface="+mn-ea"/>
                        </a:rPr>
                        <a:t>right</a:t>
                      </a:r>
                      <a:r>
                        <a:rPr lang="ja-JP" altLang="en-US" sz="600" dirty="0">
                          <a:latin typeface="+mn-ea"/>
                          <a:ea typeface="+mn-ea"/>
                        </a:rPr>
                        <a:t> </a:t>
                      </a:r>
                      <a:r>
                        <a:rPr lang="en-US" altLang="ja-JP" sz="600" dirty="0">
                          <a:latin typeface="+mn-ea"/>
                          <a:ea typeface="+mn-ea"/>
                        </a:rPr>
                        <a:t>2</a:t>
                      </a:r>
                    </a:p>
                    <a:p>
                      <a:r>
                        <a:rPr lang="en-US" altLang="ja-JP" sz="600" dirty="0">
                          <a:latin typeface="+mn-ea"/>
                          <a:ea typeface="+mn-ea"/>
                        </a:rPr>
                        <a:t>175376</a:t>
                      </a:r>
                      <a:r>
                        <a:rPr lang="ja-JP" altLang="en-US" sz="600" dirty="0">
                          <a:latin typeface="+mn-ea"/>
                          <a:ea typeface="+mn-ea"/>
                        </a:rPr>
                        <a:t> 組 </a:t>
                      </a:r>
                      <a:r>
                        <a:rPr lang="en-US" altLang="ja-JP" sz="600" dirty="0">
                          <a:latin typeface="+mn-ea"/>
                          <a:ea typeface="+mn-ea"/>
                        </a:rPr>
                        <a:t>Rubber</a:t>
                      </a:r>
                      <a:r>
                        <a:rPr lang="ja-JP" altLang="en-US" sz="600" dirty="0">
                          <a:latin typeface="+mn-ea"/>
                          <a:ea typeface="+mn-ea"/>
                        </a:rPr>
                        <a:t> </a:t>
                      </a:r>
                      <a:r>
                        <a:rPr lang="en-US" altLang="ja-JP" sz="600" dirty="0">
                          <a:latin typeface="+mn-ea"/>
                          <a:ea typeface="+mn-ea"/>
                        </a:rPr>
                        <a:t>for</a:t>
                      </a:r>
                      <a:r>
                        <a:rPr lang="ja-JP" altLang="en-US" sz="600" dirty="0">
                          <a:latin typeface="+mn-ea"/>
                          <a:ea typeface="+mn-ea"/>
                        </a:rPr>
                        <a:t> </a:t>
                      </a:r>
                      <a:r>
                        <a:rPr lang="en-US" altLang="ja-JP" sz="600" dirty="0">
                          <a:latin typeface="+mn-ea"/>
                          <a:ea typeface="+mn-ea"/>
                        </a:rPr>
                        <a:t>AMD</a:t>
                      </a:r>
                      <a:r>
                        <a:rPr lang="ja-JP" altLang="en-US" sz="600" dirty="0">
                          <a:latin typeface="+mn-ea"/>
                          <a:ea typeface="+mn-ea"/>
                        </a:rPr>
                        <a:t>＆</a:t>
                      </a:r>
                      <a:r>
                        <a:rPr lang="en-US" altLang="ja-JP" sz="600" dirty="0" err="1">
                          <a:latin typeface="+mn-ea"/>
                          <a:ea typeface="+mn-ea"/>
                        </a:rPr>
                        <a:t>msi</a:t>
                      </a:r>
                      <a:endParaRPr lang="ja-JP" altLang="ja-JP" sz="600" dirty="0">
                        <a:latin typeface="+mn-ea"/>
                        <a:ea typeface="+mn-ea"/>
                      </a:endParaRPr>
                    </a:p>
                  </a:txBody>
                  <a:tcPr marL="68580" marR="68580" marT="34290" marB="34290" anchor="ctr"/>
                </a:tc>
                <a:tc>
                  <a:txBody>
                    <a:bodyPr/>
                    <a:lstStyle/>
                    <a:p>
                      <a:endParaRPr kumimoji="1" lang="ja-JP" altLang="en-US" sz="700">
                        <a:latin typeface="+mn-ea"/>
                        <a:ea typeface="+mn-ea"/>
                      </a:endParaRPr>
                    </a:p>
                  </a:txBody>
                  <a:tcPr marL="68580" marR="68580" marT="34290" marB="34290" anchor="ctr"/>
                </a:tc>
                <a:extLst>
                  <a:ext uri="{0D108BD9-81ED-4DB2-BD59-A6C34878D82A}">
                    <a16:rowId xmlns:a16="http://schemas.microsoft.com/office/drawing/2014/main" val="2058796462"/>
                  </a:ext>
                </a:extLst>
              </a:tr>
              <a:tr h="171450">
                <a:tc>
                  <a:txBody>
                    <a:bodyPr/>
                    <a:lstStyle/>
                    <a:p>
                      <a:r>
                        <a:rPr kumimoji="1" lang="en-US" altLang="ja-JP" sz="700">
                          <a:solidFill>
                            <a:srgbClr val="FF0000"/>
                          </a:solidFill>
                          <a:latin typeface="+mn-ea"/>
                          <a:ea typeface="+mn-ea"/>
                        </a:rPr>
                        <a:t>4C</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solidFill>
                            <a:srgbClr val="FF0000"/>
                          </a:solidFill>
                          <a:latin typeface="+mn-ea"/>
                          <a:ea typeface="+mn-ea"/>
                        </a:rPr>
                        <a:t>175374 </a:t>
                      </a:r>
                      <a:r>
                        <a:rPr lang="ja-JP" altLang="en-US" sz="700">
                          <a:solidFill>
                            <a:srgbClr val="FF0000"/>
                          </a:solidFill>
                          <a:latin typeface="+mn-ea"/>
                          <a:ea typeface="+mn-ea"/>
                        </a:rPr>
                        <a:t>組 </a:t>
                      </a:r>
                      <a:r>
                        <a:rPr lang="en-US" altLang="ja-JP" sz="700">
                          <a:solidFill>
                            <a:srgbClr val="FF0000"/>
                          </a:solidFill>
                          <a:latin typeface="+mn-ea"/>
                          <a:ea typeface="+mn-ea"/>
                        </a:rPr>
                        <a:t>VGA support fixture3 for </a:t>
                      </a:r>
                      <a:r>
                        <a:rPr lang="en-US" altLang="ja-JP" sz="700" err="1">
                          <a:solidFill>
                            <a:srgbClr val="FF0000"/>
                          </a:solidFill>
                          <a:latin typeface="+mn-ea"/>
                          <a:ea typeface="+mn-ea"/>
                        </a:rPr>
                        <a:t>raytrek</a:t>
                      </a:r>
                      <a:r>
                        <a:rPr lang="en-US" altLang="ja-JP" sz="700">
                          <a:solidFill>
                            <a:srgbClr val="FF0000"/>
                          </a:solidFill>
                          <a:latin typeface="+mn-ea"/>
                          <a:ea typeface="+mn-ea"/>
                        </a:rPr>
                        <a:t> (</a:t>
                      </a:r>
                      <a:r>
                        <a:rPr lang="ja-JP" altLang="en-US" sz="700">
                          <a:solidFill>
                            <a:srgbClr val="FF0000"/>
                          </a:solidFill>
                          <a:latin typeface="+mn-ea"/>
                          <a:ea typeface="+mn-ea"/>
                        </a:rPr>
                        <a:t>旧仕様品 大型</a:t>
                      </a:r>
                      <a:r>
                        <a:rPr lang="en-US" altLang="ja-JP" sz="700">
                          <a:solidFill>
                            <a:srgbClr val="FF0000"/>
                          </a:solidFill>
                          <a:latin typeface="+mn-ea"/>
                          <a:ea typeface="+mn-ea"/>
                        </a:rPr>
                        <a:t>GPU</a:t>
                      </a:r>
                      <a:r>
                        <a:rPr lang="ja-JP" altLang="en-US" sz="700">
                          <a:solidFill>
                            <a:srgbClr val="FF0000"/>
                          </a:solidFill>
                          <a:latin typeface="+mn-ea"/>
                          <a:ea typeface="+mn-ea"/>
                        </a:rPr>
                        <a:t>非対応</a:t>
                      </a:r>
                      <a:r>
                        <a:rPr lang="en-US" altLang="ja-JP" sz="700">
                          <a:solidFill>
                            <a:srgbClr val="FF0000"/>
                          </a:solidFill>
                          <a:latin typeface="+mn-ea"/>
                          <a:ea typeface="+mn-ea"/>
                        </a:rPr>
                        <a:t>)</a:t>
                      </a:r>
                      <a:r>
                        <a:rPr lang="ja-JP" altLang="en-US" sz="600">
                          <a:solidFill>
                            <a:srgbClr val="FF0000"/>
                          </a:solidFill>
                          <a:latin typeface="+mn-ea"/>
                          <a:ea typeface="+mn-ea"/>
                        </a:rPr>
                        <a:t>→</a:t>
                      </a:r>
                      <a:r>
                        <a:rPr lang="en-US" altLang="ja-JP" sz="600">
                          <a:latin typeface="+mn-ea"/>
                          <a:ea typeface="+mn-ea"/>
                        </a:rPr>
                        <a:t>218809</a:t>
                      </a:r>
                      <a:r>
                        <a:rPr lang="ja-JP" altLang="en-US" sz="600">
                          <a:solidFill>
                            <a:srgbClr val="FF0000"/>
                          </a:solidFill>
                          <a:latin typeface="+mn-ea"/>
                          <a:ea typeface="+mn-ea"/>
                        </a:rPr>
                        <a:t>で置き換え可能</a:t>
                      </a:r>
                      <a:endParaRPr lang="en-US" altLang="ja-JP" sz="700">
                        <a:latin typeface="+mn-ea"/>
                        <a:ea typeface="+mn-ea"/>
                      </a:endParaRPr>
                    </a:p>
                  </a:txBody>
                  <a:tcPr marL="68580" marR="68580" marT="34290" marB="34290" anchor="ctr"/>
                </a:tc>
                <a:tc vMerge="1">
                  <a:txBody>
                    <a:bodyPr/>
                    <a:lstStyle/>
                    <a:p>
                      <a:endParaRPr lang="ja-JP" altLang="ja-JP" sz="600">
                        <a:latin typeface="+mn-ea"/>
                        <a:ea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latin typeface="+mn-ea"/>
                          <a:ea typeface="+mn-ea"/>
                        </a:rPr>
                        <a:t>GE/SF</a:t>
                      </a:r>
                      <a:r>
                        <a:rPr lang="ja-JP" altLang="en-US" sz="700">
                          <a:latin typeface="+mn-ea"/>
                          <a:ea typeface="+mn-ea"/>
                        </a:rPr>
                        <a:t>と共通</a:t>
                      </a:r>
                      <a:endParaRPr lang="en-US" altLang="ja-JP" sz="700">
                        <a:latin typeface="+mn-ea"/>
                        <a:ea typeface="+mn-ea"/>
                      </a:endParaRPr>
                    </a:p>
                  </a:txBody>
                  <a:tcPr marL="68580" marR="68580" marT="34290" marB="34290" anchor="ctr"/>
                </a:tc>
                <a:extLst>
                  <a:ext uri="{0D108BD9-81ED-4DB2-BD59-A6C34878D82A}">
                    <a16:rowId xmlns:a16="http://schemas.microsoft.com/office/drawing/2014/main" val="542307062"/>
                  </a:ext>
                </a:extLst>
              </a:tr>
              <a:tr h="171450">
                <a:tc>
                  <a:txBody>
                    <a:bodyPr/>
                    <a:lstStyle/>
                    <a:p>
                      <a:r>
                        <a:rPr kumimoji="1" lang="en-US" altLang="ja-JP" sz="700" dirty="0">
                          <a:latin typeface="+mn-ea"/>
                          <a:ea typeface="+mn-ea"/>
                        </a:rPr>
                        <a:t>EX(888)</a:t>
                      </a:r>
                      <a:endParaRPr kumimoji="1" lang="ja-JP" altLang="en-US" sz="700" dirty="0">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latin typeface="+mn-ea"/>
                          <a:ea typeface="+mn-ea"/>
                        </a:rPr>
                        <a:t>206678</a:t>
                      </a:r>
                      <a:r>
                        <a:rPr lang="ja-JP" altLang="en-US" sz="700">
                          <a:latin typeface="+mn-ea"/>
                          <a:ea typeface="+mn-ea"/>
                        </a:rPr>
                        <a:t> 組 </a:t>
                      </a:r>
                      <a:r>
                        <a:rPr lang="en-US" altLang="ja-JP" sz="700">
                          <a:latin typeface="+mn-ea"/>
                          <a:ea typeface="+mn-ea"/>
                        </a:rPr>
                        <a:t>VGA support fixture for SR888GG</a:t>
                      </a:r>
                      <a:endParaRPr kumimoji="1" lang="ja-JP" altLang="en-US" sz="700" b="0" i="0" u="none" strike="noStrike" kern="1200" cap="none" spc="0" normalizeH="0" baseline="0" noProof="0">
                        <a:ln>
                          <a:noFill/>
                        </a:ln>
                        <a:solidFill>
                          <a:schemeClr val="tx1"/>
                        </a:solidFill>
                        <a:effectLst/>
                        <a:uLnTx/>
                        <a:uFillTx/>
                        <a:latin typeface="+mn-ea"/>
                        <a:ea typeface="+mn-ea"/>
                        <a:cs typeface="+mn-cs"/>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u="none" strike="noStrike" kern="1200" cap="none" spc="0" normalizeH="0" baseline="0" noProof="0">
                          <a:ln>
                            <a:noFill/>
                          </a:ln>
                          <a:solidFill>
                            <a:srgbClr val="FF0000"/>
                          </a:solidFill>
                          <a:effectLst/>
                          <a:uLnTx/>
                          <a:uFillTx/>
                          <a:latin typeface="+mn-ea"/>
                          <a:ea typeface="+mn-ea"/>
                        </a:rPr>
                        <a:t>専用品</a:t>
                      </a:r>
                      <a:endParaRPr kumimoji="1" lang="ja-JP" altLang="en-US" sz="700" b="0" i="0" u="none" strike="noStrike" kern="1200" cap="none" spc="0" normalizeH="0" baseline="0" noProof="0">
                        <a:ln>
                          <a:noFill/>
                        </a:ln>
                        <a:solidFill>
                          <a:srgbClr val="FF0000"/>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3946085718"/>
                  </a:ext>
                </a:extLst>
              </a:tr>
              <a:tr h="171450">
                <a:tc>
                  <a:txBody>
                    <a:bodyPr/>
                    <a:lstStyle/>
                    <a:p>
                      <a:r>
                        <a:rPr kumimoji="1" lang="en-US" altLang="ja-JP" sz="700" dirty="0">
                          <a:latin typeface="+mn-ea"/>
                          <a:ea typeface="+mn-ea"/>
                        </a:rPr>
                        <a:t>4CM</a:t>
                      </a:r>
                      <a:endParaRPr kumimoji="1" lang="ja-JP" altLang="en-US" sz="700" dirty="0">
                        <a:latin typeface="+mn-ea"/>
                        <a:ea typeface="+mn-ea"/>
                      </a:endParaRPr>
                    </a:p>
                  </a:txBody>
                  <a:tcPr marL="68580" marR="68580" marT="34290" marB="34290" anchor="ctr"/>
                </a:tc>
                <a:tc>
                  <a:txBody>
                    <a:bodyPr/>
                    <a:lstStyle/>
                    <a:p>
                      <a:r>
                        <a:rPr lang="ja-JP" altLang="en-US" sz="700">
                          <a:latin typeface="+mn-ea"/>
                          <a:ea typeface="+mn-ea"/>
                        </a:rPr>
                        <a:t>175373 組 VGA support fixture3 for S</a:t>
                      </a:r>
                      <a:r>
                        <a:rPr lang="en-US" altLang="en-US" sz="700">
                          <a:latin typeface="+mn-ea"/>
                          <a:ea typeface="+mn-ea"/>
                        </a:rPr>
                        <a:t>K</a:t>
                      </a:r>
                      <a:endParaRPr lang="ja-JP" altLang="ja-JP" sz="700">
                        <a:latin typeface="+mn-ea"/>
                        <a:ea typeface="+mn-ea"/>
                        <a:cs typeface="+mn-lt"/>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SK/SKM</a:t>
                      </a:r>
                      <a:r>
                        <a:rPr kumimoji="1" lang="ja-JP" altLang="en-US" sz="700" b="0" u="none" strike="noStrike" kern="1200" cap="none" spc="0" normalizeH="0" baseline="0" noProof="0">
                          <a:ln>
                            <a:noFill/>
                          </a:ln>
                          <a:solidFill>
                            <a:prstClr val="black"/>
                          </a:solidFill>
                          <a:effectLst/>
                          <a:uLnTx/>
                          <a:uFillTx/>
                          <a:latin typeface="+mn-ea"/>
                          <a:ea typeface="+mn-ea"/>
                        </a:rPr>
                        <a:t>系と共通</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1034577099"/>
                  </a:ext>
                </a:extLst>
              </a:tr>
              <a:tr h="171450">
                <a:tc>
                  <a:txBody>
                    <a:bodyPr/>
                    <a:lstStyle/>
                    <a:p>
                      <a:r>
                        <a:rPr lang="en-US" altLang="ja-JP" sz="700" dirty="0">
                          <a:solidFill>
                            <a:srgbClr val="FF0000"/>
                          </a:solidFill>
                          <a:latin typeface="+mn-ea"/>
                          <a:ea typeface="+mn-ea"/>
                        </a:rPr>
                        <a:t>CR(638)</a:t>
                      </a:r>
                      <a:endParaRPr kumimoji="1" lang="en-US" altLang="ja-JP" sz="700" dirty="0">
                        <a:solidFill>
                          <a:srgbClr val="FF0000"/>
                        </a:solidFill>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solidFill>
                            <a:srgbClr val="FF0000"/>
                          </a:solidFill>
                          <a:latin typeface="+mn-ea"/>
                          <a:ea typeface="+mn-ea"/>
                        </a:rPr>
                        <a:t>210767 </a:t>
                      </a:r>
                      <a:r>
                        <a:rPr lang="ja-JP" altLang="en-US" sz="700">
                          <a:solidFill>
                            <a:srgbClr val="FF0000"/>
                          </a:solidFill>
                          <a:latin typeface="+mn-ea"/>
                          <a:ea typeface="+mn-ea"/>
                        </a:rPr>
                        <a:t>組</a:t>
                      </a:r>
                      <a:r>
                        <a:rPr lang="en-US" altLang="ja-JP" sz="700">
                          <a:solidFill>
                            <a:srgbClr val="FF0000"/>
                          </a:solidFill>
                          <a:latin typeface="+mn-ea"/>
                          <a:ea typeface="+mn-ea"/>
                        </a:rPr>
                        <a:t>VGA support fixture3 for </a:t>
                      </a:r>
                      <a:r>
                        <a:rPr lang="ja-JP" altLang="en-US" sz="700">
                          <a:solidFill>
                            <a:srgbClr val="FF0000"/>
                          </a:solidFill>
                          <a:latin typeface="+mn-ea"/>
                          <a:ea typeface="+mn-ea"/>
                        </a:rPr>
                        <a:t>ｺﾗﾎﾞ</a:t>
                      </a:r>
                      <a:r>
                        <a:rPr lang="en-US" altLang="ja-JP" sz="700">
                          <a:solidFill>
                            <a:srgbClr val="FF0000"/>
                          </a:solidFill>
                          <a:latin typeface="+mn-ea"/>
                          <a:ea typeface="+mn-ea"/>
                        </a:rPr>
                        <a:t>CR(White) (</a:t>
                      </a:r>
                      <a:r>
                        <a:rPr lang="ja-JP" altLang="en-US" sz="700">
                          <a:solidFill>
                            <a:srgbClr val="FF0000"/>
                          </a:solidFill>
                          <a:latin typeface="+mn-ea"/>
                          <a:ea typeface="+mn-ea"/>
                        </a:rPr>
                        <a:t>旧仕様品 大型</a:t>
                      </a:r>
                      <a:r>
                        <a:rPr lang="en-US" altLang="ja-JP" sz="700">
                          <a:solidFill>
                            <a:srgbClr val="FF0000"/>
                          </a:solidFill>
                          <a:latin typeface="+mn-ea"/>
                          <a:ea typeface="+mn-ea"/>
                        </a:rPr>
                        <a:t>GPU</a:t>
                      </a:r>
                      <a:r>
                        <a:rPr lang="ja-JP" altLang="en-US" sz="700">
                          <a:solidFill>
                            <a:srgbClr val="FF0000"/>
                          </a:solidFill>
                          <a:latin typeface="+mn-ea"/>
                          <a:ea typeface="+mn-ea"/>
                        </a:rPr>
                        <a:t>非対応</a:t>
                      </a:r>
                      <a:r>
                        <a:rPr lang="en-US" altLang="ja-JP" sz="700">
                          <a:solidFill>
                            <a:srgbClr val="FF0000"/>
                          </a:solidFill>
                          <a:latin typeface="+mn-ea"/>
                          <a:ea typeface="+mn-ea"/>
                        </a:rPr>
                        <a:t>)</a:t>
                      </a:r>
                      <a:r>
                        <a:rPr lang="ja-JP" altLang="en-US" sz="600">
                          <a:solidFill>
                            <a:srgbClr val="FF0000"/>
                          </a:solidFill>
                          <a:latin typeface="+mn-ea"/>
                          <a:ea typeface="+mn-ea"/>
                        </a:rPr>
                        <a:t>→</a:t>
                      </a:r>
                      <a:r>
                        <a:rPr lang="en-US" altLang="ja-JP" sz="600">
                          <a:latin typeface="+mn-ea"/>
                          <a:ea typeface="+mn-ea"/>
                        </a:rPr>
                        <a:t>218810</a:t>
                      </a:r>
                      <a:r>
                        <a:rPr lang="ja-JP" altLang="en-US" sz="600">
                          <a:solidFill>
                            <a:srgbClr val="FF0000"/>
                          </a:solidFill>
                          <a:latin typeface="+mn-ea"/>
                          <a:ea typeface="+mn-ea"/>
                        </a:rPr>
                        <a:t>で置き換え可能</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600">
                        <a:latin typeface="+mn-ea"/>
                        <a:ea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b="0">
                          <a:latin typeface="+mn-ea"/>
                          <a:ea typeface="+mn-ea"/>
                        </a:rPr>
                        <a:t>4C</a:t>
                      </a:r>
                      <a:r>
                        <a:rPr lang="ja-JP" altLang="en-US" sz="700" b="0">
                          <a:latin typeface="+mn-ea"/>
                          <a:ea typeface="+mn-ea"/>
                        </a:rPr>
                        <a:t>系</a:t>
                      </a:r>
                      <a:r>
                        <a:rPr lang="en-US" altLang="ja-JP" sz="700" b="0">
                          <a:latin typeface="+mn-ea"/>
                          <a:ea typeface="+mn-ea"/>
                        </a:rPr>
                        <a:t>/GE/SF</a:t>
                      </a:r>
                      <a:r>
                        <a:rPr lang="ja-JP" altLang="en-US" sz="700" b="0">
                          <a:latin typeface="+mn-ea"/>
                          <a:ea typeface="+mn-ea"/>
                        </a:rPr>
                        <a:t>と共通　白</a:t>
                      </a:r>
                      <a:r>
                        <a:rPr lang="en-US" altLang="ja-JP" sz="700" b="0">
                          <a:latin typeface="+mn-ea"/>
                          <a:ea typeface="+mn-ea"/>
                        </a:rPr>
                        <a:t>Ver</a:t>
                      </a:r>
                    </a:p>
                  </a:txBody>
                  <a:tcPr marL="68580" marR="68580" marT="34290" marB="34290" anchor="ctr"/>
                </a:tc>
                <a:extLst>
                  <a:ext uri="{0D108BD9-81ED-4DB2-BD59-A6C34878D82A}">
                    <a16:rowId xmlns:a16="http://schemas.microsoft.com/office/drawing/2014/main" val="2679979736"/>
                  </a:ext>
                </a:extLst>
              </a:tr>
              <a:tr h="171450">
                <a:tc>
                  <a:txBody>
                    <a:bodyPr/>
                    <a:lstStyle/>
                    <a:p>
                      <a:r>
                        <a:rPr kumimoji="1" lang="en-US" altLang="ja-JP" sz="700" dirty="0">
                          <a:latin typeface="+mn-ea"/>
                          <a:ea typeface="+mn-ea"/>
                        </a:rPr>
                        <a:t>GE</a:t>
                      </a:r>
                      <a:r>
                        <a:rPr kumimoji="1" lang="ja-JP" altLang="en-US" sz="700" dirty="0">
                          <a:latin typeface="+mn-ea"/>
                          <a:ea typeface="+mn-ea"/>
                        </a:rPr>
                        <a:t>　</a:t>
                      </a:r>
                      <a:r>
                        <a:rPr kumimoji="1" lang="en-US" altLang="ja-JP" sz="700" dirty="0">
                          <a:latin typeface="+mn-ea"/>
                          <a:ea typeface="+mn-ea"/>
                        </a:rPr>
                        <a:t>Gunmetal</a:t>
                      </a:r>
                      <a:r>
                        <a:rPr kumimoji="1" lang="ja-JP" altLang="en-US" sz="700" dirty="0">
                          <a:latin typeface="+mn-ea"/>
                          <a:ea typeface="+mn-ea"/>
                        </a:rPr>
                        <a:t>ｘ</a:t>
                      </a:r>
                      <a:r>
                        <a:rPr kumimoji="1" lang="en-US" altLang="ja-JP" sz="700" dirty="0">
                          <a:latin typeface="+mn-ea"/>
                          <a:ea typeface="+mn-ea"/>
                        </a:rPr>
                        <a:t>Dark Gray</a:t>
                      </a:r>
                      <a:endParaRPr kumimoji="1" lang="ja-JP" altLang="en-US" sz="700" dirty="0">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218812 </a:t>
                      </a:r>
                      <a:r>
                        <a:rPr lang="ja-JP" altLang="en-US" sz="700" dirty="0">
                          <a:latin typeface="+mn-ea"/>
                          <a:ea typeface="+mn-ea"/>
                        </a:rPr>
                        <a:t>組</a:t>
                      </a:r>
                      <a:r>
                        <a:rPr lang="en-US" altLang="ja-JP" sz="700" dirty="0">
                          <a:latin typeface="+mn-ea"/>
                          <a:ea typeface="+mn-ea"/>
                        </a:rPr>
                        <a:t>SLR VGA support for Gemini (Dark gray)</a:t>
                      </a: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r>
                        <a:rPr lang="ja-JP" altLang="en-US" sz="700" b="0">
                          <a:latin typeface="+mn-ea"/>
                          <a:ea typeface="+mn-ea"/>
                        </a:rPr>
                        <a:t>　濃灰</a:t>
                      </a:r>
                      <a:r>
                        <a:rPr lang="en-US" altLang="ja-JP" sz="700" b="0">
                          <a:latin typeface="+mn-ea"/>
                          <a:ea typeface="+mn-ea"/>
                        </a:rPr>
                        <a:t>Ver</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612713392"/>
                  </a:ext>
                </a:extLst>
              </a:tr>
              <a:tr h="171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dirty="0">
                          <a:latin typeface="+mn-ea"/>
                          <a:ea typeface="+mn-ea"/>
                        </a:rPr>
                        <a:t>GE</a:t>
                      </a:r>
                      <a:r>
                        <a:rPr kumimoji="1" lang="ja-JP" altLang="en-US" sz="700" dirty="0">
                          <a:latin typeface="+mn-ea"/>
                          <a:ea typeface="+mn-ea"/>
                        </a:rPr>
                        <a:t>　</a:t>
                      </a:r>
                      <a:r>
                        <a:rPr kumimoji="1" lang="en-US" altLang="ja-JP" sz="700" b="0" u="none" strike="noStrike" kern="1200" cap="none" spc="0" normalizeH="0" baseline="0" noProof="0" dirty="0">
                          <a:ln>
                            <a:noFill/>
                          </a:ln>
                          <a:solidFill>
                            <a:prstClr val="black"/>
                          </a:solidFill>
                          <a:effectLst/>
                          <a:uLnTx/>
                          <a:uFillTx/>
                          <a:latin typeface="+mn-ea"/>
                          <a:ea typeface="+mn-ea"/>
                        </a:rPr>
                        <a:t>White</a:t>
                      </a:r>
                      <a:r>
                        <a:rPr kumimoji="1" lang="ja-JP" altLang="en-US" sz="700" b="0" u="none" strike="noStrike" kern="1200" cap="none" spc="0" normalizeH="0" baseline="0" noProof="0" dirty="0">
                          <a:ln>
                            <a:noFill/>
                          </a:ln>
                          <a:solidFill>
                            <a:prstClr val="black"/>
                          </a:solidFill>
                          <a:effectLst/>
                          <a:uLnTx/>
                          <a:uFillTx/>
                          <a:latin typeface="+mn-ea"/>
                          <a:ea typeface="+mn-ea"/>
                        </a:rPr>
                        <a:t>ｘ</a:t>
                      </a:r>
                      <a:r>
                        <a:rPr kumimoji="1" lang="en-US" altLang="ja-JP" sz="700" dirty="0">
                          <a:latin typeface="+mn-ea"/>
                          <a:ea typeface="+mn-ea"/>
                        </a:rPr>
                        <a:t>Dark Gray</a:t>
                      </a:r>
                      <a:endParaRPr kumimoji="1" lang="ja-JP" altLang="en-US"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218810 </a:t>
                      </a:r>
                      <a:r>
                        <a:rPr lang="ja-JP" altLang="en-US" sz="700" dirty="0">
                          <a:latin typeface="+mn-ea"/>
                          <a:ea typeface="+mn-ea"/>
                        </a:rPr>
                        <a:t>組</a:t>
                      </a:r>
                      <a:r>
                        <a:rPr lang="en-US" altLang="ja-JP" sz="700" dirty="0">
                          <a:latin typeface="+mn-ea"/>
                          <a:ea typeface="+mn-ea"/>
                        </a:rPr>
                        <a:t>SLR VGA support for </a:t>
                      </a:r>
                      <a:r>
                        <a:rPr lang="en-US" altLang="ja-JP" sz="700" dirty="0" err="1">
                          <a:latin typeface="+mn-ea"/>
                          <a:ea typeface="+mn-ea"/>
                        </a:rPr>
                        <a:t>Gem&amp;Ari</a:t>
                      </a:r>
                      <a:r>
                        <a:rPr lang="en-US" altLang="ja-JP" sz="700" dirty="0">
                          <a:latin typeface="+mn-ea"/>
                          <a:ea typeface="+mn-ea"/>
                        </a:rPr>
                        <a:t>(White)</a:t>
                      </a:r>
                      <a:endParaRPr kumimoji="1" lang="ja-JP" altLang="en-US"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err="1">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r>
                        <a:rPr lang="ja-JP" altLang="en-US" sz="700" b="0">
                          <a:latin typeface="+mn-ea"/>
                          <a:ea typeface="+mn-ea"/>
                        </a:rPr>
                        <a:t>　白</a:t>
                      </a:r>
                      <a:r>
                        <a:rPr lang="en-US" altLang="ja-JP" sz="700" b="0">
                          <a:latin typeface="+mn-ea"/>
                          <a:ea typeface="+mn-ea"/>
                        </a:rPr>
                        <a:t>Ver</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3801574834"/>
                  </a:ext>
                </a:extLst>
              </a:tr>
              <a:tr h="171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dirty="0">
                          <a:latin typeface="+mn-ea"/>
                          <a:ea typeface="+mn-ea"/>
                        </a:rPr>
                        <a:t>GE</a:t>
                      </a:r>
                      <a:r>
                        <a:rPr kumimoji="1" lang="ja-JP" altLang="en-US" sz="700" dirty="0">
                          <a:latin typeface="+mn-ea"/>
                          <a:ea typeface="+mn-ea"/>
                        </a:rPr>
                        <a:t>　</a:t>
                      </a:r>
                      <a:r>
                        <a:rPr kumimoji="1" lang="en-US" altLang="ja-JP" sz="700" b="0" u="none" strike="noStrike" kern="1200" cap="none" spc="0" normalizeH="0" baseline="0" noProof="0" dirty="0">
                          <a:ln>
                            <a:noFill/>
                          </a:ln>
                          <a:solidFill>
                            <a:prstClr val="black"/>
                          </a:solidFill>
                          <a:effectLst/>
                          <a:uLnTx/>
                          <a:uFillTx/>
                          <a:latin typeface="+mn-ea"/>
                          <a:ea typeface="+mn-ea"/>
                        </a:rPr>
                        <a:t>Black ※</a:t>
                      </a:r>
                      <a:r>
                        <a:rPr kumimoji="1" lang="ja-JP" altLang="en-US" sz="700" b="0" u="none" strike="noStrike" kern="1200" cap="none" spc="0" normalizeH="0" baseline="0" noProof="0" dirty="0">
                          <a:ln>
                            <a:noFill/>
                          </a:ln>
                          <a:solidFill>
                            <a:prstClr val="black"/>
                          </a:solidFill>
                          <a:effectLst/>
                          <a:uLnTx/>
                          <a:uFillTx/>
                          <a:latin typeface="+mn-ea"/>
                          <a:ea typeface="+mn-ea"/>
                        </a:rPr>
                        <a:t>クリエイター</a:t>
                      </a:r>
                      <a:endParaRPr kumimoji="1" lang="ja-JP" altLang="en-US"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218812 </a:t>
                      </a:r>
                      <a:r>
                        <a:rPr lang="ja-JP" altLang="en-US" sz="700" dirty="0">
                          <a:latin typeface="+mn-ea"/>
                          <a:ea typeface="+mn-ea"/>
                        </a:rPr>
                        <a:t>組</a:t>
                      </a:r>
                      <a:r>
                        <a:rPr lang="en-US" altLang="ja-JP" sz="700" dirty="0">
                          <a:latin typeface="+mn-ea"/>
                          <a:ea typeface="+mn-ea"/>
                        </a:rPr>
                        <a:t>SLR VGA support for Gemini (Dark gray)</a:t>
                      </a: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3998305305"/>
                  </a:ext>
                </a:extLst>
              </a:tr>
              <a:tr h="171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dirty="0">
                          <a:latin typeface="+mn-ea"/>
                          <a:ea typeface="+mn-ea"/>
                        </a:rPr>
                        <a:t>GE</a:t>
                      </a:r>
                      <a:r>
                        <a:rPr kumimoji="1" lang="ja-JP" altLang="en-US" sz="700" dirty="0">
                          <a:latin typeface="+mn-ea"/>
                          <a:ea typeface="+mn-ea"/>
                        </a:rPr>
                        <a:t>　</a:t>
                      </a:r>
                      <a:r>
                        <a:rPr kumimoji="1" lang="en-US" altLang="ja-JP" sz="700" b="0" u="none" strike="noStrike" kern="1200" cap="none" spc="0" normalizeH="0" baseline="0" noProof="0" dirty="0">
                          <a:ln>
                            <a:noFill/>
                          </a:ln>
                          <a:solidFill>
                            <a:prstClr val="black"/>
                          </a:solidFill>
                          <a:effectLst/>
                          <a:uLnTx/>
                          <a:uFillTx/>
                          <a:latin typeface="+mn-ea"/>
                          <a:ea typeface="+mn-ea"/>
                        </a:rPr>
                        <a:t>White ※</a:t>
                      </a:r>
                      <a:r>
                        <a:rPr kumimoji="1" lang="ja-JP" altLang="en-US" sz="700" b="0" u="none" strike="noStrike" kern="1200" cap="none" spc="0" normalizeH="0" baseline="0" noProof="0" dirty="0">
                          <a:ln>
                            <a:noFill/>
                          </a:ln>
                          <a:solidFill>
                            <a:prstClr val="black"/>
                          </a:solidFill>
                          <a:effectLst/>
                          <a:uLnTx/>
                          <a:uFillTx/>
                          <a:latin typeface="+mn-ea"/>
                          <a:ea typeface="+mn-ea"/>
                        </a:rPr>
                        <a:t>クリエイター</a:t>
                      </a:r>
                      <a:endParaRPr kumimoji="1" lang="ja-JP" altLang="en-US"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218810 </a:t>
                      </a:r>
                      <a:r>
                        <a:rPr lang="ja-JP" altLang="en-US" sz="700" dirty="0">
                          <a:latin typeface="+mn-ea"/>
                          <a:ea typeface="+mn-ea"/>
                        </a:rPr>
                        <a:t>組</a:t>
                      </a:r>
                      <a:r>
                        <a:rPr lang="en-US" altLang="ja-JP" sz="700" dirty="0">
                          <a:latin typeface="+mn-ea"/>
                          <a:ea typeface="+mn-ea"/>
                        </a:rPr>
                        <a:t>SLR VGA support for </a:t>
                      </a:r>
                      <a:r>
                        <a:rPr lang="en-US" altLang="ja-JP" sz="700" dirty="0" err="1">
                          <a:latin typeface="+mn-ea"/>
                          <a:ea typeface="+mn-ea"/>
                        </a:rPr>
                        <a:t>Gem&amp;Ari</a:t>
                      </a:r>
                      <a:r>
                        <a:rPr lang="en-US" altLang="ja-JP" sz="700" dirty="0">
                          <a:latin typeface="+mn-ea"/>
                          <a:ea typeface="+mn-ea"/>
                        </a:rPr>
                        <a:t>(White)</a:t>
                      </a:r>
                      <a:endParaRPr kumimoji="1" lang="ja-JP" altLang="en-US"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r>
                        <a:rPr lang="ja-JP" altLang="en-US" sz="700" b="0">
                          <a:latin typeface="+mn-ea"/>
                          <a:ea typeface="+mn-ea"/>
                        </a:rPr>
                        <a:t>　白</a:t>
                      </a:r>
                      <a:r>
                        <a:rPr lang="en-US" altLang="ja-JP" sz="700" b="0">
                          <a:latin typeface="+mn-ea"/>
                          <a:ea typeface="+mn-ea"/>
                        </a:rPr>
                        <a:t>Ver</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256575270"/>
                  </a:ext>
                </a:extLst>
              </a:tr>
              <a:tr h="171450">
                <a:tc>
                  <a:txBody>
                    <a:bodyPr/>
                    <a:lstStyle/>
                    <a:p>
                      <a:r>
                        <a:rPr kumimoji="1" lang="en-US" altLang="ja-JP" sz="700" dirty="0" err="1">
                          <a:latin typeface="+mn-ea"/>
                          <a:ea typeface="+mn-ea"/>
                        </a:rPr>
                        <a:t>GEm</a:t>
                      </a:r>
                      <a:r>
                        <a:rPr kumimoji="1" lang="ja-JP" altLang="en-US" sz="700" dirty="0">
                          <a:latin typeface="+mn-ea"/>
                          <a:ea typeface="+mn-ea"/>
                        </a:rPr>
                        <a:t>　</a:t>
                      </a:r>
                      <a:r>
                        <a:rPr kumimoji="1" lang="en-US" altLang="ja-JP" sz="700" dirty="0">
                          <a:latin typeface="+mn-ea"/>
                          <a:ea typeface="+mn-ea"/>
                        </a:rPr>
                        <a:t>Gunmetal</a:t>
                      </a:r>
                      <a:r>
                        <a:rPr kumimoji="1" lang="ja-JP" altLang="en-US" sz="700" dirty="0">
                          <a:latin typeface="+mn-ea"/>
                          <a:ea typeface="+mn-ea"/>
                        </a:rPr>
                        <a:t>ｘ</a:t>
                      </a:r>
                      <a:r>
                        <a:rPr kumimoji="1" lang="en-US" altLang="ja-JP" sz="700" dirty="0">
                          <a:latin typeface="+mn-ea"/>
                          <a:ea typeface="+mn-ea"/>
                        </a:rPr>
                        <a:t>Dark Gray</a:t>
                      </a:r>
                      <a:endParaRPr kumimoji="1" lang="ja-JP" altLang="en-US" sz="700" dirty="0">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latin typeface="+mn-ea"/>
                          <a:ea typeface="+mn-ea"/>
                        </a:rPr>
                        <a:t>218812 </a:t>
                      </a:r>
                      <a:r>
                        <a:rPr lang="ja-JP" altLang="en-US" sz="700">
                          <a:latin typeface="+mn-ea"/>
                          <a:ea typeface="+mn-ea"/>
                        </a:rPr>
                        <a:t>組</a:t>
                      </a:r>
                      <a:r>
                        <a:rPr lang="en-US" altLang="ja-JP" sz="700">
                          <a:latin typeface="+mn-ea"/>
                          <a:ea typeface="+mn-ea"/>
                        </a:rPr>
                        <a:t>SLR VGA support for Gemini (Dark gray)</a:t>
                      </a:r>
                      <a:endParaRPr kumimoji="1" lang="en-US" altLang="ja-JP" sz="700" b="0" u="none" strike="noStrike" kern="1200" cap="none" spc="0" normalizeH="0" baseline="0" noProof="0">
                        <a:ln>
                          <a:noFill/>
                        </a:ln>
                        <a:solidFill>
                          <a:prstClr val="black"/>
                        </a:solidFill>
                        <a:effectLst/>
                        <a:uLnTx/>
                        <a:uFillTx/>
                        <a:latin typeface="+mn-ea"/>
                        <a:ea typeface="+mn-ea"/>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r>
                        <a:rPr lang="ja-JP" altLang="en-US" sz="700" b="0">
                          <a:latin typeface="+mn-ea"/>
                          <a:ea typeface="+mn-ea"/>
                        </a:rPr>
                        <a:t>　濃灰</a:t>
                      </a:r>
                      <a:r>
                        <a:rPr lang="en-US" altLang="ja-JP" sz="700" b="0">
                          <a:latin typeface="+mn-ea"/>
                          <a:ea typeface="+mn-ea"/>
                        </a:rPr>
                        <a:t>Ver</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1208540844"/>
                  </a:ext>
                </a:extLst>
              </a:tr>
              <a:tr h="171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dirty="0" err="1">
                          <a:latin typeface="+mn-ea"/>
                          <a:ea typeface="+mn-ea"/>
                        </a:rPr>
                        <a:t>GEm</a:t>
                      </a:r>
                      <a:r>
                        <a:rPr kumimoji="1" lang="ja-JP" altLang="en-US" sz="700" dirty="0">
                          <a:latin typeface="+mn-ea"/>
                          <a:ea typeface="+mn-ea"/>
                        </a:rPr>
                        <a:t>　</a:t>
                      </a:r>
                      <a:r>
                        <a:rPr kumimoji="1" lang="en-US" altLang="ja-JP" sz="700" b="0" u="none" strike="noStrike" kern="1200" cap="none" spc="0" normalizeH="0" baseline="0" noProof="0" dirty="0">
                          <a:ln>
                            <a:noFill/>
                          </a:ln>
                          <a:solidFill>
                            <a:prstClr val="black"/>
                          </a:solidFill>
                          <a:effectLst/>
                          <a:uLnTx/>
                          <a:uFillTx/>
                          <a:latin typeface="+mn-ea"/>
                          <a:ea typeface="+mn-ea"/>
                        </a:rPr>
                        <a:t>White</a:t>
                      </a:r>
                      <a:r>
                        <a:rPr kumimoji="1" lang="ja-JP" altLang="en-US" sz="700" b="0" u="none" strike="noStrike" kern="1200" cap="none" spc="0" normalizeH="0" baseline="0" noProof="0" dirty="0">
                          <a:ln>
                            <a:noFill/>
                          </a:ln>
                          <a:solidFill>
                            <a:prstClr val="black"/>
                          </a:solidFill>
                          <a:effectLst/>
                          <a:uLnTx/>
                          <a:uFillTx/>
                          <a:latin typeface="+mn-ea"/>
                          <a:ea typeface="+mn-ea"/>
                        </a:rPr>
                        <a:t>ｘ</a:t>
                      </a:r>
                      <a:r>
                        <a:rPr kumimoji="1" lang="en-US" altLang="ja-JP" sz="700" dirty="0">
                          <a:latin typeface="+mn-ea"/>
                          <a:ea typeface="+mn-ea"/>
                        </a:rPr>
                        <a:t>Dark Gray</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a:latin typeface="+mn-ea"/>
                          <a:ea typeface="+mn-ea"/>
                        </a:rPr>
                        <a:t>218810 </a:t>
                      </a:r>
                      <a:r>
                        <a:rPr lang="ja-JP" altLang="en-US" sz="700">
                          <a:latin typeface="+mn-ea"/>
                          <a:ea typeface="+mn-ea"/>
                        </a:rPr>
                        <a:t>組</a:t>
                      </a:r>
                      <a:r>
                        <a:rPr lang="en-US" altLang="ja-JP" sz="700">
                          <a:latin typeface="+mn-ea"/>
                          <a:ea typeface="+mn-ea"/>
                        </a:rPr>
                        <a:t>SLR VGA support for </a:t>
                      </a:r>
                      <a:r>
                        <a:rPr lang="en-US" altLang="ja-JP" sz="700" err="1">
                          <a:latin typeface="+mn-ea"/>
                          <a:ea typeface="+mn-ea"/>
                        </a:rPr>
                        <a:t>Gem&amp;Ari</a:t>
                      </a:r>
                      <a:r>
                        <a:rPr lang="en-US" altLang="ja-JP" sz="700">
                          <a:latin typeface="+mn-ea"/>
                          <a:ea typeface="+mn-ea"/>
                        </a:rPr>
                        <a:t>(White)</a:t>
                      </a: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a:t>
                      </a:r>
                      <a:r>
                        <a:rPr lang="ja-JP" altLang="en-US" sz="700" b="0">
                          <a:latin typeface="+mn-ea"/>
                          <a:ea typeface="+mn-ea"/>
                        </a:rPr>
                        <a:t>　白</a:t>
                      </a:r>
                      <a:r>
                        <a:rPr lang="en-US" altLang="ja-JP" sz="700" b="0">
                          <a:latin typeface="+mn-ea"/>
                          <a:ea typeface="+mn-ea"/>
                        </a:rPr>
                        <a:t>Ver</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2028135884"/>
                  </a:ext>
                </a:extLst>
              </a:tr>
              <a:tr h="274320">
                <a:tc>
                  <a:txBody>
                    <a:bodyPr/>
                    <a:lstStyle/>
                    <a:p>
                      <a:r>
                        <a:rPr kumimoji="1" lang="en-US" altLang="ja-JP" sz="700" dirty="0">
                          <a:latin typeface="+mn-ea"/>
                          <a:ea typeface="+mn-ea"/>
                        </a:rPr>
                        <a:t>SF</a:t>
                      </a:r>
                      <a:r>
                        <a:rPr kumimoji="1" lang="ja-JP" altLang="en-US" sz="700" dirty="0">
                          <a:latin typeface="+mn-ea"/>
                          <a:ea typeface="+mn-ea"/>
                        </a:rPr>
                        <a:t>　</a:t>
                      </a:r>
                      <a:r>
                        <a:rPr kumimoji="1" lang="en-US" altLang="ja-JP" sz="700" dirty="0">
                          <a:latin typeface="+mn-ea"/>
                          <a:ea typeface="+mn-ea"/>
                        </a:rPr>
                        <a:t>Black / White</a:t>
                      </a:r>
                      <a:endParaRPr kumimoji="1" lang="ja-JP" altLang="en-US" sz="700" dirty="0">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218809 </a:t>
                      </a:r>
                      <a:r>
                        <a:rPr lang="ja-JP" altLang="en-US" sz="700" dirty="0">
                          <a:latin typeface="+mn-ea"/>
                          <a:ea typeface="+mn-ea"/>
                        </a:rPr>
                        <a:t>組</a:t>
                      </a:r>
                      <a:r>
                        <a:rPr lang="en-US" altLang="ja-JP" sz="700" dirty="0">
                          <a:latin typeface="+mn-ea"/>
                          <a:ea typeface="+mn-ea"/>
                        </a:rPr>
                        <a:t>SLR VGA support for Aries (Black)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latin typeface="+mn-ea"/>
                          <a:ea typeface="+mn-ea"/>
                        </a:rPr>
                        <a:t>218810 </a:t>
                      </a:r>
                      <a:r>
                        <a:rPr lang="ja-JP" altLang="en-US" sz="700" dirty="0">
                          <a:latin typeface="+mn-ea"/>
                          <a:ea typeface="+mn-ea"/>
                        </a:rPr>
                        <a:t>組</a:t>
                      </a:r>
                      <a:r>
                        <a:rPr lang="en-US" altLang="ja-JP" sz="700" dirty="0">
                          <a:latin typeface="+mn-ea"/>
                          <a:ea typeface="+mn-ea"/>
                        </a:rPr>
                        <a:t>SLR VGA support for </a:t>
                      </a:r>
                      <a:r>
                        <a:rPr lang="en-US" altLang="ja-JP" sz="700" dirty="0" err="1">
                          <a:latin typeface="+mn-ea"/>
                          <a:ea typeface="+mn-ea"/>
                        </a:rPr>
                        <a:t>Gem&amp;Ari</a:t>
                      </a:r>
                      <a:r>
                        <a:rPr lang="en-US" altLang="ja-JP" sz="700" dirty="0">
                          <a:latin typeface="+mn-ea"/>
                          <a:ea typeface="+mn-ea"/>
                        </a:rPr>
                        <a:t>(White)</a:t>
                      </a: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4C</a:t>
                      </a:r>
                      <a:r>
                        <a:rPr kumimoji="1" lang="ja-JP" altLang="en-US" sz="700" b="0" u="none" strike="noStrike" kern="1200" cap="none" spc="0" normalizeH="0" baseline="0" noProof="0">
                          <a:ln>
                            <a:noFill/>
                          </a:ln>
                          <a:solidFill>
                            <a:prstClr val="black"/>
                          </a:solidFill>
                          <a:effectLst/>
                          <a:uLnTx/>
                          <a:uFillTx/>
                          <a:latin typeface="+mn-ea"/>
                          <a:ea typeface="+mn-ea"/>
                        </a:rPr>
                        <a:t>系と共通　黒と白がある</a:t>
                      </a:r>
                      <a:endParaRPr kumimoji="1" lang="ja-JP" altLang="en-US"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88782417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dirty="0" err="1">
                          <a:latin typeface="+mn-ea"/>
                          <a:ea typeface="+mn-ea"/>
                        </a:rPr>
                        <a:t>SFm</a:t>
                      </a:r>
                      <a:r>
                        <a:rPr kumimoji="1" lang="ja-JP" altLang="en-US" sz="700" dirty="0">
                          <a:latin typeface="+mn-ea"/>
                          <a:ea typeface="+mn-ea"/>
                        </a:rPr>
                        <a:t>　</a:t>
                      </a:r>
                      <a:r>
                        <a:rPr kumimoji="1" lang="en-US" altLang="ja-JP" sz="700" dirty="0">
                          <a:latin typeface="+mn-ea"/>
                          <a:ea typeface="+mn-ea"/>
                        </a:rPr>
                        <a:t>Black /</a:t>
                      </a:r>
                      <a:r>
                        <a:rPr kumimoji="1" lang="ja-JP" altLang="en-US" sz="700" dirty="0">
                          <a:latin typeface="+mn-ea"/>
                          <a:ea typeface="+mn-ea"/>
                        </a:rPr>
                        <a:t> </a:t>
                      </a:r>
                      <a:r>
                        <a:rPr kumimoji="1" lang="en-US" altLang="ja-JP" sz="700" dirty="0">
                          <a:latin typeface="+mn-ea"/>
                          <a:ea typeface="+mn-ea"/>
                        </a:rPr>
                        <a:t>White</a:t>
                      </a:r>
                      <a:endParaRPr kumimoji="1" lang="ja-JP" altLang="en-US" sz="700" dirty="0">
                        <a:latin typeface="+mn-ea"/>
                        <a:ea typeface="+mn-ea"/>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218813 </a:t>
                      </a:r>
                      <a:r>
                        <a:rPr kumimoji="1" lang="ja-JP" altLang="en-US" sz="700" b="0" u="none" strike="noStrike" kern="1200" cap="none" spc="0" normalizeH="0" baseline="0" noProof="0">
                          <a:ln>
                            <a:noFill/>
                          </a:ln>
                          <a:solidFill>
                            <a:prstClr val="black"/>
                          </a:solidFill>
                          <a:effectLst/>
                          <a:uLnTx/>
                          <a:uFillTx/>
                          <a:latin typeface="+mn-ea"/>
                          <a:ea typeface="+mn-ea"/>
                        </a:rPr>
                        <a:t>組</a:t>
                      </a:r>
                      <a:r>
                        <a:rPr kumimoji="1" lang="en-US" altLang="ja-JP" sz="700" b="0" u="none" strike="noStrike" kern="1200" cap="none" spc="0" normalizeH="0" baseline="0" noProof="0">
                          <a:ln>
                            <a:noFill/>
                          </a:ln>
                          <a:solidFill>
                            <a:prstClr val="black"/>
                          </a:solidFill>
                          <a:effectLst/>
                          <a:uLnTx/>
                          <a:uFillTx/>
                          <a:latin typeface="+mn-ea"/>
                          <a:ea typeface="+mn-ea"/>
                        </a:rPr>
                        <a:t>SLR VGA support for Aries M (Black)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u="none" strike="noStrike" kern="1200" cap="none" spc="0" normalizeH="0" baseline="0" noProof="0">
                          <a:ln>
                            <a:noFill/>
                          </a:ln>
                          <a:solidFill>
                            <a:prstClr val="black"/>
                          </a:solidFill>
                          <a:effectLst/>
                          <a:uLnTx/>
                          <a:uFillTx/>
                          <a:latin typeface="+mn-ea"/>
                          <a:ea typeface="+mn-ea"/>
                        </a:rPr>
                        <a:t>218814 </a:t>
                      </a:r>
                      <a:r>
                        <a:rPr kumimoji="1" lang="ja-JP" altLang="en-US" sz="700" b="0" u="none" strike="noStrike" kern="1200" cap="none" spc="0" normalizeH="0" baseline="0" noProof="0">
                          <a:ln>
                            <a:noFill/>
                          </a:ln>
                          <a:solidFill>
                            <a:prstClr val="black"/>
                          </a:solidFill>
                          <a:effectLst/>
                          <a:uLnTx/>
                          <a:uFillTx/>
                          <a:latin typeface="+mn-ea"/>
                          <a:ea typeface="+mn-ea"/>
                        </a:rPr>
                        <a:t>組</a:t>
                      </a:r>
                      <a:r>
                        <a:rPr kumimoji="1" lang="en-US" altLang="ja-JP" sz="700" b="0" u="none" strike="noStrike" kern="1200" cap="none" spc="0" normalizeH="0" baseline="0" noProof="0">
                          <a:ln>
                            <a:noFill/>
                          </a:ln>
                          <a:solidFill>
                            <a:prstClr val="black"/>
                          </a:solidFill>
                          <a:effectLst/>
                          <a:uLnTx/>
                          <a:uFillTx/>
                          <a:latin typeface="+mn-ea"/>
                          <a:ea typeface="+mn-ea"/>
                        </a:rPr>
                        <a:t>SLR VGA support for Aries M (White)</a:t>
                      </a:r>
                      <a:endParaRPr kumimoji="1" lang="en-US" altLang="ja-JP" sz="700" b="0" i="0" u="none" strike="noStrike" kern="1200" cap="none" spc="0" normalizeH="0" baseline="0" noProof="0">
                        <a:ln>
                          <a:noFill/>
                        </a:ln>
                        <a:solidFill>
                          <a:prstClr val="black"/>
                        </a:solidFill>
                        <a:effectLst/>
                        <a:uLnTx/>
                        <a:uFillTx/>
                        <a:latin typeface="+mn-ea"/>
                        <a:ea typeface="+mn-ea"/>
                        <a:cs typeface="+mn-cs"/>
                      </a:endParaRPr>
                    </a:p>
                  </a:txBody>
                  <a:tcPr marL="68580" marR="68580" marT="34290" marB="3429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600" b="0" i="0" u="none" strike="noStrike" kern="1200" cap="none" spc="0" normalizeH="0" baseline="0" noProof="0">
                        <a:ln>
                          <a:noFill/>
                        </a:ln>
                        <a:solidFill>
                          <a:prstClr val="black"/>
                        </a:solidFill>
                        <a:effectLst/>
                        <a:uLnTx/>
                        <a:uFillTx/>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u="none" strike="noStrike" kern="1200" cap="none" spc="0" normalizeH="0" baseline="0" noProof="0" dirty="0">
                          <a:ln>
                            <a:noFill/>
                          </a:ln>
                          <a:solidFill>
                            <a:srgbClr val="FF0000"/>
                          </a:solidFill>
                          <a:effectLst/>
                          <a:uLnTx/>
                          <a:uFillTx/>
                          <a:latin typeface="+mn-ea"/>
                          <a:ea typeface="+mn-ea"/>
                        </a:rPr>
                        <a:t>専用品</a:t>
                      </a:r>
                      <a:r>
                        <a:rPr kumimoji="1" lang="ja-JP" altLang="en-US" sz="700" b="0" u="none" strike="noStrike" kern="1200" cap="none" spc="0" normalizeH="0" baseline="0" noProof="0" dirty="0">
                          <a:ln>
                            <a:noFill/>
                          </a:ln>
                          <a:solidFill>
                            <a:schemeClr val="tx1"/>
                          </a:solidFill>
                          <a:effectLst/>
                          <a:uLnTx/>
                          <a:uFillTx/>
                          <a:latin typeface="+mn-ea"/>
                          <a:ea typeface="+mn-ea"/>
                        </a:rPr>
                        <a:t>　</a:t>
                      </a:r>
                      <a:r>
                        <a:rPr kumimoji="1" lang="ja-JP" altLang="en-US" sz="700" b="0" u="none" strike="noStrike" kern="1200" cap="none" spc="0" normalizeH="0" baseline="0" noProof="0" dirty="0">
                          <a:ln>
                            <a:noFill/>
                          </a:ln>
                          <a:solidFill>
                            <a:prstClr val="black"/>
                          </a:solidFill>
                          <a:effectLst/>
                          <a:uLnTx/>
                          <a:uFillTx/>
                          <a:latin typeface="+mn-ea"/>
                          <a:ea typeface="+mn-ea"/>
                        </a:rPr>
                        <a:t>黒と白がある</a:t>
                      </a:r>
                      <a:endParaRPr kumimoji="1" lang="en-US" altLang="ja-JP" sz="700" b="0" i="0" u="none" strike="noStrike" kern="1200" cap="none" spc="0" normalizeH="0" baseline="0" noProof="0" dirty="0">
                        <a:ln>
                          <a:noFill/>
                        </a:ln>
                        <a:solidFill>
                          <a:prstClr val="black"/>
                        </a:solidFill>
                        <a:effectLst/>
                        <a:uLnTx/>
                        <a:uFillTx/>
                        <a:latin typeface="+mn-ea"/>
                        <a:ea typeface="+mn-ea"/>
                        <a:cs typeface="+mn-cs"/>
                      </a:endParaRPr>
                    </a:p>
                  </a:txBody>
                  <a:tcPr marL="68580" marR="68580" marT="34290" marB="34290" anchor="ctr"/>
                </a:tc>
                <a:extLst>
                  <a:ext uri="{0D108BD9-81ED-4DB2-BD59-A6C34878D82A}">
                    <a16:rowId xmlns:a16="http://schemas.microsoft.com/office/drawing/2014/main" val="3006272405"/>
                  </a:ext>
                </a:extLst>
              </a:tr>
            </a:tbl>
          </a:graphicData>
        </a:graphic>
      </p:graphicFrame>
      <p:graphicFrame>
        <p:nvGraphicFramePr>
          <p:cNvPr id="4" name="表 3">
            <a:extLst>
              <a:ext uri="{FF2B5EF4-FFF2-40B4-BE49-F238E27FC236}">
                <a16:creationId xmlns:a16="http://schemas.microsoft.com/office/drawing/2014/main" id="{02BE6C21-5324-4B5B-8017-DED2F28E84B0}"/>
              </a:ext>
            </a:extLst>
          </p:cNvPr>
          <p:cNvGraphicFramePr>
            <a:graphicFrameLocks noGrp="1"/>
          </p:cNvGraphicFramePr>
          <p:nvPr/>
        </p:nvGraphicFramePr>
        <p:xfrm>
          <a:off x="25957" y="3163787"/>
          <a:ext cx="9092089" cy="1501140"/>
        </p:xfrm>
        <a:graphic>
          <a:graphicData uri="http://schemas.openxmlformats.org/drawingml/2006/table">
            <a:tbl>
              <a:tblPr firstRow="1" bandRow="1">
                <a:tableStyleId>{5C22544A-7EE6-4342-B048-85BDC9FD1C3A}</a:tableStyleId>
              </a:tblPr>
              <a:tblGrid>
                <a:gridCol w="2326481">
                  <a:extLst>
                    <a:ext uri="{9D8B030D-6E8A-4147-A177-3AD203B41FA5}">
                      <a16:colId xmlns:a16="http://schemas.microsoft.com/office/drawing/2014/main" val="2960267752"/>
                    </a:ext>
                  </a:extLst>
                </a:gridCol>
                <a:gridCol w="306705">
                  <a:extLst>
                    <a:ext uri="{9D8B030D-6E8A-4147-A177-3AD203B41FA5}">
                      <a16:colId xmlns:a16="http://schemas.microsoft.com/office/drawing/2014/main" val="3280092930"/>
                    </a:ext>
                  </a:extLst>
                </a:gridCol>
                <a:gridCol w="317897">
                  <a:extLst>
                    <a:ext uri="{9D8B030D-6E8A-4147-A177-3AD203B41FA5}">
                      <a16:colId xmlns:a16="http://schemas.microsoft.com/office/drawing/2014/main" val="707181459"/>
                    </a:ext>
                  </a:extLst>
                </a:gridCol>
                <a:gridCol w="324564">
                  <a:extLst>
                    <a:ext uri="{9D8B030D-6E8A-4147-A177-3AD203B41FA5}">
                      <a16:colId xmlns:a16="http://schemas.microsoft.com/office/drawing/2014/main" val="3381082349"/>
                    </a:ext>
                  </a:extLst>
                </a:gridCol>
                <a:gridCol w="368618">
                  <a:extLst>
                    <a:ext uri="{9D8B030D-6E8A-4147-A177-3AD203B41FA5}">
                      <a16:colId xmlns:a16="http://schemas.microsoft.com/office/drawing/2014/main" val="1016794723"/>
                    </a:ext>
                  </a:extLst>
                </a:gridCol>
                <a:gridCol w="324564">
                  <a:extLst>
                    <a:ext uri="{9D8B030D-6E8A-4147-A177-3AD203B41FA5}">
                      <a16:colId xmlns:a16="http://schemas.microsoft.com/office/drawing/2014/main" val="1243210674"/>
                    </a:ext>
                  </a:extLst>
                </a:gridCol>
                <a:gridCol w="755570">
                  <a:extLst>
                    <a:ext uri="{9D8B030D-6E8A-4147-A177-3AD203B41FA5}">
                      <a16:colId xmlns:a16="http://schemas.microsoft.com/office/drawing/2014/main" val="1357209278"/>
                    </a:ext>
                  </a:extLst>
                </a:gridCol>
                <a:gridCol w="644843">
                  <a:extLst>
                    <a:ext uri="{9D8B030D-6E8A-4147-A177-3AD203B41FA5}">
                      <a16:colId xmlns:a16="http://schemas.microsoft.com/office/drawing/2014/main" val="1225145854"/>
                    </a:ext>
                  </a:extLst>
                </a:gridCol>
                <a:gridCol w="491252">
                  <a:extLst>
                    <a:ext uri="{9D8B030D-6E8A-4147-A177-3AD203B41FA5}">
                      <a16:colId xmlns:a16="http://schemas.microsoft.com/office/drawing/2014/main" val="1312540247"/>
                    </a:ext>
                  </a:extLst>
                </a:gridCol>
                <a:gridCol w="513874">
                  <a:extLst>
                    <a:ext uri="{9D8B030D-6E8A-4147-A177-3AD203B41FA5}">
                      <a16:colId xmlns:a16="http://schemas.microsoft.com/office/drawing/2014/main" val="3814787784"/>
                    </a:ext>
                  </a:extLst>
                </a:gridCol>
                <a:gridCol w="755570">
                  <a:extLst>
                    <a:ext uri="{9D8B030D-6E8A-4147-A177-3AD203B41FA5}">
                      <a16:colId xmlns:a16="http://schemas.microsoft.com/office/drawing/2014/main" val="995786050"/>
                    </a:ext>
                  </a:extLst>
                </a:gridCol>
                <a:gridCol w="644843">
                  <a:extLst>
                    <a:ext uri="{9D8B030D-6E8A-4147-A177-3AD203B41FA5}">
                      <a16:colId xmlns:a16="http://schemas.microsoft.com/office/drawing/2014/main" val="90681781"/>
                    </a:ext>
                  </a:extLst>
                </a:gridCol>
                <a:gridCol w="344805">
                  <a:extLst>
                    <a:ext uri="{9D8B030D-6E8A-4147-A177-3AD203B41FA5}">
                      <a16:colId xmlns:a16="http://schemas.microsoft.com/office/drawing/2014/main" val="3714533804"/>
                    </a:ext>
                  </a:extLst>
                </a:gridCol>
                <a:gridCol w="325755">
                  <a:extLst>
                    <a:ext uri="{9D8B030D-6E8A-4147-A177-3AD203B41FA5}">
                      <a16:colId xmlns:a16="http://schemas.microsoft.com/office/drawing/2014/main" val="1437682918"/>
                    </a:ext>
                  </a:extLst>
                </a:gridCol>
                <a:gridCol w="320993">
                  <a:extLst>
                    <a:ext uri="{9D8B030D-6E8A-4147-A177-3AD203B41FA5}">
                      <a16:colId xmlns:a16="http://schemas.microsoft.com/office/drawing/2014/main" val="1076785145"/>
                    </a:ext>
                  </a:extLst>
                </a:gridCol>
                <a:gridCol w="325755">
                  <a:extLst>
                    <a:ext uri="{9D8B030D-6E8A-4147-A177-3AD203B41FA5}">
                      <a16:colId xmlns:a16="http://schemas.microsoft.com/office/drawing/2014/main" val="1186194295"/>
                    </a:ext>
                  </a:extLst>
                </a:gridCol>
              </a:tblGrid>
              <a:tr h="274320">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en-US" sz="700" b="1" u="none" strike="noStrike">
                          <a:solidFill>
                            <a:schemeClr val="bg1"/>
                          </a:solidFill>
                          <a:effectLst/>
                          <a:latin typeface="+mn-ea"/>
                          <a:ea typeface="+mn-ea"/>
                        </a:rPr>
                        <a:t>SK</a:t>
                      </a:r>
                    </a:p>
                    <a:p>
                      <a:pPr algn="ctr" fontAlgn="ctr"/>
                      <a:r>
                        <a:rPr lang="en-US" sz="700" b="1" u="none" strike="noStrike">
                          <a:solidFill>
                            <a:schemeClr val="bg1"/>
                          </a:solidFill>
                          <a:effectLst/>
                          <a:latin typeface="+mn-ea"/>
                          <a:ea typeface="+mn-ea"/>
                        </a:rPr>
                        <a:t>/SKM</a:t>
                      </a:r>
                      <a:endParaRPr lang="en-US"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1" u="none" strike="noStrike">
                          <a:solidFill>
                            <a:schemeClr val="bg1"/>
                          </a:solidFill>
                          <a:effectLst/>
                          <a:latin typeface="+mn-ea"/>
                          <a:ea typeface="+mn-ea"/>
                        </a:rPr>
                        <a:t>4C</a:t>
                      </a:r>
                      <a:endParaRPr lang="en-US"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altLang="ja-JP" sz="700" b="0" u="none" strike="noStrike" dirty="0">
                          <a:solidFill>
                            <a:schemeClr val="bg1"/>
                          </a:solidFill>
                          <a:effectLst/>
                          <a:latin typeface="+mn-ea"/>
                          <a:ea typeface="+mn-ea"/>
                        </a:rPr>
                        <a:t>EX</a:t>
                      </a:r>
                    </a:p>
                    <a:p>
                      <a:pPr algn="ctr" fontAlgn="ctr"/>
                      <a:r>
                        <a:rPr lang="en-US" sz="700" b="0" u="none" strike="noStrike" dirty="0">
                          <a:solidFill>
                            <a:schemeClr val="bg1"/>
                          </a:solidFill>
                          <a:effectLst/>
                          <a:latin typeface="+mn-ea"/>
                          <a:ea typeface="+mn-ea"/>
                        </a:rPr>
                        <a:t>(</a:t>
                      </a:r>
                      <a:r>
                        <a:rPr lang="en-US" altLang="ja-JP" sz="700" b="0" u="none" strike="noStrike" dirty="0">
                          <a:solidFill>
                            <a:schemeClr val="bg1"/>
                          </a:solidFill>
                          <a:effectLst/>
                          <a:latin typeface="+mn-ea"/>
                          <a:ea typeface="+mn-ea"/>
                        </a:rPr>
                        <a:t>888</a:t>
                      </a:r>
                      <a:r>
                        <a:rPr lang="en-US" sz="700" b="0" u="none" strike="noStrike" dirty="0">
                          <a:solidFill>
                            <a:schemeClr val="bg1"/>
                          </a:solidFill>
                          <a:effectLst/>
                          <a:latin typeface="+mn-ea"/>
                          <a:ea typeface="+mn-ea"/>
                        </a:rPr>
                        <a:t>)</a:t>
                      </a:r>
                      <a:endParaRPr lang="en-US" sz="700" b="1" i="0" u="none" strike="noStrike" dirty="0">
                        <a:solidFill>
                          <a:schemeClr val="bg1"/>
                        </a:solidFill>
                        <a:effectLst/>
                        <a:latin typeface="+mn-ea"/>
                        <a:ea typeface="+mn-ea"/>
                      </a:endParaRPr>
                    </a:p>
                  </a:txBody>
                  <a:tcPr marL="34290" marR="34290" marT="34290" marB="34290" anchor="ctr"/>
                </a:tc>
                <a:tc>
                  <a:txBody>
                    <a:bodyPr/>
                    <a:lstStyle/>
                    <a:p>
                      <a:pPr algn="ctr" fontAlgn="ctr"/>
                      <a:r>
                        <a:rPr lang="en-US" sz="700" b="1" u="none" strike="noStrike" dirty="0">
                          <a:solidFill>
                            <a:schemeClr val="bg1"/>
                          </a:solidFill>
                          <a:effectLst/>
                          <a:latin typeface="+mn-ea"/>
                          <a:ea typeface="+mn-ea"/>
                        </a:rPr>
                        <a:t>4CM</a:t>
                      </a:r>
                    </a:p>
                  </a:txBody>
                  <a:tcPr marL="34290" marR="34290" marT="34290" marB="34290" anchor="ctr"/>
                </a:tc>
                <a:tc>
                  <a:txBody>
                    <a:bodyPr/>
                    <a:lstStyle/>
                    <a:p>
                      <a:pPr algn="ctr" fontAlgn="ctr"/>
                      <a:r>
                        <a:rPr lang="en-US" altLang="ja-JP" sz="700" b="1" u="none" strike="noStrike">
                          <a:solidFill>
                            <a:schemeClr val="bg1"/>
                          </a:solidFill>
                          <a:effectLst/>
                          <a:latin typeface="+mn-ea"/>
                          <a:ea typeface="+mn-ea"/>
                        </a:rPr>
                        <a:t>CR</a:t>
                      </a:r>
                    </a:p>
                    <a:p>
                      <a:pPr algn="ctr" fontAlgn="ctr"/>
                      <a:r>
                        <a:rPr lang="en-US" sz="700" b="1" u="none" strike="noStrike">
                          <a:solidFill>
                            <a:schemeClr val="bg1"/>
                          </a:solidFill>
                          <a:effectLst/>
                          <a:latin typeface="+mn-ea"/>
                          <a:ea typeface="+mn-ea"/>
                        </a:rPr>
                        <a:t>(</a:t>
                      </a:r>
                      <a:r>
                        <a:rPr lang="en-US" altLang="ja-JP" sz="700" b="1" u="none" strike="noStrike">
                          <a:solidFill>
                            <a:schemeClr val="bg1"/>
                          </a:solidFill>
                          <a:effectLst/>
                          <a:latin typeface="+mn-ea"/>
                          <a:ea typeface="+mn-ea"/>
                        </a:rPr>
                        <a:t>638</a:t>
                      </a:r>
                      <a:r>
                        <a:rPr lang="en-US" sz="700" b="1" u="none" strike="noStrike">
                          <a:solidFill>
                            <a:schemeClr val="bg1"/>
                          </a:solidFill>
                          <a:effectLst/>
                          <a:latin typeface="+mn-ea"/>
                          <a:ea typeface="+mn-ea"/>
                        </a:rPr>
                        <a:t>)</a:t>
                      </a:r>
                      <a:endParaRPr lang="en-US"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1" u="none" strike="noStrike">
                          <a:solidFill>
                            <a:schemeClr val="bg1"/>
                          </a:solidFill>
                          <a:effectLst/>
                          <a:latin typeface="+mn-ea"/>
                          <a:ea typeface="+mn-ea"/>
                        </a:rPr>
                        <a:t>GE</a:t>
                      </a:r>
                      <a:br>
                        <a:rPr lang="en-US" sz="700" b="1" u="none" strike="noStrike">
                          <a:solidFill>
                            <a:srgbClr val="FFFFFF"/>
                          </a:solidFill>
                          <a:effectLst/>
                          <a:latin typeface="+mn-ea"/>
                          <a:ea typeface="+mn-ea"/>
                        </a:rPr>
                      </a:br>
                      <a:r>
                        <a:rPr lang="en-US" sz="500" b="1" u="none" strike="noStrike">
                          <a:solidFill>
                            <a:schemeClr val="bg1"/>
                          </a:solidFill>
                          <a:effectLst/>
                          <a:latin typeface="+mn-ea"/>
                          <a:ea typeface="+mn-ea"/>
                        </a:rPr>
                        <a:t> </a:t>
                      </a:r>
                      <a:r>
                        <a:rPr kumimoji="1" lang="en-US" altLang="ja-JP" sz="500" b="1">
                          <a:solidFill>
                            <a:schemeClr val="bg1"/>
                          </a:solidFill>
                          <a:latin typeface="+mn-ea"/>
                          <a:ea typeface="+mn-ea"/>
                        </a:rPr>
                        <a:t>Gunmetal</a:t>
                      </a:r>
                      <a:r>
                        <a:rPr kumimoji="1" lang="ja-JP" altLang="en-US" sz="500" b="1">
                          <a:solidFill>
                            <a:schemeClr val="bg1"/>
                          </a:solidFill>
                          <a:latin typeface="+mn-ea"/>
                          <a:ea typeface="+mn-ea"/>
                        </a:rPr>
                        <a:t>ｘ</a:t>
                      </a:r>
                      <a:r>
                        <a:rPr kumimoji="1" lang="en-US" altLang="ja-JP" sz="500" b="1">
                          <a:solidFill>
                            <a:schemeClr val="bg1"/>
                          </a:solidFill>
                          <a:latin typeface="+mn-ea"/>
                          <a:ea typeface="+mn-ea"/>
                        </a:rPr>
                        <a:t>Dark Gray</a:t>
                      </a:r>
                      <a:endParaRPr lang="en-US" sz="500" b="1" i="0" u="none" strike="noStrike">
                        <a:solidFill>
                          <a:schemeClr val="bg1"/>
                        </a:solidFill>
                        <a:effectLst/>
                        <a:latin typeface="+mn-ea"/>
                        <a:ea typeface="+mn-ea"/>
                      </a:endParaRPr>
                    </a:p>
                  </a:txBody>
                  <a:tcPr marL="34290" marR="34290" marT="34290" marB="34290" anchor="ctr"/>
                </a:tc>
                <a:tc>
                  <a:txBody>
                    <a:bodyPr/>
                    <a:lstStyle/>
                    <a:p>
                      <a:pPr algn="ctr" fontAlgn="ctr"/>
                      <a:r>
                        <a:rPr lang="en-US" altLang="ja-JP" sz="700" b="1" u="none" strike="noStrike">
                          <a:solidFill>
                            <a:schemeClr val="bg1"/>
                          </a:solidFill>
                          <a:effectLst/>
                          <a:latin typeface="+mn-ea"/>
                          <a:ea typeface="+mn-ea"/>
                        </a:rPr>
                        <a:t>GE</a:t>
                      </a:r>
                      <a:br>
                        <a:rPr lang="en-US" altLang="ja-JP" sz="700" b="1" u="none" strike="noStrike">
                          <a:solidFill>
                            <a:srgbClr val="FFFFFF"/>
                          </a:solidFill>
                          <a:effectLst/>
                          <a:latin typeface="+mn-ea"/>
                          <a:ea typeface="+mn-ea"/>
                        </a:rPr>
                      </a:br>
                      <a:r>
                        <a:rPr lang="en-US" altLang="ja-JP" sz="500" b="1" u="none" strike="noStrike">
                          <a:solidFill>
                            <a:schemeClr val="bg1"/>
                          </a:solidFill>
                          <a:effectLst/>
                          <a:latin typeface="+mn-ea"/>
                          <a:ea typeface="+mn-ea"/>
                        </a:rPr>
                        <a:t> </a:t>
                      </a:r>
                      <a:r>
                        <a:rPr kumimoji="1" lang="en-US" altLang="ja-JP" sz="500" b="1" u="none" strike="noStrike" kern="1200" cap="none" spc="0" normalizeH="0" baseline="0" noProof="0">
                          <a:ln>
                            <a:noFill/>
                          </a:ln>
                          <a:solidFill>
                            <a:schemeClr val="bg1"/>
                          </a:solidFill>
                          <a:effectLst/>
                          <a:uLnTx/>
                          <a:uFillTx/>
                          <a:latin typeface="+mn-ea"/>
                          <a:ea typeface="+mn-ea"/>
                        </a:rPr>
                        <a:t>White</a:t>
                      </a:r>
                      <a:r>
                        <a:rPr kumimoji="1" lang="ja-JP" altLang="en-US" sz="500" b="1" u="none" strike="noStrike" kern="1200" cap="none" spc="0" normalizeH="0" baseline="0" noProof="0">
                          <a:ln>
                            <a:noFill/>
                          </a:ln>
                          <a:solidFill>
                            <a:schemeClr val="bg1"/>
                          </a:solidFill>
                          <a:effectLst/>
                          <a:uLnTx/>
                          <a:uFillTx/>
                          <a:latin typeface="+mn-ea"/>
                          <a:ea typeface="+mn-ea"/>
                        </a:rPr>
                        <a:t>ｘ</a:t>
                      </a:r>
                      <a:r>
                        <a:rPr kumimoji="1" lang="en-US" altLang="ja-JP" sz="500" b="1" u="none" strike="noStrike" kern="1200" cap="none" spc="0" normalizeH="0" baseline="0" noProof="0">
                          <a:ln>
                            <a:noFill/>
                          </a:ln>
                          <a:solidFill>
                            <a:schemeClr val="bg1"/>
                          </a:solidFill>
                          <a:effectLst/>
                          <a:uLnTx/>
                          <a:uFillTx/>
                          <a:latin typeface="+mn-ea"/>
                          <a:ea typeface="+mn-ea"/>
                        </a:rPr>
                        <a:t>Dark Gray</a:t>
                      </a:r>
                      <a:endParaRPr lang="en-US" altLang="ja-JP" sz="500" b="1" i="0" u="none" strike="noStrike">
                        <a:solidFill>
                          <a:schemeClr val="bg1"/>
                        </a:solidFill>
                        <a:effectLst/>
                        <a:latin typeface="+mn-ea"/>
                        <a:ea typeface="+mn-ea"/>
                      </a:endParaRPr>
                    </a:p>
                  </a:txBody>
                  <a:tcPr marL="34290" marR="34290" marT="34290" marB="34290" anchor="ctr"/>
                </a:tc>
                <a:tc>
                  <a:txBody>
                    <a:bodyPr/>
                    <a:lstStyle/>
                    <a:p>
                      <a:pPr algn="ctr" fontAlgn="ctr"/>
                      <a:r>
                        <a:rPr lang="en-US" altLang="ja-JP" sz="700" b="1" u="none" strike="noStrike">
                          <a:solidFill>
                            <a:schemeClr val="bg1"/>
                          </a:solidFill>
                          <a:effectLst/>
                          <a:latin typeface="+mn-ea"/>
                          <a:ea typeface="+mn-ea"/>
                        </a:rPr>
                        <a:t>GE</a:t>
                      </a:r>
                    </a:p>
                    <a:p>
                      <a:pPr algn="ctr" fontAlgn="ctr"/>
                      <a:r>
                        <a:rPr lang="en-US" altLang="ja-JP" sz="700" b="1" u="none" strike="noStrike">
                          <a:solidFill>
                            <a:schemeClr val="bg1"/>
                          </a:solidFill>
                          <a:effectLst/>
                          <a:latin typeface="+mn-ea"/>
                          <a:ea typeface="+mn-ea"/>
                        </a:rPr>
                        <a:t>Black</a:t>
                      </a:r>
                      <a:endParaRPr lang="en-US" altLang="ja-JP"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altLang="ja-JP" sz="700" b="1" u="none" strike="noStrike">
                          <a:solidFill>
                            <a:schemeClr val="bg1"/>
                          </a:solidFill>
                          <a:effectLst/>
                          <a:latin typeface="+mn-ea"/>
                          <a:ea typeface="+mn-ea"/>
                        </a:rPr>
                        <a:t>GE</a:t>
                      </a:r>
                    </a:p>
                    <a:p>
                      <a:pPr algn="ctr" fontAlgn="ctr"/>
                      <a:r>
                        <a:rPr lang="en-US" altLang="ja-JP" sz="700" b="1" u="none" strike="noStrike">
                          <a:solidFill>
                            <a:schemeClr val="bg1"/>
                          </a:solidFill>
                          <a:effectLst/>
                          <a:latin typeface="+mn-ea"/>
                          <a:ea typeface="+mn-ea"/>
                        </a:rPr>
                        <a:t>White</a:t>
                      </a:r>
                      <a:endParaRPr lang="en-US" altLang="ja-JP"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1" u="none" strike="noStrike" err="1">
                          <a:solidFill>
                            <a:schemeClr val="bg1"/>
                          </a:solidFill>
                          <a:effectLst/>
                          <a:latin typeface="+mn-ea"/>
                          <a:ea typeface="+mn-ea"/>
                        </a:rPr>
                        <a:t>GEm</a:t>
                      </a:r>
                      <a:br>
                        <a:rPr lang="en-US" sz="700" b="1" u="none" strike="noStrike">
                          <a:solidFill>
                            <a:srgbClr val="FFFFFF"/>
                          </a:solidFill>
                          <a:effectLst/>
                          <a:latin typeface="+mn-ea"/>
                          <a:ea typeface="+mn-ea"/>
                        </a:rPr>
                      </a:br>
                      <a:r>
                        <a:rPr lang="en-US" sz="500" b="1" u="none" strike="noStrike">
                          <a:solidFill>
                            <a:schemeClr val="bg1"/>
                          </a:solidFill>
                          <a:effectLst/>
                          <a:latin typeface="+mn-ea"/>
                          <a:ea typeface="+mn-ea"/>
                        </a:rPr>
                        <a:t> </a:t>
                      </a:r>
                      <a:r>
                        <a:rPr kumimoji="1" lang="en-US" altLang="ja-JP" sz="500" b="1">
                          <a:solidFill>
                            <a:schemeClr val="bg1"/>
                          </a:solidFill>
                          <a:latin typeface="+mn-ea"/>
                          <a:ea typeface="+mn-ea"/>
                        </a:rPr>
                        <a:t>Gunmetal</a:t>
                      </a:r>
                      <a:r>
                        <a:rPr kumimoji="1" lang="ja-JP" altLang="en-US" sz="500" b="1">
                          <a:solidFill>
                            <a:schemeClr val="bg1"/>
                          </a:solidFill>
                          <a:latin typeface="+mn-ea"/>
                          <a:ea typeface="+mn-ea"/>
                        </a:rPr>
                        <a:t>ｘ</a:t>
                      </a:r>
                      <a:r>
                        <a:rPr kumimoji="1" lang="en-US" altLang="ja-JP" sz="500" b="1">
                          <a:solidFill>
                            <a:schemeClr val="bg1"/>
                          </a:solidFill>
                          <a:latin typeface="+mn-ea"/>
                          <a:ea typeface="+mn-ea"/>
                        </a:rPr>
                        <a:t>Dark Gray</a:t>
                      </a:r>
                      <a:endParaRPr lang="en-US" sz="500" b="1" i="0" u="none" strike="noStrike">
                        <a:solidFill>
                          <a:schemeClr val="bg1"/>
                        </a:solidFill>
                        <a:effectLst/>
                        <a:latin typeface="+mn-ea"/>
                        <a:ea typeface="+mn-ea"/>
                      </a:endParaRPr>
                    </a:p>
                  </a:txBody>
                  <a:tcPr marL="34290" marR="34290" marT="34290" marB="34290" anchor="ctr"/>
                </a:tc>
                <a:tc>
                  <a:txBody>
                    <a:bodyPr/>
                    <a:lstStyle/>
                    <a:p>
                      <a:pPr algn="ctr" fontAlgn="ctr"/>
                      <a:r>
                        <a:rPr lang="en-US" altLang="ja-JP" sz="700" b="1" u="none" strike="noStrike" err="1">
                          <a:solidFill>
                            <a:schemeClr val="bg1"/>
                          </a:solidFill>
                          <a:effectLst/>
                          <a:latin typeface="+mn-ea"/>
                          <a:ea typeface="+mn-ea"/>
                        </a:rPr>
                        <a:t>GEm</a:t>
                      </a:r>
                      <a:br>
                        <a:rPr lang="en-US" altLang="ja-JP" sz="700" b="1" u="none" strike="noStrike">
                          <a:solidFill>
                            <a:srgbClr val="FFFFFF"/>
                          </a:solidFill>
                          <a:effectLst/>
                          <a:latin typeface="+mn-ea"/>
                          <a:ea typeface="+mn-ea"/>
                        </a:rPr>
                      </a:br>
                      <a:r>
                        <a:rPr lang="en-US" altLang="ja-JP" sz="500" b="1" u="none" strike="noStrike">
                          <a:solidFill>
                            <a:schemeClr val="bg1"/>
                          </a:solidFill>
                          <a:effectLst/>
                          <a:latin typeface="+mn-ea"/>
                          <a:ea typeface="+mn-ea"/>
                        </a:rPr>
                        <a:t> White</a:t>
                      </a:r>
                      <a:r>
                        <a:rPr lang="ja-JP" altLang="en-US" sz="500" b="1" u="none" strike="noStrike">
                          <a:solidFill>
                            <a:schemeClr val="bg1"/>
                          </a:solidFill>
                          <a:effectLst/>
                          <a:latin typeface="+mn-ea"/>
                          <a:ea typeface="+mn-ea"/>
                        </a:rPr>
                        <a:t>ｘ</a:t>
                      </a:r>
                      <a:r>
                        <a:rPr lang="en-US" altLang="ja-JP" sz="500" b="1" u="none" strike="noStrike">
                          <a:solidFill>
                            <a:schemeClr val="bg1"/>
                          </a:solidFill>
                          <a:effectLst/>
                          <a:latin typeface="+mn-ea"/>
                          <a:ea typeface="+mn-ea"/>
                        </a:rPr>
                        <a:t>Dark Gray</a:t>
                      </a:r>
                      <a:endParaRPr lang="en-US" altLang="ja-JP" sz="5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1" u="none" strike="noStrike">
                          <a:solidFill>
                            <a:schemeClr val="bg1"/>
                          </a:solidFill>
                          <a:effectLst/>
                          <a:latin typeface="+mn-ea"/>
                          <a:ea typeface="+mn-ea"/>
                        </a:rPr>
                        <a:t>SF</a:t>
                      </a:r>
                    </a:p>
                    <a:p>
                      <a:pPr algn="ctr" fontAlgn="ctr"/>
                      <a:r>
                        <a:rPr lang="en-US" sz="700" b="1" u="none" strike="noStrike">
                          <a:solidFill>
                            <a:schemeClr val="bg1"/>
                          </a:solidFill>
                          <a:effectLst/>
                          <a:latin typeface="+mn-ea"/>
                          <a:ea typeface="+mn-ea"/>
                        </a:rPr>
                        <a:t>Black</a:t>
                      </a:r>
                      <a:endParaRPr lang="en-US"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1" u="none" strike="noStrike">
                          <a:solidFill>
                            <a:schemeClr val="bg1"/>
                          </a:solidFill>
                          <a:effectLst/>
                          <a:latin typeface="+mn-ea"/>
                          <a:ea typeface="+mn-ea"/>
                        </a:rPr>
                        <a:t>SF</a:t>
                      </a:r>
                      <a:br>
                        <a:rPr lang="en-US" sz="700" b="1" u="none" strike="noStrike">
                          <a:solidFill>
                            <a:srgbClr val="FFFFFF"/>
                          </a:solidFill>
                          <a:effectLst/>
                          <a:latin typeface="+mn-ea"/>
                          <a:ea typeface="+mn-ea"/>
                        </a:rPr>
                      </a:br>
                      <a:r>
                        <a:rPr lang="en-US" sz="700" b="1" u="none" strike="noStrike">
                          <a:solidFill>
                            <a:schemeClr val="bg1"/>
                          </a:solidFill>
                          <a:effectLst/>
                          <a:latin typeface="+mn-ea"/>
                          <a:ea typeface="+mn-ea"/>
                        </a:rPr>
                        <a:t>White</a:t>
                      </a:r>
                      <a:endParaRPr lang="en-US" sz="700" b="1" i="0" u="none" strike="noStrike">
                        <a:solidFill>
                          <a:schemeClr val="bg1"/>
                        </a:solidFill>
                        <a:effectLst/>
                        <a:latin typeface="+mn-ea"/>
                        <a:ea typeface="+mn-ea"/>
                      </a:endParaRPr>
                    </a:p>
                  </a:txBody>
                  <a:tcPr marL="34290" marR="34290" marT="34290" marB="34290" anchor="ctr"/>
                </a:tc>
                <a:tc>
                  <a:txBody>
                    <a:bodyPr/>
                    <a:lstStyle/>
                    <a:p>
                      <a:pPr algn="ctr" fontAlgn="ctr"/>
                      <a:r>
                        <a:rPr lang="en-US" sz="700" b="0" u="none" strike="noStrike" err="1">
                          <a:solidFill>
                            <a:schemeClr val="bg1"/>
                          </a:solidFill>
                          <a:effectLst/>
                          <a:latin typeface="+mn-ea"/>
                          <a:ea typeface="+mn-ea"/>
                        </a:rPr>
                        <a:t>SFm</a:t>
                      </a:r>
                      <a:br>
                        <a:rPr lang="en-US" sz="700" b="0" u="none" strike="noStrike">
                          <a:solidFill>
                            <a:schemeClr val="bg1"/>
                          </a:solidFill>
                          <a:effectLst/>
                          <a:latin typeface="+mn-ea"/>
                          <a:ea typeface="+mn-ea"/>
                        </a:rPr>
                      </a:br>
                      <a:r>
                        <a:rPr lang="en-US" sz="700" b="0" u="none" strike="noStrike">
                          <a:solidFill>
                            <a:schemeClr val="bg1"/>
                          </a:solidFill>
                          <a:effectLst/>
                          <a:latin typeface="+mn-ea"/>
                          <a:ea typeface="+mn-ea"/>
                        </a:rPr>
                        <a:t>Black</a:t>
                      </a:r>
                      <a:endParaRPr lang="en-US" sz="700" b="0" i="0" u="none" strike="noStrike">
                        <a:solidFill>
                          <a:schemeClr val="bg1"/>
                        </a:solidFill>
                        <a:effectLst/>
                        <a:latin typeface="+mn-ea"/>
                        <a:ea typeface="+mn-ea"/>
                      </a:endParaRPr>
                    </a:p>
                  </a:txBody>
                  <a:tcPr marL="34290" marR="34290" marT="34290" marB="34290" anchor="ctr"/>
                </a:tc>
                <a:tc>
                  <a:txBody>
                    <a:bodyPr/>
                    <a:lstStyle/>
                    <a:p>
                      <a:pPr algn="ctr" fontAlgn="ctr"/>
                      <a:r>
                        <a:rPr lang="en-US" sz="700" b="0" u="none" strike="noStrike" err="1">
                          <a:solidFill>
                            <a:schemeClr val="bg1"/>
                          </a:solidFill>
                          <a:effectLst/>
                          <a:latin typeface="+mn-ea"/>
                          <a:ea typeface="+mn-ea"/>
                        </a:rPr>
                        <a:t>SFm</a:t>
                      </a:r>
                      <a:br>
                        <a:rPr lang="en-US" sz="700" b="0" u="none" strike="noStrike">
                          <a:solidFill>
                            <a:schemeClr val="bg1"/>
                          </a:solidFill>
                          <a:effectLst/>
                          <a:latin typeface="+mn-ea"/>
                          <a:ea typeface="+mn-ea"/>
                        </a:rPr>
                      </a:br>
                      <a:r>
                        <a:rPr lang="en-US" sz="700" b="0" u="none" strike="noStrike">
                          <a:solidFill>
                            <a:schemeClr val="bg1"/>
                          </a:solidFill>
                          <a:effectLst/>
                          <a:latin typeface="+mn-ea"/>
                          <a:ea typeface="+mn-ea"/>
                        </a:rPr>
                        <a:t>White</a:t>
                      </a:r>
                      <a:endParaRPr lang="en-US" sz="700" b="0" i="0" u="none" strike="noStrike">
                        <a:solidFill>
                          <a:schemeClr val="bg1"/>
                        </a:solidFill>
                        <a:effectLst/>
                        <a:latin typeface="+mn-ea"/>
                        <a:ea typeface="+mn-ea"/>
                      </a:endParaRPr>
                    </a:p>
                  </a:txBody>
                  <a:tcPr marL="34290" marR="34290" marT="34290" marB="34290" anchor="ctr"/>
                </a:tc>
                <a:extLst>
                  <a:ext uri="{0D108BD9-81ED-4DB2-BD59-A6C34878D82A}">
                    <a16:rowId xmlns:a16="http://schemas.microsoft.com/office/drawing/2014/main" val="3168372080"/>
                  </a:ext>
                </a:extLst>
              </a:tr>
              <a:tr h="125730">
                <a:tc>
                  <a:txBody>
                    <a:bodyPr/>
                    <a:lstStyle/>
                    <a:p>
                      <a:pPr algn="l" fontAlgn="ctr"/>
                      <a:r>
                        <a:rPr lang="en-US" altLang="ja-JP" sz="800" u="none" strike="noStrike">
                          <a:effectLst/>
                          <a:latin typeface="+mn-ea"/>
                          <a:ea typeface="+mn-ea"/>
                        </a:rPr>
                        <a:t>175373 </a:t>
                      </a:r>
                      <a:r>
                        <a:rPr lang="ja-JP" altLang="en-US" sz="800" u="none" strike="noStrike">
                          <a:effectLst/>
                          <a:latin typeface="+mn-ea"/>
                          <a:ea typeface="+mn-ea"/>
                        </a:rPr>
                        <a:t>組 </a:t>
                      </a:r>
                      <a:r>
                        <a:rPr lang="en-US" sz="800" u="none" strike="noStrike">
                          <a:effectLst/>
                          <a:latin typeface="+mn-ea"/>
                          <a:ea typeface="+mn-ea"/>
                        </a:rPr>
                        <a:t>VGA support fixture3 for SK</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3531686909"/>
                  </a:ext>
                </a:extLst>
              </a:tr>
              <a:tr h="125730">
                <a:tc>
                  <a:txBody>
                    <a:bodyPr/>
                    <a:lstStyle/>
                    <a:p>
                      <a:pPr algn="l" fontAlgn="ctr"/>
                      <a:r>
                        <a:rPr lang="en-US" altLang="ja-JP" sz="800" u="none" strike="noStrike">
                          <a:solidFill>
                            <a:srgbClr val="FF0000"/>
                          </a:solidFill>
                          <a:effectLst/>
                          <a:latin typeface="+mn-ea"/>
                          <a:ea typeface="+mn-ea"/>
                        </a:rPr>
                        <a:t>175374 </a:t>
                      </a:r>
                      <a:r>
                        <a:rPr lang="ja-JP" altLang="en-US" sz="800" u="none" strike="noStrike">
                          <a:solidFill>
                            <a:srgbClr val="FF0000"/>
                          </a:solidFill>
                          <a:effectLst/>
                          <a:latin typeface="+mn-ea"/>
                          <a:ea typeface="+mn-ea"/>
                        </a:rPr>
                        <a:t>組 </a:t>
                      </a:r>
                      <a:r>
                        <a:rPr lang="en-US" sz="800" u="none" strike="noStrike">
                          <a:solidFill>
                            <a:srgbClr val="FF0000"/>
                          </a:solidFill>
                          <a:effectLst/>
                          <a:latin typeface="+mn-ea"/>
                          <a:ea typeface="+mn-ea"/>
                        </a:rPr>
                        <a:t>VGA support fixture3 for </a:t>
                      </a:r>
                      <a:r>
                        <a:rPr lang="en-US" sz="800" u="none" strike="noStrike" err="1">
                          <a:solidFill>
                            <a:srgbClr val="FF0000"/>
                          </a:solidFill>
                          <a:effectLst/>
                          <a:latin typeface="+mn-ea"/>
                          <a:ea typeface="+mn-ea"/>
                        </a:rPr>
                        <a:t>raytrek</a:t>
                      </a:r>
                      <a:r>
                        <a:rPr lang="en-US" sz="600" u="none" strike="noStrike">
                          <a:solidFill>
                            <a:srgbClr val="FF0000"/>
                          </a:solidFill>
                          <a:effectLst/>
                          <a:latin typeface="+mn-ea"/>
                          <a:ea typeface="+mn-ea"/>
                        </a:rPr>
                        <a:t> (</a:t>
                      </a:r>
                      <a:r>
                        <a:rPr lang="ja-JP" altLang="en-US" sz="600" u="none" strike="noStrike">
                          <a:solidFill>
                            <a:srgbClr val="FF0000"/>
                          </a:solidFill>
                          <a:effectLst/>
                          <a:latin typeface="+mn-ea"/>
                          <a:ea typeface="+mn-ea"/>
                        </a:rPr>
                        <a:t>旧仕様</a:t>
                      </a:r>
                      <a:r>
                        <a:rPr lang="en-US" altLang="ja-JP" sz="600" u="none" strike="noStrike">
                          <a:solidFill>
                            <a:srgbClr val="FF0000"/>
                          </a:solidFill>
                          <a:effectLst/>
                          <a:latin typeface="+mn-ea"/>
                          <a:ea typeface="+mn-ea"/>
                        </a:rPr>
                        <a:t>)</a:t>
                      </a:r>
                      <a:endParaRPr lang="en-US" altLang="ja-JP" sz="600" b="0" i="0" u="none" strike="noStrike">
                        <a:solidFill>
                          <a:srgbClr val="FF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◎優先</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dirty="0">
                          <a:effectLst/>
                          <a:latin typeface="+mn-ea"/>
                          <a:ea typeface="+mn-ea"/>
                        </a:rPr>
                        <a:t>　</a:t>
                      </a:r>
                      <a:endParaRPr lang="ja-JP" altLang="en-US" sz="800" b="0" i="0" u="none" strike="noStrike" dirty="0">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1113660038"/>
                  </a:ext>
                </a:extLst>
              </a:tr>
              <a:tr h="205740">
                <a:tc>
                  <a:txBody>
                    <a:bodyPr/>
                    <a:lstStyle/>
                    <a:p>
                      <a:pPr algn="l" fontAlgn="ctr"/>
                      <a:r>
                        <a:rPr lang="en-US" altLang="ja-JP" sz="800" u="none" strike="noStrike">
                          <a:solidFill>
                            <a:srgbClr val="FF0000"/>
                          </a:solidFill>
                          <a:effectLst/>
                          <a:latin typeface="+mn-ea"/>
                          <a:ea typeface="+mn-ea"/>
                        </a:rPr>
                        <a:t>210767 </a:t>
                      </a:r>
                      <a:r>
                        <a:rPr lang="ja-JP" altLang="en-US" sz="800" u="none" strike="noStrike">
                          <a:solidFill>
                            <a:srgbClr val="FF0000"/>
                          </a:solidFill>
                          <a:effectLst/>
                          <a:latin typeface="+mn-ea"/>
                          <a:ea typeface="+mn-ea"/>
                        </a:rPr>
                        <a:t>組</a:t>
                      </a:r>
                      <a:r>
                        <a:rPr lang="en-US" sz="800" u="none" strike="noStrike">
                          <a:solidFill>
                            <a:srgbClr val="FF0000"/>
                          </a:solidFill>
                          <a:effectLst/>
                          <a:latin typeface="+mn-ea"/>
                          <a:ea typeface="+mn-ea"/>
                        </a:rPr>
                        <a:t>VGA support fixture3 for </a:t>
                      </a:r>
                      <a:r>
                        <a:rPr lang="ja-JP" altLang="en-US" sz="800" u="none" strike="noStrike">
                          <a:solidFill>
                            <a:srgbClr val="FF0000"/>
                          </a:solidFill>
                          <a:effectLst/>
                          <a:latin typeface="+mn-ea"/>
                          <a:ea typeface="+mn-ea"/>
                        </a:rPr>
                        <a:t>ｺﾗﾎﾞ</a:t>
                      </a:r>
                      <a:r>
                        <a:rPr lang="en-US" sz="800" u="none" strike="noStrike">
                          <a:solidFill>
                            <a:srgbClr val="FF0000"/>
                          </a:solidFill>
                          <a:effectLst/>
                          <a:latin typeface="+mn-ea"/>
                          <a:ea typeface="+mn-ea"/>
                        </a:rPr>
                        <a:t>CR(White)</a:t>
                      </a:r>
                      <a:r>
                        <a:rPr lang="en-US" sz="600" u="none" strike="noStrike">
                          <a:solidFill>
                            <a:srgbClr val="FF0000"/>
                          </a:solidFill>
                          <a:effectLst/>
                          <a:latin typeface="+mn-ea"/>
                          <a:ea typeface="+mn-ea"/>
                        </a:rPr>
                        <a:t> (</a:t>
                      </a:r>
                      <a:r>
                        <a:rPr lang="ja-JP" altLang="en-US" sz="600" u="none" strike="noStrike">
                          <a:solidFill>
                            <a:srgbClr val="FF0000"/>
                          </a:solidFill>
                          <a:effectLst/>
                          <a:latin typeface="+mn-ea"/>
                          <a:ea typeface="+mn-ea"/>
                        </a:rPr>
                        <a:t>旧仕様</a:t>
                      </a:r>
                      <a:r>
                        <a:rPr lang="en-US" altLang="ja-JP" sz="600" u="none" strike="noStrike">
                          <a:solidFill>
                            <a:srgbClr val="FF0000"/>
                          </a:solidFill>
                          <a:effectLst/>
                          <a:latin typeface="+mn-ea"/>
                          <a:ea typeface="+mn-ea"/>
                        </a:rPr>
                        <a:t>)</a:t>
                      </a:r>
                      <a:endParaRPr lang="en-US" altLang="ja-JP" sz="700" b="0" i="0" u="none" strike="noStrike">
                        <a:solidFill>
                          <a:srgbClr val="FF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◎優先</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3296100102"/>
                  </a:ext>
                </a:extLst>
              </a:tr>
              <a:tr h="125730">
                <a:tc>
                  <a:txBody>
                    <a:bodyPr/>
                    <a:lstStyle/>
                    <a:p>
                      <a:pPr algn="l" fontAlgn="ctr"/>
                      <a:r>
                        <a:rPr lang="en-US" altLang="ja-JP" sz="800" u="none" strike="noStrike">
                          <a:effectLst/>
                          <a:latin typeface="+mn-ea"/>
                          <a:ea typeface="+mn-ea"/>
                        </a:rPr>
                        <a:t>218812 </a:t>
                      </a:r>
                      <a:r>
                        <a:rPr lang="ja-JP" altLang="en-US" sz="800" u="none" strike="noStrike">
                          <a:effectLst/>
                          <a:latin typeface="+mn-ea"/>
                          <a:ea typeface="+mn-ea"/>
                        </a:rPr>
                        <a:t>組</a:t>
                      </a:r>
                      <a:r>
                        <a:rPr lang="en-US" sz="800" u="none" strike="noStrike">
                          <a:effectLst/>
                          <a:latin typeface="+mn-ea"/>
                          <a:ea typeface="+mn-ea"/>
                        </a:rPr>
                        <a:t>SLR VGA support for Gemini (Dark gray)</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55887401"/>
                  </a:ext>
                </a:extLst>
              </a:tr>
              <a:tr h="125730">
                <a:tc>
                  <a:txBody>
                    <a:bodyPr/>
                    <a:lstStyle/>
                    <a:p>
                      <a:pPr algn="l" fontAlgn="ctr"/>
                      <a:r>
                        <a:rPr lang="en-US" altLang="ja-JP" sz="800" u="none" strike="noStrike">
                          <a:effectLst/>
                          <a:latin typeface="+mn-ea"/>
                          <a:ea typeface="+mn-ea"/>
                        </a:rPr>
                        <a:t>218810 </a:t>
                      </a:r>
                      <a:r>
                        <a:rPr lang="ja-JP" altLang="en-US" sz="800" u="none" strike="noStrike">
                          <a:effectLst/>
                          <a:latin typeface="+mn-ea"/>
                          <a:ea typeface="+mn-ea"/>
                        </a:rPr>
                        <a:t>組</a:t>
                      </a:r>
                      <a:r>
                        <a:rPr lang="en-US" sz="800" u="none" strike="noStrike">
                          <a:effectLst/>
                          <a:latin typeface="+mn-ea"/>
                          <a:ea typeface="+mn-ea"/>
                        </a:rPr>
                        <a:t>SLR VGA support for </a:t>
                      </a:r>
                      <a:r>
                        <a:rPr lang="en-US" sz="800" u="none" strike="noStrike" err="1">
                          <a:effectLst/>
                          <a:latin typeface="+mn-ea"/>
                          <a:ea typeface="+mn-ea"/>
                        </a:rPr>
                        <a:t>Gem&amp;Ari</a:t>
                      </a:r>
                      <a:r>
                        <a:rPr lang="en-US" sz="800" u="none" strike="noStrike">
                          <a:effectLst/>
                          <a:latin typeface="+mn-ea"/>
                          <a:ea typeface="+mn-ea"/>
                        </a:rPr>
                        <a:t>(White)</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2804668669"/>
                  </a:ext>
                </a:extLst>
              </a:tr>
              <a:tr h="125730">
                <a:tc>
                  <a:txBody>
                    <a:bodyPr/>
                    <a:lstStyle/>
                    <a:p>
                      <a:pPr algn="l" fontAlgn="ctr"/>
                      <a:r>
                        <a:rPr lang="en-US" altLang="ja-JP" sz="800" u="none" strike="noStrike" dirty="0">
                          <a:effectLst/>
                          <a:latin typeface="+mn-ea"/>
                          <a:ea typeface="+mn-ea"/>
                        </a:rPr>
                        <a:t>218809 </a:t>
                      </a:r>
                      <a:r>
                        <a:rPr lang="ja-JP" altLang="en-US" sz="800" u="none" strike="noStrike" dirty="0">
                          <a:effectLst/>
                          <a:latin typeface="+mn-ea"/>
                          <a:ea typeface="+mn-ea"/>
                        </a:rPr>
                        <a:t>組</a:t>
                      </a:r>
                      <a:r>
                        <a:rPr lang="en-US" sz="800" u="none" strike="noStrike" dirty="0">
                          <a:effectLst/>
                          <a:latin typeface="+mn-ea"/>
                          <a:ea typeface="+mn-ea"/>
                        </a:rPr>
                        <a:t>SLR VGA support for Aries (Black)</a:t>
                      </a:r>
                      <a:endParaRPr lang="en-US" sz="800" b="0" i="0" u="none" strike="noStrike" dirty="0">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u="none" strike="noStrike" dirty="0">
                          <a:effectLst/>
                          <a:latin typeface="+mn-ea"/>
                          <a:ea typeface="+mn-ea"/>
                        </a:rPr>
                        <a:t>◎</a:t>
                      </a:r>
                      <a:endParaRPr lang="ja-JP" altLang="en-US" sz="800" b="0" i="0" u="none" strike="noStrike" dirty="0">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2749612922"/>
                  </a:ext>
                </a:extLst>
              </a:tr>
              <a:tr h="125730">
                <a:tc>
                  <a:txBody>
                    <a:bodyPr/>
                    <a:lstStyle/>
                    <a:p>
                      <a:pPr algn="l" fontAlgn="ctr"/>
                      <a:r>
                        <a:rPr lang="en-US" altLang="ja-JP" sz="800" u="none" strike="noStrike">
                          <a:effectLst/>
                          <a:latin typeface="+mn-ea"/>
                          <a:ea typeface="+mn-ea"/>
                        </a:rPr>
                        <a:t>218813 </a:t>
                      </a:r>
                      <a:r>
                        <a:rPr lang="ja-JP" altLang="en-US" sz="800" u="none" strike="noStrike">
                          <a:effectLst/>
                          <a:latin typeface="+mn-ea"/>
                          <a:ea typeface="+mn-ea"/>
                        </a:rPr>
                        <a:t>組</a:t>
                      </a:r>
                      <a:r>
                        <a:rPr lang="en-US" sz="800" u="none" strike="noStrike">
                          <a:effectLst/>
                          <a:latin typeface="+mn-ea"/>
                          <a:ea typeface="+mn-ea"/>
                        </a:rPr>
                        <a:t>SLR VGA support for Aries M (Black)</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282204388"/>
                  </a:ext>
                </a:extLst>
              </a:tr>
              <a:tr h="125730">
                <a:tc>
                  <a:txBody>
                    <a:bodyPr/>
                    <a:lstStyle/>
                    <a:p>
                      <a:pPr algn="l" fontAlgn="ctr"/>
                      <a:r>
                        <a:rPr lang="en-US" altLang="ja-JP" sz="800" u="none" strike="noStrike">
                          <a:effectLst/>
                          <a:latin typeface="+mn-ea"/>
                          <a:ea typeface="+mn-ea"/>
                        </a:rPr>
                        <a:t>218814 </a:t>
                      </a:r>
                      <a:r>
                        <a:rPr lang="ja-JP" altLang="en-US" sz="800" u="none" strike="noStrike">
                          <a:effectLst/>
                          <a:latin typeface="+mn-ea"/>
                          <a:ea typeface="+mn-ea"/>
                        </a:rPr>
                        <a:t>組</a:t>
                      </a:r>
                      <a:r>
                        <a:rPr lang="en-US" sz="800" u="none" strike="noStrike">
                          <a:effectLst/>
                          <a:latin typeface="+mn-ea"/>
                          <a:ea typeface="+mn-ea"/>
                        </a:rPr>
                        <a:t>SLR VGA support for Aries M (White)</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extLst>
                  <a:ext uri="{0D108BD9-81ED-4DB2-BD59-A6C34878D82A}">
                    <a16:rowId xmlns:a16="http://schemas.microsoft.com/office/drawing/2014/main" val="896836774"/>
                  </a:ext>
                </a:extLst>
              </a:tr>
              <a:tr h="125730">
                <a:tc>
                  <a:txBody>
                    <a:bodyPr/>
                    <a:lstStyle/>
                    <a:p>
                      <a:pPr algn="l" fontAlgn="ctr"/>
                      <a:r>
                        <a:rPr lang="en-US" altLang="ja-JP" sz="800" u="none" strike="noStrike">
                          <a:effectLst/>
                          <a:latin typeface="+mn-ea"/>
                          <a:ea typeface="+mn-ea"/>
                        </a:rPr>
                        <a:t>206678 </a:t>
                      </a:r>
                      <a:r>
                        <a:rPr lang="ja-JP" altLang="en-US" sz="800" u="none" strike="noStrike">
                          <a:effectLst/>
                          <a:latin typeface="+mn-ea"/>
                          <a:ea typeface="+mn-ea"/>
                        </a:rPr>
                        <a:t>組 </a:t>
                      </a:r>
                      <a:r>
                        <a:rPr lang="en-US" sz="800" u="none" strike="noStrike">
                          <a:effectLst/>
                          <a:latin typeface="+mn-ea"/>
                          <a:ea typeface="+mn-ea"/>
                        </a:rPr>
                        <a:t>VGA support fixture for SR888GG</a:t>
                      </a:r>
                      <a:endParaRPr 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a:effectLst/>
                          <a:latin typeface="+mn-ea"/>
                          <a:ea typeface="+mn-ea"/>
                        </a:rPr>
                        <a:t>　</a:t>
                      </a:r>
                      <a:endParaRPr lang="ja-JP" altLang="en-US" sz="800" b="0" i="0" u="none" strike="noStrike">
                        <a:solidFill>
                          <a:srgbClr val="000000"/>
                        </a:solidFill>
                        <a:effectLst/>
                        <a:latin typeface="+mn-ea"/>
                        <a:ea typeface="+mn-ea"/>
                      </a:endParaRPr>
                    </a:p>
                  </a:txBody>
                  <a:tcPr marL="0" marR="0" marT="0" marB="0" anchor="ctr"/>
                </a:tc>
                <a:tc>
                  <a:txBody>
                    <a:bodyPr/>
                    <a:lstStyle/>
                    <a:p>
                      <a:pPr algn="ctr" fontAlgn="ctr"/>
                      <a:r>
                        <a:rPr lang="ja-JP" altLang="en-US" sz="800" u="none" strike="noStrike" dirty="0">
                          <a:effectLst/>
                          <a:latin typeface="+mn-ea"/>
                          <a:ea typeface="+mn-ea"/>
                        </a:rPr>
                        <a:t>　</a:t>
                      </a:r>
                      <a:endParaRPr lang="ja-JP" altLang="en-US" sz="8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816343751"/>
                  </a:ext>
                </a:extLst>
              </a:tr>
            </a:tbl>
          </a:graphicData>
        </a:graphic>
      </p:graphicFrame>
      <p:sp>
        <p:nvSpPr>
          <p:cNvPr id="6" name="テキスト ボックス 5">
            <a:extLst>
              <a:ext uri="{FF2B5EF4-FFF2-40B4-BE49-F238E27FC236}">
                <a16:creationId xmlns:a16="http://schemas.microsoft.com/office/drawing/2014/main" id="{BEB5135B-93B5-4526-A472-E8CC60FF948F}"/>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l"/>
            <a:r>
              <a:rPr lang="en-US" altLang="ja-JP" sz="1800" u="sng" dirty="0">
                <a:latin typeface="+mn-ea"/>
              </a:rPr>
              <a:t>VGA</a:t>
            </a:r>
            <a:r>
              <a:rPr lang="ja-JP" altLang="en-US" sz="1800" u="sng" dirty="0">
                <a:latin typeface="+mn-ea"/>
              </a:rPr>
              <a:t>サポート金具</a:t>
            </a:r>
            <a:r>
              <a:rPr lang="en-US" altLang="ja-JP" sz="1800" u="sng" dirty="0">
                <a:latin typeface="+mn-ea"/>
              </a:rPr>
              <a:t>(</a:t>
            </a:r>
            <a:r>
              <a:rPr lang="ja-JP" altLang="en-US" sz="1800" u="sng" dirty="0">
                <a:latin typeface="+mn-ea"/>
              </a:rPr>
              <a:t>備忘</a:t>
            </a:r>
            <a:r>
              <a:rPr lang="en-US" altLang="ja-JP" sz="1800" u="sng" dirty="0">
                <a:latin typeface="+mn-ea"/>
              </a:rPr>
              <a:t>)</a:t>
            </a:r>
            <a:endParaRPr lang="ja-JP" altLang="en-US" sz="1800" u="sng" dirty="0">
              <a:latin typeface="+mn-ea"/>
            </a:endParaRPr>
          </a:p>
        </p:txBody>
      </p:sp>
    </p:spTree>
    <p:extLst>
      <p:ext uri="{BB962C8B-B14F-4D97-AF65-F5344CB8AC3E}">
        <p14:creationId xmlns:p14="http://schemas.microsoft.com/office/powerpoint/2010/main" val="38264180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78E2F81-0290-4304-AC07-AFEF868AF762}"/>
              </a:ext>
            </a:extLst>
          </p:cNvPr>
          <p:cNvSpPr/>
          <p:nvPr/>
        </p:nvSpPr>
        <p:spPr>
          <a:xfrm>
            <a:off x="2595" y="407729"/>
            <a:ext cx="9141405" cy="4447371"/>
          </a:xfrm>
          <a:prstGeom prst="rect">
            <a:avLst/>
          </a:prstGeom>
          <a:noFill/>
        </p:spPr>
        <p:txBody>
          <a:bodyPr wrap="square" anchor="t">
            <a:spAutoFit/>
          </a:bodyPr>
          <a:lstStyle/>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CPU</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CPU/</a:t>
            </a:r>
            <a:r>
              <a:rPr lang="ja-JP" altLang="en-US" sz="1100" b="1" dirty="0">
                <a:latin typeface="メイリオ" panose="020B0604030504040204" pitchFamily="50" charset="-128"/>
                <a:ea typeface="メイリオ" panose="020B0604030504040204" pitchFamily="50" charset="-128"/>
              </a:rPr>
              <a:t>ケース</a:t>
            </a:r>
            <a:r>
              <a:rPr lang="en-US" altLang="ja-JP" sz="1100" b="1" dirty="0">
                <a:latin typeface="メイリオ" panose="020B0604030504040204" pitchFamily="50" charset="-128"/>
                <a:ea typeface="メイリオ" panose="020B0604030504040204" pitchFamily="50" charset="-128"/>
              </a:rPr>
              <a:t>FAN</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（基本仕様、構成使用可否簡易一覧など）</a:t>
            </a:r>
            <a:br>
              <a:rPr lang="en-US" altLang="ja-JP" sz="1200" dirty="0">
                <a:latin typeface="メイリオ" panose="020B0604030504040204" pitchFamily="50" charset="-128"/>
                <a:ea typeface="メイリオ" panose="020B0604030504040204" pitchFamily="50" charset="-128"/>
              </a:rPr>
            </a:br>
            <a:r>
              <a:rPr lang="ja-JP" altLang="en-US" sz="1100" b="1" dirty="0">
                <a:latin typeface="メイリオ" panose="020B0604030504040204" pitchFamily="50" charset="-128"/>
                <a:ea typeface="メイリオ" panose="020B0604030504040204" pitchFamily="50" charset="-128"/>
              </a:rPr>
              <a:t>・メモリ仕様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（基本仕様、片面</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両面、</a:t>
            </a:r>
            <a:r>
              <a:rPr lang="en-US" altLang="ja-JP" sz="1050" dirty="0">
                <a:latin typeface="メイリオ" panose="020B0604030504040204" pitchFamily="50" charset="-128"/>
                <a:ea typeface="メイリオ" panose="020B0604030504040204" pitchFamily="50" charset="-128"/>
              </a:rPr>
              <a:t>bit/Rank</a:t>
            </a:r>
            <a:r>
              <a:rPr lang="ja-JP" altLang="en-US" sz="1050" dirty="0">
                <a:latin typeface="メイリオ" panose="020B0604030504040204" pitchFamily="50" charset="-128"/>
                <a:ea typeface="メイリオ" panose="020B0604030504040204" pitchFamily="50" charset="-128"/>
              </a:rPr>
              <a:t>など）</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SSD</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（基本仕様、速度、片面</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両面など）</a:t>
            </a:r>
            <a:endParaRPr lang="en-US" altLang="ja-JP" sz="1050" b="1"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HDD</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a:t>
            </a:r>
            <a:r>
              <a:rPr lang="en-US" altLang="ja-JP" sz="1050" dirty="0">
                <a:latin typeface="メイリオ" panose="020B0604030504040204" pitchFamily="50" charset="-128"/>
                <a:ea typeface="メイリオ" panose="020B0604030504040204" pitchFamily="50" charset="-128"/>
              </a:rPr>
              <a:t>CMR/SMR</a:t>
            </a:r>
            <a:r>
              <a:rPr lang="ja-JP" altLang="en-US" sz="1050" dirty="0">
                <a:latin typeface="メイリオ" panose="020B0604030504040204" pitchFamily="50" charset="-128"/>
                <a:ea typeface="メイリオ" panose="020B0604030504040204" pitchFamily="50" charset="-128"/>
              </a:rPr>
              <a:t>など）</a:t>
            </a:r>
            <a:endParaRPr lang="en-US" altLang="ja-JP" sz="1050" b="1"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MB</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（基本仕様、補助電源</a:t>
            </a:r>
            <a:r>
              <a:rPr lang="en-US" altLang="ja-JP" sz="1050" dirty="0">
                <a:latin typeface="メイリオ" panose="020B0604030504040204" pitchFamily="50" charset="-128"/>
                <a:ea typeface="メイリオ" panose="020B0604030504040204" pitchFamily="50" charset="-128"/>
              </a:rPr>
              <a:t>pin</a:t>
            </a:r>
            <a:r>
              <a:rPr lang="ja-JP" altLang="en-US" sz="1050" dirty="0">
                <a:latin typeface="メイリオ" panose="020B0604030504040204" pitchFamily="50" charset="-128"/>
                <a:ea typeface="メイリオ" panose="020B0604030504040204" pitchFamily="50" charset="-128"/>
              </a:rPr>
              <a:t>、ｍ</a:t>
            </a:r>
            <a:r>
              <a:rPr lang="en-US" altLang="ja-JP" sz="1050" dirty="0">
                <a:latin typeface="メイリオ" panose="020B0604030504040204" pitchFamily="50" charset="-128"/>
                <a:ea typeface="メイリオ" panose="020B0604030504040204" pitchFamily="50" charset="-128"/>
              </a:rPr>
              <a:t>.2</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USB/RGB/FAN</a:t>
            </a:r>
            <a:r>
              <a:rPr lang="ja-JP" altLang="en-US" sz="1050" dirty="0">
                <a:latin typeface="メイリオ" panose="020B0604030504040204" pitchFamily="50" charset="-128"/>
                <a:ea typeface="メイリオ" panose="020B0604030504040204" pitchFamily="50" charset="-128"/>
              </a:rPr>
              <a:t>ヘッダ、背面</a:t>
            </a:r>
            <a:r>
              <a:rPr lang="en-US" altLang="ja-JP" sz="1050" dirty="0">
                <a:latin typeface="メイリオ" panose="020B0604030504040204" pitchFamily="50" charset="-128"/>
                <a:ea typeface="メイリオ" panose="020B0604030504040204" pitchFamily="50" charset="-128"/>
              </a:rPr>
              <a:t>I/O</a:t>
            </a:r>
            <a:r>
              <a:rPr lang="ja-JP" altLang="en-US" sz="1050" dirty="0">
                <a:latin typeface="メイリオ" panose="020B0604030504040204" pitchFamily="50" charset="-128"/>
                <a:ea typeface="メイリオ" panose="020B0604030504040204" pitchFamily="50" charset="-128"/>
              </a:rPr>
              <a:t>など）</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・オリジナル</a:t>
            </a:r>
            <a:r>
              <a:rPr lang="en-US" altLang="ja-JP" sz="1100" b="1" dirty="0">
                <a:latin typeface="メイリオ" panose="020B0604030504040204" pitchFamily="50" charset="-128"/>
                <a:ea typeface="メイリオ" panose="020B0604030504040204" pitchFamily="50" charset="-128"/>
              </a:rPr>
              <a:t>MB</a:t>
            </a:r>
            <a:r>
              <a:rPr lang="ja-JP" altLang="en-US" sz="1100" b="1" dirty="0">
                <a:latin typeface="メイリオ" panose="020B0604030504040204" pitchFamily="50" charset="-128"/>
                <a:ea typeface="メイリオ" panose="020B0604030504040204" pitchFamily="50" charset="-128"/>
              </a:rPr>
              <a:t>のマニュアル</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VGA</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a:t>
            </a:r>
            <a:r>
              <a:rPr lang="en-US" altLang="ja-JP" sz="1050" dirty="0">
                <a:latin typeface="メイリオ" panose="020B0604030504040204" pitchFamily="50" charset="-128"/>
                <a:ea typeface="メイリオ" panose="020B0604030504040204" pitchFamily="50" charset="-128"/>
              </a:rPr>
              <a:t>VGA</a:t>
            </a:r>
            <a:r>
              <a:rPr lang="ja-JP" altLang="en-US" sz="1050" dirty="0">
                <a:latin typeface="メイリオ" panose="020B0604030504040204" pitchFamily="50" charset="-128"/>
                <a:ea typeface="メイリオ" panose="020B0604030504040204" pitchFamily="50" charset="-128"/>
              </a:rPr>
              <a:t>サポートの必要有無</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対応品</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、消費電力</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搭載推奨電源</a:t>
            </a:r>
            <a:r>
              <a:rPr lang="en-US" altLang="ja-JP" sz="1050" dirty="0">
                <a:latin typeface="メイリオ" panose="020B0604030504040204" pitchFamily="50" charset="-128"/>
                <a:ea typeface="メイリオ" panose="020B0604030504040204" pitchFamily="50" charset="-128"/>
              </a:rPr>
              <a:t>/TW</a:t>
            </a:r>
            <a:r>
              <a:rPr lang="ja-JP" altLang="en-US" sz="1050" dirty="0">
                <a:latin typeface="メイリオ" panose="020B0604030504040204" pitchFamily="50" charset="-128"/>
                <a:ea typeface="メイリオ" panose="020B0604030504040204" pitchFamily="50" charset="-128"/>
              </a:rPr>
              <a:t>使用電源、重量、</a:t>
            </a:r>
            <a:r>
              <a:rPr lang="en-US" altLang="ja-JP" sz="1050" dirty="0">
                <a:latin typeface="メイリオ" panose="020B0604030504040204" pitchFamily="50" charset="-128"/>
                <a:ea typeface="メイリオ" panose="020B0604030504040204" pitchFamily="50" charset="-128"/>
              </a:rPr>
              <a:t>LED</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FAN</a:t>
            </a:r>
            <a:r>
              <a:rPr lang="ja-JP" altLang="en-US" sz="1050" dirty="0">
                <a:latin typeface="メイリオ" panose="020B0604030504040204" pitchFamily="50" charset="-128"/>
                <a:ea typeface="メイリオ" panose="020B0604030504040204" pitchFamily="50" charset="-128"/>
              </a:rPr>
              <a:t>など）</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VGA</a:t>
            </a:r>
            <a:r>
              <a:rPr lang="ja-JP" altLang="en-US" sz="1100" b="1" dirty="0">
                <a:latin typeface="メイリオ" panose="020B0604030504040204" pitchFamily="50" charset="-128"/>
                <a:ea typeface="メイリオ" panose="020B0604030504040204" pitchFamily="50" charset="-128"/>
              </a:rPr>
              <a:t>サポート金具対応表</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SK/SKM</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LD</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X5/X6(CR</a:t>
            </a:r>
            <a:r>
              <a:rPr lang="ja-JP" altLang="en-US" sz="1050" dirty="0">
                <a:latin typeface="メイリオ" panose="020B0604030504040204" pitchFamily="50" charset="-128"/>
                <a:ea typeface="メイリオ" panose="020B0604030504040204" pitchFamily="50" charset="-128"/>
              </a:rPr>
              <a:t>モデル</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4C</a:t>
            </a:r>
            <a:r>
              <a:rPr lang="ja-JP" altLang="en-US" sz="1050" dirty="0">
                <a:latin typeface="メイリオ" panose="020B0604030504040204" pitchFamily="50" charset="-128"/>
                <a:ea typeface="メイリオ" panose="020B0604030504040204" pitchFamily="50" charset="-128"/>
              </a:rPr>
              <a:t>等のサポート金具と各</a:t>
            </a:r>
            <a:r>
              <a:rPr lang="en-US" altLang="ja-JP" sz="1050" dirty="0">
                <a:latin typeface="メイリオ" panose="020B0604030504040204" pitchFamily="50" charset="-128"/>
                <a:ea typeface="メイリオ" panose="020B0604030504040204" pitchFamily="50" charset="-128"/>
              </a:rPr>
              <a:t>VGA</a:t>
            </a:r>
            <a:r>
              <a:rPr lang="ja-JP" altLang="en-US" sz="1050" dirty="0">
                <a:latin typeface="メイリオ" panose="020B0604030504040204" pitchFamily="50" charset="-128"/>
                <a:ea typeface="メイリオ" panose="020B0604030504040204" pitchFamily="50" charset="-128"/>
              </a:rPr>
              <a:t>の適合情報）</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・電源仕様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（基本仕様、ケーブル長、コネクタ数、</a:t>
            </a:r>
            <a:r>
              <a:rPr lang="en-US" altLang="ja-JP" sz="1050" dirty="0">
                <a:latin typeface="メイリオ" panose="020B0604030504040204" pitchFamily="50" charset="-128"/>
                <a:ea typeface="メイリオ" panose="020B0604030504040204" pitchFamily="50" charset="-128"/>
              </a:rPr>
              <a:t>MB</a:t>
            </a:r>
            <a:r>
              <a:rPr lang="ja-JP" altLang="en-US" sz="1050" dirty="0">
                <a:latin typeface="メイリオ" panose="020B0604030504040204" pitchFamily="50" charset="-128"/>
                <a:ea typeface="メイリオ" panose="020B0604030504040204" pitchFamily="50" charset="-128"/>
              </a:rPr>
              <a:t>対応など）</a:t>
            </a:r>
            <a:endParaRPr lang="en-US" altLang="ja-JP" sz="120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・ノートベアカスタム可能箇所</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仕様</a:t>
            </a:r>
            <a:r>
              <a:rPr lang="ja-JP" altLang="en-US" sz="1050" dirty="0">
                <a:latin typeface="メイリオ" panose="020B0604030504040204" pitchFamily="50" charset="-128"/>
                <a:ea typeface="メイリオ" panose="020B0604030504040204" pitchFamily="50" charset="-128"/>
              </a:rPr>
              <a:t>（モデル名対称、メモリ</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ストレージカスタム、使用</a:t>
            </a:r>
            <a:r>
              <a:rPr lang="en-US" altLang="ja-JP" sz="1050" dirty="0">
                <a:latin typeface="メイリオ" panose="020B0604030504040204" pitchFamily="50" charset="-128"/>
                <a:ea typeface="メイリオ" panose="020B0604030504040204" pitchFamily="50" charset="-128"/>
              </a:rPr>
              <a:t>AC</a:t>
            </a:r>
            <a:r>
              <a:rPr lang="ja-JP" altLang="en-US" sz="1050" dirty="0">
                <a:latin typeface="メイリオ" panose="020B0604030504040204" pitchFamily="50" charset="-128"/>
                <a:ea typeface="メイリオ" panose="020B0604030504040204" pitchFamily="50" charset="-128"/>
              </a:rPr>
              <a:t>アダプタなど）</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・ケース仕様</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（モデル名対称、各種ベイ、対応</a:t>
            </a:r>
            <a:r>
              <a:rPr lang="en-US" altLang="ja-JP" sz="1050" dirty="0">
                <a:latin typeface="メイリオ" panose="020B0604030504040204" pitchFamily="50" charset="-128"/>
                <a:ea typeface="メイリオ" panose="020B0604030504040204" pitchFamily="50" charset="-128"/>
              </a:rPr>
              <a:t>FAN</a:t>
            </a:r>
            <a:r>
              <a:rPr lang="ja-JP" altLang="en-US" sz="1050" dirty="0">
                <a:latin typeface="メイリオ" panose="020B0604030504040204" pitchFamily="50" charset="-128"/>
                <a:ea typeface="メイリオ" panose="020B0604030504040204" pitchFamily="50" charset="-128"/>
              </a:rPr>
              <a:t>など）</a:t>
            </a:r>
            <a:endParaRPr lang="en-US" altLang="ja-JP" sz="1050"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WIFI</a:t>
            </a:r>
            <a:r>
              <a:rPr lang="ja-JP" altLang="en-US" sz="1100" b="1" dirty="0">
                <a:latin typeface="メイリオ" panose="020B0604030504040204" pitchFamily="50" charset="-128"/>
                <a:ea typeface="メイリオ" panose="020B0604030504040204" pitchFamily="50" charset="-128"/>
              </a:rPr>
              <a:t>仕様</a:t>
            </a:r>
            <a:r>
              <a:rPr lang="ja-JP" altLang="en-US" sz="1050" b="1" dirty="0">
                <a:latin typeface="メイリオ" panose="020B0604030504040204" pitchFamily="50" charset="-128"/>
                <a:ea typeface="メイリオ" panose="020B0604030504040204" pitchFamily="50" charset="-128"/>
              </a:rPr>
              <a:t>一覧</a:t>
            </a:r>
            <a:endParaRPr lang="en-US" altLang="ja-JP" sz="1050" b="1" dirty="0">
              <a:latin typeface="メイリオ" panose="020B0604030504040204" pitchFamily="50" charset="-128"/>
              <a:ea typeface="メイリオ" panose="020B0604030504040204" pitchFamily="50" charset="-128"/>
            </a:endParaRPr>
          </a:p>
          <a:p>
            <a:pPr>
              <a:lnSpc>
                <a:spcPct val="150000"/>
              </a:lnSpc>
            </a:pPr>
            <a:r>
              <a:rPr lang="ja-JP" altLang="en-US" sz="1100" b="1" dirty="0">
                <a:latin typeface="メイリオ" panose="020B0604030504040204" pitchFamily="50" charset="-128"/>
                <a:ea typeface="メイリオ" panose="020B0604030504040204" pitchFamily="50" charset="-128"/>
              </a:rPr>
              <a:t>・その他</a:t>
            </a:r>
            <a:r>
              <a:rPr lang="ja-JP" altLang="en-US" sz="1050" b="1" dirty="0">
                <a:latin typeface="メイリオ" panose="020B0604030504040204" pitchFamily="50" charset="-128"/>
                <a:ea typeface="メイリオ" panose="020B0604030504040204" pitchFamily="50" charset="-128"/>
              </a:rPr>
              <a:t>一覧</a:t>
            </a:r>
            <a:r>
              <a:rPr lang="ja-JP" altLang="en-US" sz="1050" dirty="0">
                <a:latin typeface="メイリオ" panose="020B0604030504040204" pitchFamily="50" charset="-128"/>
                <a:ea typeface="メイリオ" panose="020B0604030504040204" pitchFamily="50" charset="-128"/>
              </a:rPr>
              <a:t>（ケーブル類、カスタム品など）</a:t>
            </a:r>
            <a:endParaRPr lang="en-US" altLang="ja-JP" sz="200" b="1"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以上、「チーム：</a:t>
            </a:r>
            <a:r>
              <a:rPr lang="zh-TW" altLang="en-US" sz="1200" b="1" dirty="0">
                <a:latin typeface="メイリオ" panose="020B0604030504040204" pitchFamily="50" charset="-128"/>
                <a:ea typeface="メイリオ" panose="020B0604030504040204" pitchFamily="50" charset="-128"/>
              </a:rPr>
              <a:t>製品開発</a:t>
            </a:r>
            <a:r>
              <a:rPr lang="en-US" altLang="zh-TW" sz="1200" b="1" dirty="0">
                <a:latin typeface="メイリオ" panose="020B0604030504040204" pitchFamily="50" charset="-128"/>
                <a:ea typeface="メイリオ" panose="020B0604030504040204" pitchFamily="50" charset="-128"/>
              </a:rPr>
              <a:t>/</a:t>
            </a:r>
            <a:r>
              <a:rPr lang="zh-TW" altLang="en-US" sz="1200" b="1" dirty="0">
                <a:latin typeface="メイリオ" panose="020B0604030504040204" pitchFamily="50" charset="-128"/>
                <a:ea typeface="メイリオ" panose="020B0604030504040204" pitchFamily="50" charset="-128"/>
              </a:rPr>
              <a:t>共有</a:t>
            </a:r>
            <a:r>
              <a:rPr lang="en-US" altLang="zh-TW" sz="1200" b="1" dirty="0">
                <a:latin typeface="メイリオ" panose="020B0604030504040204" pitchFamily="50" charset="-128"/>
                <a:ea typeface="メイリオ" panose="020B0604030504040204" pitchFamily="50" charset="-128"/>
              </a:rPr>
              <a:t>/</a:t>
            </a:r>
            <a:r>
              <a:rPr lang="zh-TW" altLang="en-US" sz="1200" b="1" dirty="0">
                <a:latin typeface="メイリオ" panose="020B0604030504040204" pitchFamily="50" charset="-128"/>
                <a:ea typeface="メイリオ" panose="020B0604030504040204" pitchFamily="50" charset="-128"/>
              </a:rPr>
              <a:t>連絡</a:t>
            </a:r>
            <a:r>
              <a:rPr lang="en-US" altLang="ja-JP" sz="1200" b="1" dirty="0">
                <a:latin typeface="メイリオ" panose="020B0604030504040204" pitchFamily="50" charset="-128"/>
                <a:ea typeface="メイリオ" panose="020B0604030504040204" pitchFamily="50" charset="-128"/>
              </a:rPr>
              <a:t>_Vol.1</a:t>
            </a:r>
            <a:r>
              <a:rPr lang="ja-JP" altLang="en-US" sz="1200" b="1" dirty="0">
                <a:latin typeface="メイリオ" panose="020B0604030504040204" pitchFamily="50" charset="-128"/>
                <a:ea typeface="メイリオ" panose="020B0604030504040204" pitchFamily="50" charset="-128"/>
              </a:rPr>
              <a:t>　チャンネル：</a:t>
            </a:r>
            <a:r>
              <a:rPr lang="en-US" altLang="ja-JP" sz="1200" b="1" dirty="0">
                <a:latin typeface="メイリオ" panose="020B0604030504040204" pitchFamily="50" charset="-128"/>
                <a:ea typeface="メイリオ" panose="020B0604030504040204" pitchFamily="50" charset="-128"/>
              </a:rPr>
              <a:t>04_</a:t>
            </a:r>
            <a:r>
              <a:rPr lang="ja-JP" altLang="en-US" sz="1200" b="1" dirty="0">
                <a:latin typeface="メイリオ" panose="020B0604030504040204" pitchFamily="50" charset="-128"/>
                <a:ea typeface="メイリオ" panose="020B0604030504040204" pitchFamily="50" charset="-128"/>
              </a:rPr>
              <a:t>製品仕様」にて公開中（随時更新）</a:t>
            </a:r>
            <a:endParaRPr lang="en-US" altLang="ja-JP" sz="1200" b="1" dirty="0">
              <a:latin typeface="メイリオ" panose="020B0604030504040204" pitchFamily="50" charset="-128"/>
              <a:ea typeface="メイリオ" panose="020B0604030504040204" pitchFamily="50" charset="-128"/>
            </a:endParaRPr>
          </a:p>
          <a:p>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・メモリ</a:t>
            </a:r>
            <a:r>
              <a:rPr lang="en-US" altLang="ja-JP" sz="1100" b="1" dirty="0">
                <a:latin typeface="メイリオ" panose="020B0604030504040204" pitchFamily="50" charset="-128"/>
                <a:ea typeface="メイリオ" panose="020B0604030504040204" pitchFamily="50" charset="-128"/>
              </a:rPr>
              <a:t>/SSD</a:t>
            </a:r>
            <a:r>
              <a:rPr lang="ja-JP" altLang="en-US" sz="1100" b="1" dirty="0">
                <a:latin typeface="メイリオ" panose="020B0604030504040204" pitchFamily="50" charset="-128"/>
                <a:ea typeface="メイリオ" panose="020B0604030504040204" pitchFamily="50" charset="-128"/>
              </a:rPr>
              <a:t>組み合わせ検証</a:t>
            </a:r>
            <a:endParaRPr lang="en-US" altLang="ja-JP" sz="1100" b="1"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「チーム：</a:t>
            </a:r>
            <a:r>
              <a:rPr lang="zh-TW" altLang="en-US" sz="1200" b="1" dirty="0">
                <a:latin typeface="メイリオ" panose="020B0604030504040204" pitchFamily="50" charset="-128"/>
                <a:ea typeface="メイリオ" panose="020B0604030504040204" pitchFamily="50" charset="-128"/>
              </a:rPr>
              <a:t>製品開発</a:t>
            </a:r>
            <a:r>
              <a:rPr lang="en-US" altLang="zh-TW" sz="1200" b="1" dirty="0">
                <a:latin typeface="メイリオ" panose="020B0604030504040204" pitchFamily="50" charset="-128"/>
                <a:ea typeface="メイリオ" panose="020B0604030504040204" pitchFamily="50" charset="-128"/>
              </a:rPr>
              <a:t>/</a:t>
            </a:r>
            <a:r>
              <a:rPr lang="zh-TW" altLang="en-US" sz="1200" b="1" dirty="0">
                <a:latin typeface="メイリオ" panose="020B0604030504040204" pitchFamily="50" charset="-128"/>
                <a:ea typeface="メイリオ" panose="020B0604030504040204" pitchFamily="50" charset="-128"/>
              </a:rPr>
              <a:t>共有</a:t>
            </a:r>
            <a:r>
              <a:rPr lang="en-US" altLang="zh-TW" sz="1200" b="1" dirty="0">
                <a:latin typeface="メイリオ" panose="020B0604030504040204" pitchFamily="50" charset="-128"/>
                <a:ea typeface="メイリオ" panose="020B0604030504040204" pitchFamily="50" charset="-128"/>
              </a:rPr>
              <a:t>/</a:t>
            </a:r>
            <a:r>
              <a:rPr lang="zh-TW" altLang="en-US" sz="1200" b="1" dirty="0">
                <a:latin typeface="メイリオ" panose="020B0604030504040204" pitchFamily="50" charset="-128"/>
                <a:ea typeface="メイリオ" panose="020B0604030504040204" pitchFamily="50" charset="-128"/>
              </a:rPr>
              <a:t>連絡</a:t>
            </a:r>
            <a:r>
              <a:rPr lang="en-US" altLang="zh-TW" sz="1200" b="1" dirty="0">
                <a:latin typeface="メイリオ" panose="020B0604030504040204" pitchFamily="50" charset="-128"/>
                <a:ea typeface="メイリオ" panose="020B0604030504040204" pitchFamily="50" charset="-128"/>
              </a:rPr>
              <a:t>_Vol.1</a:t>
            </a:r>
            <a:r>
              <a:rPr lang="zh-TW" altLang="en-US" sz="1200" b="1" dirty="0">
                <a:latin typeface="メイリオ" panose="020B0604030504040204" pitchFamily="50" charset="-128"/>
                <a:ea typeface="メイリオ" panose="020B0604030504040204" pitchFamily="50" charset="-128"/>
              </a:rPr>
              <a:t>　</a:t>
            </a:r>
            <a:r>
              <a:rPr lang="ja-JP" altLang="en-US" sz="1200" b="1" dirty="0">
                <a:latin typeface="メイリオ" panose="020B0604030504040204" pitchFamily="50" charset="-128"/>
                <a:ea typeface="メイリオ" panose="020B0604030504040204" pitchFamily="50" charset="-128"/>
              </a:rPr>
              <a:t>チャンネル：</a:t>
            </a:r>
            <a:r>
              <a:rPr lang="en-US" altLang="ja-JP" sz="1200" b="1" i="0" dirty="0">
                <a:solidFill>
                  <a:srgbClr val="242424"/>
                </a:solidFill>
                <a:effectLst/>
                <a:latin typeface="メイリオ" panose="020B0604030504040204" pitchFamily="50" charset="-128"/>
                <a:ea typeface="メイリオ" panose="020B0604030504040204" pitchFamily="50" charset="-128"/>
              </a:rPr>
              <a:t>120_</a:t>
            </a:r>
            <a:r>
              <a:rPr lang="ja-JP" altLang="en-US" sz="1200" b="1" i="0" dirty="0">
                <a:solidFill>
                  <a:srgbClr val="242424"/>
                </a:solidFill>
                <a:effectLst/>
                <a:latin typeface="メイリオ" panose="020B0604030504040204" pitchFamily="50" charset="-128"/>
                <a:ea typeface="メイリオ" panose="020B0604030504040204" pitchFamily="50" charset="-128"/>
              </a:rPr>
              <a:t>デスク・ノート組み合わせ検証結果</a:t>
            </a:r>
            <a:r>
              <a:rPr lang="ja-JP" altLang="en-US" sz="1200" b="1" dirty="0">
                <a:latin typeface="メイリオ" panose="020B0604030504040204" pitchFamily="50" charset="-128"/>
                <a:ea typeface="メイリオ" panose="020B0604030504040204" pitchFamily="50" charset="-128"/>
              </a:rPr>
              <a:t>」にて公開中（随時更新）　</a:t>
            </a:r>
          </a:p>
        </p:txBody>
      </p:sp>
      <p:sp>
        <p:nvSpPr>
          <p:cNvPr id="2" name="テキスト ボックス 1">
            <a:extLst>
              <a:ext uri="{FF2B5EF4-FFF2-40B4-BE49-F238E27FC236}">
                <a16:creationId xmlns:a16="http://schemas.microsoft.com/office/drawing/2014/main" id="{ADD0DE26-5B8C-48FD-99D2-4E88B6E1065E}"/>
              </a:ext>
            </a:extLst>
          </p:cNvPr>
          <p:cNvSpPr txBox="1"/>
          <p:nvPr/>
        </p:nvSpPr>
        <p:spPr>
          <a:xfrm>
            <a:off x="0" y="0"/>
            <a:ext cx="9144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ja-JP" altLang="en-US" dirty="0">
                <a:latin typeface="メイリオ" panose="020B0604030504040204" pitchFamily="50" charset="-128"/>
                <a:ea typeface="メイリオ" panose="020B0604030504040204" pitchFamily="50" charset="-128"/>
              </a:rPr>
              <a:t>採用製品の仕様情報</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製品開発課管理下</a:t>
            </a:r>
            <a:r>
              <a:rPr lang="en-US" altLang="ja-JP" dirty="0">
                <a:latin typeface="メイリオ" panose="020B0604030504040204" pitchFamily="50" charset="-128"/>
                <a:ea typeface="メイリオ" panose="020B0604030504040204" pitchFamily="50" charset="-128"/>
              </a:rPr>
              <a:t>)</a:t>
            </a:r>
          </a:p>
        </p:txBody>
      </p:sp>
      <p:sp>
        <p:nvSpPr>
          <p:cNvPr id="4" name="スライド番号プレースホルダー 3">
            <a:extLst>
              <a:ext uri="{FF2B5EF4-FFF2-40B4-BE49-F238E27FC236}">
                <a16:creationId xmlns:a16="http://schemas.microsoft.com/office/drawing/2014/main" id="{3B27A584-59C2-4439-BBBE-4B36A463D8B1}"/>
              </a:ext>
            </a:extLst>
          </p:cNvPr>
          <p:cNvSpPr>
            <a:spLocks noGrp="1"/>
          </p:cNvSpPr>
          <p:nvPr>
            <p:ph type="sldNum" sz="quarter" idx="12"/>
          </p:nvPr>
        </p:nvSpPr>
        <p:spPr/>
        <p:txBody>
          <a:bodyPr/>
          <a:lstStyle/>
          <a:p>
            <a:fld id="{F9DFCEB9-CAE4-4F3C-93D0-85C4724A0355}" type="slidenum">
              <a:rPr kumimoji="1" lang="ja-JP" altLang="en-US" smtClean="0"/>
              <a:t>43</a:t>
            </a:fld>
            <a:endParaRPr kumimoji="1" lang="ja-JP" altLang="en-US"/>
          </a:p>
        </p:txBody>
      </p:sp>
    </p:spTree>
    <p:extLst>
      <p:ext uri="{BB962C8B-B14F-4D97-AF65-F5344CB8AC3E}">
        <p14:creationId xmlns:p14="http://schemas.microsoft.com/office/powerpoint/2010/main" val="2715059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07504" y="123478"/>
            <a:ext cx="5616624" cy="369332"/>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rPr>
              <a:t>改版</a:t>
            </a:r>
            <a:r>
              <a:rPr kumimoji="1" lang="ja-JP" altLang="en-US" b="1" dirty="0">
                <a:latin typeface="メイリオ" panose="020B0604030504040204" pitchFamily="50" charset="-128"/>
                <a:ea typeface="メイリオ" panose="020B0604030504040204" pitchFamily="50" charset="-128"/>
              </a:rPr>
              <a:t>履歴</a:t>
            </a:r>
          </a:p>
        </p:txBody>
      </p:sp>
      <p:sp>
        <p:nvSpPr>
          <p:cNvPr id="3" name="テキスト ボックス 2"/>
          <p:cNvSpPr txBox="1"/>
          <p:nvPr/>
        </p:nvSpPr>
        <p:spPr>
          <a:xfrm>
            <a:off x="248328" y="492810"/>
            <a:ext cx="8581197" cy="1077218"/>
          </a:xfrm>
          <a:prstGeom prst="rect">
            <a:avLst/>
          </a:prstGeom>
          <a:noFill/>
          <a:ln>
            <a:solidFill>
              <a:schemeClr val="tx1"/>
            </a:solidFill>
          </a:ln>
        </p:spPr>
        <p:txBody>
          <a:bodyPr wrap="square" rtlCol="0">
            <a:spAutoFit/>
          </a:bodyPr>
          <a:lstStyle/>
          <a:p>
            <a:r>
              <a:rPr lang="ja-JP" altLang="en-US" sz="800" b="1" dirty="0">
                <a:latin typeface="メイリオ" panose="020B0604030504040204" pitchFamily="50" charset="-128"/>
                <a:ea typeface="メイリオ" panose="020B0604030504040204" pitchFamily="50" charset="-128"/>
              </a:rPr>
              <a:t>「サプライヤロードマップ整理」</a:t>
            </a:r>
            <a:endParaRPr lang="en-US" altLang="ja-JP" sz="800" b="1" dirty="0">
              <a:latin typeface="メイリオ" panose="020B0604030504040204" pitchFamily="50" charset="-128"/>
              <a:ea typeface="メイリオ" panose="020B0604030504040204" pitchFamily="50" charset="-128"/>
            </a:endParaRPr>
          </a:p>
          <a:p>
            <a:endParaRPr lang="en-US" altLang="ja-JP" sz="800" b="1" dirty="0">
              <a:latin typeface="メイリオ" panose="020B0604030504040204" pitchFamily="50" charset="-128"/>
              <a:ea typeface="メイリオ" panose="020B0604030504040204" pitchFamily="50" charset="-128"/>
            </a:endParaRPr>
          </a:p>
          <a:p>
            <a:r>
              <a:rPr lang="en-US" altLang="ja-JP" sz="800" b="1" dirty="0">
                <a:latin typeface="メイリオ" panose="020B0604030504040204" pitchFamily="50" charset="-128"/>
                <a:ea typeface="メイリオ" panose="020B0604030504040204" pitchFamily="50" charset="-128"/>
              </a:rPr>
              <a:t>6/26</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Ryzen7 7700X3D 7/17</a:t>
            </a:r>
            <a:r>
              <a:rPr lang="ja-JP" altLang="en-US" sz="800" b="1" dirty="0">
                <a:latin typeface="メイリオ" panose="020B0604030504040204" pitchFamily="50" charset="-128"/>
                <a:ea typeface="メイリオ" panose="020B0604030504040204" pitchFamily="50" charset="-128"/>
              </a:rPr>
              <a:t>確定</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)(P3,6)</a:t>
            </a:r>
          </a:p>
          <a:p>
            <a:r>
              <a:rPr lang="en-US" altLang="ja-JP" sz="800" b="1" dirty="0">
                <a:latin typeface="メイリオ" panose="020B0604030504040204" pitchFamily="50" charset="-128"/>
                <a:ea typeface="メイリオ" panose="020B0604030504040204" pitchFamily="50" charset="-128"/>
              </a:rPr>
              <a:t>6/13</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Ryzen7 5800X3D 6/26(</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Ryzen7 7700X3D 7/17</a:t>
            </a:r>
            <a:r>
              <a:rPr lang="ja-JP" altLang="en-US" sz="800" b="1" dirty="0">
                <a:latin typeface="メイリオ" panose="020B0604030504040204" pitchFamily="50" charset="-128"/>
                <a:ea typeface="メイリオ" panose="020B0604030504040204" pitchFamily="50" charset="-128"/>
              </a:rPr>
              <a:t>予定</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)(P3,6)</a:t>
            </a:r>
          </a:p>
          <a:p>
            <a:r>
              <a:rPr lang="en-US" altLang="ja-JP" sz="800" b="1" dirty="0">
                <a:latin typeface="メイリオ" panose="020B0604030504040204" pitchFamily="50" charset="-128"/>
                <a:ea typeface="メイリオ" panose="020B0604030504040204" pitchFamily="50" charset="-128"/>
              </a:rPr>
              <a:t>6/5</a:t>
            </a:r>
            <a:r>
              <a:rPr lang="ja-JP" altLang="en-US" sz="800" b="1" dirty="0">
                <a:latin typeface="メイリオ" panose="020B0604030504040204" pitchFamily="50" charset="-128"/>
                <a:ea typeface="メイリオ" panose="020B0604030504040204" pitchFamily="50" charset="-128"/>
              </a:rPr>
              <a:t>　</a:t>
            </a:r>
            <a:r>
              <a:rPr lang="en-US" altLang="ja-JP" sz="800" b="1" dirty="0" err="1">
                <a:latin typeface="メイリオ" panose="020B0604030504040204" pitchFamily="50" charset="-128"/>
                <a:ea typeface="メイリオ" panose="020B0604030504040204" pitchFamily="50" charset="-128"/>
              </a:rPr>
              <a:t>ILU&amp;Intel</a:t>
            </a:r>
            <a:r>
              <a:rPr lang="en-US" altLang="ja-JP" sz="800" b="1" dirty="0">
                <a:latin typeface="メイリオ" panose="020B0604030504040204" pitchFamily="50" charset="-128"/>
                <a:ea typeface="メイリオ" panose="020B0604030504040204" pitchFamily="50" charset="-128"/>
              </a:rPr>
              <a:t> MTG</a:t>
            </a:r>
            <a:r>
              <a:rPr lang="ja-JP" altLang="en-US" sz="800" b="1" dirty="0">
                <a:latin typeface="メイリオ" panose="020B0604030504040204" pitchFamily="50" charset="-128"/>
                <a:ea typeface="メイリオ" panose="020B0604030504040204" pitchFamily="50" charset="-128"/>
              </a:rPr>
              <a:t>より更新</a:t>
            </a:r>
            <a:r>
              <a:rPr lang="en-US" altLang="ja-JP" sz="800" b="1" dirty="0">
                <a:latin typeface="メイリオ" panose="020B0604030504040204" pitchFamily="50" charset="-128"/>
                <a:ea typeface="メイリオ" panose="020B0604030504040204" pitchFamily="50" charset="-128"/>
              </a:rPr>
              <a:t>(P3)</a:t>
            </a:r>
          </a:p>
          <a:p>
            <a:r>
              <a:rPr lang="en-US" altLang="ja-JP" sz="800" dirty="0">
                <a:latin typeface="メイリオ" panose="020B0604030504040204" pitchFamily="50" charset="-128"/>
                <a:ea typeface="メイリオ" panose="020B0604030504040204" pitchFamily="50" charset="-128"/>
              </a:rPr>
              <a:t>5/22</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Radeon RX9070 GRE</a:t>
            </a:r>
            <a:r>
              <a:rPr lang="ja-JP" altLang="en-US" sz="800" dirty="0">
                <a:latin typeface="メイリオ" panose="020B0604030504040204" pitchFamily="50" charset="-128"/>
                <a:ea typeface="メイリオ" panose="020B0604030504040204" pitchFamily="50" charset="-128"/>
              </a:rPr>
              <a:t>の日本市場発売解禁日時は</a:t>
            </a:r>
            <a:r>
              <a:rPr lang="en-US" altLang="ja-JP" sz="800" dirty="0">
                <a:latin typeface="メイリオ" panose="020B0604030504040204" pitchFamily="50" charset="-128"/>
                <a:ea typeface="メイリオ" panose="020B0604030504040204" pitchFamily="50" charset="-128"/>
              </a:rPr>
              <a:t>6</a:t>
            </a:r>
            <a:r>
              <a:rPr lang="ja-JP" altLang="en-US" sz="800" dirty="0">
                <a:latin typeface="メイリオ" panose="020B0604030504040204" pitchFamily="50" charset="-128"/>
                <a:ea typeface="メイリオ" panose="020B0604030504040204" pitchFamily="50" charset="-128"/>
              </a:rPr>
              <a:t>月</a:t>
            </a:r>
            <a:r>
              <a:rPr lang="en-US" altLang="ja-JP" sz="800" dirty="0">
                <a:latin typeface="メイリオ" panose="020B0604030504040204" pitchFamily="50" charset="-128"/>
                <a:ea typeface="メイリオ" panose="020B0604030504040204" pitchFamily="50" charset="-128"/>
              </a:rPr>
              <a:t>2</a:t>
            </a:r>
            <a:r>
              <a:rPr lang="ja-JP" altLang="en-US" sz="800" dirty="0">
                <a:latin typeface="メイリオ" panose="020B0604030504040204" pitchFamily="50" charset="-128"/>
                <a:ea typeface="メイリオ" panose="020B0604030504040204" pitchFamily="50" charset="-128"/>
              </a:rPr>
              <a:t>日</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火</a:t>
            </a:r>
            <a:r>
              <a:rPr lang="en-US" altLang="ja-JP" sz="800" dirty="0">
                <a:latin typeface="メイリオ" panose="020B0604030504040204" pitchFamily="50" charset="-128"/>
                <a:ea typeface="メイリオ" panose="020B0604030504040204" pitchFamily="50" charset="-128"/>
              </a:rPr>
              <a:t>) 11:00</a:t>
            </a:r>
          </a:p>
          <a:p>
            <a:r>
              <a:rPr lang="en-US" altLang="ja-JP" sz="800" dirty="0">
                <a:latin typeface="メイリオ" panose="020B0604030504040204" pitchFamily="50" charset="-128"/>
                <a:ea typeface="メイリオ" panose="020B0604030504040204" pitchFamily="50" charset="-128"/>
              </a:rPr>
              <a:t>5/21</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RX9070GRE/RX9050</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RTX5050 9GB/RTX3060</a:t>
            </a:r>
            <a:r>
              <a:rPr lang="ja-JP" altLang="en-US" sz="800" dirty="0">
                <a:latin typeface="メイリオ" panose="020B0604030504040204" pitchFamily="50" charset="-128"/>
                <a:ea typeface="メイリオ" panose="020B0604030504040204" pitchFamily="50" charset="-128"/>
              </a:rPr>
              <a:t>登場見込み時期修正　</a:t>
            </a:r>
            <a:r>
              <a:rPr lang="en-US" altLang="ja-JP" sz="800" dirty="0" err="1">
                <a:latin typeface="メイリオ" panose="020B0604030504040204" pitchFamily="50" charset="-128"/>
                <a:ea typeface="メイリオ" panose="020B0604030504040204" pitchFamily="50" charset="-128"/>
              </a:rPr>
              <a:t>Computex</a:t>
            </a:r>
            <a:r>
              <a:rPr lang="ja-JP" altLang="en-US" sz="800" dirty="0">
                <a:latin typeface="メイリオ" panose="020B0604030504040204" pitchFamily="50" charset="-128"/>
                <a:ea typeface="メイリオ" panose="020B0604030504040204" pitchFamily="50" charset="-128"/>
              </a:rPr>
              <a:t>？続報待ち</a:t>
            </a:r>
            <a:r>
              <a:rPr lang="en-US" altLang="ja-JP" sz="800" dirty="0">
                <a:latin typeface="メイリオ" panose="020B0604030504040204" pitchFamily="50" charset="-128"/>
                <a:ea typeface="メイリオ" panose="020B0604030504040204" pitchFamily="50" charset="-128"/>
              </a:rPr>
              <a:t>(P10-11)</a:t>
            </a:r>
          </a:p>
          <a:p>
            <a:r>
              <a:rPr lang="en-US" altLang="ja-JP" sz="800" dirty="0">
                <a:latin typeface="メイリオ" panose="020B0604030504040204" pitchFamily="50" charset="-128"/>
                <a:ea typeface="メイリオ" panose="020B0604030504040204" pitchFamily="50" charset="-128"/>
              </a:rPr>
              <a:t>5/15</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ILU</a:t>
            </a:r>
            <a:r>
              <a:rPr lang="ja-JP" altLang="en-US" sz="800" dirty="0">
                <a:latin typeface="メイリオ" panose="020B0604030504040204" pitchFamily="50" charset="-128"/>
                <a:ea typeface="メイリオ" panose="020B0604030504040204" pitchFamily="50" charset="-128"/>
              </a:rPr>
              <a:t>に基づき更新　登場時期調整、</a:t>
            </a:r>
            <a:r>
              <a:rPr lang="en-US" altLang="ja-JP" sz="800" dirty="0">
                <a:latin typeface="メイリオ" panose="020B0604030504040204" pitchFamily="50" charset="-128"/>
                <a:ea typeface="メイリオ" panose="020B0604030504040204" pitchFamily="50" charset="-128"/>
              </a:rPr>
              <a:t>Wildcat Lake Refresh</a:t>
            </a:r>
            <a:r>
              <a:rPr lang="ja-JP" altLang="en-US" sz="800" dirty="0">
                <a:latin typeface="メイリオ" panose="020B0604030504040204" pitchFamily="50" charset="-128"/>
                <a:ea typeface="メイリオ" panose="020B0604030504040204" pitchFamily="50" charset="-128"/>
              </a:rPr>
              <a:t>の追加など</a:t>
            </a:r>
            <a:r>
              <a:rPr lang="en-US" altLang="ja-JP" sz="800" dirty="0">
                <a:latin typeface="メイリオ" panose="020B0604030504040204" pitchFamily="50" charset="-128"/>
                <a:ea typeface="メイリオ" panose="020B0604030504040204" pitchFamily="50" charset="-128"/>
              </a:rPr>
              <a:t>(P3-5,8-9)</a:t>
            </a:r>
          </a:p>
        </p:txBody>
      </p:sp>
      <p:sp>
        <p:nvSpPr>
          <p:cNvPr id="4" name="テキスト ボックス 3"/>
          <p:cNvSpPr txBox="1"/>
          <p:nvPr/>
        </p:nvSpPr>
        <p:spPr>
          <a:xfrm>
            <a:off x="255131" y="1902335"/>
            <a:ext cx="8581196" cy="1200329"/>
          </a:xfrm>
          <a:prstGeom prst="rect">
            <a:avLst/>
          </a:prstGeom>
          <a:noFill/>
          <a:ln>
            <a:solidFill>
              <a:schemeClr val="tx1"/>
            </a:solidFill>
          </a:ln>
        </p:spPr>
        <p:txBody>
          <a:bodyPr wrap="square" rtlCol="0">
            <a:spAutoFit/>
          </a:bodyPr>
          <a:lstStyle/>
          <a:p>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THIRDWAVE</a:t>
            </a:r>
            <a:r>
              <a:rPr lang="ja-JP" altLang="en-US" sz="800" b="1" dirty="0">
                <a:latin typeface="メイリオ" panose="020B0604030504040204" pitchFamily="50" charset="-128"/>
                <a:ea typeface="メイリオ" panose="020B0604030504040204" pitchFamily="50" charset="-128"/>
              </a:rPr>
              <a:t>内　部品ロードマップ」</a:t>
            </a:r>
            <a:endParaRPr lang="en-US" altLang="ja-JP" sz="800" b="1" dirty="0">
              <a:latin typeface="メイリオ" panose="020B0604030504040204" pitchFamily="50" charset="-128"/>
              <a:ea typeface="メイリオ" panose="020B0604030504040204" pitchFamily="50" charset="-128"/>
            </a:endParaRPr>
          </a:p>
          <a:p>
            <a:endParaRPr lang="en-US" altLang="ja-JP" sz="800" b="1" dirty="0">
              <a:latin typeface="メイリオ" panose="020B0604030504040204" pitchFamily="50" charset="-128"/>
              <a:ea typeface="メイリオ" panose="020B0604030504040204" pitchFamily="50" charset="-128"/>
            </a:endParaRPr>
          </a:p>
          <a:p>
            <a:r>
              <a:rPr lang="en-US" altLang="ja-JP" sz="800" b="1" dirty="0">
                <a:latin typeface="メイリオ" panose="020B0604030504040204" pitchFamily="50" charset="-128"/>
                <a:ea typeface="メイリオ" panose="020B0604030504040204" pitchFamily="50" charset="-128"/>
              </a:rPr>
              <a:t>6/29</a:t>
            </a:r>
            <a:r>
              <a:rPr lang="ja-JP" altLang="en-US" sz="800" b="1" dirty="0">
                <a:latin typeface="メイリオ" panose="020B0604030504040204" pitchFamily="50" charset="-128"/>
                <a:ea typeface="メイリオ" panose="020B0604030504040204" pitchFamily="50" charset="-128"/>
              </a:rPr>
              <a:t>　ケース開発コードネーム削除</a:t>
            </a:r>
            <a:r>
              <a:rPr lang="en-US" altLang="ja-JP" sz="800" b="1" dirty="0">
                <a:latin typeface="メイリオ" panose="020B0604030504040204" pitchFamily="50" charset="-128"/>
                <a:ea typeface="メイリオ" panose="020B0604030504040204" pitchFamily="50" charset="-128"/>
              </a:rPr>
              <a:t>(P36)</a:t>
            </a:r>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Fluence DA240 →</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DA240 V2</a:t>
            </a:r>
            <a:r>
              <a:rPr lang="ja-JP" altLang="en-US" sz="800" b="1" dirty="0">
                <a:latin typeface="メイリオ" panose="020B0604030504040204" pitchFamily="50" charset="-128"/>
                <a:ea typeface="メイリオ" panose="020B0604030504040204" pitchFamily="50" charset="-128"/>
              </a:rPr>
              <a:t>へ切替予定を追加</a:t>
            </a:r>
            <a:r>
              <a:rPr lang="en-US" altLang="ja-JP" sz="800" b="1" dirty="0">
                <a:latin typeface="メイリオ" panose="020B0604030504040204" pitchFamily="50" charset="-128"/>
                <a:ea typeface="メイリオ" panose="020B0604030504040204" pitchFamily="50" charset="-128"/>
              </a:rPr>
              <a:t>(P27)</a:t>
            </a:r>
          </a:p>
          <a:p>
            <a:r>
              <a:rPr lang="en-US" altLang="ja-JP" sz="800" b="1" dirty="0">
                <a:latin typeface="メイリオ" panose="020B0604030504040204" pitchFamily="50" charset="-128"/>
                <a:ea typeface="メイリオ" panose="020B0604030504040204" pitchFamily="50" charset="-128"/>
              </a:rPr>
              <a:t>6/26</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Ryzen7 7700X3D 7/17</a:t>
            </a:r>
            <a:r>
              <a:rPr lang="ja-JP" altLang="en-US" sz="800" b="1" dirty="0">
                <a:latin typeface="メイリオ" panose="020B0604030504040204" pitchFamily="50" charset="-128"/>
                <a:ea typeface="メイリオ" panose="020B0604030504040204" pitchFamily="50" charset="-128"/>
              </a:rPr>
              <a:t>確定</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)(P33)</a:t>
            </a:r>
          </a:p>
          <a:p>
            <a:r>
              <a:rPr lang="en-US" altLang="ja-JP" sz="800" b="1" dirty="0">
                <a:latin typeface="メイリオ" panose="020B0604030504040204" pitchFamily="50" charset="-128"/>
                <a:ea typeface="メイリオ" panose="020B0604030504040204" pitchFamily="50" charset="-128"/>
              </a:rPr>
              <a:t>6/13</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Ryzen7 5800X3D 6/26(</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Ryzen7 7700X3D 7/17</a:t>
            </a:r>
            <a:r>
              <a:rPr lang="ja-JP" altLang="en-US" sz="800" b="1" dirty="0">
                <a:latin typeface="メイリオ" panose="020B0604030504040204" pitchFamily="50" charset="-128"/>
                <a:ea typeface="メイリオ" panose="020B0604030504040204" pitchFamily="50" charset="-128"/>
              </a:rPr>
              <a:t>予定</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日本</a:t>
            </a:r>
            <a:r>
              <a:rPr lang="en-US" altLang="ja-JP" sz="800" b="1" dirty="0">
                <a:latin typeface="メイリオ" panose="020B0604030504040204" pitchFamily="50" charset="-128"/>
                <a:ea typeface="メイリオ" panose="020B0604030504040204" pitchFamily="50" charset="-128"/>
              </a:rPr>
              <a:t>)(P33)</a:t>
            </a:r>
          </a:p>
          <a:p>
            <a:r>
              <a:rPr lang="en-US" altLang="ja-JP" sz="800" b="1" dirty="0">
                <a:latin typeface="メイリオ" panose="020B0604030504040204" pitchFamily="50" charset="-128"/>
                <a:ea typeface="メイリオ" panose="020B0604030504040204" pitchFamily="50" charset="-128"/>
              </a:rPr>
              <a:t>6/11</a:t>
            </a:r>
            <a:r>
              <a:rPr lang="ja-JP" altLang="en-US" sz="800" b="1" dirty="0">
                <a:latin typeface="メイリオ" panose="020B0604030504040204" pitchFamily="50" charset="-128"/>
                <a:ea typeface="メイリオ" panose="020B0604030504040204" pitchFamily="50" charset="-128"/>
              </a:rPr>
              <a:t>　</a:t>
            </a:r>
            <a:r>
              <a:rPr lang="en-US" altLang="ja-JP" sz="800" b="1" dirty="0">
                <a:latin typeface="メイリオ" panose="020B0604030504040204" pitchFamily="50" charset="-128"/>
                <a:ea typeface="メイリオ" panose="020B0604030504040204" pitchFamily="50" charset="-128"/>
              </a:rPr>
              <a:t>Scythe </a:t>
            </a:r>
            <a:r>
              <a:rPr lang="ja-JP" altLang="en-US" sz="800" b="1" dirty="0">
                <a:latin typeface="メイリオ" panose="020B0604030504040204" pitchFamily="50" charset="-128"/>
                <a:ea typeface="メイリオ" panose="020B0604030504040204" pitchFamily="50" charset="-128"/>
              </a:rPr>
              <a:t>虎徹</a:t>
            </a:r>
            <a:r>
              <a:rPr lang="en-US" altLang="ja-JP" sz="800" b="1" dirty="0">
                <a:latin typeface="メイリオ" panose="020B0604030504040204" pitchFamily="50" charset="-128"/>
                <a:ea typeface="メイリオ" panose="020B0604030504040204" pitchFamily="50" charset="-128"/>
              </a:rPr>
              <a:t>5</a:t>
            </a:r>
            <a:r>
              <a:rPr lang="ja-JP" altLang="en-US" sz="800" b="1" dirty="0">
                <a:latin typeface="メイリオ" panose="020B0604030504040204" pitchFamily="50" charset="-128"/>
                <a:ea typeface="メイリオ" panose="020B0604030504040204" pitchFamily="50" charset="-128"/>
              </a:rPr>
              <a:t>を仮追加</a:t>
            </a:r>
            <a:r>
              <a:rPr lang="en-US" altLang="ja-JP" sz="800" b="1" dirty="0">
                <a:latin typeface="メイリオ" panose="020B0604030504040204" pitchFamily="50" charset="-128"/>
                <a:ea typeface="メイリオ" panose="020B0604030504040204" pitchFamily="50" charset="-128"/>
              </a:rPr>
              <a:t>(P28)</a:t>
            </a:r>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KIOXIA EXCERIA BASIC</a:t>
            </a:r>
            <a:r>
              <a:rPr lang="ja-JP" altLang="en-US" sz="800" b="1" dirty="0">
                <a:latin typeface="メイリオ" panose="020B0604030504040204" pitchFamily="50" charset="-128"/>
                <a:ea typeface="メイリオ" panose="020B0604030504040204" pitchFamily="50" charset="-128"/>
              </a:rPr>
              <a:t>を</a:t>
            </a:r>
            <a:r>
              <a:rPr lang="en-US" altLang="ja-JP" sz="800" b="1" dirty="0">
                <a:latin typeface="メイリオ" panose="020B0604030504040204" pitchFamily="50" charset="-128"/>
                <a:ea typeface="メイリオ" panose="020B0604030504040204" pitchFamily="50" charset="-128"/>
              </a:rPr>
              <a:t>Gen4</a:t>
            </a:r>
            <a:r>
              <a:rPr lang="ja-JP" altLang="en-US" sz="800" b="1" dirty="0">
                <a:latin typeface="メイリオ" panose="020B0604030504040204" pitchFamily="50" charset="-128"/>
                <a:ea typeface="メイリオ" panose="020B0604030504040204" pitchFamily="50" charset="-128"/>
              </a:rPr>
              <a:t>汎用</a:t>
            </a:r>
            <a:r>
              <a:rPr lang="en-US" altLang="ja-JP" sz="800" b="1" dirty="0">
                <a:latin typeface="メイリオ" panose="020B0604030504040204" pitchFamily="50" charset="-128"/>
                <a:ea typeface="メイリオ" panose="020B0604030504040204" pitchFamily="50" charset="-128"/>
              </a:rPr>
              <a:t>S</a:t>
            </a:r>
            <a:r>
              <a:rPr lang="ja-JP" altLang="en-US" sz="800" b="1" dirty="0">
                <a:latin typeface="メイリオ" panose="020B0604030504040204" pitchFamily="50" charset="-128"/>
                <a:ea typeface="メイリオ" panose="020B0604030504040204" pitchFamily="50" charset="-128"/>
              </a:rPr>
              <a:t>に追加</a:t>
            </a:r>
            <a:r>
              <a:rPr lang="en-US" altLang="ja-JP" sz="800" b="1" dirty="0">
                <a:latin typeface="メイリオ" panose="020B0604030504040204" pitchFamily="50" charset="-128"/>
                <a:ea typeface="メイリオ" panose="020B0604030504040204" pitchFamily="50" charset="-128"/>
              </a:rPr>
              <a:t>(P16)</a:t>
            </a:r>
          </a:p>
          <a:p>
            <a:r>
              <a:rPr lang="en-US" altLang="ja-JP" sz="800" dirty="0">
                <a:latin typeface="メイリオ" panose="020B0604030504040204" pitchFamily="50" charset="-128"/>
                <a:ea typeface="メイリオ" panose="020B0604030504040204" pitchFamily="50" charset="-128"/>
              </a:rPr>
              <a:t>5/29</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SFX</a:t>
            </a:r>
            <a:r>
              <a:rPr lang="ja-JP" altLang="en-US" sz="800" dirty="0">
                <a:latin typeface="メイリオ" panose="020B0604030504040204" pitchFamily="50" charset="-128"/>
                <a:ea typeface="メイリオ" panose="020B0604030504040204" pitchFamily="50" charset="-128"/>
              </a:rPr>
              <a:t>電源は</a:t>
            </a:r>
            <a:r>
              <a:rPr lang="en-US" altLang="ja-JP" sz="800" dirty="0">
                <a:latin typeface="メイリオ" panose="020B0604030504040204" pitchFamily="50" charset="-128"/>
                <a:ea typeface="メイリオ" panose="020B0604030504040204" pitchFamily="50" charset="-128"/>
              </a:rPr>
              <a:t>1000W</a:t>
            </a:r>
            <a:r>
              <a:rPr lang="ja-JP" altLang="en-US" sz="800" dirty="0">
                <a:latin typeface="メイリオ" panose="020B0604030504040204" pitchFamily="50" charset="-128"/>
                <a:ea typeface="メイリオ" panose="020B0604030504040204" pitchFamily="50" charset="-128"/>
              </a:rPr>
              <a:t>で確定</a:t>
            </a:r>
            <a:r>
              <a:rPr lang="en-US" altLang="ja-JP" sz="800" dirty="0">
                <a:latin typeface="メイリオ" panose="020B0604030504040204" pitchFamily="50" charset="-128"/>
                <a:ea typeface="メイリオ" panose="020B0604030504040204" pitchFamily="50" charset="-128"/>
              </a:rPr>
              <a:t>(P25)  </a:t>
            </a:r>
            <a:r>
              <a:rPr lang="en-US" altLang="ja-JP" sz="800" dirty="0" err="1">
                <a:latin typeface="メイリオ" panose="020B0604030504040204" pitchFamily="50" charset="-128"/>
                <a:ea typeface="メイリオ" panose="020B0604030504040204" pitchFamily="50" charset="-128"/>
              </a:rPr>
              <a:t>MiniITX</a:t>
            </a:r>
            <a:r>
              <a:rPr lang="en-US" altLang="ja-JP" sz="800" dirty="0">
                <a:latin typeface="メイリオ" panose="020B0604030504040204" pitchFamily="50" charset="-128"/>
                <a:ea typeface="メイリオ" panose="020B0604030504040204" pitchFamily="50" charset="-128"/>
              </a:rPr>
              <a:t> MB</a:t>
            </a:r>
            <a:r>
              <a:rPr lang="ja-JP" altLang="en-US" sz="800" dirty="0">
                <a:latin typeface="メイリオ" panose="020B0604030504040204" pitchFamily="50" charset="-128"/>
                <a:ea typeface="メイリオ" panose="020B0604030504040204" pitchFamily="50" charset="-128"/>
              </a:rPr>
              <a:t>は</a:t>
            </a:r>
            <a:r>
              <a:rPr lang="en-US" altLang="ja-JP" sz="800" dirty="0">
                <a:latin typeface="メイリオ" panose="020B0604030504040204" pitchFamily="50" charset="-128"/>
                <a:ea typeface="メイリオ" panose="020B0604030504040204" pitchFamily="50" charset="-128"/>
              </a:rPr>
              <a:t>ASUS TUF B850-I </a:t>
            </a:r>
            <a:r>
              <a:rPr lang="en-US" altLang="ja-JP" sz="800" dirty="0" err="1">
                <a:latin typeface="メイリオ" panose="020B0604030504040204" pitchFamily="50" charset="-128"/>
                <a:ea typeface="メイリオ" panose="020B0604030504040204" pitchFamily="50" charset="-128"/>
              </a:rPr>
              <a:t>WiFi</a:t>
            </a:r>
            <a:r>
              <a:rPr lang="en-US" altLang="ja-JP" sz="800" dirty="0">
                <a:latin typeface="メイリオ" panose="020B0604030504040204" pitchFamily="50" charset="-128"/>
                <a:ea typeface="メイリオ" panose="020B0604030504040204" pitchFamily="50" charset="-128"/>
              </a:rPr>
              <a:t> NEO</a:t>
            </a:r>
            <a:r>
              <a:rPr lang="ja-JP" altLang="en-US" sz="800" dirty="0">
                <a:latin typeface="メイリオ" panose="020B0604030504040204" pitchFamily="50" charset="-128"/>
                <a:ea typeface="メイリオ" panose="020B0604030504040204" pitchFamily="50" charset="-128"/>
              </a:rPr>
              <a:t>で進行</a:t>
            </a:r>
            <a:r>
              <a:rPr lang="en-US" altLang="ja-JP" sz="800" dirty="0">
                <a:latin typeface="メイリオ" panose="020B0604030504040204" pitchFamily="50" charset="-128"/>
                <a:ea typeface="メイリオ" panose="020B0604030504040204" pitchFamily="50" charset="-128"/>
              </a:rPr>
              <a:t>,MSI B860I EDGE TI WIFI</a:t>
            </a:r>
            <a:r>
              <a:rPr lang="ja-JP" altLang="en-US" sz="800" dirty="0">
                <a:latin typeface="メイリオ" panose="020B0604030504040204" pitchFamily="50" charset="-128"/>
                <a:ea typeface="メイリオ" panose="020B0604030504040204" pitchFamily="50" charset="-128"/>
              </a:rPr>
              <a:t>で進行</a:t>
            </a:r>
            <a:r>
              <a:rPr lang="en-US" altLang="ja-JP" sz="800" dirty="0">
                <a:latin typeface="メイリオ" panose="020B0604030504040204" pitchFamily="50" charset="-128"/>
                <a:ea typeface="メイリオ" panose="020B0604030504040204" pitchFamily="50" charset="-128"/>
              </a:rPr>
              <a:t>(P32,34)</a:t>
            </a:r>
            <a:endParaRPr lang="ja-JP" altLang="en-US" sz="800" dirty="0">
              <a:latin typeface="メイリオ" panose="020B0604030504040204" pitchFamily="50" charset="-128"/>
              <a:ea typeface="メイリオ" panose="020B0604030504040204" pitchFamily="50" charset="-128"/>
            </a:endParaRPr>
          </a:p>
          <a:p>
            <a:r>
              <a:rPr lang="en-US" altLang="ja-JP" sz="800" dirty="0">
                <a:latin typeface="メイリオ" panose="020B0604030504040204" pitchFamily="50" charset="-128"/>
                <a:ea typeface="メイリオ" panose="020B0604030504040204" pitchFamily="50" charset="-128"/>
              </a:rPr>
              <a:t>5/21</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FAN</a:t>
            </a:r>
            <a:r>
              <a:rPr lang="ja-JP" altLang="en-US" sz="800" dirty="0">
                <a:latin typeface="メイリオ" panose="020B0604030504040204" pitchFamily="50" charset="-128"/>
                <a:ea typeface="メイリオ" panose="020B0604030504040204" pitchFamily="50" charset="-128"/>
              </a:rPr>
              <a:t>類更新</a:t>
            </a:r>
            <a:r>
              <a:rPr lang="en-US" altLang="ja-JP" sz="800" dirty="0">
                <a:latin typeface="メイリオ" panose="020B0604030504040204" pitchFamily="50" charset="-128"/>
                <a:ea typeface="メイリオ" panose="020B0604030504040204" pitchFamily="50" charset="-128"/>
              </a:rPr>
              <a:t>(P27-29)</a:t>
            </a:r>
          </a:p>
          <a:p>
            <a:r>
              <a:rPr lang="en-US" altLang="ja-JP" sz="800" dirty="0">
                <a:latin typeface="メイリオ" panose="020B0604030504040204" pitchFamily="50" charset="-128"/>
                <a:ea typeface="メイリオ" panose="020B0604030504040204" pitchFamily="50" charset="-128"/>
              </a:rPr>
              <a:t>5/15</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Intel Raptor Lake-S Next</a:t>
            </a:r>
            <a:r>
              <a:rPr lang="ja-JP" altLang="en-US" sz="800" dirty="0">
                <a:latin typeface="メイリオ" panose="020B0604030504040204" pitchFamily="50" charset="-128"/>
                <a:ea typeface="メイリオ" panose="020B0604030504040204" pitchFamily="50" charset="-128"/>
              </a:rPr>
              <a:t>の予定</a:t>
            </a:r>
            <a:r>
              <a:rPr lang="en-US" altLang="ja-JP" sz="800" dirty="0">
                <a:latin typeface="メイリオ" panose="020B0604030504040204" pitchFamily="50" charset="-128"/>
                <a:ea typeface="メイリオ" panose="020B0604030504040204" pitchFamily="50" charset="-128"/>
              </a:rPr>
              <a:t>SKU</a:t>
            </a:r>
            <a:r>
              <a:rPr lang="ja-JP" altLang="en-US" sz="800" dirty="0">
                <a:latin typeface="メイリオ" panose="020B0604030504040204" pitchFamily="50" charset="-128"/>
                <a:ea typeface="メイリオ" panose="020B0604030504040204" pitchFamily="50" charset="-128"/>
              </a:rPr>
              <a:t>を追加</a:t>
            </a:r>
            <a:r>
              <a:rPr lang="en-US" altLang="ja-JP" sz="800" dirty="0">
                <a:latin typeface="メイリオ" panose="020B0604030504040204" pitchFamily="50" charset="-128"/>
                <a:ea typeface="メイリオ" panose="020B0604030504040204" pitchFamily="50" charset="-128"/>
              </a:rPr>
              <a:t> (P40)</a:t>
            </a:r>
          </a:p>
        </p:txBody>
      </p:sp>
      <p:sp>
        <p:nvSpPr>
          <p:cNvPr id="5" name="テキスト ボックス 4">
            <a:extLst>
              <a:ext uri="{FF2B5EF4-FFF2-40B4-BE49-F238E27FC236}">
                <a16:creationId xmlns:a16="http://schemas.microsoft.com/office/drawing/2014/main" id="{4D69F56F-1420-4085-A117-332998176685}"/>
              </a:ext>
            </a:extLst>
          </p:cNvPr>
          <p:cNvSpPr txBox="1"/>
          <p:nvPr/>
        </p:nvSpPr>
        <p:spPr>
          <a:xfrm>
            <a:off x="251520" y="4758412"/>
            <a:ext cx="8640960" cy="261610"/>
          </a:xfrm>
          <a:prstGeom prst="rect">
            <a:avLst/>
          </a:prstGeom>
          <a:noFill/>
        </p:spPr>
        <p:txBody>
          <a:bodyPr wrap="square" rtlCol="0">
            <a:spAutoFit/>
          </a:bodyPr>
          <a:lstStyle/>
          <a:p>
            <a:r>
              <a:rPr kumimoji="1" lang="ja-JP" altLang="en-US" sz="1100" dirty="0">
                <a:latin typeface="メイリオ" panose="020B0604030504040204" pitchFamily="50" charset="-128"/>
                <a:ea typeface="メイリオ" panose="020B0604030504040204" pitchFamily="50" charset="-128"/>
              </a:rPr>
              <a:t>次回更新：新規モデル関連部材、汎用</a:t>
            </a:r>
            <a:r>
              <a:rPr lang="ja-JP" altLang="en-US" sz="1100" dirty="0">
                <a:latin typeface="メイリオ" panose="020B0604030504040204" pitchFamily="50" charset="-128"/>
                <a:ea typeface="メイリオ" panose="020B0604030504040204" pitchFamily="50" charset="-128"/>
              </a:rPr>
              <a:t>品各種</a:t>
            </a:r>
            <a:r>
              <a:rPr lang="en-US" altLang="ja-JP" sz="1100" dirty="0">
                <a:latin typeface="メイリオ" panose="020B0604030504040204" pitchFamily="50" charset="-128"/>
                <a:ea typeface="メイリオ" panose="020B0604030504040204" pitchFamily="50" charset="-128"/>
              </a:rPr>
              <a:t>(SSD</a:t>
            </a:r>
            <a:r>
              <a:rPr lang="ja-JP" altLang="en-US" sz="1100" dirty="0">
                <a:latin typeface="メイリオ" panose="020B0604030504040204" pitchFamily="50" charset="-128"/>
                <a:ea typeface="メイリオ" panose="020B0604030504040204" pitchFamily="50" charset="-128"/>
              </a:rPr>
              <a:t>・メモリ</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FAN</a:t>
            </a:r>
            <a:r>
              <a:rPr lang="ja-JP" altLang="en-US" sz="1050" dirty="0">
                <a:latin typeface="メイリオ" panose="020B0604030504040204" pitchFamily="50" charset="-128"/>
                <a:ea typeface="メイリオ" panose="020B0604030504040204" pitchFamily="50" charset="-128"/>
              </a:rPr>
              <a:t>類</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水冷・空冷</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に注視 </a:t>
            </a:r>
            <a:endParaRPr kumimoji="1" lang="ja-JP" altLang="en-US" sz="11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B8274F43-1E87-4216-9597-FA8EB4D22717}"/>
              </a:ext>
            </a:extLst>
          </p:cNvPr>
          <p:cNvSpPr txBox="1"/>
          <p:nvPr/>
        </p:nvSpPr>
        <p:spPr>
          <a:xfrm>
            <a:off x="248330" y="3291830"/>
            <a:ext cx="8587997" cy="1323439"/>
          </a:xfrm>
          <a:prstGeom prst="rect">
            <a:avLst/>
          </a:prstGeom>
          <a:noFill/>
          <a:ln>
            <a:solidFill>
              <a:schemeClr val="tx1"/>
            </a:solidFill>
          </a:ln>
        </p:spPr>
        <p:txBody>
          <a:bodyPr wrap="square" rtlCol="0">
            <a:spAutoFit/>
          </a:bodyPr>
          <a:lstStyle/>
          <a:p>
            <a:r>
              <a:rPr lang="ja-JP" altLang="en-US" sz="800" b="1" dirty="0">
                <a:latin typeface="メイリオ" panose="020B0604030504040204" pitchFamily="50" charset="-128"/>
                <a:ea typeface="メイリオ" panose="020B0604030504040204" pitchFamily="50" charset="-128"/>
              </a:rPr>
              <a:t>「</a:t>
            </a:r>
            <a:r>
              <a:rPr lang="en-US" altLang="ja-JP" sz="800" b="1" dirty="0">
                <a:latin typeface="メイリオ" panose="020B0604030504040204" pitchFamily="50" charset="-128"/>
                <a:ea typeface="メイリオ" panose="020B0604030504040204" pitchFamily="50" charset="-128"/>
              </a:rPr>
              <a:t>1Q</a:t>
            </a:r>
            <a:r>
              <a:rPr lang="ja-JP" altLang="en-US" sz="800" b="1" dirty="0">
                <a:latin typeface="メイリオ" panose="020B0604030504040204" pitchFamily="50" charset="-128"/>
                <a:ea typeface="メイリオ" panose="020B0604030504040204" pitchFamily="50" charset="-128"/>
              </a:rPr>
              <a:t>目処 汎用</a:t>
            </a:r>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カスタマイズ用 投入予定パーツ」</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月末時点での予定</a:t>
            </a:r>
            <a:endParaRPr lang="en-US" altLang="ja-JP" sz="800" dirty="0">
              <a:latin typeface="メイリオ" panose="020B0604030504040204" pitchFamily="50" charset="-128"/>
              <a:ea typeface="メイリオ" panose="020B0604030504040204" pitchFamily="50" charset="-128"/>
            </a:endParaRPr>
          </a:p>
          <a:p>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標準・汎用</a:t>
            </a:r>
            <a:r>
              <a:rPr lang="en-US" altLang="ja-JP" sz="800" b="1" dirty="0">
                <a:latin typeface="メイリオ" panose="020B0604030504040204" pitchFamily="50" charset="-128"/>
                <a:ea typeface="メイリオ" panose="020B0604030504040204" pitchFamily="50" charset="-128"/>
              </a:rPr>
              <a:t>-</a:t>
            </a:r>
          </a:p>
          <a:p>
            <a:r>
              <a:rPr lang="en-US" altLang="ja-JP" sz="800" dirty="0">
                <a:latin typeface="メイリオ" panose="020B0604030504040204" pitchFamily="50" charset="-128"/>
                <a:ea typeface="メイリオ" panose="020B0604030504040204" pitchFamily="50" charset="-128"/>
              </a:rPr>
              <a:t>CPU</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Ryzen </a:t>
            </a:r>
            <a:r>
              <a:rPr lang="en-US" altLang="ja-JP" sz="800" dirty="0" err="1">
                <a:latin typeface="メイリオ" panose="020B0604030504040204" pitchFamily="50" charset="-128"/>
                <a:ea typeface="メイリオ" panose="020B0604030504040204" pitchFamily="50" charset="-128"/>
              </a:rPr>
              <a:t>Threadripper</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9980X,9970X,9960X(GALLERIA</a:t>
            </a:r>
            <a:r>
              <a:rPr lang="ja-JP" altLang="en-US" sz="800" dirty="0">
                <a:latin typeface="メイリオ" panose="020B0604030504040204" pitchFamily="50" charset="-128"/>
                <a:ea typeface="メイリオ" panose="020B0604030504040204" pitchFamily="50" charset="-128"/>
              </a:rPr>
              <a:t>モデル用</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 </a:t>
            </a:r>
            <a:endParaRPr lang="en-US" altLang="ja-JP" sz="800" dirty="0">
              <a:latin typeface="メイリオ" panose="020B0604030504040204" pitchFamily="50" charset="-128"/>
              <a:ea typeface="メイリオ" panose="020B0604030504040204" pitchFamily="50" charset="-128"/>
            </a:endParaRPr>
          </a:p>
          <a:p>
            <a:r>
              <a:rPr lang="en-US" altLang="ja-JP" sz="800" dirty="0">
                <a:latin typeface="メイリオ" panose="020B0604030504040204" pitchFamily="50" charset="-128"/>
                <a:ea typeface="メイリオ" panose="020B0604030504040204" pitchFamily="50" charset="-128"/>
              </a:rPr>
              <a:t>MB</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 ASRock TRX50 WS</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(GALLERIA</a:t>
            </a:r>
            <a:r>
              <a:rPr lang="ja-JP" altLang="en-US" sz="800" dirty="0">
                <a:latin typeface="メイリオ" panose="020B0604030504040204" pitchFamily="50" charset="-128"/>
                <a:ea typeface="メイリオ" panose="020B0604030504040204" pitchFamily="50" charset="-128"/>
              </a:rPr>
              <a:t>モデル用</a:t>
            </a:r>
            <a:r>
              <a:rPr lang="en-US" altLang="ja-JP" sz="800" dirty="0">
                <a:latin typeface="メイリオ" panose="020B0604030504040204" pitchFamily="50" charset="-128"/>
                <a:ea typeface="メイリオ" panose="020B0604030504040204" pitchFamily="50" charset="-128"/>
              </a:rPr>
              <a:t>) , MSI B860 ITX/ASUS B850 ITX(CX</a:t>
            </a:r>
            <a:r>
              <a:rPr lang="ja-JP" altLang="en-US" sz="800" dirty="0">
                <a:latin typeface="メイリオ" panose="020B0604030504040204" pitchFamily="50" charset="-128"/>
                <a:ea typeface="メイリオ" panose="020B0604030504040204" pitchFamily="50" charset="-128"/>
              </a:rPr>
              <a:t>モデル用</a:t>
            </a:r>
            <a:r>
              <a:rPr lang="en-US" altLang="ja-JP" sz="800" dirty="0">
                <a:latin typeface="メイリオ" panose="020B0604030504040204" pitchFamily="50" charset="-128"/>
                <a:ea typeface="メイリオ" panose="020B0604030504040204" pitchFamily="50" charset="-128"/>
              </a:rPr>
              <a:t>)</a:t>
            </a:r>
          </a:p>
          <a:p>
            <a:r>
              <a:rPr lang="ja-JP" altLang="en-US" sz="800" dirty="0">
                <a:latin typeface="メイリオ" panose="020B0604030504040204" pitchFamily="50" charset="-128"/>
                <a:ea typeface="メイリオ" panose="020B0604030504040204" pitchFamily="50" charset="-128"/>
              </a:rPr>
              <a:t>メモリ：汎用</a:t>
            </a:r>
            <a:r>
              <a:rPr lang="en-US" altLang="ja-JP" sz="800" dirty="0">
                <a:latin typeface="メイリオ" panose="020B0604030504040204" pitchFamily="50" charset="-128"/>
                <a:ea typeface="メイリオ" panose="020B0604030504040204" pitchFamily="50" charset="-128"/>
              </a:rPr>
              <a:t>DDR5(</a:t>
            </a:r>
            <a:r>
              <a:rPr lang="en-US" altLang="ja-JP" sz="800" dirty="0" err="1">
                <a:latin typeface="メイリオ" panose="020B0604030504040204" pitchFamily="50" charset="-128"/>
                <a:ea typeface="メイリオ" panose="020B0604030504040204" pitchFamily="50" charset="-128"/>
              </a:rPr>
              <a:t>ADATA,Nanya</a:t>
            </a:r>
            <a:r>
              <a:rPr lang="ja-JP" altLang="en-US" sz="800" dirty="0">
                <a:latin typeface="メイリオ" panose="020B0604030504040204" pitchFamily="50" charset="-128"/>
                <a:ea typeface="メイリオ" panose="020B0604030504040204" pitchFamily="50" charset="-128"/>
              </a:rPr>
              <a:t>など新規メーカー</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SSD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 </a:t>
            </a:r>
            <a:r>
              <a:rPr lang="ja-JP" altLang="en-US" sz="800" dirty="0">
                <a:latin typeface="メイリオ" panose="020B0604030504040204" pitchFamily="50" charset="-128"/>
                <a:ea typeface="メイリオ" panose="020B0604030504040204" pitchFamily="50" charset="-128"/>
              </a:rPr>
              <a:t>順次新</a:t>
            </a:r>
            <a:r>
              <a:rPr lang="en-US" altLang="ja-JP" sz="800" dirty="0">
                <a:latin typeface="メイリオ" panose="020B0604030504040204" pitchFamily="50" charset="-128"/>
                <a:ea typeface="メイリオ" panose="020B0604030504040204" pitchFamily="50" charset="-128"/>
              </a:rPr>
              <a:t>Gen4 SSD(</a:t>
            </a:r>
            <a:r>
              <a:rPr lang="en-US" altLang="ja-JP" sz="800" dirty="0" err="1">
                <a:latin typeface="メイリオ" panose="020B0604030504040204" pitchFamily="50" charset="-128"/>
                <a:ea typeface="メイリオ" panose="020B0604030504040204" pitchFamily="50" charset="-128"/>
              </a:rPr>
              <a:t>Kingston,KIOXIA</a:t>
            </a:r>
            <a:r>
              <a:rPr lang="ja-JP" altLang="en-US" sz="800" dirty="0">
                <a:latin typeface="メイリオ" panose="020B0604030504040204" pitchFamily="50" charset="-128"/>
                <a:ea typeface="メイリオ" panose="020B0604030504040204" pitchFamily="50" charset="-128"/>
              </a:rPr>
              <a:t>など新規メーカー</a:t>
            </a:r>
            <a:r>
              <a:rPr lang="en-US" altLang="ja-JP" sz="800" dirty="0">
                <a:latin typeface="メイリオ" panose="020B0604030504040204" pitchFamily="50" charset="-128"/>
                <a:ea typeface="メイリオ" panose="020B0604030504040204" pitchFamily="50" charset="-128"/>
              </a:rPr>
              <a:t>) </a:t>
            </a:r>
            <a:br>
              <a:rPr lang="en-US" altLang="ja-JP" sz="800" b="1" dirty="0">
                <a:latin typeface="メイリオ" panose="020B0604030504040204" pitchFamily="50" charset="-128"/>
                <a:ea typeface="メイリオ" panose="020B0604030504040204" pitchFamily="50" charset="-128"/>
              </a:rPr>
            </a:br>
            <a:r>
              <a:rPr lang="ja-JP" altLang="en-US" sz="800" dirty="0">
                <a:latin typeface="メイリオ" panose="020B0604030504040204" pitchFamily="50" charset="-128"/>
                <a:ea typeface="メイリオ" panose="020B0604030504040204" pitchFamily="50" charset="-128"/>
              </a:rPr>
              <a:t>クーラー：</a:t>
            </a:r>
            <a:r>
              <a:rPr lang="en-US" altLang="ja-JP" sz="800" dirty="0">
                <a:latin typeface="メイリオ" panose="020B0604030504040204" pitchFamily="50" charset="-128"/>
                <a:ea typeface="メイリオ" panose="020B0604030504040204" pitchFamily="50" charset="-128"/>
              </a:rPr>
              <a:t>AMD</a:t>
            </a:r>
            <a:r>
              <a:rPr lang="ja-JP" altLang="en-US" sz="800" dirty="0">
                <a:latin typeface="メイリオ" panose="020B0604030504040204" pitchFamily="50" charset="-128"/>
                <a:ea typeface="メイリオ" panose="020B0604030504040204" pitchFamily="50" charset="-128"/>
              </a:rPr>
              <a:t>用空冷</a:t>
            </a:r>
            <a:r>
              <a:rPr lang="en-US" altLang="ja-JP" sz="800" dirty="0">
                <a:latin typeface="メイリオ" panose="020B0604030504040204" pitchFamily="50" charset="-128"/>
                <a:ea typeface="メイリオ" panose="020B0604030504040204" pitchFamily="50" charset="-128"/>
              </a:rPr>
              <a:t>FAN(</a:t>
            </a:r>
            <a:r>
              <a:rPr lang="ja-JP" altLang="en-US" sz="800" dirty="0">
                <a:latin typeface="メイリオ" panose="020B0604030504040204" pitchFamily="50" charset="-128"/>
                <a:ea typeface="メイリオ" panose="020B0604030504040204" pitchFamily="50" charset="-128"/>
              </a:rPr>
              <a:t>トップフロー </a:t>
            </a:r>
            <a:r>
              <a:rPr lang="en-US" altLang="ja-JP" sz="800" dirty="0">
                <a:latin typeface="メイリオ" panose="020B0604030504040204" pitchFamily="50" charset="-128"/>
                <a:ea typeface="メイリオ" panose="020B0604030504040204" pitchFamily="50" charset="-128"/>
              </a:rPr>
              <a:t>CK/CPS</a:t>
            </a:r>
            <a:r>
              <a:rPr lang="ja-JP" altLang="en-US" sz="800" dirty="0">
                <a:latin typeface="メイリオ" panose="020B0604030504040204" pitchFamily="50" charset="-128"/>
                <a:ea typeface="メイリオ" panose="020B0604030504040204" pitchFamily="50" charset="-128"/>
              </a:rPr>
              <a:t>対応</a:t>
            </a:r>
            <a:r>
              <a:rPr lang="en-US" altLang="ja-JP" sz="800" dirty="0">
                <a:latin typeface="メイリオ" panose="020B0604030504040204" pitchFamily="50" charset="-128"/>
                <a:ea typeface="メイリオ" panose="020B0604030504040204" pitchFamily="50" charset="-128"/>
              </a:rPr>
              <a:t>) , </a:t>
            </a:r>
            <a:r>
              <a:rPr kumimoji="1" lang="en-US" altLang="ja-JP" sz="800" b="0" i="0" u="none" strike="noStrike" kern="1200" cap="none" spc="0" normalizeH="0" baseline="0" noProof="0" dirty="0" err="1">
                <a:ln>
                  <a:noFill/>
                </a:ln>
                <a:solidFill>
                  <a:prstClr val="black"/>
                </a:solidFill>
                <a:effectLst/>
                <a:uLnTx/>
                <a:uFillTx/>
                <a:latin typeface="メイリオ" panose="020B0604030504040204" pitchFamily="50" charset="-128"/>
                <a:ea typeface="メイリオ" panose="020B0604030504040204" pitchFamily="50" charset="-128"/>
                <a:cs typeface="+mn-cs"/>
              </a:rPr>
              <a:t>Asetek</a:t>
            </a:r>
            <a:r>
              <a:rPr kumimoji="1" lang="en-US" altLang="ja-JP"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 836S-M1A(TR</a:t>
            </a:r>
            <a:r>
              <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用</a:t>
            </a:r>
            <a:r>
              <a:rPr kumimoji="1" lang="en-US" altLang="ja-JP"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　　　ケース</a:t>
            </a:r>
            <a:r>
              <a:rPr kumimoji="1" lang="en-US" altLang="ja-JP"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FAN</a:t>
            </a:r>
            <a:r>
              <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en-US" altLang="ja-JP"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Noctua NF-A12x25 G2 PWM,NF-A9 PWM</a:t>
            </a:r>
            <a:r>
              <a:rPr lang="en-US" altLang="ja-JP" sz="800" dirty="0">
                <a:latin typeface="メイリオ" panose="020B0604030504040204" pitchFamily="50" charset="-128"/>
                <a:ea typeface="メイリオ" panose="020B0604030504040204" pitchFamily="50" charset="-128"/>
              </a:rPr>
              <a:t>(CX</a:t>
            </a:r>
            <a:r>
              <a:rPr lang="ja-JP" altLang="en-US" sz="800" dirty="0">
                <a:latin typeface="メイリオ" panose="020B0604030504040204" pitchFamily="50" charset="-128"/>
                <a:ea typeface="メイリオ" panose="020B0604030504040204" pitchFamily="50" charset="-128"/>
              </a:rPr>
              <a:t>モデル用</a:t>
            </a:r>
            <a:r>
              <a:rPr lang="en-US" altLang="ja-JP" sz="800" dirty="0">
                <a:latin typeface="メイリオ" panose="020B0604030504040204" pitchFamily="50" charset="-128"/>
                <a:ea typeface="メイリオ" panose="020B0604030504040204" pitchFamily="50" charset="-128"/>
              </a:rPr>
              <a:t>)</a:t>
            </a:r>
          </a:p>
          <a:p>
            <a:r>
              <a:rPr lang="ja-JP" altLang="en-US" sz="800" dirty="0">
                <a:latin typeface="メイリオ" panose="020B0604030504040204" pitchFamily="50" charset="-128"/>
                <a:ea typeface="メイリオ" panose="020B0604030504040204" pitchFamily="50" charset="-128"/>
              </a:rPr>
              <a:t>ケース：</a:t>
            </a:r>
            <a:r>
              <a:rPr lang="en-US" altLang="ja-JP" sz="800" dirty="0">
                <a:latin typeface="メイリオ" panose="020B0604030504040204" pitchFamily="50" charset="-128"/>
                <a:ea typeface="メイリオ" panose="020B0604030504040204" pitchFamily="50" charset="-128"/>
              </a:rPr>
              <a:t>M01(EA</a:t>
            </a:r>
            <a:r>
              <a:rPr lang="ja-JP" altLang="en-US" sz="800" dirty="0">
                <a:latin typeface="メイリオ" panose="020B0604030504040204" pitchFamily="50" charset="-128"/>
                <a:ea typeface="メイリオ" panose="020B0604030504040204" pitchFamily="50" charset="-128"/>
              </a:rPr>
              <a:t>後継</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9</a:t>
            </a:r>
            <a:r>
              <a:rPr lang="ja-JP" altLang="en-US" sz="800" dirty="0">
                <a:latin typeface="メイリオ" panose="020B0604030504040204" pitchFamily="50" charset="-128"/>
                <a:ea typeface="メイリオ" panose="020B0604030504040204" pitchFamily="50" charset="-128"/>
              </a:rPr>
              <a:t>月目処</a:t>
            </a:r>
            <a:r>
              <a:rPr lang="en-US" altLang="ja-JP" sz="800" dirty="0">
                <a:latin typeface="メイリオ" panose="020B0604030504040204" pitchFamily="50" charset="-128"/>
                <a:ea typeface="メイリオ" panose="020B0604030504040204" pitchFamily="50" charset="-128"/>
              </a:rPr>
              <a:t>, CX(SFF) 9/17</a:t>
            </a:r>
            <a:r>
              <a:rPr lang="ja-JP" altLang="en-US" sz="800" dirty="0">
                <a:latin typeface="メイリオ" panose="020B0604030504040204" pitchFamily="50" charset="-128"/>
                <a:ea typeface="メイリオ" panose="020B0604030504040204" pitchFamily="50" charset="-128"/>
              </a:rPr>
              <a:t>目処　　　電源：</a:t>
            </a:r>
            <a:r>
              <a:rPr lang="en-US" altLang="ja-JP" sz="800" dirty="0">
                <a:latin typeface="メイリオ" panose="020B0604030504040204" pitchFamily="50" charset="-128"/>
                <a:ea typeface="メイリオ" panose="020B0604030504040204" pitchFamily="50" charset="-128"/>
              </a:rPr>
              <a:t>SFX 1000W-G(CX</a:t>
            </a:r>
            <a:r>
              <a:rPr lang="ja-JP" altLang="en-US" sz="800" dirty="0">
                <a:latin typeface="メイリオ" panose="020B0604030504040204" pitchFamily="50" charset="-128"/>
                <a:ea typeface="メイリオ" panose="020B0604030504040204" pitchFamily="50" charset="-128"/>
              </a:rPr>
              <a:t>モデル用</a:t>
            </a:r>
            <a:r>
              <a:rPr lang="en-US" altLang="ja-JP" sz="800" dirty="0">
                <a:latin typeface="メイリオ" panose="020B0604030504040204" pitchFamily="50" charset="-128"/>
                <a:ea typeface="メイリオ" panose="020B0604030504040204" pitchFamily="50" charset="-128"/>
              </a:rPr>
              <a:t>)</a:t>
            </a:r>
          </a:p>
          <a:p>
            <a:r>
              <a:rPr lang="en-US" altLang="ja-JP" sz="800" b="1" dirty="0">
                <a:latin typeface="メイリオ" panose="020B0604030504040204" pitchFamily="50" charset="-128"/>
                <a:ea typeface="メイリオ" panose="020B0604030504040204" pitchFamily="50" charset="-128"/>
              </a:rPr>
              <a:t>-</a:t>
            </a:r>
            <a:r>
              <a:rPr lang="ja-JP" altLang="en-US" sz="800" b="1" dirty="0">
                <a:latin typeface="メイリオ" panose="020B0604030504040204" pitchFamily="50" charset="-128"/>
                <a:ea typeface="メイリオ" panose="020B0604030504040204" pitchFamily="50" charset="-128"/>
              </a:rPr>
              <a:t>カスタム</a:t>
            </a:r>
            <a:r>
              <a:rPr lang="en-US" altLang="ja-JP" sz="800" b="1" dirty="0">
                <a:latin typeface="メイリオ" panose="020B0604030504040204" pitchFamily="50" charset="-128"/>
                <a:ea typeface="メイリオ" panose="020B0604030504040204" pitchFamily="50" charset="-128"/>
              </a:rPr>
              <a:t>-</a:t>
            </a:r>
          </a:p>
          <a:p>
            <a:r>
              <a:rPr lang="ja-JP" altLang="en-US" sz="800" dirty="0">
                <a:latin typeface="メイリオ" panose="020B0604030504040204" pitchFamily="50" charset="-128"/>
                <a:ea typeface="メイリオ" panose="020B0604030504040204" pitchFamily="50" charset="-128"/>
              </a:rPr>
              <a:t>メモリ：</a:t>
            </a:r>
            <a:r>
              <a:rPr lang="en-US" altLang="ja-JP" sz="800" dirty="0">
                <a:latin typeface="メイリオ" panose="020B0604030504040204" pitchFamily="50" charset="-128"/>
                <a:ea typeface="メイリオ" panose="020B0604030504040204" pitchFamily="50" charset="-128"/>
              </a:rPr>
              <a:t>TBD DDR5-6400 , TBD DDR5 64GB</a:t>
            </a:r>
            <a:r>
              <a:rPr lang="ja-JP" altLang="en-US" sz="800" dirty="0">
                <a:latin typeface="メイリオ" panose="020B0604030504040204" pitchFamily="50" charset="-128"/>
                <a:ea typeface="メイリオ" panose="020B0604030504040204" pitchFamily="50" charset="-128"/>
              </a:rPr>
              <a:t>　　　</a:t>
            </a:r>
            <a:r>
              <a:rPr lang="en-US" altLang="ja-JP" sz="800" dirty="0">
                <a:latin typeface="メイリオ" panose="020B0604030504040204" pitchFamily="50" charset="-128"/>
                <a:ea typeface="メイリオ" panose="020B0604030504040204" pitchFamily="50" charset="-128"/>
              </a:rPr>
              <a:t>SSD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 </a:t>
            </a:r>
            <a:r>
              <a:rPr lang="ja-JP" altLang="en-US" sz="800" dirty="0">
                <a:latin typeface="メイリオ" panose="020B0604030504040204" pitchFamily="50" charset="-128"/>
                <a:ea typeface="メイリオ" panose="020B0604030504040204" pitchFamily="50" charset="-128"/>
              </a:rPr>
              <a:t>新</a:t>
            </a:r>
            <a:r>
              <a:rPr lang="en-US" altLang="ja-JP" sz="800" dirty="0">
                <a:latin typeface="メイリオ" panose="020B0604030504040204" pitchFamily="50" charset="-128"/>
                <a:ea typeface="メイリオ" panose="020B0604030504040204" pitchFamily="50" charset="-128"/>
              </a:rPr>
              <a:t>Gen4/5 SSD(</a:t>
            </a:r>
            <a:r>
              <a:rPr lang="en-US" altLang="ja-JP" sz="800" dirty="0" err="1">
                <a:latin typeface="メイリオ" panose="020B0604030504040204" pitchFamily="50" charset="-128"/>
                <a:ea typeface="メイリオ" panose="020B0604030504040204" pitchFamily="50" charset="-128"/>
              </a:rPr>
              <a:t>Sandisk</a:t>
            </a:r>
            <a:r>
              <a:rPr lang="en-US" altLang="ja-JP" sz="800" dirty="0">
                <a:latin typeface="メイリオ" panose="020B0604030504040204" pitchFamily="50" charset="-128"/>
                <a:ea typeface="メイリオ" panose="020B0604030504040204" pitchFamily="50" charset="-128"/>
              </a:rPr>
              <a:t> WD</a:t>
            </a:r>
            <a:r>
              <a:rPr lang="ja-JP" altLang="en-US" sz="800" dirty="0">
                <a:latin typeface="メイリオ" panose="020B0604030504040204" pitchFamily="50" charset="-128"/>
                <a:ea typeface="メイリオ" panose="020B0604030504040204" pitchFamily="50" charset="-128"/>
              </a:rPr>
              <a:t>→</a:t>
            </a:r>
            <a:r>
              <a:rPr lang="en-US" altLang="ja-JP" sz="800" dirty="0" err="1">
                <a:latin typeface="メイリオ" panose="020B0604030504040204" pitchFamily="50" charset="-128"/>
                <a:ea typeface="メイリオ" panose="020B0604030504040204" pitchFamily="50" charset="-128"/>
              </a:rPr>
              <a:t>Sandisk</a:t>
            </a:r>
            <a:r>
              <a:rPr lang="en-US" altLang="ja-JP" sz="800" dirty="0">
                <a:latin typeface="メイリオ" panose="020B0604030504040204" pitchFamily="50" charset="-128"/>
                <a:ea typeface="メイリオ" panose="020B0604030504040204" pitchFamily="50" charset="-128"/>
              </a:rPr>
              <a:t> Optimus</a:t>
            </a:r>
            <a:r>
              <a:rPr lang="ja-JP" altLang="en-US" sz="800" dirty="0">
                <a:latin typeface="メイリオ" panose="020B0604030504040204" pitchFamily="50" charset="-128"/>
                <a:ea typeface="メイリオ" panose="020B0604030504040204" pitchFamily="50" charset="-128"/>
              </a:rPr>
              <a:t>への変更</a:t>
            </a:r>
            <a:r>
              <a:rPr lang="en-US" altLang="ja-JP" sz="800" dirty="0">
                <a:latin typeface="メイリオ" panose="020B0604030504040204" pitchFamily="50" charset="-128"/>
                <a:ea typeface="メイリオ" panose="020B0604030504040204" pitchFamily="50" charset="-128"/>
              </a:rPr>
              <a:t>,KIOXIA</a:t>
            </a:r>
            <a:r>
              <a:rPr lang="ja-JP" altLang="en-US" sz="800" dirty="0">
                <a:latin typeface="メイリオ" panose="020B0604030504040204" pitchFamily="50" charset="-128"/>
                <a:ea typeface="メイリオ" panose="020B0604030504040204" pitchFamily="50" charset="-128"/>
              </a:rPr>
              <a:t>など</a:t>
            </a:r>
            <a:r>
              <a:rPr lang="en-US" altLang="ja-JP" sz="800" dirty="0">
                <a:latin typeface="メイリオ" panose="020B0604030504040204" pitchFamily="50" charset="-128"/>
                <a:ea typeface="メイリオ" panose="020B0604030504040204" pitchFamily="50" charset="-128"/>
              </a:rPr>
              <a:t>)</a:t>
            </a:r>
          </a:p>
          <a:p>
            <a:r>
              <a:rPr lang="ja-JP" altLang="en-US" sz="800" dirty="0">
                <a:latin typeface="メイリオ" panose="020B0604030504040204" pitchFamily="50" charset="-128"/>
                <a:ea typeface="メイリオ" panose="020B0604030504040204" pitchFamily="50" charset="-128"/>
              </a:rPr>
              <a:t>クーラー</a:t>
            </a:r>
            <a:r>
              <a:rPr lang="en-US" altLang="ja-JP" sz="800" dirty="0">
                <a:latin typeface="メイリオ" panose="020B0604030504040204" pitchFamily="50" charset="-128"/>
                <a:ea typeface="メイリオ" panose="020B0604030504040204" pitchFamily="50" charset="-128"/>
              </a:rPr>
              <a:t>/FAN</a:t>
            </a:r>
            <a:r>
              <a:rPr lang="ja-JP" altLang="en-US" sz="800" dirty="0">
                <a:latin typeface="メイリオ" panose="020B0604030504040204" pitchFamily="50" charset="-128"/>
                <a:ea typeface="メイリオ" panose="020B0604030504040204" pitchFamily="50" charset="-128"/>
              </a:rPr>
              <a:t>：</a:t>
            </a:r>
            <a:r>
              <a:rPr kumimoji="1" lang="ja-JP" altLang="en-US" sz="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液晶付き水冷 </a:t>
            </a:r>
            <a:r>
              <a:rPr lang="en-US" altLang="ja-JP" sz="800" dirty="0">
                <a:solidFill>
                  <a:prstClr val="black"/>
                </a:solidFill>
                <a:latin typeface="メイリオ" panose="020B0604030504040204" pitchFamily="50" charset="-128"/>
                <a:ea typeface="メイリオ" panose="020B0604030504040204" pitchFamily="50" charset="-128"/>
              </a:rPr>
              <a:t>, </a:t>
            </a:r>
            <a:r>
              <a:rPr lang="ja-JP" altLang="en-US" sz="800" dirty="0">
                <a:solidFill>
                  <a:prstClr val="black"/>
                </a:solidFill>
                <a:latin typeface="メイリオ" panose="020B0604030504040204" pitchFamily="50" charset="-128"/>
                <a:ea typeface="メイリオ" panose="020B0604030504040204" pitchFamily="50" charset="-128"/>
              </a:rPr>
              <a:t>高冷却サイドフロー </a:t>
            </a:r>
            <a:r>
              <a:rPr lang="en-US" altLang="ja-JP" sz="800" dirty="0">
                <a:solidFill>
                  <a:prstClr val="black"/>
                </a:solidFill>
                <a:latin typeface="メイリオ" panose="020B0604030504040204" pitchFamily="50" charset="-128"/>
                <a:ea typeface="メイリオ" panose="020B0604030504040204" pitchFamily="50" charset="-128"/>
              </a:rPr>
              <a:t>, ARGB</a:t>
            </a:r>
            <a:r>
              <a:rPr lang="ja-JP" altLang="en-US" sz="800" dirty="0">
                <a:solidFill>
                  <a:prstClr val="black"/>
                </a:solidFill>
                <a:latin typeface="メイリオ" panose="020B0604030504040204" pitchFamily="50" charset="-128"/>
                <a:ea typeface="メイリオ" panose="020B0604030504040204" pitchFamily="50" charset="-128"/>
              </a:rPr>
              <a:t>トップフロー　</a:t>
            </a:r>
            <a:r>
              <a:rPr lang="ja-JP" altLang="en-US" sz="800" dirty="0">
                <a:latin typeface="メイリオ" panose="020B0604030504040204" pitchFamily="50" charset="-128"/>
                <a:ea typeface="メイリオ" panose="020B0604030504040204" pitchFamily="50" charset="-128"/>
              </a:rPr>
              <a:t>拡張カード</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ケーブル：</a:t>
            </a:r>
            <a:r>
              <a:rPr lang="en-US" altLang="ja-JP" sz="800" dirty="0">
                <a:latin typeface="メイリオ" panose="020B0604030504040204" pitchFamily="50" charset="-128"/>
                <a:ea typeface="メイリオ" panose="020B0604030504040204" pitchFamily="50" charset="-128"/>
              </a:rPr>
              <a:t>FAN4</a:t>
            </a:r>
            <a:r>
              <a:rPr lang="ja-JP" altLang="en-US" sz="800" dirty="0">
                <a:latin typeface="メイリオ" panose="020B0604030504040204" pitchFamily="50" charset="-128"/>
                <a:ea typeface="メイリオ" panose="020B0604030504040204" pitchFamily="50" charset="-128"/>
              </a:rPr>
              <a:t>分岐ケーブル </a:t>
            </a:r>
            <a:r>
              <a:rPr lang="en-US" altLang="ja-JP" sz="800" dirty="0">
                <a:latin typeface="メイリオ" panose="020B0604030504040204" pitchFamily="50" charset="-128"/>
                <a:ea typeface="メイリオ" panose="020B0604030504040204" pitchFamily="50" charset="-128"/>
              </a:rPr>
              <a:t>with SATA</a:t>
            </a:r>
            <a:r>
              <a:rPr lang="ja-JP" altLang="en-US" sz="800" dirty="0">
                <a:latin typeface="メイリオ" panose="020B0604030504040204" pitchFamily="50" charset="-128"/>
                <a:ea typeface="メイリオ" panose="020B0604030504040204" pitchFamily="50" charset="-128"/>
              </a:rPr>
              <a:t>電源</a:t>
            </a:r>
            <a:endParaRPr lang="en-US" altLang="ja-JP" sz="800" dirty="0">
              <a:latin typeface="メイリオ" panose="020B0604030504040204" pitchFamily="50" charset="-128"/>
              <a:ea typeface="メイリオ" panose="020B0604030504040204" pitchFamily="50" charset="-128"/>
            </a:endParaRPr>
          </a:p>
        </p:txBody>
      </p:sp>
      <p:sp>
        <p:nvSpPr>
          <p:cNvPr id="9" name="スライド番号プレースホルダー 8">
            <a:extLst>
              <a:ext uri="{FF2B5EF4-FFF2-40B4-BE49-F238E27FC236}">
                <a16:creationId xmlns:a16="http://schemas.microsoft.com/office/drawing/2014/main" id="{3B10F1B0-A1D1-4662-874C-313441249FBC}"/>
              </a:ext>
            </a:extLst>
          </p:cNvPr>
          <p:cNvSpPr>
            <a:spLocks noGrp="1"/>
          </p:cNvSpPr>
          <p:nvPr>
            <p:ph type="sldNum" sz="quarter" idx="12"/>
          </p:nvPr>
        </p:nvSpPr>
        <p:spPr/>
        <p:txBody>
          <a:bodyPr/>
          <a:lstStyle/>
          <a:p>
            <a:fld id="{F9DFCEB9-CAE4-4F3C-93D0-85C4724A0355}" type="slidenum">
              <a:rPr kumimoji="1" lang="ja-JP" altLang="en-US" smtClean="0"/>
              <a:t>44</a:t>
            </a:fld>
            <a:endParaRPr kumimoji="1" lang="ja-JP" altLang="en-US" dirty="0"/>
          </a:p>
        </p:txBody>
      </p:sp>
    </p:spTree>
    <p:extLst>
      <p:ext uri="{BB962C8B-B14F-4D97-AF65-F5344CB8AC3E}">
        <p14:creationId xmlns:p14="http://schemas.microsoft.com/office/powerpoint/2010/main" val="3237512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95B939BFA7726A44B06FB984627394C7" ma:contentTypeVersion="6" ma:contentTypeDescription="新しいドキュメントを作成します。" ma:contentTypeScope="" ma:versionID="6e07f06b419937dda685d413ae640413">
  <xsd:schema xmlns:xsd="http://www.w3.org/2001/XMLSchema" xmlns:xs="http://www.w3.org/2001/XMLSchema" xmlns:p="http://schemas.microsoft.com/office/2006/metadata/properties" xmlns:ns2="ede10aa3-3bb6-4b95-be56-97d0bda35c74" xmlns:ns3="52d1d4f8-18b1-4ccb-a8e5-6555bb77a8ce" targetNamespace="http://schemas.microsoft.com/office/2006/metadata/properties" ma:root="true" ma:fieldsID="7bf10fa1b494c2cc41c23ddab5146252" ns2:_="" ns3:_="">
    <xsd:import namespace="ede10aa3-3bb6-4b95-be56-97d0bda35c74"/>
    <xsd:import namespace="52d1d4f8-18b1-4ccb-a8e5-6555bb77a8c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10aa3-3bb6-4b95-be56-97d0bda35c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d1d4f8-18b1-4ccb-a8e5-6555bb77a8ce" elementFormDefault="qualified">
    <xsd:import namespace="http://schemas.microsoft.com/office/2006/documentManagement/types"/>
    <xsd:import namespace="http://schemas.microsoft.com/office/infopath/2007/PartnerControls"/>
    <xsd:element name="SharedWithUsers" ma:index="11"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11C6D4-C493-4D4D-B392-D171887E750D}"/>
</file>

<file path=customXml/itemProps2.xml><?xml version="1.0" encoding="utf-8"?>
<ds:datastoreItem xmlns:ds="http://schemas.openxmlformats.org/officeDocument/2006/customXml" ds:itemID="{A736730F-D155-4FCD-9464-4103A1C903E7}">
  <ds:schemaRefs>
    <ds:schemaRef ds:uri="http://schemas.microsoft.com/sharepoint/v3/contenttype/forms"/>
  </ds:schemaRefs>
</ds:datastoreItem>
</file>

<file path=customXml/itemProps3.xml><?xml version="1.0" encoding="utf-8"?>
<ds:datastoreItem xmlns:ds="http://schemas.openxmlformats.org/officeDocument/2006/customXml" ds:itemID="{A0BA60D0-EB6A-4870-8313-C706E5C6BE32}"/>
</file>

<file path=docProps/app.xml><?xml version="1.0" encoding="utf-8"?>
<Properties xmlns="http://schemas.openxmlformats.org/officeDocument/2006/extended-properties" xmlns:vt="http://schemas.openxmlformats.org/officeDocument/2006/docPropsVTypes">
  <TotalTime>146646</TotalTime>
  <Words>28616</Words>
  <Application>Microsoft Office PowerPoint</Application>
  <PresentationFormat>画面に合わせる (16:9)</PresentationFormat>
  <Paragraphs>3233</Paragraphs>
  <Slides>44</Slides>
  <Notes>44</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44</vt:i4>
      </vt:variant>
    </vt:vector>
  </HeadingPairs>
  <TitlesOfParts>
    <vt:vector size="56" baseType="lpstr">
      <vt:lpstr>HGPｺﾞｼｯｸE</vt:lpstr>
      <vt:lpstr>HGｺﾞｼｯｸE</vt:lpstr>
      <vt:lpstr>Meiryo UI</vt:lpstr>
      <vt:lpstr>ＭＳ Ｐゴシック</vt:lpstr>
      <vt:lpstr>メイリオ</vt:lpstr>
      <vt:lpstr>メイリオ</vt:lpstr>
      <vt:lpstr>游ゴシック</vt:lpstr>
      <vt:lpstr>Arial</vt:lpstr>
      <vt:lpstr>Calibri</vt:lpstr>
      <vt:lpstr>Segoe UI</vt:lpstr>
      <vt:lpstr>Tahoma</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dc:creator>
  <cp:lastModifiedBy>宍戸 訓之</cp:lastModifiedBy>
  <cp:revision>2394</cp:revision>
  <cp:lastPrinted>2020-08-24T02:37:11Z</cp:lastPrinted>
  <dcterms:created xsi:type="dcterms:W3CDTF">2015-02-17T04:53:14Z</dcterms:created>
  <dcterms:modified xsi:type="dcterms:W3CDTF">2026-06-30T08:17:18Z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0x01010095B939BFA7726A44B06FB984627394C7</vt:lpwstr>
  </property>
</Properties>
</file>